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36"/>
  </p:notesMasterIdLst>
  <p:handoutMasterIdLst>
    <p:handoutMasterId r:id="rId37"/>
  </p:handoutMasterIdLst>
  <p:sldIdLst>
    <p:sldId id="312" r:id="rId5"/>
    <p:sldId id="375" r:id="rId6"/>
    <p:sldId id="349" r:id="rId7"/>
    <p:sldId id="313" r:id="rId8"/>
    <p:sldId id="343" r:id="rId9"/>
    <p:sldId id="317" r:id="rId10"/>
    <p:sldId id="394" r:id="rId11"/>
    <p:sldId id="327" r:id="rId12"/>
    <p:sldId id="360" r:id="rId13"/>
    <p:sldId id="383" r:id="rId14"/>
    <p:sldId id="391" r:id="rId15"/>
    <p:sldId id="387" r:id="rId16"/>
    <p:sldId id="362" r:id="rId17"/>
    <p:sldId id="389" r:id="rId18"/>
    <p:sldId id="378" r:id="rId19"/>
    <p:sldId id="361" r:id="rId20"/>
    <p:sldId id="377" r:id="rId21"/>
    <p:sldId id="390" r:id="rId22"/>
    <p:sldId id="363" r:id="rId23"/>
    <p:sldId id="392" r:id="rId24"/>
    <p:sldId id="369" r:id="rId25"/>
    <p:sldId id="372" r:id="rId26"/>
    <p:sldId id="393" r:id="rId27"/>
    <p:sldId id="380" r:id="rId28"/>
    <p:sldId id="370" r:id="rId29"/>
    <p:sldId id="371" r:id="rId30"/>
    <p:sldId id="364" r:id="rId31"/>
    <p:sldId id="373" r:id="rId32"/>
    <p:sldId id="367" r:id="rId33"/>
    <p:sldId id="338" r:id="rId34"/>
    <p:sldId id="339" r:id="rId35"/>
  </p:sldIdLst>
  <p:sldSz cx="9144000" cy="6858000" type="screen4x3"/>
  <p:notesSz cx="7099300" cy="102235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73BEF6-E97D-489B-A316-4BA224366B32}">
          <p14:sldIdLst>
            <p14:sldId id="312"/>
            <p14:sldId id="375"/>
            <p14:sldId id="349"/>
            <p14:sldId id="313"/>
            <p14:sldId id="343"/>
            <p14:sldId id="317"/>
            <p14:sldId id="394"/>
          </p14:sldIdLst>
        </p14:section>
        <p14:section name="Theorie" id="{177B3A40-6F81-4A41-AE69-CDA78DFF0392}">
          <p14:sldIdLst>
            <p14:sldId id="327"/>
            <p14:sldId id="360"/>
            <p14:sldId id="383"/>
            <p14:sldId id="391"/>
            <p14:sldId id="387"/>
            <p14:sldId id="362"/>
            <p14:sldId id="389"/>
            <p14:sldId id="378"/>
            <p14:sldId id="361"/>
            <p14:sldId id="377"/>
            <p14:sldId id="390"/>
            <p14:sldId id="363"/>
            <p14:sldId id="392"/>
            <p14:sldId id="369"/>
            <p14:sldId id="372"/>
            <p14:sldId id="393"/>
            <p14:sldId id="380"/>
            <p14:sldId id="370"/>
            <p14:sldId id="371"/>
            <p14:sldId id="364"/>
            <p14:sldId id="373"/>
            <p14:sldId id="367"/>
            <p14:sldId id="338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2A1B"/>
    <a:srgbClr val="008080"/>
    <a:srgbClr val="3366CC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4" autoAdjust="0"/>
    <p:restoredTop sz="94660"/>
  </p:normalViewPr>
  <p:slideViewPr>
    <p:cSldViewPr>
      <p:cViewPr varScale="1">
        <p:scale>
          <a:sx n="113" d="100"/>
          <a:sy n="113" d="100"/>
        </p:scale>
        <p:origin x="144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7" d="100"/>
          <a:sy n="77" d="100"/>
        </p:scale>
        <p:origin x="-3318" y="-90"/>
      </p:cViewPr>
      <p:guideLst>
        <p:guide orient="horz" pos="3220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45162A20-AB3C-4F9F-B252-A672A2B1021C}" type="datetimeFigureOut">
              <a:rPr lang="nl-NL" smtClean="0"/>
              <a:pPr/>
              <a:t>18-7-2024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FA21263B-E5B0-43C2-80A4-8AFDE3EFF430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3455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/>
          <a:lstStyle>
            <a:lvl1pPr algn="r">
              <a:defRPr sz="1300"/>
            </a:lvl1pPr>
          </a:lstStyle>
          <a:p>
            <a:fld id="{81222E4A-1958-49F2-B3A1-D4165C891D49}" type="datetimeFigureOut">
              <a:rPr lang="nl-NL" smtClean="0"/>
              <a:pPr/>
              <a:t>18-7-2024</a:t>
            </a:fld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56163"/>
            <a:ext cx="5679440" cy="4600575"/>
          </a:xfrm>
          <a:prstGeom prst="rect">
            <a:avLst/>
          </a:prstGeom>
        </p:spPr>
        <p:txBody>
          <a:bodyPr vert="horz" lIns="98984" tIns="49492" rIns="98984" bIns="4949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10551"/>
            <a:ext cx="3076363" cy="511175"/>
          </a:xfrm>
          <a:prstGeom prst="rect">
            <a:avLst/>
          </a:prstGeom>
        </p:spPr>
        <p:txBody>
          <a:bodyPr vert="horz" lIns="98984" tIns="49492" rIns="98984" bIns="49492" rtlCol="0" anchor="b"/>
          <a:lstStyle>
            <a:lvl1pPr algn="r">
              <a:defRPr sz="1300"/>
            </a:lvl1pPr>
          </a:lstStyle>
          <a:p>
            <a:fld id="{A6E2AD6B-A2A9-49FE-B66D-2E67103B72C1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814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1960B0-8BB2-4B37-AE2B-8783C9AE35A0}" type="slidenum">
              <a:rPr lang="nl-NL"/>
              <a:pPr/>
              <a:t>1</a:t>
            </a:fld>
            <a:endParaRPr lang="nl-NL" dirty="0"/>
          </a:p>
        </p:txBody>
      </p:sp>
      <p:sp>
        <p:nvSpPr>
          <p:cNvPr id="665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ln/>
        </p:spPr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2537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11E933-20CB-4F81-A213-5EB77FFB61D7}" type="slidenum">
              <a:rPr lang="nl-NL"/>
              <a:pPr/>
              <a:t>4</a:t>
            </a:fld>
            <a:endParaRPr lang="nl-NL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6763"/>
            <a:ext cx="5111750" cy="3833812"/>
          </a:xfrm>
          <a:prstGeom prst="rect">
            <a:avLst/>
          </a:prstGeo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47460" indent="-247460">
              <a:buFontTx/>
              <a:buAutoNum type="arabicPeriod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6021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3059832" y="0"/>
            <a:ext cx="6084168" cy="6858000"/>
          </a:xfrm>
          <a:prstGeom prst="rect">
            <a:avLst/>
          </a:prstGeom>
          <a:solidFill>
            <a:srgbClr val="CA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305983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275856" y="620688"/>
            <a:ext cx="5688632" cy="2016224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275856" y="2708920"/>
            <a:ext cx="5688632" cy="936104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pic>
        <p:nvPicPr>
          <p:cNvPr id="7" name="Picture 6" descr="HR_Logo_websafe_punt bove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620713"/>
            <a:ext cx="1871663" cy="187166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908720"/>
            <a:ext cx="8352928" cy="194421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9552" y="0"/>
            <a:ext cx="8352928" cy="7200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908719"/>
            <a:ext cx="5486400" cy="38188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836712"/>
            <a:ext cx="2057400" cy="52894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836712"/>
            <a:ext cx="6019800" cy="5289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‹#›</a:t>
            </a:fld>
            <a:endParaRPr lang="nl-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712968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het opmaakprofiel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8229600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opmaakprofielen van de modeltekst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67544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491880" y="6492875"/>
            <a:ext cx="1872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D34C4-4862-41FC-81CE-E1CA60AC1DA9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Picture 7" descr="fond_rood_websafe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287338" cy="6858000"/>
          </a:xfrm>
          <a:prstGeom prst="rect">
            <a:avLst/>
          </a:prstGeom>
          <a:noFill/>
        </p:spPr>
      </p:pic>
      <p:cxnSp>
        <p:nvCxnSpPr>
          <p:cNvPr id="12" name="Straight Connector 11"/>
          <p:cNvCxnSpPr/>
          <p:nvPr/>
        </p:nvCxnSpPr>
        <p:spPr>
          <a:xfrm>
            <a:off x="395536" y="764704"/>
            <a:ext cx="85689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5" descr="HR_Logo_websafe_punt#1015D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585795" y="6309320"/>
            <a:ext cx="509761" cy="5097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brojz@hr.nl" TargetMode="External"/><Relationship Id="rId2" Type="http://schemas.openxmlformats.org/officeDocument/2006/relationships/hyperlink" Target="mailto:veron@hr.n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patech.com/road-to-fpga-reconfigurable-computing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pgatutorial.com/vhdl/" TargetMode="External"/><Relationship Id="rId2" Type="http://schemas.openxmlformats.org/officeDocument/2006/relationships/hyperlink" Target="https://nandland.com/fpga-101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7"/>
          <p:cNvSpPr txBox="1">
            <a:spLocks/>
          </p:cNvSpPr>
          <p:nvPr/>
        </p:nvSpPr>
        <p:spPr>
          <a:xfrm>
            <a:off x="3275856" y="3501008"/>
            <a:ext cx="5688632" cy="2808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Hardware Programming</a:t>
            </a:r>
          </a:p>
          <a:p>
            <a:pPr lvl="0" algn="ctr">
              <a:spcBef>
                <a:spcPct val="20000"/>
              </a:spcBef>
              <a:defRPr/>
            </a:pPr>
            <a:endParaRPr lang="en-US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lvl="0" algn="ctr">
              <a:spcBef>
                <a:spcPct val="20000"/>
              </a:spcBef>
              <a:defRPr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Introduction to digital systems</a:t>
            </a:r>
          </a:p>
          <a:p>
            <a:pPr lvl="0" algn="ctr">
              <a:spcBef>
                <a:spcPct val="20000"/>
              </a:spcBef>
              <a:defRPr/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And structured digital design </a:t>
            </a:r>
            <a:endParaRPr kumimoji="0" lang="nl-NL" sz="28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Title 6"/>
          <p:cNvSpPr>
            <a:spLocks noGrp="1"/>
          </p:cNvSpPr>
          <p:nvPr>
            <p:ph type="ctrTitle"/>
          </p:nvPr>
        </p:nvSpPr>
        <p:spPr>
          <a:xfrm>
            <a:off x="3275856" y="620688"/>
            <a:ext cx="5688632" cy="2016224"/>
          </a:xfrm>
        </p:spPr>
        <p:txBody>
          <a:bodyPr>
            <a:normAutofit/>
          </a:bodyPr>
          <a:lstStyle/>
          <a:p>
            <a:r>
              <a:rPr lang="nl-NL" dirty="0"/>
              <a:t>HWP01</a:t>
            </a:r>
            <a:br>
              <a:rPr lang="nl-NL" dirty="0"/>
            </a:br>
            <a:endParaRPr lang="nl-NL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Goal of </a:t>
            </a:r>
            <a:r>
              <a:rPr lang="nl-NL" dirty="0" err="1"/>
              <a:t>this</a:t>
            </a:r>
            <a:r>
              <a:rPr lang="nl-NL" dirty="0"/>
              <a:t>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nl-NL" sz="4400" dirty="0" err="1"/>
              <a:t>Learn</a:t>
            </a:r>
            <a:r>
              <a:rPr lang="nl-NL" sz="4400" dirty="0"/>
              <a:t> </a:t>
            </a:r>
            <a:r>
              <a:rPr lang="nl-NL" sz="4400" dirty="0" err="1"/>
              <a:t>to</a:t>
            </a:r>
            <a:r>
              <a:rPr lang="nl-NL" sz="4400" dirty="0"/>
              <a:t> </a:t>
            </a:r>
            <a:r>
              <a:rPr lang="nl-NL" sz="4400" dirty="0" err="1"/>
              <a:t>describe</a:t>
            </a:r>
            <a:r>
              <a:rPr lang="nl-NL" sz="4400" dirty="0"/>
              <a:t> </a:t>
            </a:r>
            <a:r>
              <a:rPr lang="nl-NL" sz="4400" b="1" dirty="0">
                <a:solidFill>
                  <a:srgbClr val="C00000"/>
                </a:solidFill>
              </a:rPr>
              <a:t>digital circuits </a:t>
            </a:r>
            <a:r>
              <a:rPr lang="nl-NL" sz="4400" dirty="0" err="1"/>
              <a:t>with</a:t>
            </a:r>
            <a:r>
              <a:rPr lang="nl-NL" sz="4400" dirty="0"/>
              <a:t> </a:t>
            </a:r>
            <a:r>
              <a:rPr lang="nl-NL" sz="4400" b="1" dirty="0">
                <a:solidFill>
                  <a:srgbClr val="C00000"/>
                </a:solidFill>
              </a:rPr>
              <a:t>VHDL</a:t>
            </a:r>
            <a:r>
              <a:rPr lang="nl-NL" sz="4400" dirty="0">
                <a:solidFill>
                  <a:srgbClr val="C00000"/>
                </a:solidFill>
              </a:rPr>
              <a:t> </a:t>
            </a:r>
            <a:r>
              <a:rPr lang="nl-NL" sz="4400" dirty="0" err="1"/>
              <a:t>and</a:t>
            </a:r>
            <a:r>
              <a:rPr lang="nl-NL" sz="4400" dirty="0"/>
              <a:t> </a:t>
            </a:r>
            <a:r>
              <a:rPr lang="nl-NL" sz="4400" dirty="0" err="1"/>
              <a:t>implement</a:t>
            </a:r>
            <a:r>
              <a:rPr lang="nl-NL" sz="4400" dirty="0"/>
              <a:t> </a:t>
            </a:r>
            <a:r>
              <a:rPr lang="nl-NL" sz="4400" dirty="0" err="1"/>
              <a:t>them</a:t>
            </a:r>
            <a:r>
              <a:rPr lang="nl-NL" sz="4400" dirty="0"/>
              <a:t> in </a:t>
            </a:r>
            <a:r>
              <a:rPr lang="nl-NL" sz="4400" dirty="0" err="1"/>
              <a:t>an</a:t>
            </a:r>
            <a:r>
              <a:rPr lang="nl-NL" sz="4400" dirty="0"/>
              <a:t> </a:t>
            </a:r>
            <a:r>
              <a:rPr lang="nl-NL" sz="4400" b="1" dirty="0">
                <a:solidFill>
                  <a:srgbClr val="C00000"/>
                </a:solidFill>
              </a:rPr>
              <a:t>FPGA</a:t>
            </a:r>
            <a:r>
              <a:rPr lang="nl-NL" sz="4400" dirty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95063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Instructors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Ron Verhagen			</a:t>
            </a:r>
            <a:r>
              <a:rPr lang="nl-NL" dirty="0">
                <a:hlinkClick r:id="rId2"/>
              </a:rPr>
              <a:t>VeRon@hr.nl</a:t>
            </a:r>
            <a:r>
              <a:rPr lang="nl-NL" dirty="0"/>
              <a:t> </a:t>
            </a:r>
          </a:p>
          <a:p>
            <a:r>
              <a:rPr lang="nl-NL" dirty="0"/>
              <a:t>Harry Broeders			</a:t>
            </a:r>
            <a:r>
              <a:rPr lang="nl-NL" dirty="0">
                <a:hlinkClick r:id="rId3"/>
              </a:rPr>
              <a:t>BroJZ@hr.nl</a:t>
            </a:r>
            <a:r>
              <a:rPr lang="nl-NL" dirty="0"/>
              <a:t> </a:t>
            </a:r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2063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0"/>
            <a:ext cx="7884368" cy="792163"/>
          </a:xfrm>
        </p:spPr>
        <p:txBody>
          <a:bodyPr/>
          <a:lstStyle/>
          <a:p>
            <a:pPr eaLnBrk="1" hangingPunct="1"/>
            <a:r>
              <a:rPr lang="en-GB"/>
              <a:t>Organization</a:t>
            </a:r>
            <a:endParaRPr lang="en-GB" dirty="0"/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80728"/>
            <a:ext cx="8359577" cy="54153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Compulsory attendance</a:t>
            </a:r>
          </a:p>
          <a:p>
            <a:pPr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HWP01 structure:</a:t>
            </a:r>
          </a:p>
          <a:p>
            <a:pPr lvl="1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Lecture</a:t>
            </a:r>
          </a:p>
          <a:p>
            <a:pPr lvl="2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Five lectures:		Tuesday: 1.5-hours p/w</a:t>
            </a:r>
          </a:p>
          <a:p>
            <a:pPr lvl="1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Lab exercise</a:t>
            </a:r>
          </a:p>
          <a:p>
            <a:pPr lvl="2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Full-time:		Friday:  2.5 hours Online p/w</a:t>
            </a:r>
          </a:p>
          <a:p>
            <a:pPr lvl="1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Homework		</a:t>
            </a:r>
          </a:p>
          <a:p>
            <a:pPr lvl="2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56.5 hours total</a:t>
            </a:r>
          </a:p>
          <a:p>
            <a:pPr lvl="2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Theory from the book</a:t>
            </a:r>
          </a:p>
          <a:p>
            <a:pPr lvl="3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“Circuit Design with VHDL” (Third Edition)</a:t>
            </a:r>
          </a:p>
          <a:p>
            <a:pPr lvl="3">
              <a:lnSpc>
                <a:spcPct val="90000"/>
              </a:lnSpc>
              <a:buClr>
                <a:srgbClr val="FF0000"/>
              </a:buClr>
            </a:pPr>
            <a:r>
              <a:rPr lang="en-GB" dirty="0" err="1"/>
              <a:t>Volnei</a:t>
            </a:r>
            <a:r>
              <a:rPr lang="en-GB" dirty="0"/>
              <a:t> A. </a:t>
            </a:r>
            <a:r>
              <a:rPr lang="en-GB" dirty="0" err="1"/>
              <a:t>Pedroni</a:t>
            </a:r>
            <a:endParaRPr lang="en-GB" dirty="0"/>
          </a:p>
          <a:p>
            <a:pPr lvl="3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ISBN 978-0-262-04264-2</a:t>
            </a:r>
          </a:p>
          <a:p>
            <a:pPr lvl="2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Preparing assignments / writing code</a:t>
            </a:r>
          </a:p>
          <a:p>
            <a:pPr lvl="2">
              <a:lnSpc>
                <a:spcPct val="90000"/>
              </a:lnSpc>
              <a:buClr>
                <a:srgbClr val="FF0000"/>
              </a:buClr>
            </a:pPr>
            <a:r>
              <a:rPr lang="en-GB" dirty="0"/>
              <a:t>Making simulations at home / outside regular class times				</a:t>
            </a:r>
          </a:p>
          <a:p>
            <a:pPr lvl="2">
              <a:lnSpc>
                <a:spcPct val="90000"/>
              </a:lnSpc>
              <a:buClr>
                <a:srgbClr val="FF0000"/>
              </a:buClr>
            </a:pPr>
            <a:endParaRPr lang="en-GB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899592" y="1628800"/>
            <a:ext cx="2808312" cy="2016224"/>
          </a:xfrm>
          <a:prstGeom prst="rect">
            <a:avLst/>
          </a:prstGeom>
          <a:solidFill>
            <a:srgbClr val="C00000"/>
          </a:solidFill>
          <a:ln w="25400">
            <a:solidFill>
              <a:schemeClr val="tx1"/>
            </a:solidFill>
          </a:ln>
          <a:effectLst>
            <a:outerShdw blurRad="40000" dist="20000" dir="5400000" rotWithShape="0">
              <a:srgbClr val="000000">
                <a:alpha val="38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0"/>
            <a:ext cx="7956376" cy="836712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Planning: theory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899592" y="1628800"/>
            <a:ext cx="2808312" cy="4525963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First week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b="1" dirty="0">
                <a:solidFill>
                  <a:schemeClr val="bg1"/>
                </a:solidFill>
              </a:rPr>
              <a:t>Introduction digital systems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b="1" dirty="0">
                <a:solidFill>
                  <a:schemeClr val="bg1"/>
                </a:solidFill>
              </a:rPr>
              <a:t>Introduction to FPGAs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b="1" dirty="0">
                <a:solidFill>
                  <a:schemeClr val="bg1"/>
                </a:solidFill>
              </a:rPr>
              <a:t>Structured digital Design</a:t>
            </a:r>
          </a:p>
          <a:p>
            <a:pPr lvl="1">
              <a:buFont typeface="Calibri" panose="020F0502020204030204" pitchFamily="34" charset="0"/>
              <a:buChar char="‒"/>
            </a:pPr>
            <a:r>
              <a:rPr lang="en-GB" sz="2000" b="1" dirty="0">
                <a:solidFill>
                  <a:schemeClr val="bg1"/>
                </a:solidFill>
              </a:rPr>
              <a:t>Modelling concepts in VHDL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/>
          </a:p>
          <a:p>
            <a:pPr>
              <a:buNone/>
            </a:pPr>
            <a:endParaRPr lang="en-GB" dirty="0"/>
          </a:p>
          <a:p>
            <a:r>
              <a:rPr lang="en-GB" dirty="0"/>
              <a:t>Second week</a:t>
            </a:r>
          </a:p>
          <a:p>
            <a:pPr lvl="1"/>
            <a:r>
              <a:rPr lang="en-GB" dirty="0"/>
              <a:t>Introduction VHDL</a:t>
            </a:r>
          </a:p>
          <a:p>
            <a:pPr lvl="1"/>
            <a:r>
              <a:rPr lang="en-GB" dirty="0"/>
              <a:t>Code structure</a:t>
            </a:r>
          </a:p>
          <a:p>
            <a:pPr lvl="1"/>
            <a:r>
              <a:rPr lang="en-GB" dirty="0"/>
              <a:t>Data types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3707904" y="1618613"/>
            <a:ext cx="2453444" cy="447522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Third week</a:t>
            </a:r>
          </a:p>
          <a:p>
            <a:pPr lvl="1"/>
            <a:r>
              <a:rPr lang="en-GB" dirty="0"/>
              <a:t>Combinational versus sequential design</a:t>
            </a:r>
          </a:p>
          <a:p>
            <a:pPr lvl="1"/>
            <a:r>
              <a:rPr lang="en-GB" dirty="0"/>
              <a:t>Concurrent and sequential code</a:t>
            </a:r>
          </a:p>
          <a:p>
            <a:pPr lvl="1"/>
            <a:r>
              <a:rPr lang="en-GB" dirty="0"/>
              <a:t>Signals and variables</a:t>
            </a:r>
            <a:br>
              <a:rPr lang="en-GB" dirty="0"/>
            </a:br>
            <a:endParaRPr lang="en-GB" dirty="0"/>
          </a:p>
          <a:p>
            <a:r>
              <a:rPr lang="en-GB" dirty="0"/>
              <a:t>Fourth week</a:t>
            </a:r>
          </a:p>
          <a:p>
            <a:pPr lvl="1"/>
            <a:r>
              <a:rPr lang="en-GB" dirty="0"/>
              <a:t>Introduction to state machines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  <p:sp>
        <p:nvSpPr>
          <p:cNvPr id="8" name="Content Placeholder 10"/>
          <p:cNvSpPr txBox="1">
            <a:spLocks/>
          </p:cNvSpPr>
          <p:nvPr/>
        </p:nvSpPr>
        <p:spPr>
          <a:xfrm>
            <a:off x="6233688" y="1618076"/>
            <a:ext cx="2453444" cy="4475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Fifth week</a:t>
            </a:r>
          </a:p>
          <a:p>
            <a:pPr lvl="1"/>
            <a:r>
              <a:rPr lang="en-GB" sz="2000" dirty="0"/>
              <a:t>Designing state machines</a:t>
            </a:r>
          </a:p>
          <a:p>
            <a:pPr lvl="1"/>
            <a:r>
              <a:rPr lang="en-US" sz="2000" dirty="0"/>
              <a:t>Advanced VHDL design</a:t>
            </a:r>
            <a:endParaRPr lang="en-GB" sz="20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0"/>
            <a:ext cx="7884368" cy="836712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Planning: lab assignments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995281"/>
              </p:ext>
            </p:extLst>
          </p:nvPr>
        </p:nvGraphicFramePr>
        <p:xfrm>
          <a:off x="1691680" y="1844824"/>
          <a:ext cx="6768752" cy="43204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7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Week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Deadlines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 err="1"/>
                        <a:t>Retake</a:t>
                      </a:r>
                      <a:endParaRPr lang="nl-NL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i="1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</a:t>
                      </a:r>
                      <a:r>
                        <a:rPr lang="en-US" baseline="0" dirty="0"/>
                        <a:t> (deadline)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2 (deadline)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1 (deadline)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3 (deadline)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2 (deadline)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4 (deadline)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3 (deadline)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5 (deadline)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4 (deadline)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5 (deadline)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 err="1"/>
                        <a:t>Final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assignment</a:t>
                      </a:r>
                      <a:r>
                        <a:rPr lang="nl-NL" baseline="0" dirty="0"/>
                        <a:t> 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i="1" dirty="0"/>
                        <a:t>Retake (HT1)</a:t>
                      </a:r>
                      <a:endParaRPr lang="nl-NL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  <p:sp>
        <p:nvSpPr>
          <p:cNvPr id="2" name="Tekstvak 1"/>
          <p:cNvSpPr txBox="1"/>
          <p:nvPr/>
        </p:nvSpPr>
        <p:spPr>
          <a:xfrm>
            <a:off x="611176" y="836712"/>
            <a:ext cx="82353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b="1" dirty="0"/>
              <a:t>In the course manual you will find instructions on submitting</a:t>
            </a:r>
          </a:p>
          <a:p>
            <a:r>
              <a:rPr lang="nl-NL" sz="2400" b="1" dirty="0" err="1"/>
              <a:t>your</a:t>
            </a:r>
            <a:r>
              <a:rPr lang="nl-NL" sz="2400" b="1" dirty="0"/>
              <a:t> </a:t>
            </a:r>
            <a:r>
              <a:rPr lang="nl-NL" sz="2400" b="1" dirty="0" err="1"/>
              <a:t>assignments</a:t>
            </a:r>
            <a:r>
              <a:rPr lang="nl-NL" sz="2400" b="1" dirty="0"/>
              <a:t>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0"/>
            <a:ext cx="7884368" cy="836712"/>
          </a:xfrm>
        </p:spPr>
        <p:txBody>
          <a:bodyPr>
            <a:normAutofit/>
          </a:bodyPr>
          <a:lstStyle/>
          <a:p>
            <a:pPr eaLnBrk="1" hangingPunct="1"/>
            <a:r>
              <a:rPr lang="en-GB" dirty="0"/>
              <a:t>Earning your grade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970031"/>
              </p:ext>
            </p:extLst>
          </p:nvPr>
        </p:nvGraphicFramePr>
        <p:xfrm>
          <a:off x="1187624" y="1268760"/>
          <a:ext cx="6984777" cy="5330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05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3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833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 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 Action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 Completed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525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Step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Complete all 5 Labs before starting on your final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i="1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833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Step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Final Assignment (FA) ingredients: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 %    (leerdoel)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525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Architecture (schematics and drawings) with basic **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20%   (LD1)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525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VHDL code of all </a:t>
                      </a:r>
                      <a:r>
                        <a:rPr lang="nl-NL" dirty="0" err="1"/>
                        <a:t>architectural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functions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and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justification</a:t>
                      </a:r>
                      <a:r>
                        <a:rPr lang="nl-NL" dirty="0"/>
                        <a:t> in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40%   </a:t>
                      </a:r>
                      <a:r>
                        <a:rPr lang="nl-NL" sz="1600" dirty="0"/>
                        <a:t>(LD2,LD3)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833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A functional VHDL Test Bench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20%   (LD4)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525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A working FPGA prototype with the basic**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/>
                        <a:t>20%   (LD5)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57542">
                <a:tc>
                  <a:txBody>
                    <a:bodyPr/>
                    <a:lstStyle/>
                    <a:p>
                      <a:pPr algn="ctr"/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sz="1600" i="1" dirty="0"/>
                        <a:t>** basic functionality (complexity) may be expanded to include additional features for a higher grade. This is agreed upon before starting this assignment. Basic functionality </a:t>
                      </a:r>
                      <a:r>
                        <a:rPr lang="nl-NL" sz="1600" i="1"/>
                        <a:t>= 6</a:t>
                      </a:r>
                      <a:endParaRPr lang="nl-NL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833">
                <a:tc>
                  <a:txBody>
                    <a:bodyPr/>
                    <a:lstStyle/>
                    <a:p>
                      <a:pPr algn="ctr"/>
                      <a:r>
                        <a:rPr lang="nl-NL" dirty="0"/>
                        <a:t>HT1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nl-NL" dirty="0" err="1"/>
                        <a:t>Retake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596280" y="6597352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pt-BR" dirty="0"/>
              <a:t>EAS ELE HWP01 WK1 V1.0</a:t>
            </a:r>
            <a:endParaRPr lang="en-GB" dirty="0"/>
          </a:p>
        </p:txBody>
      </p:sp>
      <p:sp>
        <p:nvSpPr>
          <p:cNvPr id="2" name="Tekstvak 1"/>
          <p:cNvSpPr txBox="1"/>
          <p:nvPr/>
        </p:nvSpPr>
        <p:spPr>
          <a:xfrm>
            <a:off x="611176" y="836712"/>
            <a:ext cx="6895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b="1" dirty="0"/>
              <a:t>In the course manual you will find the the following  </a:t>
            </a:r>
          </a:p>
        </p:txBody>
      </p:sp>
    </p:spTree>
    <p:extLst>
      <p:ext uri="{BB962C8B-B14F-4D97-AF65-F5344CB8AC3E}">
        <p14:creationId xmlns:p14="http://schemas.microsoft.com/office/powerpoint/2010/main" val="122016528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/>
              <a:t>Agenda</a:t>
            </a:r>
            <a:endParaRPr lang="en-GB" sz="3600" dirty="0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b="1" dirty="0">
                <a:solidFill>
                  <a:srgbClr val="FF0000"/>
                </a:solidFill>
              </a:rPr>
              <a:t>Introduction to digital systems and FPGAs</a:t>
            </a:r>
          </a:p>
          <a:p>
            <a:pPr eaLnBrk="1" hangingPunct="1"/>
            <a:r>
              <a:rPr lang="en-GB" dirty="0"/>
              <a:t>Structured digital design</a:t>
            </a:r>
          </a:p>
          <a:p>
            <a:r>
              <a:rPr lang="en-GB" dirty="0"/>
              <a:t>Modelling concepts in VHDL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Computing </a:t>
            </a:r>
            <a:r>
              <a:rPr lang="nl-NL" dirty="0" err="1"/>
              <a:t>realization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b="1" dirty="0"/>
              <a:t>Software programmed processors: </a:t>
            </a:r>
            <a:r>
              <a:rPr lang="nl-NL" dirty="0"/>
              <a:t>software flexibility, fixed instructions and performance is </a:t>
            </a:r>
            <a:r>
              <a:rPr lang="nl-NL" dirty="0" err="1"/>
              <a:t>limited</a:t>
            </a:r>
            <a:r>
              <a:rPr lang="nl-NL" dirty="0"/>
              <a:t>.</a:t>
            </a:r>
          </a:p>
          <a:p>
            <a:r>
              <a:rPr lang="nl-NL" b="1" dirty="0"/>
              <a:t>Application Specific Integrated Circuits (ASIC)</a:t>
            </a:r>
            <a:r>
              <a:rPr lang="nl-NL" dirty="0"/>
              <a:t>: expensive, time consuming, best performance.</a:t>
            </a:r>
          </a:p>
          <a:p>
            <a:r>
              <a:rPr lang="nl-NL" b="1" dirty="0"/>
              <a:t>Reconfigurable computing:  </a:t>
            </a:r>
            <a:r>
              <a:rPr lang="nl-NL" dirty="0"/>
              <a:t>high flexibility, good performance and fills the gap between hardware and software. </a:t>
            </a:r>
            <a:r>
              <a:rPr lang="nl-NL" dirty="0" err="1"/>
              <a:t>This</a:t>
            </a:r>
            <a:r>
              <a:rPr lang="nl-NL" dirty="0"/>
              <a:t> is the domain of </a:t>
            </a:r>
            <a:r>
              <a:rPr lang="nl-NL" dirty="0" err="1"/>
              <a:t>FPGAs</a:t>
            </a:r>
            <a:r>
              <a:rPr lang="nl-NL" dirty="0"/>
              <a:t>.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40291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Digital Logic:  1980’s vs today FPGA</a:t>
            </a:r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852275"/>
            <a:ext cx="5139090" cy="2890738"/>
          </a:xfrm>
        </p:spPr>
      </p:pic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10</a:t>
            </a:fld>
            <a:endParaRPr lang="nl-NL" dirty="0"/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560" y="3294023"/>
            <a:ext cx="3960440" cy="29703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0957884-0867-482B-8249-8DDB9F0E37E5}"/>
              </a:ext>
            </a:extLst>
          </p:cNvPr>
          <p:cNvSpPr/>
          <p:nvPr/>
        </p:nvSpPr>
        <p:spPr>
          <a:xfrm>
            <a:off x="2267744" y="5157192"/>
            <a:ext cx="3835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dirty="0"/>
              <a:t>Field-programmable Gate Array (FPGA)</a:t>
            </a:r>
          </a:p>
        </p:txBody>
      </p:sp>
    </p:spTree>
    <p:extLst>
      <p:ext uri="{BB962C8B-B14F-4D97-AF65-F5344CB8AC3E}">
        <p14:creationId xmlns:p14="http://schemas.microsoft.com/office/powerpoint/2010/main" val="1238992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E6B0D-BABF-42D4-9DE1-C9A2348C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Transistor count for key FPGA families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15CBA7-729B-457A-8809-063BF2BD8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03" y="1218145"/>
            <a:ext cx="8266018" cy="407339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B32CCF-83B5-49C9-AC77-F154068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518FD-64EF-45E7-88EF-7E1C19FB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11</a:t>
            </a:fld>
            <a:endParaRPr lang="nl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ED3FBC-9E7B-466B-8BCF-34A370A488EB}"/>
              </a:ext>
            </a:extLst>
          </p:cNvPr>
          <p:cNvSpPr/>
          <p:nvPr/>
        </p:nvSpPr>
        <p:spPr>
          <a:xfrm>
            <a:off x="453164" y="5904504"/>
            <a:ext cx="86908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400" dirty="0"/>
              <a:t>Source: </a:t>
            </a:r>
            <a:r>
              <a:rPr lang="nl-NL" sz="1400" dirty="0">
                <a:hlinkClick r:id="rId3"/>
              </a:rPr>
              <a:t>https://www.napatech.com/road-to-fpga-reconfigurable-computing/</a:t>
            </a:r>
            <a:r>
              <a:rPr lang="nl-NL" sz="1400" dirty="0"/>
              <a:t>   2018</a:t>
            </a:r>
          </a:p>
          <a:p>
            <a:endParaRPr lang="nl-N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B90430-811A-4971-BA3F-DB0C8E536571}"/>
              </a:ext>
            </a:extLst>
          </p:cNvPr>
          <p:cNvSpPr/>
          <p:nvPr/>
        </p:nvSpPr>
        <p:spPr>
          <a:xfrm>
            <a:off x="392071" y="3501009"/>
            <a:ext cx="8359857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2429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Comparison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67544" y="905679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Field-programmable Gate Array (FPGA)</a:t>
            </a:r>
          </a:p>
          <a:p>
            <a:pPr marL="0" indent="0">
              <a:buNone/>
            </a:pPr>
            <a:r>
              <a:rPr lang="en-US" sz="1400" dirty="0"/>
              <a:t>	semiconductor versions of the Swiss Army Knife.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nl-NL" sz="1400" dirty="0"/>
          </a:p>
          <a:p>
            <a:pPr marL="0" indent="0">
              <a:buNone/>
            </a:pPr>
            <a:r>
              <a:rPr lang="nl-NL" dirty="0"/>
              <a:t>Microcontrollers</a:t>
            </a:r>
            <a:r>
              <a:rPr lang="nl-NL" sz="1400" dirty="0"/>
              <a:t>  </a:t>
            </a:r>
            <a:r>
              <a:rPr lang="nl-NL" dirty="0"/>
              <a:t>vs. FPGA’s</a:t>
            </a:r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12</a:t>
            </a:fld>
            <a:endParaRPr lang="nl-N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9D12F5-BB11-4059-8729-E19A94A40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044592"/>
              </p:ext>
            </p:extLst>
          </p:nvPr>
        </p:nvGraphicFramePr>
        <p:xfrm>
          <a:off x="567384" y="2852936"/>
          <a:ext cx="8225255" cy="348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5782">
                  <a:extLst>
                    <a:ext uri="{9D8B030D-6E8A-4147-A177-3AD203B41FA5}">
                      <a16:colId xmlns:a16="http://schemas.microsoft.com/office/drawing/2014/main" val="4001850100"/>
                    </a:ext>
                  </a:extLst>
                </a:gridCol>
                <a:gridCol w="3619473">
                  <a:extLst>
                    <a:ext uri="{9D8B030D-6E8A-4147-A177-3AD203B41FA5}">
                      <a16:colId xmlns:a16="http://schemas.microsoft.com/office/drawing/2014/main" val="4145731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Microcontroller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FPGA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2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Programming languages (C, C++, Assembly)</a:t>
                      </a:r>
                    </a:p>
                    <a:p>
                      <a:r>
                        <a:rPr lang="nl-NL" dirty="0"/>
                        <a:t>Optimized for general purpose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Programming Languages VHDL, Verilog, Open Computing Language;</a:t>
                      </a:r>
                    </a:p>
                    <a:p>
                      <a:r>
                        <a:rPr lang="nl-NL" dirty="0"/>
                        <a:t>Or use Schematics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290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Control over the Software; </a:t>
                      </a:r>
                    </a:p>
                    <a:p>
                      <a:r>
                        <a:rPr lang="nl-NL" dirty="0"/>
                        <a:t>10’s to 100’s of cores.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Control over the Hardware; Hardware timed execution; </a:t>
                      </a:r>
                    </a:p>
                    <a:p>
                      <a:r>
                        <a:rPr lang="nl-NL" dirty="0"/>
                        <a:t>millions of progammable digital logic cells.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167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Predefined instruction set and datapath widths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No predefined instruction set or datapath widths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10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Reprogrammable - unlimited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Reconfigurable - unlimited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01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343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13</a:t>
            </a:fld>
            <a:endParaRPr lang="nl-NL" dirty="0"/>
          </a:p>
        </p:txBody>
      </p:sp>
      <p:pic>
        <p:nvPicPr>
          <p:cNvPr id="6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5" y="188640"/>
            <a:ext cx="8686801" cy="623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01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Technology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Digital component. </a:t>
            </a:r>
          </a:p>
          <a:p>
            <a:r>
              <a:rPr lang="nl-NL" dirty="0"/>
              <a:t>3 building blocks: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14</a:t>
            </a:fld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1F1303-80AA-4C7A-9102-39334F398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637272"/>
            <a:ext cx="7488832" cy="411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45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0"/>
            <a:ext cx="8568952" cy="764704"/>
          </a:xfrm>
        </p:spPr>
        <p:txBody>
          <a:bodyPr>
            <a:noAutofit/>
          </a:bodyPr>
          <a:lstStyle/>
          <a:p>
            <a:r>
              <a:rPr lang="en-GB" sz="2800" dirty="0"/>
              <a:t>Technology – Logic Blocks</a:t>
            </a:r>
            <a:br>
              <a:rPr lang="en-GB" sz="2800" dirty="0"/>
            </a:br>
            <a:r>
              <a:rPr lang="en-GB" sz="2800" dirty="0"/>
              <a:t>A basic logic building block is the Logic Element</a:t>
            </a:r>
          </a:p>
        </p:txBody>
      </p:sp>
      <p:pic>
        <p:nvPicPr>
          <p:cNvPr id="71692" name="Picture 1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792017" y="3793812"/>
            <a:ext cx="3810000" cy="1398587"/>
          </a:xfrm>
          <a:noFill/>
        </p:spPr>
      </p:pic>
      <p:sp>
        <p:nvSpPr>
          <p:cNvPr id="7168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3568" y="1492045"/>
            <a:ext cx="3810000" cy="4329113"/>
          </a:xfrm>
        </p:spPr>
        <p:txBody>
          <a:bodyPr/>
          <a:lstStyle/>
          <a:p>
            <a:endParaRPr lang="en-GB" sz="1800" dirty="0"/>
          </a:p>
        </p:txBody>
      </p: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671736" y="5846544"/>
            <a:ext cx="816927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en-GB" sz="1800" dirty="0">
                <a:solidFill>
                  <a:schemeClr val="tx1"/>
                </a:solidFill>
                <a:latin typeface="Univers" pitchFamily="34" charset="0"/>
              </a:rPr>
              <a:t>If we bypass the flip-flop using the multiplexer, what is the function of this </a:t>
            </a:r>
            <a:r>
              <a:rPr lang="en-GB" dirty="0">
                <a:latin typeface="Univers" pitchFamily="34" charset="0"/>
              </a:rPr>
              <a:t>Logic Element</a:t>
            </a:r>
            <a:r>
              <a:rPr lang="en-GB" sz="1800" dirty="0">
                <a:solidFill>
                  <a:schemeClr val="tx1"/>
                </a:solidFill>
                <a:latin typeface="Univers" pitchFamily="34" charset="0"/>
              </a:rPr>
              <a:t>?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171418"/>
              </p:ext>
            </p:extLst>
          </p:nvPr>
        </p:nvGraphicFramePr>
        <p:xfrm>
          <a:off x="683568" y="3336013"/>
          <a:ext cx="2952327" cy="2314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7364">
                <a:tc gridSpan="4">
                  <a:txBody>
                    <a:bodyPr/>
                    <a:lstStyle/>
                    <a:p>
                      <a:pPr algn="ctr"/>
                      <a:r>
                        <a:rPr lang="nl-NL" dirty="0"/>
                        <a:t>LUT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387">
                <a:tc>
                  <a:txBody>
                    <a:bodyPr/>
                    <a:lstStyle/>
                    <a:p>
                      <a:r>
                        <a:rPr lang="nl-NL" b="1" dirty="0">
                          <a:solidFill>
                            <a:schemeClr val="bg1"/>
                          </a:solidFill>
                        </a:rPr>
                        <a:t>A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1" dirty="0">
                          <a:solidFill>
                            <a:schemeClr val="bg1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1" dirty="0">
                          <a:solidFill>
                            <a:schemeClr val="bg1"/>
                          </a:solidFill>
                        </a:rPr>
                        <a:t>C…F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1" dirty="0">
                          <a:solidFill>
                            <a:schemeClr val="bg1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4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364"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364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364"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15</a:t>
            </a:fld>
            <a:endParaRPr lang="nl-NL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417365-6545-42A0-8E00-C27605AFE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812701"/>
            <a:ext cx="5029200" cy="120015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9F949BF-7581-478B-BDBB-232347EFE98B}"/>
              </a:ext>
            </a:extLst>
          </p:cNvPr>
          <p:cNvCxnSpPr/>
          <p:nvPr/>
        </p:nvCxnSpPr>
        <p:spPr>
          <a:xfrm>
            <a:off x="2339752" y="2420888"/>
            <a:ext cx="0" cy="56486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BA56F5F-91E6-45F3-A5FF-8C740A294039}"/>
              </a:ext>
            </a:extLst>
          </p:cNvPr>
          <p:cNvSpPr txBox="1"/>
          <p:nvPr/>
        </p:nvSpPr>
        <p:spPr>
          <a:xfrm>
            <a:off x="6012160" y="3204421"/>
            <a:ext cx="14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Logic Element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4ECCA0-0B9A-475A-A4B1-C28EA9E8BE72}"/>
              </a:ext>
            </a:extLst>
          </p:cNvPr>
          <p:cNvSpPr txBox="1"/>
          <p:nvPr/>
        </p:nvSpPr>
        <p:spPr>
          <a:xfrm>
            <a:off x="2521579" y="2428461"/>
            <a:ext cx="3667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Synthesis (programmed into the LUT)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A49403-9E65-4A49-A624-0C08CF033C26}"/>
              </a:ext>
            </a:extLst>
          </p:cNvPr>
          <p:cNvSpPr txBox="1"/>
          <p:nvPr/>
        </p:nvSpPr>
        <p:spPr>
          <a:xfrm>
            <a:off x="8173854" y="4493105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17441056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16</a:t>
            </a:fld>
            <a:endParaRPr lang="nl-NL" dirty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912" y="993060"/>
            <a:ext cx="6934200" cy="5200650"/>
          </a:xfrm>
          <a:prstGeom prst="rect">
            <a:avLst/>
          </a:prstGeom>
        </p:spPr>
      </p:pic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Technology - Interconnections</a:t>
            </a:r>
          </a:p>
        </p:txBody>
      </p:sp>
    </p:spTree>
    <p:extLst>
      <p:ext uri="{BB962C8B-B14F-4D97-AF65-F5344CB8AC3E}">
        <p14:creationId xmlns:p14="http://schemas.microsoft.com/office/powerpoint/2010/main" val="3805951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9552" y="147030"/>
            <a:ext cx="8352928" cy="761690"/>
          </a:xfrm>
        </p:spPr>
        <p:txBody>
          <a:bodyPr>
            <a:normAutofit/>
          </a:bodyPr>
          <a:lstStyle/>
          <a:p>
            <a:r>
              <a:rPr lang="nl-NL" sz="3200" dirty="0"/>
              <a:t>THE DE1 development </a:t>
            </a:r>
            <a:r>
              <a:rPr lang="nl-NL" sz="3200" dirty="0" err="1"/>
              <a:t>BoarD</a:t>
            </a:r>
            <a:endParaRPr lang="nl-NL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17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9A29A4-709E-84C9-356A-E9943FD08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" y="995697"/>
            <a:ext cx="721042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09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/>
              <a:t>Agenda</a:t>
            </a:r>
            <a:endParaRPr lang="en-GB" sz="3600" dirty="0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b="1" dirty="0"/>
              <a:t>Introduction to digital systems and FPGAs</a:t>
            </a:r>
          </a:p>
          <a:p>
            <a:pPr eaLnBrk="1" hangingPunct="1"/>
            <a:r>
              <a:rPr lang="en-GB" dirty="0">
                <a:solidFill>
                  <a:srgbClr val="FF0000"/>
                </a:solidFill>
              </a:rPr>
              <a:t>Structured digital design</a:t>
            </a:r>
          </a:p>
          <a:p>
            <a:r>
              <a:rPr lang="en-GB" dirty="0"/>
              <a:t>Modelling concepts in VHDL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18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302087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Structured</a:t>
            </a:r>
            <a:r>
              <a:rPr lang="nl-NL" dirty="0"/>
              <a:t> digital design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Determine</a:t>
            </a:r>
            <a:r>
              <a:rPr lang="nl-NL" dirty="0"/>
              <a:t> the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want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perform</a:t>
            </a:r>
            <a:endParaRPr lang="nl-NL" dirty="0"/>
          </a:p>
          <a:p>
            <a:pPr lvl="1"/>
            <a:r>
              <a:rPr lang="nl-NL" sz="2800" b="1" dirty="0"/>
              <a:t>Architecture</a:t>
            </a:r>
            <a:endParaRPr lang="nl-NL" b="1" dirty="0"/>
          </a:p>
          <a:p>
            <a:r>
              <a:rPr lang="nl-NL" dirty="0" err="1"/>
              <a:t>Find</a:t>
            </a:r>
            <a:r>
              <a:rPr lang="nl-NL" dirty="0"/>
              <a:t> a </a:t>
            </a:r>
            <a:r>
              <a:rPr lang="nl-NL" dirty="0" err="1"/>
              <a:t>method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implement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test the </a:t>
            </a:r>
            <a:r>
              <a:rPr lang="nl-NL" dirty="0" err="1"/>
              <a:t>function</a:t>
            </a:r>
            <a:endParaRPr lang="nl-NL" dirty="0"/>
          </a:p>
          <a:p>
            <a:pPr lvl="1"/>
            <a:r>
              <a:rPr lang="nl-NL" sz="2800" b="1" dirty="0" err="1"/>
              <a:t>Implementation</a:t>
            </a:r>
            <a:endParaRPr lang="nl-NL" sz="2800" b="1" dirty="0"/>
          </a:p>
          <a:p>
            <a:pPr lvl="1"/>
            <a:r>
              <a:rPr lang="nl-NL" sz="2800" b="1" dirty="0" err="1"/>
              <a:t>Simulation</a:t>
            </a:r>
            <a:r>
              <a:rPr lang="nl-NL" sz="2800" b="1" dirty="0"/>
              <a:t> (TDD)</a:t>
            </a:r>
          </a:p>
          <a:p>
            <a:r>
              <a:rPr lang="nl-NL" dirty="0" err="1"/>
              <a:t>Use</a:t>
            </a:r>
            <a:r>
              <a:rPr lang="nl-NL" dirty="0"/>
              <a:t> tools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materialize</a:t>
            </a:r>
            <a:r>
              <a:rPr lang="nl-NL" dirty="0"/>
              <a:t> the </a:t>
            </a:r>
            <a:r>
              <a:rPr lang="nl-NL" dirty="0" err="1"/>
              <a:t>method</a:t>
            </a:r>
            <a:endParaRPr lang="nl-NL" dirty="0"/>
          </a:p>
          <a:p>
            <a:pPr lvl="1"/>
            <a:r>
              <a:rPr lang="nl-NL" sz="2800" b="1" dirty="0" err="1"/>
              <a:t>Realization</a:t>
            </a:r>
            <a:endParaRPr lang="nl-NL" sz="2800" b="1" dirty="0"/>
          </a:p>
          <a:p>
            <a:r>
              <a:rPr lang="nl-NL" sz="3200" dirty="0" err="1"/>
              <a:t>Verify</a:t>
            </a:r>
            <a:r>
              <a:rPr lang="nl-NL" sz="3200" dirty="0"/>
              <a:t> </a:t>
            </a:r>
            <a:r>
              <a:rPr lang="nl-NL" sz="3200" dirty="0" err="1"/>
              <a:t>your</a:t>
            </a:r>
            <a:r>
              <a:rPr lang="nl-NL" sz="3200" dirty="0"/>
              <a:t> design</a:t>
            </a:r>
          </a:p>
          <a:p>
            <a:pPr lvl="1"/>
            <a:r>
              <a:rPr lang="nl-NL" sz="2800" b="1" dirty="0"/>
              <a:t>Evaluation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19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2055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Example VHDL code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20</a:t>
            </a:fld>
            <a:endParaRPr lang="nl-NL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832" y="1313637"/>
            <a:ext cx="6864360" cy="2546896"/>
          </a:xfrm>
          <a:prstGeom prst="rect">
            <a:avLst/>
          </a:prstGeom>
        </p:spPr>
      </p:pic>
      <p:sp>
        <p:nvSpPr>
          <p:cNvPr id="9" name="Tekstvak 8"/>
          <p:cNvSpPr txBox="1"/>
          <p:nvPr/>
        </p:nvSpPr>
        <p:spPr>
          <a:xfrm>
            <a:off x="862396" y="4255834"/>
            <a:ext cx="803155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Import the necessary libraries</a:t>
            </a:r>
          </a:p>
          <a:p>
            <a:endParaRPr lang="en-US" dirty="0"/>
          </a:p>
          <a:p>
            <a:r>
              <a:rPr lang="en-US" dirty="0"/>
              <a:t>2. An entity block is the beginning building block of a VHDL design. </a:t>
            </a:r>
          </a:p>
          <a:p>
            <a:r>
              <a:rPr lang="en-US" dirty="0"/>
              <a:t>Each design has only one entity block which describes the interface signals into </a:t>
            </a:r>
          </a:p>
          <a:p>
            <a:r>
              <a:rPr lang="en-US" dirty="0"/>
              <a:t>and out of the design unit.</a:t>
            </a:r>
          </a:p>
          <a:p>
            <a:endParaRPr lang="en-US" dirty="0"/>
          </a:p>
          <a:p>
            <a:r>
              <a:rPr lang="en-US" dirty="0"/>
              <a:t>3. Architecture block defines how the entity operates using Structural or Behavioral </a:t>
            </a:r>
          </a:p>
          <a:p>
            <a:r>
              <a:rPr lang="en-US" dirty="0"/>
              <a:t>Code. This example is using behavioral code.</a:t>
            </a:r>
            <a:endParaRPr lang="nl-N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F1E30F-EFCB-41E8-B20A-4B58ABCDE489}"/>
              </a:ext>
            </a:extLst>
          </p:cNvPr>
          <p:cNvSpPr/>
          <p:nvPr/>
        </p:nvSpPr>
        <p:spPr>
          <a:xfrm>
            <a:off x="3995936" y="1290568"/>
            <a:ext cx="4116256" cy="5760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3A2613-27BD-4CAF-B230-8230D2BDE7DC}"/>
              </a:ext>
            </a:extLst>
          </p:cNvPr>
          <p:cNvSpPr/>
          <p:nvPr/>
        </p:nvSpPr>
        <p:spPr>
          <a:xfrm>
            <a:off x="3971708" y="1989669"/>
            <a:ext cx="4140484" cy="891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E45B95-5C2B-4725-B83E-50BBA9E749DB}"/>
              </a:ext>
            </a:extLst>
          </p:cNvPr>
          <p:cNvSpPr/>
          <p:nvPr/>
        </p:nvSpPr>
        <p:spPr>
          <a:xfrm>
            <a:off x="3971708" y="2880927"/>
            <a:ext cx="4140484" cy="11241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65D0B-22B0-4C8C-B2F5-D370669D1877}"/>
              </a:ext>
            </a:extLst>
          </p:cNvPr>
          <p:cNvSpPr txBox="1"/>
          <p:nvPr/>
        </p:nvSpPr>
        <p:spPr>
          <a:xfrm>
            <a:off x="3363144" y="1772816"/>
            <a:ext cx="416768" cy="3761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43216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From VHDL to FPGA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21</a:t>
            </a:fld>
            <a:endParaRPr lang="nl-NL" dirty="0"/>
          </a:p>
        </p:txBody>
      </p:sp>
      <p:sp>
        <p:nvSpPr>
          <p:cNvPr id="22" name="Tijdelijke aanduiding voor inhoud 7"/>
          <p:cNvSpPr>
            <a:spLocks/>
          </p:cNvSpPr>
          <p:nvPr/>
        </p:nvSpPr>
        <p:spPr bwMode="auto">
          <a:xfrm>
            <a:off x="1187624" y="1412776"/>
            <a:ext cx="3528392" cy="1152128"/>
          </a:xfrm>
          <a:prstGeom prst="rect">
            <a:avLst/>
          </a:prstGeom>
          <a:ln>
            <a:headEnd/>
            <a:tailEnd/>
          </a:ln>
          <a:effectLst>
            <a:outerShdw dist="1270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ENTITY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inverter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PORT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IN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</a:t>
            </a:r>
            <a:r>
              <a:rPr lang="en-GB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        b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: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OUT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 dirty="0">
                <a:solidFill>
                  <a:srgbClr val="8000FF"/>
                </a:solidFill>
                <a:highlight>
                  <a:srgbClr val="FFFFFF"/>
                </a:highlight>
                <a:latin typeface="Courier New"/>
                <a:ea typeface="SimSun"/>
              </a:rPr>
              <a:t>STD_LOGIC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en-GB" sz="1600" b="1" dirty="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inverter</a:t>
            </a:r>
            <a:r>
              <a:rPr lang="en-GB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 dirty="0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None/>
            </a:pPr>
            <a:endParaRPr lang="en-GB" sz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TextBox 8"/>
          <p:cNvSpPr txBox="1"/>
          <p:nvPr/>
        </p:nvSpPr>
        <p:spPr>
          <a:xfrm>
            <a:off x="5004048" y="1340768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400" b="1"/>
              <a:t>=</a:t>
            </a:r>
            <a:endParaRPr lang="en-GB" b="1" dirty="0"/>
          </a:p>
        </p:txBody>
      </p:sp>
      <p:sp>
        <p:nvSpPr>
          <p:cNvPr id="24" name="Freeform 9"/>
          <p:cNvSpPr/>
          <p:nvPr/>
        </p:nvSpPr>
        <p:spPr>
          <a:xfrm>
            <a:off x="6516216" y="1484784"/>
            <a:ext cx="648072" cy="864095"/>
          </a:xfrm>
          <a:custGeom>
            <a:avLst/>
            <a:gdLst>
              <a:gd name="connsiteX0" fmla="*/ 0 w 216024"/>
              <a:gd name="connsiteY0" fmla="*/ 216024 h 216024"/>
              <a:gd name="connsiteX1" fmla="*/ 108012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0 w 216024"/>
              <a:gd name="connsiteY0" fmla="*/ 216024 h 216024"/>
              <a:gd name="connsiteX1" fmla="*/ 0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36004 w 252028"/>
              <a:gd name="connsiteY0" fmla="*/ 216024 h 240027"/>
              <a:gd name="connsiteX1" fmla="*/ 36004 w 252028"/>
              <a:gd name="connsiteY1" fmla="*/ 0 h 240027"/>
              <a:gd name="connsiteX2" fmla="*/ 252028 w 252028"/>
              <a:gd name="connsiteY2" fmla="*/ 144016 h 240027"/>
              <a:gd name="connsiteX3" fmla="*/ 36004 w 252028"/>
              <a:gd name="connsiteY3" fmla="*/ 216024 h 240027"/>
              <a:gd name="connsiteX0" fmla="*/ 36004 w 324036"/>
              <a:gd name="connsiteY0" fmla="*/ 360040 h 384043"/>
              <a:gd name="connsiteX1" fmla="*/ 108012 w 324036"/>
              <a:gd name="connsiteY1" fmla="*/ 0 h 384043"/>
              <a:gd name="connsiteX2" fmla="*/ 324036 w 324036"/>
              <a:gd name="connsiteY2" fmla="*/ 144016 h 384043"/>
              <a:gd name="connsiteX3" fmla="*/ 36004 w 324036"/>
              <a:gd name="connsiteY3" fmla="*/ 360040 h 384043"/>
              <a:gd name="connsiteX0" fmla="*/ 48005 w 336037"/>
              <a:gd name="connsiteY0" fmla="*/ 288032 h 300033"/>
              <a:gd name="connsiteX1" fmla="*/ 48005 w 336037"/>
              <a:gd name="connsiteY1" fmla="*/ 0 h 300033"/>
              <a:gd name="connsiteX2" fmla="*/ 336037 w 336037"/>
              <a:gd name="connsiteY2" fmla="*/ 72008 h 300033"/>
              <a:gd name="connsiteX3" fmla="*/ 48005 w 336037"/>
              <a:gd name="connsiteY3" fmla="*/ 288032 h 300033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288032"/>
              <a:gd name="connsiteX1" fmla="*/ 0 w 144017"/>
              <a:gd name="connsiteY1" fmla="*/ 0 h 288032"/>
              <a:gd name="connsiteX2" fmla="*/ 144017 w 144017"/>
              <a:gd name="connsiteY2" fmla="*/ 144016 h 288032"/>
              <a:gd name="connsiteX3" fmla="*/ 0 w 144017"/>
              <a:gd name="connsiteY3" fmla="*/ 288032 h 28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017" h="288032">
                <a:moveTo>
                  <a:pt x="0" y="288032"/>
                </a:moveTo>
                <a:lnTo>
                  <a:pt x="0" y="0"/>
                </a:lnTo>
                <a:lnTo>
                  <a:pt x="144017" y="144016"/>
                </a:lnTo>
                <a:cubicBezTo>
                  <a:pt x="62583" y="212221"/>
                  <a:pt x="71083" y="205234"/>
                  <a:pt x="0" y="288032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27" name="Frame 15"/>
          <p:cNvSpPr/>
          <p:nvPr/>
        </p:nvSpPr>
        <p:spPr>
          <a:xfrm>
            <a:off x="6156176" y="1052736"/>
            <a:ext cx="1512168" cy="1728192"/>
          </a:xfrm>
          <a:prstGeom prst="frame">
            <a:avLst>
              <a:gd name="adj1" fmla="val 20321"/>
            </a:avLst>
          </a:prstGeom>
          <a:solidFill>
            <a:schemeClr val="accent2">
              <a:lumMod val="25000"/>
              <a:lumOff val="75000"/>
              <a:alpha val="39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8" name="Tekstvak 27"/>
          <p:cNvSpPr txBox="1"/>
          <p:nvPr/>
        </p:nvSpPr>
        <p:spPr>
          <a:xfrm>
            <a:off x="5724128" y="134076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/>
              <a:t>A</a:t>
            </a:r>
          </a:p>
        </p:txBody>
      </p:sp>
      <p:sp>
        <p:nvSpPr>
          <p:cNvPr id="29" name="Tekstvak 28"/>
          <p:cNvSpPr txBox="1"/>
          <p:nvPr/>
        </p:nvSpPr>
        <p:spPr>
          <a:xfrm>
            <a:off x="7668344" y="1340768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/>
              <a:t>B</a:t>
            </a:r>
          </a:p>
        </p:txBody>
      </p:sp>
      <p:sp>
        <p:nvSpPr>
          <p:cNvPr id="30" name="Tijdelijke aanduiding voor inhoud 7"/>
          <p:cNvSpPr>
            <a:spLocks/>
          </p:cNvSpPr>
          <p:nvPr/>
        </p:nvSpPr>
        <p:spPr bwMode="auto">
          <a:xfrm>
            <a:off x="860798" y="4365104"/>
            <a:ext cx="4752528" cy="1152128"/>
          </a:xfrm>
          <a:prstGeom prst="rect">
            <a:avLst/>
          </a:prstGeom>
          <a:ln>
            <a:headEnd/>
            <a:tailEnd/>
          </a:ln>
          <a:effectLst>
            <a:outerShdw dist="127000" dir="2700000" algn="ctr" rotWithShape="0">
              <a:srgbClr val="000000">
                <a:alpha val="5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ARCHITECTURE</a:t>
            </a:r>
            <a:r>
              <a:rPr lang="en-GB" sz="1600" b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voorbeeld </a:t>
            </a:r>
            <a:r>
              <a:rPr lang="en-GB" sz="160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OF</a:t>
            </a:r>
            <a:r>
              <a:rPr lang="en-GB" sz="1600" b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inverter </a:t>
            </a:r>
            <a:r>
              <a:rPr lang="en-GB" sz="160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IS</a:t>
            </a:r>
            <a:endParaRPr lang="en-GB" sz="1600" b="1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BEGIN</a:t>
            </a:r>
            <a:endParaRPr lang="en-GB" sz="1600" b="1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r>
              <a:rPr lang="en-GB" sz="1600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b </a:t>
            </a:r>
            <a:r>
              <a:rPr lang="en-GB" sz="1600" b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&lt;=</a:t>
            </a:r>
            <a:r>
              <a:rPr lang="en-GB" sz="1600" b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</a:t>
            </a:r>
            <a:r>
              <a:rPr lang="en-GB" sz="1600" b="1">
                <a:solidFill>
                  <a:srgbClr val="808000"/>
                </a:solidFill>
                <a:highlight>
                  <a:srgbClr val="FFFFFF"/>
                </a:highlight>
                <a:latin typeface="Courier New"/>
                <a:ea typeface="SimSun"/>
              </a:rPr>
              <a:t>NOT</a:t>
            </a:r>
            <a:r>
              <a:rPr lang="en-GB" sz="1600" b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(</a:t>
            </a:r>
            <a:r>
              <a:rPr lang="en-GB" sz="1600" b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a</a:t>
            </a:r>
            <a:r>
              <a:rPr lang="en-GB" sz="1600" b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);</a:t>
            </a:r>
            <a:r>
              <a:rPr lang="en-GB" sz="1600" b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	</a:t>
            </a:r>
          </a:p>
          <a:p>
            <a:r>
              <a:rPr lang="en-GB" sz="1600" b="1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SimSun"/>
              </a:rPr>
              <a:t>END</a:t>
            </a:r>
            <a:r>
              <a:rPr lang="en-GB" sz="1600" b="1">
                <a:solidFill>
                  <a:srgbClr val="000000"/>
                </a:solidFill>
                <a:highlight>
                  <a:srgbClr val="FFFFFF"/>
                </a:highlight>
                <a:latin typeface="Courier New"/>
                <a:ea typeface="SimSun"/>
              </a:rPr>
              <a:t> voorbeeld</a:t>
            </a:r>
            <a:r>
              <a:rPr lang="en-GB" sz="1600" b="1">
                <a:solidFill>
                  <a:srgbClr val="000080"/>
                </a:solidFill>
                <a:highlight>
                  <a:srgbClr val="FFFFFF"/>
                </a:highlight>
                <a:latin typeface="Courier New"/>
                <a:ea typeface="SimSun"/>
              </a:rPr>
              <a:t>;</a:t>
            </a:r>
            <a:endParaRPr lang="en-GB" sz="1600" b="1">
              <a:solidFill>
                <a:srgbClr val="000000"/>
              </a:solidFill>
              <a:highlight>
                <a:srgbClr val="FFFFFF"/>
              </a:highlight>
              <a:latin typeface="Courier New"/>
              <a:ea typeface="SimSun"/>
            </a:endParaRPr>
          </a:p>
          <a:p>
            <a:pPr marL="342900" indent="-342900">
              <a:buClr>
                <a:srgbClr val="FF0000"/>
              </a:buClr>
              <a:buFont typeface="Wingdings" pitchFamily="2" charset="2"/>
              <a:buNone/>
            </a:pPr>
            <a:endParaRPr lang="en-GB" sz="12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901358" y="4293096"/>
            <a:ext cx="5040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400" b="1"/>
              <a:t>=</a:t>
            </a:r>
            <a:endParaRPr lang="en-GB" b="1" dirty="0"/>
          </a:p>
        </p:txBody>
      </p:sp>
      <p:cxnSp>
        <p:nvCxnSpPr>
          <p:cNvPr id="32" name="Straight Arrow Connector 10"/>
          <p:cNvCxnSpPr/>
          <p:nvPr/>
        </p:nvCxnSpPr>
        <p:spPr>
          <a:xfrm>
            <a:off x="6765454" y="4797153"/>
            <a:ext cx="7920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11"/>
          <p:cNvCxnSpPr/>
          <p:nvPr/>
        </p:nvCxnSpPr>
        <p:spPr>
          <a:xfrm>
            <a:off x="8349630" y="4797153"/>
            <a:ext cx="7920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13"/>
          <p:cNvSpPr txBox="1"/>
          <p:nvPr/>
        </p:nvSpPr>
        <p:spPr>
          <a:xfrm>
            <a:off x="6765454" y="436510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</a:t>
            </a:r>
            <a:endParaRPr lang="en-GB" dirty="0"/>
          </a:p>
        </p:txBody>
      </p:sp>
      <p:sp>
        <p:nvSpPr>
          <p:cNvPr id="35" name="TextBox 14"/>
          <p:cNvSpPr txBox="1"/>
          <p:nvPr/>
        </p:nvSpPr>
        <p:spPr>
          <a:xfrm>
            <a:off x="8637662" y="436510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b</a:t>
            </a:r>
            <a:endParaRPr lang="en-GB" dirty="0"/>
          </a:p>
        </p:txBody>
      </p:sp>
      <p:sp>
        <p:nvSpPr>
          <p:cNvPr id="36" name="Rectangle 16"/>
          <p:cNvSpPr/>
          <p:nvPr/>
        </p:nvSpPr>
        <p:spPr>
          <a:xfrm>
            <a:off x="7557542" y="4365104"/>
            <a:ext cx="792088" cy="864096"/>
          </a:xfrm>
          <a:prstGeom prst="rect">
            <a:avLst/>
          </a:prstGeom>
          <a:solidFill>
            <a:srgbClr val="92D050">
              <a:alpha val="32000"/>
            </a:srgbClr>
          </a:solidFill>
          <a:ln>
            <a:solidFill>
              <a:srgbClr val="00B050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37" name="Oval 12"/>
          <p:cNvSpPr/>
          <p:nvPr/>
        </p:nvSpPr>
        <p:spPr>
          <a:xfrm>
            <a:off x="7150571" y="1831107"/>
            <a:ext cx="157733" cy="157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38" name="Freeform 9"/>
          <p:cNvSpPr/>
          <p:nvPr/>
        </p:nvSpPr>
        <p:spPr>
          <a:xfrm>
            <a:off x="7590756" y="4365105"/>
            <a:ext cx="581644" cy="864095"/>
          </a:xfrm>
          <a:custGeom>
            <a:avLst/>
            <a:gdLst>
              <a:gd name="connsiteX0" fmla="*/ 0 w 216024"/>
              <a:gd name="connsiteY0" fmla="*/ 216024 h 216024"/>
              <a:gd name="connsiteX1" fmla="*/ 108012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0 w 216024"/>
              <a:gd name="connsiteY0" fmla="*/ 216024 h 216024"/>
              <a:gd name="connsiteX1" fmla="*/ 0 w 216024"/>
              <a:gd name="connsiteY1" fmla="*/ 0 h 216024"/>
              <a:gd name="connsiteX2" fmla="*/ 216024 w 216024"/>
              <a:gd name="connsiteY2" fmla="*/ 216024 h 216024"/>
              <a:gd name="connsiteX3" fmla="*/ 0 w 216024"/>
              <a:gd name="connsiteY3" fmla="*/ 216024 h 216024"/>
              <a:gd name="connsiteX0" fmla="*/ 36004 w 252028"/>
              <a:gd name="connsiteY0" fmla="*/ 216024 h 240027"/>
              <a:gd name="connsiteX1" fmla="*/ 36004 w 252028"/>
              <a:gd name="connsiteY1" fmla="*/ 0 h 240027"/>
              <a:gd name="connsiteX2" fmla="*/ 252028 w 252028"/>
              <a:gd name="connsiteY2" fmla="*/ 144016 h 240027"/>
              <a:gd name="connsiteX3" fmla="*/ 36004 w 252028"/>
              <a:gd name="connsiteY3" fmla="*/ 216024 h 240027"/>
              <a:gd name="connsiteX0" fmla="*/ 36004 w 324036"/>
              <a:gd name="connsiteY0" fmla="*/ 360040 h 384043"/>
              <a:gd name="connsiteX1" fmla="*/ 108012 w 324036"/>
              <a:gd name="connsiteY1" fmla="*/ 0 h 384043"/>
              <a:gd name="connsiteX2" fmla="*/ 324036 w 324036"/>
              <a:gd name="connsiteY2" fmla="*/ 144016 h 384043"/>
              <a:gd name="connsiteX3" fmla="*/ 36004 w 324036"/>
              <a:gd name="connsiteY3" fmla="*/ 360040 h 384043"/>
              <a:gd name="connsiteX0" fmla="*/ 48005 w 336037"/>
              <a:gd name="connsiteY0" fmla="*/ 288032 h 300033"/>
              <a:gd name="connsiteX1" fmla="*/ 48005 w 336037"/>
              <a:gd name="connsiteY1" fmla="*/ 0 h 300033"/>
              <a:gd name="connsiteX2" fmla="*/ 336037 w 336037"/>
              <a:gd name="connsiteY2" fmla="*/ 72008 h 300033"/>
              <a:gd name="connsiteX3" fmla="*/ 48005 w 336037"/>
              <a:gd name="connsiteY3" fmla="*/ 288032 h 300033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312035"/>
              <a:gd name="connsiteX1" fmla="*/ 0 w 144017"/>
              <a:gd name="connsiteY1" fmla="*/ 0 h 312035"/>
              <a:gd name="connsiteX2" fmla="*/ 144017 w 144017"/>
              <a:gd name="connsiteY2" fmla="*/ 144016 h 312035"/>
              <a:gd name="connsiteX3" fmla="*/ 0 w 144017"/>
              <a:gd name="connsiteY3" fmla="*/ 288032 h 312035"/>
              <a:gd name="connsiteX0" fmla="*/ 0 w 144017"/>
              <a:gd name="connsiteY0" fmla="*/ 288032 h 288032"/>
              <a:gd name="connsiteX1" fmla="*/ 0 w 144017"/>
              <a:gd name="connsiteY1" fmla="*/ 0 h 288032"/>
              <a:gd name="connsiteX2" fmla="*/ 144017 w 144017"/>
              <a:gd name="connsiteY2" fmla="*/ 144016 h 288032"/>
              <a:gd name="connsiteX3" fmla="*/ 0 w 144017"/>
              <a:gd name="connsiteY3" fmla="*/ 288032 h 28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017" h="288032">
                <a:moveTo>
                  <a:pt x="0" y="288032"/>
                </a:moveTo>
                <a:lnTo>
                  <a:pt x="0" y="0"/>
                </a:lnTo>
                <a:lnTo>
                  <a:pt x="144017" y="144016"/>
                </a:lnTo>
                <a:cubicBezTo>
                  <a:pt x="62583" y="212221"/>
                  <a:pt x="71083" y="205234"/>
                  <a:pt x="0" y="288032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39" name="Oval 12"/>
          <p:cNvSpPr/>
          <p:nvPr/>
        </p:nvSpPr>
        <p:spPr>
          <a:xfrm>
            <a:off x="8158683" y="4711428"/>
            <a:ext cx="157733" cy="1577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cxnSp>
        <p:nvCxnSpPr>
          <p:cNvPr id="25" name="Straight Arrow Connector 10"/>
          <p:cNvCxnSpPr/>
          <p:nvPr/>
        </p:nvCxnSpPr>
        <p:spPr>
          <a:xfrm>
            <a:off x="5724128" y="1916833"/>
            <a:ext cx="7920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11"/>
          <p:cNvCxnSpPr/>
          <p:nvPr/>
        </p:nvCxnSpPr>
        <p:spPr>
          <a:xfrm>
            <a:off x="7308304" y="1916833"/>
            <a:ext cx="79208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094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Structural</a:t>
            </a:r>
            <a:r>
              <a:rPr lang="nl-NL" dirty="0"/>
              <a:t> </a:t>
            </a:r>
            <a:r>
              <a:rPr lang="nl-NL" dirty="0" err="1"/>
              <a:t>decomposition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Top-down design: no </a:t>
            </a:r>
            <a:r>
              <a:rPr lang="nl-NL" dirty="0" err="1"/>
              <a:t>constraints</a:t>
            </a:r>
            <a:r>
              <a:rPr lang="nl-NL" dirty="0"/>
              <a:t> on the availability of hardware</a:t>
            </a:r>
          </a:p>
          <a:p>
            <a:endParaRPr lang="nl-NL" dirty="0"/>
          </a:p>
          <a:p>
            <a:r>
              <a:rPr lang="nl-NL" dirty="0"/>
              <a:t>Bottom-up design: design is </a:t>
            </a:r>
            <a:r>
              <a:rPr lang="nl-NL" dirty="0" err="1"/>
              <a:t>conditioned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what’s</a:t>
            </a:r>
            <a:r>
              <a:rPr lang="nl-NL" dirty="0"/>
              <a:t> </a:t>
            </a:r>
            <a:r>
              <a:rPr lang="nl-NL" dirty="0" err="1"/>
              <a:t>available</a:t>
            </a:r>
            <a:r>
              <a:rPr lang="nl-NL" dirty="0"/>
              <a:t> (e.g., the </a:t>
            </a:r>
            <a:r>
              <a:rPr lang="nl-NL" dirty="0" err="1"/>
              <a:t>number</a:t>
            </a:r>
            <a:r>
              <a:rPr lang="nl-NL" dirty="0"/>
              <a:t> of gates)</a:t>
            </a:r>
          </a:p>
          <a:p>
            <a:endParaRPr lang="nl-NL" dirty="0"/>
          </a:p>
          <a:p>
            <a:r>
              <a:rPr lang="nl-NL" dirty="0" err="1"/>
              <a:t>Typical</a:t>
            </a:r>
            <a:r>
              <a:rPr lang="nl-NL" dirty="0"/>
              <a:t> </a:t>
            </a:r>
            <a:r>
              <a:rPr lang="nl-NL" dirty="0" err="1"/>
              <a:t>dimensions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the Digital Design Space: speed, chip area (</a:t>
            </a:r>
            <a:r>
              <a:rPr lang="nl-NL" dirty="0" err="1"/>
              <a:t>cost</a:t>
            </a:r>
            <a:r>
              <a:rPr lang="nl-NL" dirty="0"/>
              <a:t>), power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09444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/>
              <a:t>Agenda</a:t>
            </a:r>
            <a:endParaRPr lang="en-GB" sz="3600" dirty="0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dirty="0"/>
              <a:t>Introduction to digital systems and FPGAs</a:t>
            </a:r>
          </a:p>
          <a:p>
            <a:pPr eaLnBrk="1" hangingPunct="1"/>
            <a:r>
              <a:rPr lang="en-GB" dirty="0"/>
              <a:t>Structured digital design</a:t>
            </a:r>
          </a:p>
          <a:p>
            <a:r>
              <a:rPr lang="en-GB" b="1" dirty="0">
                <a:solidFill>
                  <a:srgbClr val="FF0000"/>
                </a:solidFill>
              </a:rPr>
              <a:t>Modelling concepts in VHDL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23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431265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Simplified</a:t>
            </a:r>
            <a:r>
              <a:rPr lang="nl-NL" dirty="0"/>
              <a:t> VHDL Design Flow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24</a:t>
            </a:fld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1397851" y="1108688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Specifications</a:t>
            </a:r>
            <a:endParaRPr lang="nl-NL" dirty="0"/>
          </a:p>
        </p:txBody>
      </p:sp>
      <p:sp>
        <p:nvSpPr>
          <p:cNvPr id="8" name="Rechthoek 7"/>
          <p:cNvSpPr/>
          <p:nvPr/>
        </p:nvSpPr>
        <p:spPr>
          <a:xfrm>
            <a:off x="1404372" y="1986318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VHDL code</a:t>
            </a:r>
          </a:p>
        </p:txBody>
      </p:sp>
      <p:sp>
        <p:nvSpPr>
          <p:cNvPr id="10" name="Rechthoek 9"/>
          <p:cNvSpPr/>
          <p:nvPr/>
        </p:nvSpPr>
        <p:spPr>
          <a:xfrm>
            <a:off x="1410894" y="2884268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Analysis &amp; </a:t>
            </a:r>
            <a:r>
              <a:rPr lang="nl-NL" dirty="0" err="1"/>
              <a:t>Synthesis</a:t>
            </a:r>
            <a:endParaRPr lang="nl-NL" dirty="0"/>
          </a:p>
        </p:txBody>
      </p:sp>
      <p:sp>
        <p:nvSpPr>
          <p:cNvPr id="11" name="Rechthoek 10"/>
          <p:cNvSpPr/>
          <p:nvPr/>
        </p:nvSpPr>
        <p:spPr>
          <a:xfrm>
            <a:off x="1410894" y="3771847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Route</a:t>
            </a:r>
          </a:p>
        </p:txBody>
      </p:sp>
      <p:sp>
        <p:nvSpPr>
          <p:cNvPr id="12" name="Rechthoek 11"/>
          <p:cNvSpPr/>
          <p:nvPr/>
        </p:nvSpPr>
        <p:spPr>
          <a:xfrm>
            <a:off x="1423936" y="4685071"/>
            <a:ext cx="1630099" cy="781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Generate</a:t>
            </a:r>
            <a:r>
              <a:rPr lang="nl-NL" dirty="0"/>
              <a:t> Programming File</a:t>
            </a:r>
          </a:p>
        </p:txBody>
      </p:sp>
      <p:sp>
        <p:nvSpPr>
          <p:cNvPr id="13" name="Rechthoek 12"/>
          <p:cNvSpPr/>
          <p:nvPr/>
        </p:nvSpPr>
        <p:spPr>
          <a:xfrm>
            <a:off x="1410894" y="5875389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Download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Physical</a:t>
            </a:r>
            <a:r>
              <a:rPr lang="nl-NL" dirty="0"/>
              <a:t> Device</a:t>
            </a:r>
          </a:p>
        </p:txBody>
      </p:sp>
      <p:sp>
        <p:nvSpPr>
          <p:cNvPr id="14" name="Rechthoek 13"/>
          <p:cNvSpPr/>
          <p:nvPr/>
        </p:nvSpPr>
        <p:spPr>
          <a:xfrm>
            <a:off x="3842077" y="2386589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 err="1"/>
              <a:t>Generate</a:t>
            </a:r>
            <a:r>
              <a:rPr lang="nl-NL" sz="1050" dirty="0"/>
              <a:t> RTL </a:t>
            </a:r>
            <a:r>
              <a:rPr lang="nl-NL" sz="1050" dirty="0" err="1"/>
              <a:t>functional</a:t>
            </a:r>
            <a:r>
              <a:rPr lang="nl-NL" sz="1050" dirty="0"/>
              <a:t> </a:t>
            </a:r>
            <a:r>
              <a:rPr lang="nl-NL" sz="1050" dirty="0" err="1"/>
              <a:t>Netlist</a:t>
            </a:r>
            <a:endParaRPr lang="nl-NL" sz="1050" dirty="0"/>
          </a:p>
        </p:txBody>
      </p:sp>
      <p:sp>
        <p:nvSpPr>
          <p:cNvPr id="15" name="Rechthoek 14"/>
          <p:cNvSpPr/>
          <p:nvPr/>
        </p:nvSpPr>
        <p:spPr>
          <a:xfrm>
            <a:off x="3872383" y="3340757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 err="1"/>
              <a:t>Generate</a:t>
            </a:r>
            <a:r>
              <a:rPr lang="nl-NL" sz="1050" dirty="0"/>
              <a:t> post </a:t>
            </a:r>
            <a:r>
              <a:rPr lang="nl-NL" sz="1050" dirty="0" err="1"/>
              <a:t>synthesis</a:t>
            </a:r>
            <a:r>
              <a:rPr lang="nl-NL" sz="1050" dirty="0"/>
              <a:t> </a:t>
            </a:r>
            <a:r>
              <a:rPr lang="nl-NL" sz="1050" dirty="0" err="1"/>
              <a:t>functional</a:t>
            </a:r>
            <a:r>
              <a:rPr lang="nl-NL" sz="1050" dirty="0"/>
              <a:t> </a:t>
            </a:r>
            <a:r>
              <a:rPr lang="nl-NL" sz="1050" dirty="0" err="1"/>
              <a:t>Netlist</a:t>
            </a:r>
            <a:endParaRPr lang="nl-NL" sz="1050" dirty="0"/>
          </a:p>
        </p:txBody>
      </p:sp>
      <p:sp>
        <p:nvSpPr>
          <p:cNvPr id="16" name="Rechthoek 15"/>
          <p:cNvSpPr/>
          <p:nvPr/>
        </p:nvSpPr>
        <p:spPr>
          <a:xfrm>
            <a:off x="3872383" y="4243434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 err="1"/>
              <a:t>Generate</a:t>
            </a:r>
            <a:r>
              <a:rPr lang="nl-NL" sz="1050" dirty="0"/>
              <a:t> post fitting Timing </a:t>
            </a:r>
            <a:r>
              <a:rPr lang="nl-NL" sz="1050" dirty="0" err="1"/>
              <a:t>Netlist</a:t>
            </a:r>
            <a:endParaRPr lang="nl-NL" sz="1050" dirty="0"/>
          </a:p>
        </p:txBody>
      </p:sp>
      <p:sp>
        <p:nvSpPr>
          <p:cNvPr id="17" name="Rechthoek 16"/>
          <p:cNvSpPr/>
          <p:nvPr/>
        </p:nvSpPr>
        <p:spPr>
          <a:xfrm>
            <a:off x="6084168" y="2383895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/>
              <a:t>RTL </a:t>
            </a:r>
            <a:r>
              <a:rPr lang="nl-NL" sz="1050" dirty="0" err="1"/>
              <a:t>functional</a:t>
            </a:r>
            <a:r>
              <a:rPr lang="nl-NL" sz="1050" dirty="0"/>
              <a:t> </a:t>
            </a:r>
            <a:r>
              <a:rPr lang="nl-NL" sz="1050" dirty="0" err="1"/>
              <a:t>Simulation</a:t>
            </a:r>
            <a:endParaRPr lang="nl-NL" sz="1050" dirty="0"/>
          </a:p>
        </p:txBody>
      </p:sp>
      <p:sp>
        <p:nvSpPr>
          <p:cNvPr id="18" name="Rechthoek 17"/>
          <p:cNvSpPr/>
          <p:nvPr/>
        </p:nvSpPr>
        <p:spPr>
          <a:xfrm>
            <a:off x="6084168" y="3346831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/>
              <a:t>Post </a:t>
            </a:r>
            <a:r>
              <a:rPr lang="nl-NL" sz="1050" dirty="0" err="1"/>
              <a:t>Synthesis</a:t>
            </a:r>
            <a:r>
              <a:rPr lang="nl-NL" sz="1050" dirty="0"/>
              <a:t> </a:t>
            </a:r>
            <a:r>
              <a:rPr lang="nl-NL" sz="1050" dirty="0" err="1"/>
              <a:t>functional</a:t>
            </a:r>
            <a:r>
              <a:rPr lang="nl-NL" sz="1050" dirty="0"/>
              <a:t> </a:t>
            </a:r>
            <a:r>
              <a:rPr lang="nl-NL" sz="1050" dirty="0" err="1"/>
              <a:t>Simulation</a:t>
            </a:r>
            <a:endParaRPr lang="nl-NL" sz="1050" dirty="0"/>
          </a:p>
        </p:txBody>
      </p:sp>
      <p:sp>
        <p:nvSpPr>
          <p:cNvPr id="19" name="Rechthoek 18"/>
          <p:cNvSpPr/>
          <p:nvPr/>
        </p:nvSpPr>
        <p:spPr>
          <a:xfrm>
            <a:off x="6084168" y="4197734"/>
            <a:ext cx="165618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50" dirty="0"/>
              <a:t>Post fitting Timing </a:t>
            </a:r>
            <a:r>
              <a:rPr lang="nl-NL" sz="1050" dirty="0" err="1"/>
              <a:t>Simulation</a:t>
            </a:r>
            <a:endParaRPr lang="nl-NL" sz="1050" dirty="0"/>
          </a:p>
        </p:txBody>
      </p:sp>
      <p:cxnSp>
        <p:nvCxnSpPr>
          <p:cNvPr id="21" name="Rechte verbindingslijn met pijl 20"/>
          <p:cNvCxnSpPr>
            <a:stCxn id="7" idx="2"/>
            <a:endCxn id="8" idx="0"/>
          </p:cNvCxnSpPr>
          <p:nvPr/>
        </p:nvCxnSpPr>
        <p:spPr>
          <a:xfrm>
            <a:off x="2225943" y="1612744"/>
            <a:ext cx="6521" cy="373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met pijl 22"/>
          <p:cNvCxnSpPr>
            <a:stCxn id="8" idx="2"/>
            <a:endCxn id="10" idx="0"/>
          </p:cNvCxnSpPr>
          <p:nvPr/>
        </p:nvCxnSpPr>
        <p:spPr>
          <a:xfrm>
            <a:off x="2232464" y="2490374"/>
            <a:ext cx="6522" cy="393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/>
          <p:cNvCxnSpPr>
            <a:stCxn id="10" idx="2"/>
            <a:endCxn id="11" idx="0"/>
          </p:cNvCxnSpPr>
          <p:nvPr/>
        </p:nvCxnSpPr>
        <p:spPr>
          <a:xfrm>
            <a:off x="2238986" y="3388324"/>
            <a:ext cx="0" cy="383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/>
          <p:cNvCxnSpPr>
            <a:stCxn id="11" idx="2"/>
            <a:endCxn id="12" idx="0"/>
          </p:cNvCxnSpPr>
          <p:nvPr/>
        </p:nvCxnSpPr>
        <p:spPr>
          <a:xfrm>
            <a:off x="2238986" y="4275903"/>
            <a:ext cx="0" cy="409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met pijl 33"/>
          <p:cNvCxnSpPr>
            <a:stCxn id="12" idx="2"/>
            <a:endCxn id="13" idx="0"/>
          </p:cNvCxnSpPr>
          <p:nvPr/>
        </p:nvCxnSpPr>
        <p:spPr>
          <a:xfrm>
            <a:off x="2238986" y="5466220"/>
            <a:ext cx="0" cy="409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/>
          <p:cNvCxnSpPr>
            <a:endCxn id="14" idx="1"/>
          </p:cNvCxnSpPr>
          <p:nvPr/>
        </p:nvCxnSpPr>
        <p:spPr>
          <a:xfrm>
            <a:off x="2238986" y="2635923"/>
            <a:ext cx="1603091" cy="2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8"/>
          <p:cNvCxnSpPr>
            <a:stCxn id="14" idx="3"/>
            <a:endCxn id="17" idx="1"/>
          </p:cNvCxnSpPr>
          <p:nvPr/>
        </p:nvCxnSpPr>
        <p:spPr>
          <a:xfrm flipV="1">
            <a:off x="5498261" y="2635923"/>
            <a:ext cx="585907" cy="2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met pijl 40"/>
          <p:cNvCxnSpPr/>
          <p:nvPr/>
        </p:nvCxnSpPr>
        <p:spPr>
          <a:xfrm>
            <a:off x="2232823" y="3565403"/>
            <a:ext cx="1603091" cy="2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41"/>
          <p:cNvCxnSpPr/>
          <p:nvPr/>
        </p:nvCxnSpPr>
        <p:spPr>
          <a:xfrm flipV="1">
            <a:off x="5492098" y="3565403"/>
            <a:ext cx="585907" cy="2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Rechte verbindingslijn met pijl 42"/>
          <p:cNvCxnSpPr/>
          <p:nvPr/>
        </p:nvCxnSpPr>
        <p:spPr>
          <a:xfrm>
            <a:off x="2238986" y="4449857"/>
            <a:ext cx="1603091" cy="2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Rechte verbindingslijn met pijl 43"/>
          <p:cNvCxnSpPr/>
          <p:nvPr/>
        </p:nvCxnSpPr>
        <p:spPr>
          <a:xfrm flipV="1">
            <a:off x="5498261" y="4449857"/>
            <a:ext cx="585907" cy="2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hthoek 44"/>
          <p:cNvSpPr/>
          <p:nvPr/>
        </p:nvSpPr>
        <p:spPr>
          <a:xfrm>
            <a:off x="3635896" y="1953849"/>
            <a:ext cx="4536504" cy="32033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6" name="Rechthoek 45"/>
          <p:cNvSpPr/>
          <p:nvPr/>
        </p:nvSpPr>
        <p:spPr>
          <a:xfrm>
            <a:off x="1259632" y="1013197"/>
            <a:ext cx="1944216" cy="55121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7" name="Tekstvak 46"/>
          <p:cNvSpPr txBox="1"/>
          <p:nvPr/>
        </p:nvSpPr>
        <p:spPr>
          <a:xfrm>
            <a:off x="1696234" y="714474"/>
            <a:ext cx="1185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SYNTHESIS</a:t>
            </a:r>
          </a:p>
        </p:txBody>
      </p:sp>
      <p:sp>
        <p:nvSpPr>
          <p:cNvPr id="3" name="Tekstvak 2"/>
          <p:cNvSpPr txBox="1"/>
          <p:nvPr/>
        </p:nvSpPr>
        <p:spPr>
          <a:xfrm>
            <a:off x="3551480" y="1035655"/>
            <a:ext cx="50530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Whatever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final</a:t>
            </a:r>
            <a:r>
              <a:rPr lang="nl-NL" dirty="0"/>
              <a:t> circuit </a:t>
            </a:r>
            <a:r>
              <a:rPr lang="nl-NL" dirty="0" err="1"/>
              <a:t>inferred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code is, </a:t>
            </a:r>
          </a:p>
          <a:p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operation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always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verified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means of </a:t>
            </a:r>
          </a:p>
          <a:p>
            <a:r>
              <a:rPr lang="nl-NL" dirty="0" err="1"/>
              <a:t>Simulations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7928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From VHDL to FPGA 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25</a:t>
            </a:fld>
            <a:endParaRPr lang="nl-NL" dirty="0"/>
          </a:p>
        </p:txBody>
      </p:sp>
      <p:sp>
        <p:nvSpPr>
          <p:cNvPr id="6" name="Rectangle 3"/>
          <p:cNvSpPr>
            <a:spLocks noGrp="1" noChangeArrowheads="1"/>
          </p:cNvSpPr>
          <p:nvPr/>
        </p:nvSpPr>
        <p:spPr>
          <a:xfrm>
            <a:off x="457200" y="836712"/>
            <a:ext cx="5987008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GB" dirty="0"/>
              <a:t>Synthesize</a:t>
            </a:r>
          </a:p>
          <a:p>
            <a:pPr marL="838200" lvl="1" indent="-381000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800" dirty="0"/>
              <a:t>Simulate (Analysis &amp; Elaboration)</a:t>
            </a:r>
          </a:p>
          <a:p>
            <a:pPr marL="838200" lvl="1" indent="-381000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800" dirty="0"/>
              <a:t>Compiles code into RTL (Register Transfer Level) schematic. Always take a look at this</a:t>
            </a:r>
          </a:p>
          <a:p>
            <a:pPr marL="838200" lvl="1" indent="-381000">
              <a:lnSpc>
                <a:spcPct val="90000"/>
              </a:lnSpc>
              <a:buFont typeface="Wingdings" pitchFamily="2" charset="2"/>
              <a:buAutoNum type="arabicPeriod"/>
            </a:pPr>
            <a:endParaRPr lang="en-GB" sz="2000" dirty="0"/>
          </a:p>
          <a:p>
            <a:pPr marL="0" indent="0">
              <a:lnSpc>
                <a:spcPct val="90000"/>
              </a:lnSpc>
              <a:buNone/>
            </a:pPr>
            <a:endParaRPr lang="en-GB" sz="2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0E5B4F-9899-CBDE-F50C-7E4A6D6F5122}"/>
              </a:ext>
            </a:extLst>
          </p:cNvPr>
          <p:cNvGrpSpPr/>
          <p:nvPr/>
        </p:nvGrpSpPr>
        <p:grpSpPr>
          <a:xfrm>
            <a:off x="6444208" y="1043222"/>
            <a:ext cx="1922173" cy="5449653"/>
            <a:chOff x="1259632" y="1013197"/>
            <a:chExt cx="1944216" cy="5512147"/>
          </a:xfrm>
        </p:grpSpPr>
        <p:sp>
          <p:nvSpPr>
            <p:cNvPr id="3" name="Rechthoek 6">
              <a:extLst>
                <a:ext uri="{FF2B5EF4-FFF2-40B4-BE49-F238E27FC236}">
                  <a16:creationId xmlns:a16="http://schemas.microsoft.com/office/drawing/2014/main" id="{48887944-BB28-9324-57C9-61E0067776A9}"/>
                </a:ext>
              </a:extLst>
            </p:cNvPr>
            <p:cNvSpPr>
              <a:spLocks/>
            </p:cNvSpPr>
            <p:nvPr/>
          </p:nvSpPr>
          <p:spPr>
            <a:xfrm>
              <a:off x="1397851" y="1108688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Specifications</a:t>
              </a:r>
              <a:endParaRPr lang="nl-NL" dirty="0"/>
            </a:p>
          </p:txBody>
        </p:sp>
        <p:sp>
          <p:nvSpPr>
            <p:cNvPr id="7" name="Rechthoek 7">
              <a:extLst>
                <a:ext uri="{FF2B5EF4-FFF2-40B4-BE49-F238E27FC236}">
                  <a16:creationId xmlns:a16="http://schemas.microsoft.com/office/drawing/2014/main" id="{6F7466C5-F0A3-C9E6-51B7-0748F0E23DF1}"/>
                </a:ext>
              </a:extLst>
            </p:cNvPr>
            <p:cNvSpPr>
              <a:spLocks/>
            </p:cNvSpPr>
            <p:nvPr/>
          </p:nvSpPr>
          <p:spPr>
            <a:xfrm>
              <a:off x="1404372" y="1986318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VHDL code</a:t>
              </a:r>
            </a:p>
          </p:txBody>
        </p:sp>
        <p:sp>
          <p:nvSpPr>
            <p:cNvPr id="8" name="Rechthoek 9">
              <a:extLst>
                <a:ext uri="{FF2B5EF4-FFF2-40B4-BE49-F238E27FC236}">
                  <a16:creationId xmlns:a16="http://schemas.microsoft.com/office/drawing/2014/main" id="{3368E3E3-DEF9-02EE-3189-F349D2BB7180}"/>
                </a:ext>
              </a:extLst>
            </p:cNvPr>
            <p:cNvSpPr>
              <a:spLocks/>
            </p:cNvSpPr>
            <p:nvPr/>
          </p:nvSpPr>
          <p:spPr>
            <a:xfrm>
              <a:off x="1410894" y="2884268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Analysis &amp; </a:t>
              </a:r>
              <a:r>
                <a:rPr lang="nl-NL" dirty="0" err="1"/>
                <a:t>Synthesis</a:t>
              </a:r>
              <a:endParaRPr lang="nl-NL" dirty="0"/>
            </a:p>
          </p:txBody>
        </p:sp>
        <p:sp>
          <p:nvSpPr>
            <p:cNvPr id="9" name="Rechthoek 10">
              <a:extLst>
                <a:ext uri="{FF2B5EF4-FFF2-40B4-BE49-F238E27FC236}">
                  <a16:creationId xmlns:a16="http://schemas.microsoft.com/office/drawing/2014/main" id="{37E2450E-978A-3682-4BC0-36E70380067D}"/>
                </a:ext>
              </a:extLst>
            </p:cNvPr>
            <p:cNvSpPr>
              <a:spLocks/>
            </p:cNvSpPr>
            <p:nvPr/>
          </p:nvSpPr>
          <p:spPr>
            <a:xfrm>
              <a:off x="1410894" y="3771847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Place</a:t>
              </a:r>
              <a:r>
                <a:rPr lang="nl-NL" dirty="0"/>
                <a:t> </a:t>
              </a:r>
              <a:r>
                <a:rPr lang="nl-NL" dirty="0" err="1"/>
                <a:t>and</a:t>
              </a:r>
              <a:r>
                <a:rPr lang="nl-NL" dirty="0"/>
                <a:t> Route</a:t>
              </a:r>
            </a:p>
          </p:txBody>
        </p:sp>
        <p:sp>
          <p:nvSpPr>
            <p:cNvPr id="10" name="Rechthoek 11">
              <a:extLst>
                <a:ext uri="{FF2B5EF4-FFF2-40B4-BE49-F238E27FC236}">
                  <a16:creationId xmlns:a16="http://schemas.microsoft.com/office/drawing/2014/main" id="{E286EC61-5D97-938D-8C72-FCCC9DE77EF5}"/>
                </a:ext>
              </a:extLst>
            </p:cNvPr>
            <p:cNvSpPr>
              <a:spLocks/>
            </p:cNvSpPr>
            <p:nvPr/>
          </p:nvSpPr>
          <p:spPr>
            <a:xfrm>
              <a:off x="1423936" y="4685071"/>
              <a:ext cx="1630099" cy="7811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Generate</a:t>
              </a:r>
              <a:r>
                <a:rPr lang="nl-NL" dirty="0"/>
                <a:t> Programming File</a:t>
              </a:r>
            </a:p>
          </p:txBody>
        </p:sp>
        <p:sp>
          <p:nvSpPr>
            <p:cNvPr id="11" name="Rechthoek 12">
              <a:extLst>
                <a:ext uri="{FF2B5EF4-FFF2-40B4-BE49-F238E27FC236}">
                  <a16:creationId xmlns:a16="http://schemas.microsoft.com/office/drawing/2014/main" id="{4E814E20-5381-0C53-C1AA-63BDCF746D2D}"/>
                </a:ext>
              </a:extLst>
            </p:cNvPr>
            <p:cNvSpPr>
              <a:spLocks/>
            </p:cNvSpPr>
            <p:nvPr/>
          </p:nvSpPr>
          <p:spPr>
            <a:xfrm>
              <a:off x="1410894" y="5875389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Download </a:t>
              </a:r>
              <a:r>
                <a:rPr lang="nl-NL" dirty="0" err="1"/>
                <a:t>to</a:t>
              </a:r>
              <a:r>
                <a:rPr lang="nl-NL" dirty="0"/>
                <a:t> </a:t>
              </a:r>
              <a:r>
                <a:rPr lang="nl-NL" dirty="0" err="1"/>
                <a:t>Physical</a:t>
              </a:r>
              <a:r>
                <a:rPr lang="nl-NL" dirty="0"/>
                <a:t> Device</a:t>
              </a:r>
            </a:p>
          </p:txBody>
        </p:sp>
        <p:cxnSp>
          <p:nvCxnSpPr>
            <p:cNvPr id="12" name="Rechte verbindingslijn met pijl 20">
              <a:extLst>
                <a:ext uri="{FF2B5EF4-FFF2-40B4-BE49-F238E27FC236}">
                  <a16:creationId xmlns:a16="http://schemas.microsoft.com/office/drawing/2014/main" id="{3666999B-6ED6-1E64-9C7B-F7DA411513E2}"/>
                </a:ext>
              </a:extLst>
            </p:cNvPr>
            <p:cNvCxnSpPr>
              <a:cxnSpLocks/>
              <a:stCxn id="3" idx="2"/>
              <a:endCxn id="7" idx="0"/>
            </p:cNvCxnSpPr>
            <p:nvPr/>
          </p:nvCxnSpPr>
          <p:spPr>
            <a:xfrm>
              <a:off x="2225943" y="1612744"/>
              <a:ext cx="6521" cy="373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met pijl 22">
              <a:extLst>
                <a:ext uri="{FF2B5EF4-FFF2-40B4-BE49-F238E27FC236}">
                  <a16:creationId xmlns:a16="http://schemas.microsoft.com/office/drawing/2014/main" id="{A4F42680-C5F8-D919-3D77-36BDA6712B86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>
              <a:off x="2232464" y="2490374"/>
              <a:ext cx="6522" cy="3938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Rechte verbindingslijn met pijl 24">
              <a:extLst>
                <a:ext uri="{FF2B5EF4-FFF2-40B4-BE49-F238E27FC236}">
                  <a16:creationId xmlns:a16="http://schemas.microsoft.com/office/drawing/2014/main" id="{5EB27693-FD10-454D-E883-923702923E28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>
              <a:off x="2238986" y="3388324"/>
              <a:ext cx="0" cy="383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Rechte verbindingslijn met pijl 26">
              <a:extLst>
                <a:ext uri="{FF2B5EF4-FFF2-40B4-BE49-F238E27FC236}">
                  <a16:creationId xmlns:a16="http://schemas.microsoft.com/office/drawing/2014/main" id="{9797B296-7A55-41DA-453D-BC1A830C6787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2238986" y="4275903"/>
              <a:ext cx="0" cy="409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Rechte verbindingslijn met pijl 33">
              <a:extLst>
                <a:ext uri="{FF2B5EF4-FFF2-40B4-BE49-F238E27FC236}">
                  <a16:creationId xmlns:a16="http://schemas.microsoft.com/office/drawing/2014/main" id="{19088EA4-76D9-086C-BC1E-76E1FD29DECF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>
              <a:off x="2238986" y="5466220"/>
              <a:ext cx="0" cy="4091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hthoek 45">
              <a:extLst>
                <a:ext uri="{FF2B5EF4-FFF2-40B4-BE49-F238E27FC236}">
                  <a16:creationId xmlns:a16="http://schemas.microsoft.com/office/drawing/2014/main" id="{2A3359A3-EAE7-FA66-A36A-CFEF2A21FFA9}"/>
                </a:ext>
              </a:extLst>
            </p:cNvPr>
            <p:cNvSpPr>
              <a:spLocks/>
            </p:cNvSpPr>
            <p:nvPr/>
          </p:nvSpPr>
          <p:spPr>
            <a:xfrm>
              <a:off x="1259632" y="1013197"/>
              <a:ext cx="1944216" cy="5512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360792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From VHDL to FPGA 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26</a:t>
            </a:fld>
            <a:endParaRPr lang="nl-NL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836712"/>
            <a:ext cx="6376947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90000"/>
              </a:lnSpc>
              <a:buFont typeface="+mj-lt"/>
              <a:buAutoNum type="arabicPeriod" startAt="2"/>
            </a:pPr>
            <a:r>
              <a:rPr lang="en-GB" sz="2400" dirty="0"/>
              <a:t>Place and Route</a:t>
            </a:r>
          </a:p>
          <a:p>
            <a:pPr marL="838200" lvl="1" indent="-381000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000" dirty="0"/>
              <a:t>How to configure the FPGA elements to become the functional equivalent of the RTL schematic?</a:t>
            </a:r>
          </a:p>
          <a:p>
            <a:pPr marL="838200" lvl="1" indent="-381000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000" dirty="0"/>
              <a:t>Find the optimal paths through the FPGA</a:t>
            </a:r>
          </a:p>
          <a:p>
            <a:pPr marL="838200" lvl="1" indent="-381000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000" dirty="0"/>
              <a:t>Timing analysis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endParaRPr lang="en-GB" sz="2400" dirty="0"/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endParaRPr lang="en-GB" sz="2400" dirty="0"/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endParaRPr lang="en-GB" sz="2400" dirty="0"/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endParaRPr lang="en-GB" sz="2400" dirty="0"/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endParaRPr lang="en-GB" sz="2400" dirty="0"/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endParaRPr lang="en-GB" sz="2400" dirty="0"/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endParaRPr lang="en-GB" sz="2400" dirty="0"/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endParaRPr lang="en-GB" sz="2400" dirty="0"/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r>
              <a:rPr lang="en-GB" sz="2400" dirty="0"/>
              <a:t>Generate </a:t>
            </a:r>
            <a:r>
              <a:rPr lang="en-GB" sz="2400" dirty="0" err="1"/>
              <a:t>bitstream</a:t>
            </a:r>
            <a:endParaRPr lang="en-GB" sz="2400" dirty="0"/>
          </a:p>
          <a:p>
            <a:pPr marL="838200" lvl="1" indent="-381000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000" dirty="0"/>
              <a:t>Contains the setting of every switch in the FPGA</a:t>
            </a:r>
          </a:p>
          <a:p>
            <a:pPr marL="457200" indent="-457200">
              <a:lnSpc>
                <a:spcPct val="90000"/>
              </a:lnSpc>
              <a:buFont typeface="Wingdings" pitchFamily="2" charset="2"/>
              <a:buAutoNum type="arabicPeriod" startAt="2"/>
            </a:pPr>
            <a:endParaRPr lang="en-GB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27169FC-D3CC-A921-CCE8-3736D3559EAC}"/>
              </a:ext>
            </a:extLst>
          </p:cNvPr>
          <p:cNvGrpSpPr/>
          <p:nvPr/>
        </p:nvGrpSpPr>
        <p:grpSpPr>
          <a:xfrm>
            <a:off x="6978411" y="881675"/>
            <a:ext cx="1872208" cy="5307995"/>
            <a:chOff x="1259632" y="1013197"/>
            <a:chExt cx="1944216" cy="5512147"/>
          </a:xfrm>
        </p:grpSpPr>
        <p:sp>
          <p:nvSpPr>
            <p:cNvPr id="24" name="Rechthoek 45">
              <a:extLst>
                <a:ext uri="{FF2B5EF4-FFF2-40B4-BE49-F238E27FC236}">
                  <a16:creationId xmlns:a16="http://schemas.microsoft.com/office/drawing/2014/main" id="{CF142B84-55E8-2FDD-A661-AA0A88C7BE42}"/>
                </a:ext>
              </a:extLst>
            </p:cNvPr>
            <p:cNvSpPr>
              <a:spLocks/>
            </p:cNvSpPr>
            <p:nvPr/>
          </p:nvSpPr>
          <p:spPr>
            <a:xfrm>
              <a:off x="1259632" y="1013197"/>
              <a:ext cx="1944216" cy="55121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" name="Rechthoek 6">
              <a:extLst>
                <a:ext uri="{FF2B5EF4-FFF2-40B4-BE49-F238E27FC236}">
                  <a16:creationId xmlns:a16="http://schemas.microsoft.com/office/drawing/2014/main" id="{E8194370-7870-CB32-0CE4-919D29589E30}"/>
                </a:ext>
              </a:extLst>
            </p:cNvPr>
            <p:cNvSpPr>
              <a:spLocks/>
            </p:cNvSpPr>
            <p:nvPr/>
          </p:nvSpPr>
          <p:spPr>
            <a:xfrm>
              <a:off x="1397851" y="1108688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Specifications</a:t>
              </a:r>
              <a:endParaRPr lang="nl-NL" dirty="0"/>
            </a:p>
          </p:txBody>
        </p:sp>
        <p:sp>
          <p:nvSpPr>
            <p:cNvPr id="14" name="Rechthoek 7">
              <a:extLst>
                <a:ext uri="{FF2B5EF4-FFF2-40B4-BE49-F238E27FC236}">
                  <a16:creationId xmlns:a16="http://schemas.microsoft.com/office/drawing/2014/main" id="{55F76C2C-DF77-76DC-C8E7-32B87031B0BE}"/>
                </a:ext>
              </a:extLst>
            </p:cNvPr>
            <p:cNvSpPr>
              <a:spLocks/>
            </p:cNvSpPr>
            <p:nvPr/>
          </p:nvSpPr>
          <p:spPr>
            <a:xfrm>
              <a:off x="1404372" y="1986318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VHDL code</a:t>
              </a:r>
            </a:p>
          </p:txBody>
        </p:sp>
        <p:sp>
          <p:nvSpPr>
            <p:cNvPr id="15" name="Rechthoek 9">
              <a:extLst>
                <a:ext uri="{FF2B5EF4-FFF2-40B4-BE49-F238E27FC236}">
                  <a16:creationId xmlns:a16="http://schemas.microsoft.com/office/drawing/2014/main" id="{192FBEE6-9427-646E-DB75-B18420577B7A}"/>
                </a:ext>
              </a:extLst>
            </p:cNvPr>
            <p:cNvSpPr>
              <a:spLocks/>
            </p:cNvSpPr>
            <p:nvPr/>
          </p:nvSpPr>
          <p:spPr>
            <a:xfrm>
              <a:off x="1410894" y="2884268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Analysis &amp; </a:t>
              </a:r>
              <a:r>
                <a:rPr lang="nl-NL" dirty="0" err="1"/>
                <a:t>Synthesis</a:t>
              </a:r>
              <a:endParaRPr lang="nl-NL" dirty="0"/>
            </a:p>
          </p:txBody>
        </p:sp>
        <p:sp>
          <p:nvSpPr>
            <p:cNvPr id="16" name="Rechthoek 10">
              <a:extLst>
                <a:ext uri="{FF2B5EF4-FFF2-40B4-BE49-F238E27FC236}">
                  <a16:creationId xmlns:a16="http://schemas.microsoft.com/office/drawing/2014/main" id="{01806E04-CD56-D1D9-39BD-2BE44049F983}"/>
                </a:ext>
              </a:extLst>
            </p:cNvPr>
            <p:cNvSpPr>
              <a:spLocks/>
            </p:cNvSpPr>
            <p:nvPr/>
          </p:nvSpPr>
          <p:spPr>
            <a:xfrm>
              <a:off x="1410894" y="3771847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Place</a:t>
              </a:r>
              <a:r>
                <a:rPr lang="nl-NL" dirty="0"/>
                <a:t> </a:t>
              </a:r>
              <a:r>
                <a:rPr lang="nl-NL" dirty="0" err="1"/>
                <a:t>and</a:t>
              </a:r>
              <a:r>
                <a:rPr lang="nl-NL" dirty="0"/>
                <a:t> Route</a:t>
              </a:r>
            </a:p>
          </p:txBody>
        </p:sp>
        <p:sp>
          <p:nvSpPr>
            <p:cNvPr id="17" name="Rechthoek 11">
              <a:extLst>
                <a:ext uri="{FF2B5EF4-FFF2-40B4-BE49-F238E27FC236}">
                  <a16:creationId xmlns:a16="http://schemas.microsoft.com/office/drawing/2014/main" id="{FEE92338-1571-8A6C-192C-AB631DD446A3}"/>
                </a:ext>
              </a:extLst>
            </p:cNvPr>
            <p:cNvSpPr>
              <a:spLocks/>
            </p:cNvSpPr>
            <p:nvPr/>
          </p:nvSpPr>
          <p:spPr>
            <a:xfrm>
              <a:off x="1423936" y="4685071"/>
              <a:ext cx="1630099" cy="7811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Generate</a:t>
              </a:r>
              <a:r>
                <a:rPr lang="nl-NL" dirty="0"/>
                <a:t> Programming File</a:t>
              </a:r>
            </a:p>
          </p:txBody>
        </p:sp>
        <p:sp>
          <p:nvSpPr>
            <p:cNvPr id="18" name="Rechthoek 12">
              <a:extLst>
                <a:ext uri="{FF2B5EF4-FFF2-40B4-BE49-F238E27FC236}">
                  <a16:creationId xmlns:a16="http://schemas.microsoft.com/office/drawing/2014/main" id="{421EBD07-9713-5E2D-4D21-94CFBA109A3A}"/>
                </a:ext>
              </a:extLst>
            </p:cNvPr>
            <p:cNvSpPr>
              <a:spLocks/>
            </p:cNvSpPr>
            <p:nvPr/>
          </p:nvSpPr>
          <p:spPr>
            <a:xfrm>
              <a:off x="1410894" y="5875389"/>
              <a:ext cx="1656184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Download </a:t>
              </a:r>
              <a:r>
                <a:rPr lang="nl-NL" dirty="0" err="1"/>
                <a:t>to</a:t>
              </a:r>
              <a:r>
                <a:rPr lang="nl-NL" dirty="0"/>
                <a:t> </a:t>
              </a:r>
              <a:r>
                <a:rPr lang="nl-NL" dirty="0" err="1"/>
                <a:t>Physical</a:t>
              </a:r>
              <a:r>
                <a:rPr lang="nl-NL" dirty="0"/>
                <a:t> Device</a:t>
              </a:r>
            </a:p>
          </p:txBody>
        </p:sp>
        <p:cxnSp>
          <p:nvCxnSpPr>
            <p:cNvPr id="19" name="Rechte verbindingslijn met pijl 20">
              <a:extLst>
                <a:ext uri="{FF2B5EF4-FFF2-40B4-BE49-F238E27FC236}">
                  <a16:creationId xmlns:a16="http://schemas.microsoft.com/office/drawing/2014/main" id="{D0751558-B5A8-489F-DD97-ADB264A7FA41}"/>
                </a:ext>
              </a:extLst>
            </p:cNvPr>
            <p:cNvCxnSpPr>
              <a:cxnSpLocks/>
              <a:stCxn id="6" idx="2"/>
              <a:endCxn id="14" idx="0"/>
            </p:cNvCxnSpPr>
            <p:nvPr/>
          </p:nvCxnSpPr>
          <p:spPr>
            <a:xfrm>
              <a:off x="2225943" y="1612744"/>
              <a:ext cx="6521" cy="3735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Rechte verbindingslijn met pijl 22">
              <a:extLst>
                <a:ext uri="{FF2B5EF4-FFF2-40B4-BE49-F238E27FC236}">
                  <a16:creationId xmlns:a16="http://schemas.microsoft.com/office/drawing/2014/main" id="{901B26EE-2E85-F4AC-843C-9665082CC9BE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2232464" y="2490374"/>
              <a:ext cx="6522" cy="3938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Rechte verbindingslijn met pijl 24">
              <a:extLst>
                <a:ext uri="{FF2B5EF4-FFF2-40B4-BE49-F238E27FC236}">
                  <a16:creationId xmlns:a16="http://schemas.microsoft.com/office/drawing/2014/main" id="{DDF6A8E4-21DC-F4C4-9CEC-FBD310EFB213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>
              <a:off x="2238986" y="3388324"/>
              <a:ext cx="0" cy="383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Rechte verbindingslijn met pijl 26">
              <a:extLst>
                <a:ext uri="{FF2B5EF4-FFF2-40B4-BE49-F238E27FC236}">
                  <a16:creationId xmlns:a16="http://schemas.microsoft.com/office/drawing/2014/main" id="{1894E115-E7B9-EEF0-C649-AD1370504C5D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>
              <a:off x="2238986" y="4275903"/>
              <a:ext cx="0" cy="409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Rechte verbindingslijn met pijl 33">
              <a:extLst>
                <a:ext uri="{FF2B5EF4-FFF2-40B4-BE49-F238E27FC236}">
                  <a16:creationId xmlns:a16="http://schemas.microsoft.com/office/drawing/2014/main" id="{6547F15A-CB6C-42F6-8113-F87ECA0B641C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>
              <a:off x="2238986" y="5466220"/>
              <a:ext cx="0" cy="4091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3755863-1D62-EDE8-9DB0-AE5153999458}"/>
              </a:ext>
            </a:extLst>
          </p:cNvPr>
          <p:cNvGrpSpPr/>
          <p:nvPr/>
        </p:nvGrpSpPr>
        <p:grpSpPr>
          <a:xfrm>
            <a:off x="539552" y="2420888"/>
            <a:ext cx="5857731" cy="2421402"/>
            <a:chOff x="539551" y="2299217"/>
            <a:chExt cx="7167324" cy="2962747"/>
          </a:xfrm>
        </p:grpSpPr>
        <p:sp>
          <p:nvSpPr>
            <p:cNvPr id="10" name="TextBox 10"/>
            <p:cNvSpPr txBox="1"/>
            <p:nvPr/>
          </p:nvSpPr>
          <p:spPr>
            <a:xfrm>
              <a:off x="539551" y="4337502"/>
              <a:ext cx="2766227" cy="45190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...to behave like this?</a:t>
              </a:r>
              <a:endParaRPr lang="nl-NL" dirty="0"/>
            </a:p>
          </p:txBody>
        </p:sp>
        <p:grpSp>
          <p:nvGrpSpPr>
            <p:cNvPr id="8" name="Group 11"/>
            <p:cNvGrpSpPr/>
            <p:nvPr/>
          </p:nvGrpSpPr>
          <p:grpSpPr>
            <a:xfrm>
              <a:off x="539552" y="2299217"/>
              <a:ext cx="7167323" cy="2407616"/>
              <a:chOff x="924683" y="2996952"/>
              <a:chExt cx="7167323" cy="2407616"/>
            </a:xfrm>
          </p:grpSpPr>
          <p:pic>
            <p:nvPicPr>
              <p:cNvPr id="11" name="Picture 3"/>
              <p:cNvPicPr>
                <a:picLocks noChangeAspect="1" noChangeArrowheads="1"/>
              </p:cNvPicPr>
              <p:nvPr/>
            </p:nvPicPr>
            <p:blipFill>
              <a:blip r:embed="rId2" cstate="print">
                <a:lum bright="-44000" contrast="64000"/>
              </a:blip>
              <a:srcRect/>
              <a:stretch>
                <a:fillRect/>
              </a:stretch>
            </p:blipFill>
            <p:spPr bwMode="auto">
              <a:xfrm>
                <a:off x="924683" y="3356992"/>
                <a:ext cx="2451705" cy="158381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  <p:sp>
            <p:nvSpPr>
              <p:cNvPr id="12" name="Right Arrow 7"/>
              <p:cNvSpPr/>
              <p:nvPr/>
            </p:nvSpPr>
            <p:spPr>
              <a:xfrm>
                <a:off x="3379134" y="3824863"/>
                <a:ext cx="2417002" cy="648072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nl-NL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/>
                  <a:t>Place and Route</a:t>
                </a:r>
                <a:endParaRPr lang="nl-NL" b="1" dirty="0"/>
              </a:p>
            </p:txBody>
          </p:sp>
          <p:pic>
            <p:nvPicPr>
              <p:cNvPr id="13" name="Picture 8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5796136" y="2996952"/>
                <a:ext cx="2295870" cy="240761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pic>
        </p:grpSp>
        <p:sp>
          <p:nvSpPr>
            <p:cNvPr id="9" name="TextBox 9"/>
            <p:cNvSpPr txBox="1"/>
            <p:nvPr/>
          </p:nvSpPr>
          <p:spPr>
            <a:xfrm>
              <a:off x="5385413" y="4810062"/>
              <a:ext cx="2295870" cy="451902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nl-NL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How to get this ...</a:t>
              </a:r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3188730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Modeling</a:t>
            </a:r>
            <a:r>
              <a:rPr lang="nl-NL" dirty="0"/>
              <a:t> </a:t>
            </a:r>
            <a:r>
              <a:rPr lang="nl-NL" dirty="0" err="1"/>
              <a:t>concepts</a:t>
            </a:r>
            <a:r>
              <a:rPr lang="nl-NL" dirty="0"/>
              <a:t> in VHDL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Two</a:t>
            </a:r>
            <a:r>
              <a:rPr lang="nl-NL" dirty="0"/>
              <a:t> abstract </a:t>
            </a:r>
            <a:r>
              <a:rPr lang="nl-NL" dirty="0" err="1"/>
              <a:t>models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describe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design in VHDL</a:t>
            </a:r>
          </a:p>
          <a:p>
            <a:pPr marL="0" indent="0">
              <a:buNone/>
            </a:pPr>
            <a:endParaRPr lang="nl-NL" dirty="0"/>
          </a:p>
          <a:p>
            <a:r>
              <a:rPr lang="nl-NL" i="1" dirty="0" err="1"/>
              <a:t>Behavioral</a:t>
            </a:r>
            <a:r>
              <a:rPr lang="nl-NL" i="1" dirty="0"/>
              <a:t> Model:</a:t>
            </a:r>
          </a:p>
          <a:p>
            <a:pPr lvl="1"/>
            <a:r>
              <a:rPr lang="nl-NL" dirty="0" err="1"/>
              <a:t>Defines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outputs</a:t>
            </a:r>
            <a:r>
              <a:rPr lang="nl-NL" dirty="0"/>
              <a:t> are </a:t>
            </a:r>
            <a:r>
              <a:rPr lang="nl-NL" dirty="0" err="1"/>
              <a:t>computed</a:t>
            </a:r>
            <a:r>
              <a:rPr lang="nl-NL" dirty="0"/>
              <a:t> as </a:t>
            </a:r>
            <a:r>
              <a:rPr lang="nl-NL" dirty="0" err="1"/>
              <a:t>function</a:t>
            </a:r>
            <a:r>
              <a:rPr lang="nl-NL" dirty="0"/>
              <a:t> of </a:t>
            </a:r>
            <a:r>
              <a:rPr lang="nl-NL" dirty="0" err="1"/>
              <a:t>inputs</a:t>
            </a:r>
            <a:endParaRPr lang="nl-NL" dirty="0"/>
          </a:p>
          <a:p>
            <a:pPr lvl="1"/>
            <a:r>
              <a:rPr lang="nl-NL" dirty="0" err="1"/>
              <a:t>Can</a:t>
            </a:r>
            <a:r>
              <a:rPr lang="nl-NL" dirty="0"/>
              <a:t> make </a:t>
            </a:r>
            <a:r>
              <a:rPr lang="nl-NL" dirty="0" err="1"/>
              <a:t>use</a:t>
            </a:r>
            <a:r>
              <a:rPr lang="nl-NL" dirty="0"/>
              <a:t> of a “</a:t>
            </a:r>
            <a:r>
              <a:rPr lang="nl-NL" dirty="0" err="1"/>
              <a:t>process</a:t>
            </a:r>
            <a:r>
              <a:rPr lang="nl-NL" dirty="0"/>
              <a:t>” </a:t>
            </a:r>
          </a:p>
          <a:p>
            <a:endParaRPr lang="nl-NL" dirty="0"/>
          </a:p>
          <a:p>
            <a:r>
              <a:rPr lang="nl-NL" i="1" dirty="0" err="1"/>
              <a:t>Structural</a:t>
            </a:r>
            <a:r>
              <a:rPr lang="nl-NL" i="1" dirty="0"/>
              <a:t> Model:</a:t>
            </a:r>
          </a:p>
          <a:p>
            <a:pPr lvl="1"/>
            <a:r>
              <a:rPr lang="nl-NL" dirty="0" err="1"/>
              <a:t>Uses</a:t>
            </a:r>
            <a:r>
              <a:rPr lang="nl-NL" dirty="0"/>
              <a:t> pre-</a:t>
            </a:r>
            <a:r>
              <a:rPr lang="nl-NL" dirty="0" err="1"/>
              <a:t>defined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make a </a:t>
            </a:r>
            <a:r>
              <a:rPr lang="nl-NL" dirty="0" err="1"/>
              <a:t>structure</a:t>
            </a:r>
            <a:endParaRPr lang="nl-NL" dirty="0"/>
          </a:p>
          <a:p>
            <a:pPr lvl="1"/>
            <a:r>
              <a:rPr lang="en-US" dirty="0"/>
              <a:t>Wider use of  “</a:t>
            </a:r>
            <a:r>
              <a:rPr lang="en-US" dirty="0" err="1"/>
              <a:t>portmap</a:t>
            </a:r>
            <a:r>
              <a:rPr lang="en-US" dirty="0"/>
              <a:t>”  </a:t>
            </a:r>
            <a:endParaRPr lang="nl-NL" dirty="0"/>
          </a:p>
          <a:p>
            <a:pPr lvl="2"/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0159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Modeling</a:t>
            </a:r>
            <a:r>
              <a:rPr lang="nl-NL" dirty="0"/>
              <a:t> </a:t>
            </a:r>
            <a:r>
              <a:rPr lang="nl-NL" dirty="0" err="1"/>
              <a:t>abstractions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28</a:t>
            </a:fld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1136576"/>
            <a:ext cx="7786462" cy="4380656"/>
          </a:xfrm>
          <a:prstGeom prst="rect">
            <a:avLst/>
          </a:prstGeom>
        </p:spPr>
      </p:pic>
      <p:sp>
        <p:nvSpPr>
          <p:cNvPr id="7" name="Tekstvak 6"/>
          <p:cNvSpPr txBox="1"/>
          <p:nvPr/>
        </p:nvSpPr>
        <p:spPr>
          <a:xfrm>
            <a:off x="886644" y="5805264"/>
            <a:ext cx="39613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1" dirty="0" err="1"/>
              <a:t>Figure</a:t>
            </a:r>
            <a:r>
              <a:rPr lang="nl-NL" sz="1100" b="1" dirty="0"/>
              <a:t> </a:t>
            </a:r>
            <a:r>
              <a:rPr lang="nl-NL" sz="1100" b="1" dirty="0" err="1"/>
              <a:t>adapted</a:t>
            </a:r>
            <a:r>
              <a:rPr lang="nl-NL" sz="1100" b="1" dirty="0"/>
              <a:t>  </a:t>
            </a:r>
            <a:r>
              <a:rPr lang="nl-NL" sz="1100" b="1" dirty="0" err="1"/>
              <a:t>from</a:t>
            </a:r>
            <a:r>
              <a:rPr lang="nl-NL" sz="1100" b="1" dirty="0"/>
              <a:t> VHDL Design </a:t>
            </a:r>
            <a:r>
              <a:rPr lang="nl-NL" sz="1100" b="1" dirty="0" err="1"/>
              <a:t>Representation</a:t>
            </a:r>
            <a:r>
              <a:rPr lang="nl-NL" sz="1100" b="1" dirty="0"/>
              <a:t> </a:t>
            </a:r>
            <a:r>
              <a:rPr lang="nl-NL" sz="1100" b="1" dirty="0" err="1"/>
              <a:t>and</a:t>
            </a:r>
            <a:r>
              <a:rPr lang="nl-NL" sz="1100" b="1" dirty="0"/>
              <a:t> </a:t>
            </a:r>
            <a:r>
              <a:rPr lang="nl-NL" sz="1100" b="1" dirty="0" err="1"/>
              <a:t>Synthesis</a:t>
            </a:r>
            <a:r>
              <a:rPr lang="nl-NL" sz="1100" b="1" dirty="0"/>
              <a:t>.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064359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Design </a:t>
            </a:r>
            <a:r>
              <a:rPr lang="nl-NL" dirty="0" err="1"/>
              <a:t>verification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Check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realization</a:t>
            </a:r>
            <a:r>
              <a:rPr lang="nl-NL" dirty="0"/>
              <a:t> matches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expectations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In VHDL we </a:t>
            </a:r>
            <a:r>
              <a:rPr lang="nl-NL" dirty="0" err="1"/>
              <a:t>use</a:t>
            </a:r>
            <a:r>
              <a:rPr lang="nl-NL" dirty="0"/>
              <a:t> test </a:t>
            </a:r>
            <a:r>
              <a:rPr lang="nl-NL" dirty="0" err="1"/>
              <a:t>benches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verify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In </a:t>
            </a:r>
            <a:r>
              <a:rPr lang="nl-NL" dirty="0" err="1"/>
              <a:t>this</a:t>
            </a:r>
            <a:r>
              <a:rPr lang="nl-NL" dirty="0"/>
              <a:t> course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create</a:t>
            </a:r>
            <a:r>
              <a:rPr lang="nl-NL" dirty="0"/>
              <a:t> test </a:t>
            </a:r>
            <a:r>
              <a:rPr lang="nl-NL" dirty="0" err="1"/>
              <a:t>benches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verify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designs.</a:t>
            </a:r>
          </a:p>
          <a:p>
            <a:endParaRPr lang="nl-NL" dirty="0"/>
          </a:p>
          <a:p>
            <a:r>
              <a:rPr lang="nl-NL" dirty="0"/>
              <a:t>In (</a:t>
            </a:r>
            <a:r>
              <a:rPr lang="nl-NL" dirty="0" err="1"/>
              <a:t>simple</a:t>
            </a:r>
            <a:r>
              <a:rPr lang="nl-NL" dirty="0"/>
              <a:t>) </a:t>
            </a:r>
            <a:r>
              <a:rPr lang="nl-NL" dirty="0" err="1"/>
              <a:t>simulations</a:t>
            </a:r>
            <a:r>
              <a:rPr lang="nl-NL" dirty="0"/>
              <a:t> we </a:t>
            </a:r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know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the </a:t>
            </a:r>
            <a:r>
              <a:rPr lang="nl-NL" dirty="0" err="1"/>
              <a:t>actual</a:t>
            </a:r>
            <a:r>
              <a:rPr lang="nl-NL" dirty="0"/>
              <a:t> design </a:t>
            </a:r>
            <a:r>
              <a:rPr lang="nl-NL" dirty="0" err="1"/>
              <a:t>meets</a:t>
            </a:r>
            <a:r>
              <a:rPr lang="nl-NL" dirty="0"/>
              <a:t> timing </a:t>
            </a:r>
            <a:r>
              <a:rPr lang="nl-NL" dirty="0" err="1"/>
              <a:t>constraints</a:t>
            </a:r>
            <a:r>
              <a:rPr lang="nl-NL" dirty="0"/>
              <a:t>.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discuss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later. 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29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52201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0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Homework</a:t>
            </a:r>
          </a:p>
        </p:txBody>
      </p:sp>
      <p:sp>
        <p:nvSpPr>
          <p:cNvPr id="32772" name="Rectangle 2051"/>
          <p:cNvSpPr>
            <a:spLocks noGrp="1" noChangeArrowheads="1"/>
          </p:cNvSpPr>
          <p:nvPr>
            <p:ph idx="1"/>
          </p:nvPr>
        </p:nvSpPr>
        <p:spPr>
          <a:xfrm>
            <a:off x="457200" y="1371599"/>
            <a:ext cx="8229600" cy="5121275"/>
          </a:xfrm>
        </p:spPr>
        <p:txBody>
          <a:bodyPr>
            <a:normAutofit fontScale="62500" lnSpcReduction="20000"/>
          </a:bodyPr>
          <a:lstStyle/>
          <a:p>
            <a:pPr eaLnBrk="1" hangingPunct="1"/>
            <a:r>
              <a:rPr lang="en-GB" dirty="0"/>
              <a:t>Covered today:</a:t>
            </a:r>
          </a:p>
          <a:p>
            <a:pPr lvl="1" eaLnBrk="1" hangingPunct="1"/>
            <a:r>
              <a:rPr lang="en-GB" dirty="0"/>
              <a:t>Introduction to digital design and FPGAs</a:t>
            </a:r>
          </a:p>
          <a:p>
            <a:pPr lvl="1" eaLnBrk="1" hangingPunct="1"/>
            <a:r>
              <a:rPr lang="en-GB" dirty="0"/>
              <a:t>Structured design</a:t>
            </a:r>
          </a:p>
          <a:p>
            <a:pPr lvl="1" eaLnBrk="1" hangingPunct="1"/>
            <a:r>
              <a:rPr lang="en-GB" dirty="0" err="1"/>
              <a:t>Modeling</a:t>
            </a:r>
            <a:r>
              <a:rPr lang="en-GB" dirty="0"/>
              <a:t> concepts in VHDL</a:t>
            </a:r>
          </a:p>
          <a:p>
            <a:pPr eaLnBrk="1" hangingPunct="1"/>
            <a:endParaRPr lang="en-GB" dirty="0"/>
          </a:p>
          <a:p>
            <a:pPr eaLnBrk="1" hangingPunct="1"/>
            <a:r>
              <a:rPr lang="en-GB" dirty="0"/>
              <a:t>Team up with another student</a:t>
            </a:r>
          </a:p>
          <a:p>
            <a:pPr eaLnBrk="1" hangingPunct="1"/>
            <a:r>
              <a:rPr lang="en-GB" dirty="0"/>
              <a:t>Start working on the laboratory</a:t>
            </a:r>
          </a:p>
          <a:p>
            <a:pPr eaLnBrk="1" hangingPunct="1"/>
            <a:endParaRPr lang="en-GB" dirty="0"/>
          </a:p>
          <a:p>
            <a:pPr eaLnBrk="1" hangingPunct="1"/>
            <a:r>
              <a:rPr lang="nl-NL" dirty="0">
                <a:hlinkClick r:id="rId2"/>
              </a:rPr>
              <a:t>https://nandland.com/fpga-101/</a:t>
            </a:r>
            <a:endParaRPr lang="nl-NL" dirty="0"/>
          </a:p>
          <a:p>
            <a:pPr eaLnBrk="1" hangingPunct="1"/>
            <a:r>
              <a:rPr lang="en-GB" dirty="0">
                <a:hlinkClick r:id="rId3"/>
              </a:rPr>
              <a:t>https://fpgatutorial.com/vhdl/</a:t>
            </a:r>
            <a:r>
              <a:rPr lang="en-GB" dirty="0"/>
              <a:t> </a:t>
            </a:r>
          </a:p>
          <a:p>
            <a:pPr marL="0" indent="0" eaLnBrk="1" hangingPunct="1">
              <a:buNone/>
            </a:pPr>
            <a:endParaRPr lang="en-GB" dirty="0"/>
          </a:p>
          <a:p>
            <a:r>
              <a:rPr lang="en-GB" dirty="0"/>
              <a:t>Useful:</a:t>
            </a:r>
          </a:p>
          <a:p>
            <a:pPr lvl="1"/>
            <a:r>
              <a:rPr lang="en-GB" dirty="0"/>
              <a:t>Chapter 5 “Introduction to VHDL”</a:t>
            </a:r>
          </a:p>
          <a:p>
            <a:pPr lvl="1"/>
            <a:r>
              <a:rPr lang="en-GB" dirty="0"/>
              <a:t>Chapter 6 “Code Structure and Composition”</a:t>
            </a:r>
          </a:p>
          <a:p>
            <a:pPr marL="0" indent="0" eaLnBrk="1" hangingPunct="1">
              <a:buNone/>
            </a:pPr>
            <a:endParaRPr lang="en-GB" dirty="0"/>
          </a:p>
          <a:p>
            <a:pPr eaLnBrk="1" hangingPunct="1"/>
            <a:r>
              <a:rPr lang="en-GB" dirty="0"/>
              <a:t>Next week (for reference):</a:t>
            </a:r>
          </a:p>
          <a:p>
            <a:pPr lvl="1" eaLnBrk="1" hangingPunct="1"/>
            <a:r>
              <a:rPr lang="en-GB" dirty="0"/>
              <a:t>Chapter 7 and 8 “Datatypes” </a:t>
            </a:r>
          </a:p>
          <a:p>
            <a:pPr lvl="1" eaLnBrk="1" hangingPunct="1"/>
            <a:r>
              <a:rPr lang="en-GB" dirty="0"/>
              <a:t>Chapter 9 “Operators”</a:t>
            </a:r>
          </a:p>
          <a:p>
            <a:pPr lvl="1" eaLnBrk="1" hangingPunct="1"/>
            <a:r>
              <a:rPr lang="en-GB" dirty="0"/>
              <a:t>Chapter 18 “Introduction to Simulation with Testbenches”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30</a:t>
            </a:fld>
            <a:endParaRPr lang="nl-NL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HR EAS ELE HWP01 WK1 V1.2</a:t>
            </a:r>
            <a:endParaRPr lang="en-GB" dirty="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0"/>
            <a:ext cx="7848600" cy="836712"/>
          </a:xfrm>
        </p:spPr>
        <p:txBody>
          <a:bodyPr/>
          <a:lstStyle/>
          <a:p>
            <a:pPr eaLnBrk="1" hangingPunct="1"/>
            <a:r>
              <a:rPr lang="en-GB" sz="3600"/>
              <a:t>First week: Lab</a:t>
            </a:r>
            <a:endParaRPr lang="en-GB" sz="3600" dirty="0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b="0" dirty="0"/>
              <a:t>Introductory Assignment 1</a:t>
            </a:r>
          </a:p>
          <a:p>
            <a:pPr lvl="1"/>
            <a:r>
              <a:rPr lang="en-GB" dirty="0"/>
              <a:t>Getting to know </a:t>
            </a:r>
            <a:r>
              <a:rPr lang="en-GB" dirty="0" err="1"/>
              <a:t>Quartus</a:t>
            </a:r>
            <a:endParaRPr lang="en-GB" dirty="0"/>
          </a:p>
          <a:p>
            <a:pPr lvl="1"/>
            <a:r>
              <a:rPr lang="en-GB" dirty="0"/>
              <a:t>Getting to know </a:t>
            </a:r>
            <a:r>
              <a:rPr lang="en-GB" dirty="0" err="1"/>
              <a:t>ModelSim</a:t>
            </a:r>
            <a:endParaRPr lang="en-GB" dirty="0"/>
          </a:p>
          <a:p>
            <a:pPr lvl="1"/>
            <a:r>
              <a:rPr lang="en-GB" dirty="0"/>
              <a:t>Getting to know the DE1 </a:t>
            </a:r>
            <a:r>
              <a:rPr lang="en-GB" dirty="0" err="1"/>
              <a:t>SoC</a:t>
            </a:r>
            <a:r>
              <a:rPr lang="en-GB" dirty="0"/>
              <a:t> development and Education Board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A9902-D0C0-4CCB-A534-4D64BC9D383D}" type="slidenum">
              <a:rPr lang="nl-NL" smtClean="0"/>
              <a:pPr/>
              <a:t>31</a:t>
            </a:fld>
            <a:endParaRPr lang="nl-NL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dirty="0"/>
              <a:t>HR EAS ELE HWP01 WK1 V1.0</a:t>
            </a:r>
            <a:endParaRPr lang="en-GB" dirty="0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140968"/>
            <a:ext cx="5468100" cy="3075806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presentatie_thema">
  <a:themeElements>
    <a:clrScheme name="Custom 3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000000"/>
      </a:accent1>
      <a:accent2>
        <a:srgbClr val="600000"/>
      </a:accent2>
      <a:accent3>
        <a:srgbClr val="C00000"/>
      </a:accent3>
      <a:accent4>
        <a:srgbClr val="326064"/>
      </a:accent4>
      <a:accent5>
        <a:srgbClr val="5C92B5"/>
      </a:accent5>
      <a:accent6>
        <a:srgbClr val="A04DA3"/>
      </a:accent6>
      <a:hlink>
        <a:srgbClr val="67AFBD"/>
      </a:hlink>
      <a:folHlink>
        <a:srgbClr val="C2A874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89CF096EA0F74E95A1679122595694" ma:contentTypeVersion="16" ma:contentTypeDescription="Create a new document." ma:contentTypeScope="" ma:versionID="810d64b5f220c177966b0631fcbd73b6">
  <xsd:schema xmlns:xsd="http://www.w3.org/2001/XMLSchema" xmlns:xs="http://www.w3.org/2001/XMLSchema" xmlns:p="http://schemas.microsoft.com/office/2006/metadata/properties" xmlns:ns2="29616316-1aa5-4fa3-a691-4a532bc3402d" xmlns:ns3="98e963da-112d-402c-956e-5af79f0b067b" targetNamespace="http://schemas.microsoft.com/office/2006/metadata/properties" ma:root="true" ma:fieldsID="2e8b1bf51ec49dd3713ecc6fb87f9ed5" ns2:_="" ns3:_="">
    <xsd:import namespace="29616316-1aa5-4fa3-a691-4a532bc3402d"/>
    <xsd:import namespace="98e963da-112d-402c-956e-5af79f0b06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16316-1aa5-4fa3-a691-4a532bc34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5477cde-f098-4d32-ba13-c78038edde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963da-112d-402c-956e-5af79f0b067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f7d4953-e0e4-4c29-8050-1efe1e8a515b}" ma:internalName="TaxCatchAll" ma:showField="CatchAllData" ma:web="98e963da-112d-402c-956e-5af79f0b06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8e963da-112d-402c-956e-5af79f0b067b" xsi:nil="true"/>
    <lcf76f155ced4ddcb4097134ff3c332f xmlns="29616316-1aa5-4fa3-a691-4a532bc3402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686A07D-95F6-4E06-87FD-DD91E5E740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616316-1aa5-4fa3-a691-4a532bc3402d"/>
    <ds:schemaRef ds:uri="98e963da-112d-402c-956e-5af79f0b06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210208-ABF7-447E-B67F-41D7632CA0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8F3952-D98D-4EB8-AEE2-8D30EE5C848B}">
  <ds:schemaRefs>
    <ds:schemaRef ds:uri="http://schemas.microsoft.com/office/2006/metadata/properties"/>
    <ds:schemaRef ds:uri="http://schemas.microsoft.com/office/infopath/2007/PartnerControls"/>
    <ds:schemaRef ds:uri="98e963da-112d-402c-956e-5af79f0b067b"/>
    <ds:schemaRef ds:uri="29616316-1aa5-4fa3-a691-4a532bc3402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1523</Words>
  <Application>Microsoft Office PowerPoint</Application>
  <PresentationFormat>On-screen Show (4:3)</PresentationFormat>
  <Paragraphs>373</Paragraphs>
  <Slides>31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Univers</vt:lpstr>
      <vt:lpstr>Wingdings</vt:lpstr>
      <vt:lpstr>presentatie_thema</vt:lpstr>
      <vt:lpstr>HWP01 </vt:lpstr>
      <vt:lpstr>Goal of this course</vt:lpstr>
      <vt:lpstr>Instructors</vt:lpstr>
      <vt:lpstr>Organization</vt:lpstr>
      <vt:lpstr>Planning: theory</vt:lpstr>
      <vt:lpstr>Planning: lab assignments</vt:lpstr>
      <vt:lpstr>Earning your grade</vt:lpstr>
      <vt:lpstr>Agenda</vt:lpstr>
      <vt:lpstr>Computing realization</vt:lpstr>
      <vt:lpstr>Digital Logic:  1980’s vs today FPGA</vt:lpstr>
      <vt:lpstr>Transistor count for key FPGA families</vt:lpstr>
      <vt:lpstr>Comparison</vt:lpstr>
      <vt:lpstr>PowerPoint Presentation</vt:lpstr>
      <vt:lpstr>Technology</vt:lpstr>
      <vt:lpstr>Technology – Logic Blocks A basic logic building block is the Logic Element</vt:lpstr>
      <vt:lpstr>Technology - Interconnections</vt:lpstr>
      <vt:lpstr>THE DE1 development BoarD</vt:lpstr>
      <vt:lpstr>Agenda</vt:lpstr>
      <vt:lpstr>Structured digital design</vt:lpstr>
      <vt:lpstr>Example VHDL code</vt:lpstr>
      <vt:lpstr>From VHDL to FPGA</vt:lpstr>
      <vt:lpstr>Structural decomposition</vt:lpstr>
      <vt:lpstr>Agenda</vt:lpstr>
      <vt:lpstr>Simplified VHDL Design Flow</vt:lpstr>
      <vt:lpstr>From VHDL to FPGA </vt:lpstr>
      <vt:lpstr>From VHDL to FPGA </vt:lpstr>
      <vt:lpstr>Modeling concepts in VHDL</vt:lpstr>
      <vt:lpstr>Modeling abstractions</vt:lpstr>
      <vt:lpstr>Design verification</vt:lpstr>
      <vt:lpstr>Homework</vt:lpstr>
      <vt:lpstr>First week: Lab</vt:lpstr>
    </vt:vector>
  </TitlesOfParts>
  <Company>Hogeschool Rotterdam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Programmeerbare Hardware HWP01</dc:title>
  <dc:creator>PelJH</dc:creator>
  <cp:lastModifiedBy>Verhagen, R.T. (Ron)</cp:lastModifiedBy>
  <cp:revision>286</cp:revision>
  <cp:lastPrinted>2013-09-03T09:52:57Z</cp:lastPrinted>
  <dcterms:created xsi:type="dcterms:W3CDTF">2010-09-14T09:49:30Z</dcterms:created>
  <dcterms:modified xsi:type="dcterms:W3CDTF">2024-07-18T11:56:53Z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0x0101002889CF096EA0F74E95A1679122595694</vt:lpwstr>
  </property>
</Properties>
</file>