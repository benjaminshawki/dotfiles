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9"/>
  </p:notesMasterIdLst>
  <p:handoutMasterIdLst>
    <p:handoutMasterId r:id="rId40"/>
  </p:handoutMasterIdLst>
  <p:sldIdLst>
    <p:sldId id="312" r:id="rId5"/>
    <p:sldId id="424" r:id="rId6"/>
    <p:sldId id="327" r:id="rId7"/>
    <p:sldId id="425" r:id="rId8"/>
    <p:sldId id="374" r:id="rId9"/>
    <p:sldId id="375" r:id="rId10"/>
    <p:sldId id="413" r:id="rId11"/>
    <p:sldId id="395" r:id="rId12"/>
    <p:sldId id="404" r:id="rId13"/>
    <p:sldId id="406" r:id="rId14"/>
    <p:sldId id="405" r:id="rId15"/>
    <p:sldId id="407" r:id="rId16"/>
    <p:sldId id="427" r:id="rId17"/>
    <p:sldId id="393" r:id="rId18"/>
    <p:sldId id="428" r:id="rId19"/>
    <p:sldId id="429" r:id="rId20"/>
    <p:sldId id="376" r:id="rId21"/>
    <p:sldId id="423" r:id="rId22"/>
    <p:sldId id="377" r:id="rId23"/>
    <p:sldId id="385" r:id="rId24"/>
    <p:sldId id="386" r:id="rId25"/>
    <p:sldId id="387" r:id="rId26"/>
    <p:sldId id="388" r:id="rId27"/>
    <p:sldId id="390" r:id="rId28"/>
    <p:sldId id="391" r:id="rId29"/>
    <p:sldId id="389" r:id="rId30"/>
    <p:sldId id="396" r:id="rId31"/>
    <p:sldId id="397" r:id="rId32"/>
    <p:sldId id="403" r:id="rId33"/>
    <p:sldId id="378" r:id="rId34"/>
    <p:sldId id="400" r:id="rId35"/>
    <p:sldId id="399" r:id="rId36"/>
    <p:sldId id="414" r:id="rId37"/>
    <p:sldId id="401" r:id="rId38"/>
  </p:sldIdLst>
  <p:sldSz cx="9144000" cy="6858000" type="screen4x3"/>
  <p:notesSz cx="7099300" cy="102235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00000"/>
    <a:srgbClr val="0000CC"/>
    <a:srgbClr val="0066FF"/>
    <a:srgbClr val="F32A1B"/>
    <a:srgbClr val="008080"/>
    <a:srgbClr val="3366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3072" autoAdjust="0"/>
  </p:normalViewPr>
  <p:slideViewPr>
    <p:cSldViewPr>
      <p:cViewPr varScale="1">
        <p:scale>
          <a:sx n="82" d="100"/>
          <a:sy n="82" d="100"/>
        </p:scale>
        <p:origin x="24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318" y="-90"/>
      </p:cViewPr>
      <p:guideLst>
        <p:guide orient="horz" pos="322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45162A20-AB3C-4F9F-B252-A672A2B1021C}" type="datetimeFigureOut">
              <a:rPr lang="nl-NL" smtClean="0"/>
              <a:pPr/>
              <a:t>18-7-2024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FA21263B-E5B0-43C2-80A4-8AFDE3EFF430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3455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81222E4A-1958-49F2-B3A1-D4165C891D49}" type="datetimeFigureOut">
              <a:rPr lang="nl-NL" smtClean="0"/>
              <a:pPr/>
              <a:t>18-7-2024</a:t>
            </a:fld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56163"/>
            <a:ext cx="5679440" cy="4600575"/>
          </a:xfrm>
          <a:prstGeom prst="rect">
            <a:avLst/>
          </a:prstGeom>
        </p:spPr>
        <p:txBody>
          <a:bodyPr vert="horz" lIns="98984" tIns="49492" rIns="98984" bIns="494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A6E2AD6B-A2A9-49FE-B66D-2E67103B72C1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814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960B0-8BB2-4B37-AE2B-8783C9AE35A0}" type="slidenum">
              <a:rPr lang="nl-NL"/>
              <a:pPr/>
              <a:t>1</a:t>
            </a:fld>
            <a:endParaRPr lang="nl-NL" dirty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253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</a:t>
            </a:r>
            <a:r>
              <a:rPr lang="en-US" dirty="0" err="1"/>
              <a:t>weten</a:t>
            </a:r>
            <a:r>
              <a:rPr lang="en-US" dirty="0"/>
              <a:t> we </a:t>
            </a:r>
            <a:r>
              <a:rPr lang="en-US" dirty="0" err="1"/>
              <a:t>nog</a:t>
            </a:r>
            <a:r>
              <a:rPr lang="en-US" dirty="0"/>
              <a:t> van </a:t>
            </a:r>
            <a:r>
              <a:rPr lang="en-US" dirty="0" err="1"/>
              <a:t>vorige</a:t>
            </a:r>
            <a:r>
              <a:rPr lang="en-US" dirty="0"/>
              <a:t> week?</a:t>
            </a:r>
          </a:p>
          <a:p>
            <a:pPr marL="171450" indent="-171450">
              <a:buFontTx/>
              <a:buChar char="-"/>
            </a:pPr>
            <a:r>
              <a:rPr lang="en-US" dirty="0"/>
              <a:t>FGPA is </a:t>
            </a:r>
            <a:r>
              <a:rPr lang="en-US" dirty="0" err="1"/>
              <a:t>gewoon</a:t>
            </a:r>
            <a:r>
              <a:rPr lang="en-US" dirty="0"/>
              <a:t> heel </a:t>
            </a:r>
            <a:r>
              <a:rPr lang="en-US" dirty="0" err="1"/>
              <a:t>snel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potentieel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nl-NL" dirty="0"/>
              <a:t>VHDL: Alles gebeurt op hetzelfde moment</a:t>
            </a:r>
          </a:p>
          <a:p>
            <a:pPr marL="628650" lvl="1" indent="-171450">
              <a:buFontTx/>
              <a:buChar char="-"/>
            </a:pPr>
            <a:r>
              <a:rPr lang="nl-NL" dirty="0"/>
              <a:t>Het is dus geen code die uitgevoerd wordt, maar een schakeling die gewoon “is”</a:t>
            </a:r>
          </a:p>
          <a:p>
            <a:pPr marL="171450" lvl="0" indent="-171450">
              <a:buFontTx/>
              <a:buChar char="-"/>
            </a:pPr>
            <a:r>
              <a:rPr lang="nl-NL" dirty="0"/>
              <a:t>Wat is onze aanpak als we iets op de FPGA willen zetten?</a:t>
            </a:r>
          </a:p>
          <a:p>
            <a:pPr marL="628650" lvl="1" indent="-171450">
              <a:buFontTx/>
              <a:buChar char="-"/>
            </a:pPr>
            <a:r>
              <a:rPr lang="nl-NL" dirty="0"/>
              <a:t>Architectuur</a:t>
            </a:r>
          </a:p>
          <a:p>
            <a:pPr marL="628650" lvl="1" indent="-171450">
              <a:buFontTx/>
              <a:buChar char="-"/>
            </a:pPr>
            <a:r>
              <a:rPr lang="nl-NL" dirty="0"/>
              <a:t>Realiseren/Simuleren</a:t>
            </a:r>
          </a:p>
          <a:p>
            <a:pPr marL="628650" lvl="1" indent="-171450">
              <a:buFontTx/>
              <a:buChar char="-"/>
            </a:pPr>
            <a:r>
              <a:rPr lang="nl-NL" dirty="0"/>
              <a:t>Testen</a:t>
            </a:r>
          </a:p>
          <a:p>
            <a:pPr marL="171450" lvl="0" indent="-171450">
              <a:buFontTx/>
              <a:buChar char="-"/>
            </a:pPr>
            <a:r>
              <a:rPr lang="nl-NL" dirty="0"/>
              <a:t>Beschrijven van een functie</a:t>
            </a:r>
          </a:p>
          <a:p>
            <a:pPr marL="628650" lvl="1" indent="-171450">
              <a:buFontTx/>
              <a:buChar char="-"/>
            </a:pPr>
            <a:r>
              <a:rPr lang="nl-NL" dirty="0" err="1"/>
              <a:t>Behavioral</a:t>
            </a:r>
            <a:endParaRPr lang="nl-NL" dirty="0"/>
          </a:p>
          <a:p>
            <a:pPr marL="628650" lvl="1" indent="-171450">
              <a:buFontTx/>
              <a:buChar char="-"/>
            </a:pPr>
            <a:r>
              <a:rPr lang="nl-NL" dirty="0" err="1"/>
              <a:t>Structural</a:t>
            </a:r>
            <a:endParaRPr lang="nl-NL" dirty="0"/>
          </a:p>
          <a:p>
            <a:pPr marL="628650" lvl="1" indent="-171450">
              <a:buFontTx/>
              <a:buChar char="-"/>
            </a:pPr>
            <a:endParaRPr lang="nl-NL" dirty="0"/>
          </a:p>
          <a:p>
            <a:pPr marL="171450" lvl="0" indent="-171450">
              <a:buFontTx/>
              <a:buChar char="-"/>
            </a:pPr>
            <a:endParaRPr lang="nl-NL" dirty="0"/>
          </a:p>
          <a:p>
            <a:pPr marL="171450" lvl="0" indent="-171450">
              <a:buFontTx/>
              <a:buChar char="-"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8262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0117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6611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3523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467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2979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Beter plaatje zoeken?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E2AD6B-A2A9-49FE-B66D-2E67103B72C1}" type="slidenum">
              <a:rPr kumimoji="0" lang="nl-N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98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E2AD6B-A2A9-49FE-B66D-2E67103B72C1}" type="slidenum">
              <a:rPr kumimoji="0" lang="nl-N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176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E2AD6B-A2A9-49FE-B66D-2E67103B72C1}" type="slidenum">
              <a:rPr kumimoji="0" lang="nl-N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109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E2AD6B-A2A9-49FE-B66D-2E67103B72C1}" type="slidenum">
              <a:rPr kumimoji="0" lang="nl-N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234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6337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std_ulogic</a:t>
            </a:r>
            <a:r>
              <a:rPr lang="nl-NL" dirty="0"/>
              <a:t> heeft de voorkeur. Ik vind dat geschreeuw in hoofdletters ook niet mooi, maar dat kan later wel eens aangepast worden.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6226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7476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8390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5728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Op het bord:</a:t>
            </a:r>
          </a:p>
          <a:p>
            <a:endParaRPr lang="nl-NL" dirty="0"/>
          </a:p>
          <a:p>
            <a:r>
              <a:rPr lang="nl-NL" dirty="0"/>
              <a:t>3 typen opschrijven. Logic, (</a:t>
            </a:r>
            <a:r>
              <a:rPr lang="nl-NL" dirty="0" err="1"/>
              <a:t>un</a:t>
            </a:r>
            <a:r>
              <a:rPr lang="nl-NL" dirty="0"/>
              <a:t>)</a:t>
            </a:r>
            <a:r>
              <a:rPr lang="nl-NL" dirty="0" err="1"/>
              <a:t>signed</a:t>
            </a:r>
            <a:r>
              <a:rPr lang="nl-NL" dirty="0"/>
              <a:t>, integer</a:t>
            </a:r>
          </a:p>
          <a:p>
            <a:endParaRPr lang="nl-NL" dirty="0"/>
          </a:p>
          <a:p>
            <a:pPr marL="171450" indent="-171450">
              <a:buFontTx/>
              <a:buChar char="-"/>
            </a:pPr>
            <a:r>
              <a:rPr lang="nl-NL" dirty="0"/>
              <a:t>Hoe zien deze er uit</a:t>
            </a:r>
          </a:p>
          <a:p>
            <a:pPr marL="171450" indent="-171450">
              <a:buFontTx/>
              <a:buChar char="-"/>
            </a:pPr>
            <a:r>
              <a:rPr lang="nl-NL" dirty="0"/>
              <a:t>Verschillende bespreken</a:t>
            </a:r>
          </a:p>
          <a:p>
            <a:pPr marL="171450" indent="-171450">
              <a:buFontTx/>
              <a:buChar char="-"/>
            </a:pPr>
            <a:r>
              <a:rPr lang="nl-NL" dirty="0"/>
              <a:t>Waar gebruik je elk type voor?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844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7340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6576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0204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0968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0122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7779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6321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Draw a </a:t>
            </a:r>
            <a:r>
              <a:rPr lang="nl-NL" dirty="0" err="1"/>
              <a:t>schematic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ask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the </a:t>
            </a:r>
            <a:r>
              <a:rPr lang="nl-NL" dirty="0" err="1"/>
              <a:t>the</a:t>
            </a:r>
            <a:r>
              <a:rPr lang="nl-NL" dirty="0"/>
              <a:t> order of </a:t>
            </a:r>
            <a:r>
              <a:rPr lang="nl-NL" dirty="0" err="1"/>
              <a:t>signal</a:t>
            </a:r>
            <a:r>
              <a:rPr lang="nl-NL" dirty="0"/>
              <a:t> </a:t>
            </a:r>
            <a:r>
              <a:rPr lang="nl-NL" dirty="0" err="1"/>
              <a:t>assignment</a:t>
            </a:r>
            <a:r>
              <a:rPr lang="nl-NL" dirty="0"/>
              <a:t> statements are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2694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1635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06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clk kan ook een andere waarde dan ‘0’ en ‘1’ hebben.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2431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21285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702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59832" y="0"/>
            <a:ext cx="6084168" cy="6858000"/>
          </a:xfrm>
          <a:prstGeom prst="rect">
            <a:avLst/>
          </a:prstGeom>
          <a:solidFill>
            <a:srgbClr val="C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0598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75856" y="2708920"/>
            <a:ext cx="5688632" cy="936104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7" name="Picture 6" descr="HR_Logo_websafe_punt bov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620713"/>
            <a:ext cx="1871663" cy="18716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352928" cy="194421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0"/>
            <a:ext cx="8352928" cy="7200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908719"/>
            <a:ext cx="54864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836712"/>
            <a:ext cx="2057400" cy="52894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836712"/>
            <a:ext cx="6019800" cy="5289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het opmaakprofiel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opmaakprofielen van de modeltekst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67544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491880" y="6492875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Picture 7" descr="fond_rood_websaf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87338" cy="6858000"/>
          </a:xfrm>
          <a:prstGeom prst="rect">
            <a:avLst/>
          </a:prstGeom>
          <a:noFill/>
        </p:spPr>
      </p:pic>
      <p:cxnSp>
        <p:nvCxnSpPr>
          <p:cNvPr id="12" name="Straight Connector 11"/>
          <p:cNvCxnSpPr/>
          <p:nvPr/>
        </p:nvCxnSpPr>
        <p:spPr>
          <a:xfrm>
            <a:off x="395536" y="764704"/>
            <a:ext cx="85689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HR_Logo_websafe_punt#1015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585795" y="6309320"/>
            <a:ext cx="509761" cy="5097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vhdlwhiz.com/std_logic-vs-std_ulogic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7"/>
          <p:cNvSpPr txBox="1">
            <a:spLocks/>
          </p:cNvSpPr>
          <p:nvPr/>
        </p:nvSpPr>
        <p:spPr>
          <a:xfrm>
            <a:off x="3275856" y="2708920"/>
            <a:ext cx="5688632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capturing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FPGA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/>
          <a:p>
            <a:r>
              <a:rPr lang="nl-NL" dirty="0"/>
              <a:t>Hardware Programming</a:t>
            </a:r>
            <a:br>
              <a:rPr lang="nl-NL" dirty="0"/>
            </a:br>
            <a:r>
              <a:rPr lang="nl-NL" dirty="0"/>
              <a:t>HWP01</a:t>
            </a:r>
            <a:br>
              <a:rPr lang="nl-NL" dirty="0"/>
            </a:br>
            <a:endParaRPr lang="nl-NL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99592" y="3519788"/>
            <a:ext cx="2808312" cy="2016224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956376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Planning: theory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827252" y="1166018"/>
            <a:ext cx="2808312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+mj-lt"/>
              </a:rPr>
              <a:t>First week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US" sz="2000" dirty="0"/>
              <a:t>Introduction digital systems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US" sz="2000" dirty="0"/>
              <a:t>Introduction to FPGAs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US" sz="2000" dirty="0"/>
              <a:t>Structured digital Design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US" sz="2000" dirty="0"/>
              <a:t>Modeling concepts in VHDL</a:t>
            </a: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Second Week</a:t>
            </a:r>
          </a:p>
          <a:p>
            <a:pPr lvl="1"/>
            <a:r>
              <a:rPr lang="en-US" dirty="0"/>
              <a:t>Introduction VHDL</a:t>
            </a:r>
          </a:p>
          <a:p>
            <a:pPr lvl="1"/>
            <a:r>
              <a:rPr lang="en-US" dirty="0"/>
              <a:t>Code structure</a:t>
            </a:r>
          </a:p>
          <a:p>
            <a:pPr lvl="1"/>
            <a:r>
              <a:rPr lang="en-US" dirty="0"/>
              <a:t>Data types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744074" y="1186788"/>
            <a:ext cx="2453444" cy="447522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+mj-lt"/>
              </a:rPr>
              <a:t>Third week</a:t>
            </a:r>
          </a:p>
          <a:p>
            <a:pPr lvl="1"/>
            <a:r>
              <a:rPr lang="en-US" dirty="0"/>
              <a:t>Combinational versus sequential design</a:t>
            </a:r>
          </a:p>
          <a:p>
            <a:pPr lvl="1"/>
            <a:r>
              <a:rPr lang="en-US" dirty="0"/>
              <a:t>Concurrent and sequential code</a:t>
            </a:r>
          </a:p>
          <a:p>
            <a:pPr lvl="1"/>
            <a:r>
              <a:rPr lang="en-US" dirty="0"/>
              <a:t>Signals and variables</a:t>
            </a:r>
            <a:br>
              <a:rPr lang="en-US" dirty="0"/>
            </a:br>
            <a:endParaRPr lang="en-US" dirty="0"/>
          </a:p>
          <a:p>
            <a:r>
              <a:rPr lang="en-US" dirty="0">
                <a:latin typeface="+mj-lt"/>
              </a:rPr>
              <a:t>Fourth week</a:t>
            </a:r>
          </a:p>
          <a:p>
            <a:pPr lvl="1"/>
            <a:r>
              <a:rPr lang="en-US" dirty="0"/>
              <a:t>Introduction to state machines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AA9902-D0C0-4CCB-A534-4D64BC9D383D}" type="slidenum">
              <a: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 EAS ELE HWP01 WK1 V1.0</a:t>
            </a:r>
          </a:p>
        </p:txBody>
      </p:sp>
      <p:sp>
        <p:nvSpPr>
          <p:cNvPr id="8" name="Content Placeholder 10"/>
          <p:cNvSpPr txBox="1">
            <a:spLocks/>
          </p:cNvSpPr>
          <p:nvPr/>
        </p:nvSpPr>
        <p:spPr>
          <a:xfrm>
            <a:off x="6516216" y="1148653"/>
            <a:ext cx="2453444" cy="447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Fifth week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Designing state machines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Advanced VHDL design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Discussion of previous week</a:t>
            </a:r>
          </a:p>
          <a:p>
            <a:r>
              <a:rPr lang="en-GB" dirty="0"/>
              <a:t>Introduction to VHDL</a:t>
            </a:r>
          </a:p>
          <a:p>
            <a:r>
              <a:rPr lang="en-GB" dirty="0"/>
              <a:t>Design verification</a:t>
            </a:r>
          </a:p>
          <a:p>
            <a:pPr eaLnBrk="1" hangingPunct="1"/>
            <a:r>
              <a:rPr lang="en-GB" dirty="0"/>
              <a:t>Code structure and data types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Discussion of previous week</a:t>
            </a:r>
          </a:p>
          <a:p>
            <a:r>
              <a:rPr lang="en-GB" dirty="0">
                <a:solidFill>
                  <a:srgbClr val="FF0000"/>
                </a:solidFill>
              </a:rPr>
              <a:t>Introduction to VHDL</a:t>
            </a:r>
            <a:endParaRPr lang="en-GB" dirty="0"/>
          </a:p>
          <a:p>
            <a:r>
              <a:rPr lang="en-GB" dirty="0"/>
              <a:t>Design verification</a:t>
            </a:r>
            <a:endParaRPr lang="en-GB" dirty="0">
              <a:solidFill>
                <a:srgbClr val="FF0000"/>
              </a:solidFill>
            </a:endParaRPr>
          </a:p>
          <a:p>
            <a:pPr eaLnBrk="1" hangingPunct="1"/>
            <a:r>
              <a:rPr lang="en-GB" dirty="0"/>
              <a:t>Code structure and data types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9162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Introduction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VHDL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VHSIC was a 1980s U.S. government program to develop very-high-speed integrated circuits. The United States Department of Defense launched the VHSIC project in 1980 as a joint tri-service project. The project led to advances in integrated circuit materials, lithography, packaging, testing, and algorithms, and created numerous computer-aided design tools. A well-known part of the project's contribution is VHDL, a hardware description language.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Standard defined by IEEE in 1987, revisions in 2008 and 2019</a:t>
            </a:r>
          </a:p>
          <a:p>
            <a:endParaRPr lang="en-US" dirty="0"/>
          </a:p>
          <a:p>
            <a:r>
              <a:rPr lang="en-US" dirty="0"/>
              <a:t>Remember: VHDL is not a normal programming language. It describes digital hardware.</a:t>
            </a:r>
          </a:p>
          <a:p>
            <a:endParaRPr lang="en-US" dirty="0"/>
          </a:p>
          <a:p>
            <a:r>
              <a:rPr lang="en-US" dirty="0"/>
              <a:t>Everything happens all the time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912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Entity and architecture keywords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ENTITY</a:t>
            </a:r>
          </a:p>
          <a:p>
            <a:pPr lvl="1"/>
            <a:r>
              <a:rPr lang="en-US" dirty="0"/>
              <a:t>Define a function block and specify the interface to the outside world with </a:t>
            </a:r>
            <a:r>
              <a:rPr lang="en-US" b="1" dirty="0"/>
              <a:t>PORTS</a:t>
            </a:r>
          </a:p>
          <a:p>
            <a:r>
              <a:rPr lang="en-US" b="1" dirty="0"/>
              <a:t>ARCHITECTURE</a:t>
            </a:r>
          </a:p>
          <a:p>
            <a:pPr lvl="1"/>
            <a:r>
              <a:rPr lang="en-US" dirty="0"/>
              <a:t>Define the </a:t>
            </a:r>
            <a:r>
              <a:rPr lang="en-US" b="1" dirty="0"/>
              <a:t>implementation</a:t>
            </a:r>
            <a:r>
              <a:rPr lang="en-US" dirty="0"/>
              <a:t> of your entity. Either </a:t>
            </a:r>
            <a:r>
              <a:rPr lang="en-US" b="1" dirty="0"/>
              <a:t>behavioral</a:t>
            </a:r>
            <a:r>
              <a:rPr lang="en-US" dirty="0"/>
              <a:t> or </a:t>
            </a:r>
            <a:r>
              <a:rPr lang="en-US" b="1" dirty="0"/>
              <a:t>structural</a:t>
            </a:r>
            <a:r>
              <a:rPr lang="en-US" dirty="0"/>
              <a:t> 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EAS ELE HWP01 WK1 V1.2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459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VHDL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EAS ELE HWP01 WK1 V1.2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kstvak 6"/>
          <p:cNvSpPr txBox="1"/>
          <p:nvPr/>
        </p:nvSpPr>
        <p:spPr>
          <a:xfrm>
            <a:off x="886644" y="5805264"/>
            <a:ext cx="24224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Figure adapted  from FPGAcenter.com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75" y="692696"/>
            <a:ext cx="7093596" cy="480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8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Agenda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5184576"/>
          </a:xfrm>
        </p:spPr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r>
              <a:rPr lang="en-GB" dirty="0"/>
              <a:t>Introduction to VHDL</a:t>
            </a:r>
          </a:p>
          <a:p>
            <a:r>
              <a:rPr lang="en-GB" b="1" dirty="0">
                <a:solidFill>
                  <a:srgbClr val="FF0000"/>
                </a:solidFill>
              </a:rPr>
              <a:t>Design verification</a:t>
            </a:r>
            <a:endParaRPr lang="en-GB" dirty="0"/>
          </a:p>
          <a:p>
            <a:pPr eaLnBrk="1" hangingPunct="1"/>
            <a:r>
              <a:rPr lang="en-GB" dirty="0"/>
              <a:t>Code structure and data types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11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verification: test 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verification of your design</a:t>
            </a:r>
          </a:p>
          <a:p>
            <a:endParaRPr lang="en-US" dirty="0"/>
          </a:p>
          <a:p>
            <a:r>
              <a:rPr lang="en-US" dirty="0"/>
              <a:t>In this course you will have to create a test bench for every assignment you hand in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 EAS ELE HWP01 WK1 V1.2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AA9902-D0C0-4CCB-A534-4D64BC9D383D}" type="slidenum">
              <a: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2051720" y="5458435"/>
            <a:ext cx="1939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Figure adapted  from </a:t>
            </a:r>
            <a:r>
              <a:rPr kumimoji="0" lang="en-US" sz="11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Pedroni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18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6D2B55-C455-2A78-D3FD-DF6DE2F8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351994"/>
            <a:ext cx="5641820" cy="216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9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 bench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test bench entity has no ports</a:t>
            </a:r>
          </a:p>
          <a:p>
            <a:endParaRPr lang="en-US" dirty="0"/>
          </a:p>
          <a:p>
            <a:r>
              <a:rPr lang="en-US" dirty="0"/>
              <a:t>In the architecture you create port maps to instantiate your design</a:t>
            </a:r>
          </a:p>
          <a:p>
            <a:endParaRPr lang="en-US" dirty="0"/>
          </a:p>
          <a:p>
            <a:r>
              <a:rPr lang="en-US" dirty="0"/>
              <a:t>Generate a clock signal as stimulus</a:t>
            </a:r>
          </a:p>
          <a:p>
            <a:endParaRPr lang="en-US" dirty="0"/>
          </a:p>
          <a:p>
            <a:r>
              <a:rPr lang="en-US" dirty="0"/>
              <a:t>In this course we only cover functional verification; no timing verification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 EAS ELE HWP01 WK1 V1.2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AA9902-D0C0-4CCB-A534-4D64BC9D383D}" type="slidenum">
              <a: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05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Delay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Inertial delay:</a:t>
            </a:r>
          </a:p>
          <a:p>
            <a:pPr lvl="1"/>
            <a:r>
              <a:rPr lang="en-US" dirty="0"/>
              <a:t>Models delays in gates with the after clause: </a:t>
            </a:r>
            <a:r>
              <a:rPr lang="en-US" b="1" dirty="0"/>
              <a:t>a &lt;= b AFTER 1 ns;</a:t>
            </a:r>
          </a:p>
          <a:p>
            <a:r>
              <a:rPr lang="en-US" dirty="0"/>
              <a:t>Transport delay:</a:t>
            </a:r>
          </a:p>
          <a:p>
            <a:pPr lvl="1"/>
            <a:r>
              <a:rPr lang="en-US" dirty="0"/>
              <a:t>Models delays in wires</a:t>
            </a:r>
          </a:p>
          <a:p>
            <a:r>
              <a:rPr lang="en-US" dirty="0"/>
              <a:t>Delta delay:</a:t>
            </a:r>
          </a:p>
          <a:p>
            <a:pPr lvl="1"/>
            <a:r>
              <a:rPr lang="en-US" dirty="0"/>
              <a:t>Delay added automatically by the simulator if no delay is explicitly prescribed</a:t>
            </a:r>
          </a:p>
          <a:p>
            <a:r>
              <a:rPr lang="en-US" dirty="0"/>
              <a:t>Remember: delay statements are </a:t>
            </a:r>
            <a:r>
              <a:rPr lang="en-US" b="1" i="1" u="sng" dirty="0"/>
              <a:t>not</a:t>
            </a:r>
            <a:r>
              <a:rPr lang="en-US" b="1" i="1" dirty="0"/>
              <a:t> </a:t>
            </a:r>
            <a:r>
              <a:rPr lang="en-US" dirty="0"/>
              <a:t>synthesizable</a:t>
            </a:r>
            <a:endParaRPr lang="en-US" b="1" i="1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 EAS ELE HWP01 WK1 V1.2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AA9902-D0C0-4CCB-A534-4D64BC9D383D}" type="slidenum">
              <a: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92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Discussion of testbench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 EAS ELE HWP01 WK1 V1.2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AA9902-D0C0-4CCB-A534-4D64BC9D383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9936" y="833759"/>
            <a:ext cx="7272808" cy="5841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LIBRARY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ieee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ieee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std_logic_1164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all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ieee</a:t>
            </a:r>
            <a:r>
              <a:rPr kumimoji="0" lang="nl-NL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numeric_std</a:t>
            </a:r>
            <a:r>
              <a:rPr kumimoji="0" lang="nl-NL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nl-NL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all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ENTITY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assignment2_tb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IS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ENTITY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ARCHITECTURE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testbench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assignment2_tb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COMPONENT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assignment2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IS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SW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HEX0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LEDR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COMPONENT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SIGNAL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SW_tb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SIGNAL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HEX0_tb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SIGNAL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LEDR_tb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DOWNTO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BEGIN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TB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assignment2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MAP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=&gt;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SW_tb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HEX0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=&gt;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HEX0_tb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LEDR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=&gt;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LEDR_tb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PROCESS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BEGIN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SW_tb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&lt;=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"000000000000000000"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I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15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LOOP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WAIT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ns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SW_tb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&lt;=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STD_ULOGIC_VECTOR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UNSIGNED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SW_tb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LOOP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REPORT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"Test </a:t>
            </a:r>
            <a:r>
              <a:rPr kumimoji="0" lang="nl-N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completed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."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WAIT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PROCESS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END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ARCHITECTURE</a:t>
            </a:r>
            <a:r>
              <a:rPr kumimoji="0" lang="nl-NL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985DB6-BFA4-DB49-924D-33F8B7845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32" y="1196752"/>
            <a:ext cx="318965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2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9E67-5635-5091-3BB8-0B946296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652EE-CA8C-32EF-022C-A8696485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EBB65-42DB-0770-CD1A-FD9C9722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D90F7-A42F-E695-8378-BB4C1F482AB8}"/>
              </a:ext>
            </a:extLst>
          </p:cNvPr>
          <p:cNvSpPr/>
          <p:nvPr/>
        </p:nvSpPr>
        <p:spPr>
          <a:xfrm>
            <a:off x="755576" y="983675"/>
            <a:ext cx="763284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process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int_array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array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of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constant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expexted_seven_segment_code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int_array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16#40#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16#79#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16#24#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16#30#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16#19#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16#12#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16#02#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16#78#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16#00#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16#10#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16#08#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16#03#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16#46#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16#21#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16#06#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16#0E#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nl-NL" sz="9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2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report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Testing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entity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assignment2."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endParaRPr lang="nl-NL" sz="9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--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Initialize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signals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sw_tb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"0000"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endParaRPr lang="nl-NL" sz="9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lvl="3">
              <a:defRPr/>
            </a:pP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blank_tb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'1’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wait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ns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lvl="4">
              <a:defRPr/>
            </a:pP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-- Check blank.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hex0_tb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"1111111"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report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"test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failed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blank = 1"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severity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error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endParaRPr lang="nl-NL" sz="9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lvl="4">
              <a:defRPr/>
            </a:pP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blank_tb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'0’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-- Loop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through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all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possible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of switches.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loop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sw_tb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std_ulogic_vector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b="1" dirty="0" err="1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to_unsigned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sw_tb'</a:t>
            </a:r>
            <a:r>
              <a:rPr lang="nl-NL" sz="9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));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wait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ns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endParaRPr lang="nl-NL" sz="9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 lvl="4">
              <a:defRPr/>
            </a:pPr>
            <a:r>
              <a:rPr lang="nl-NL" sz="900" dirty="0">
                <a:solidFill>
                  <a:srgbClr val="008000"/>
                </a:solidFill>
                <a:latin typeface="Courier New" panose="02070309020205020404" pitchFamily="49" charset="0"/>
              </a:rPr>
              <a:t>	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-- Check </a:t>
            </a:r>
            <a:r>
              <a:rPr lang="nl-NL" sz="9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nl-NL" sz="9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hex0_tb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std_ulogic_vector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b="1" dirty="0" err="1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to_unsigned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expexted_seven_segment_code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hex0_tb'</a:t>
            </a:r>
            <a:r>
              <a:rPr lang="nl-NL" sz="9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report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"test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failed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i = "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to_string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severity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error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loop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endParaRPr lang="nl-NL" sz="900" b="1" dirty="0">
              <a:solidFill>
                <a:srgbClr val="0000FF"/>
              </a:solidFill>
              <a:effectLst/>
              <a:latin typeface="Courier New" panose="02070309020205020404" pitchFamily="49" charset="0"/>
            </a:endParaRPr>
          </a:p>
          <a:p>
            <a:pPr lvl="4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report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"Test </a:t>
            </a:r>
            <a:r>
              <a:rPr lang="nl-NL" sz="9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completed</a:t>
            </a:r>
            <a:r>
              <a:rPr lang="nl-NL" sz="9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4">
              <a:defRPr/>
            </a:pPr>
            <a:r>
              <a:rPr lang="nl-NL" sz="90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std</a:t>
            </a:r>
            <a:r>
              <a:rPr lang="nl-NL" sz="9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env</a:t>
            </a:r>
            <a:r>
              <a:rPr lang="nl-NL" sz="9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nl-NL" sz="9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stop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2"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process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nl-NL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nl-NL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architecture</a:t>
            </a:r>
            <a:r>
              <a:rPr lang="nl-NL" sz="9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nl-NL" sz="9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nl-NL" sz="1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05CF36-42EA-897D-5F05-3812E8EE5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32" y="1196752"/>
            <a:ext cx="318965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2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Agenda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14</a:t>
            </a:fld>
            <a:endParaRPr lang="nl-NL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12771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Discussion of previous week</a:t>
            </a:r>
          </a:p>
          <a:p>
            <a:r>
              <a:rPr lang="en-GB" dirty="0"/>
              <a:t>Introduction to VHDL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dirty="0"/>
              <a:t>Design verification</a:t>
            </a:r>
          </a:p>
          <a:p>
            <a:r>
              <a:rPr lang="en-GB" b="1" dirty="0">
                <a:solidFill>
                  <a:srgbClr val="FF0000"/>
                </a:solidFill>
              </a:rPr>
              <a:t>Code structure and data types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85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76EB-620A-8D6B-5125-C897D799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 values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C109-DF2C-1511-7EB9-53BE2EC4F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book chapter 7.6.2</a:t>
            </a:r>
          </a:p>
          <a:p>
            <a:r>
              <a:rPr lang="en-US" dirty="0"/>
              <a:t>There are 4 synthesizable logic values</a:t>
            </a:r>
          </a:p>
          <a:p>
            <a:pPr lvl="1"/>
            <a:r>
              <a:rPr lang="en-US" dirty="0"/>
              <a:t>‘0’, ‘1’, ‘-’ and ‘Z’.</a:t>
            </a:r>
          </a:p>
          <a:p>
            <a:r>
              <a:rPr lang="en-US" dirty="0"/>
              <a:t>There are 5 other useful logic values</a:t>
            </a:r>
          </a:p>
          <a:p>
            <a:pPr lvl="1"/>
            <a:r>
              <a:rPr lang="en-US" dirty="0"/>
              <a:t>‘L’ = (‘0’), ‘H’ = (‘1’), ‘X’ = (‘-’), ‘W’, ‘U’.</a:t>
            </a:r>
          </a:p>
          <a:p>
            <a:r>
              <a:rPr lang="en-US" dirty="0"/>
              <a:t>You should not use any other then the 4 synthesizable logic values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EF4EF-3F95-039D-B9A1-9FDE2BCB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1D54-CF70-B8F5-E834-A16EFD8F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992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9807-FF77-79B6-103C-BD92BC51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Resolved and Unresolved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73A7B-2F69-C083-FC24-908F0495F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drivers are driving a logic signal</a:t>
            </a:r>
          </a:p>
          <a:p>
            <a:pPr lvl="1"/>
            <a:r>
              <a:rPr lang="en-US" dirty="0"/>
              <a:t>Is this correct?</a:t>
            </a:r>
          </a:p>
          <a:p>
            <a:pPr lvl="1"/>
            <a:r>
              <a:rPr lang="en-US" dirty="0"/>
              <a:t>What happens?</a:t>
            </a:r>
          </a:p>
          <a:p>
            <a:pPr lvl="1"/>
            <a:endParaRPr lang="en-US" dirty="0"/>
          </a:p>
          <a:p>
            <a:r>
              <a:rPr lang="en-US" dirty="0"/>
              <a:t>Unresolved</a:t>
            </a:r>
          </a:p>
          <a:p>
            <a:r>
              <a:rPr lang="en-US" dirty="0"/>
              <a:t>Resolved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Detailed explanation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8DA53-C06C-6454-9E77-5AC1A732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14774-F9F8-6BDE-29BB-34B015E6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318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Example</a:t>
            </a:r>
            <a:r>
              <a:rPr lang="nl-NL" dirty="0"/>
              <a:t>: AND gate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17</a:t>
            </a:fld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1" y="1124744"/>
            <a:ext cx="5936738" cy="1383210"/>
          </a:xfrm>
          <a:prstGeom prst="rect">
            <a:avLst/>
          </a:prstGeom>
        </p:spPr>
      </p:pic>
      <p:sp>
        <p:nvSpPr>
          <p:cNvPr id="7" name="Tijdelijke aanduiding voor inhoud 7"/>
          <p:cNvSpPr>
            <a:spLocks/>
          </p:cNvSpPr>
          <p:nvPr/>
        </p:nvSpPr>
        <p:spPr bwMode="auto">
          <a:xfrm>
            <a:off x="863588" y="2476608"/>
            <a:ext cx="5868652" cy="3544680"/>
          </a:xfrm>
          <a:prstGeom prst="rect">
            <a:avLst/>
          </a:prstGeom>
          <a:ln>
            <a:headEnd/>
            <a:tailEnd/>
          </a:ln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std_logic_1164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ENTITY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andgate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PORT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 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OUT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andgate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ARCHITECTURE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voorbeeld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OF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andgate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c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A </a:t>
            </a:r>
            <a:r>
              <a:rPr lang="en-GB" sz="1600" b="1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SimSun"/>
              </a:rPr>
              <a:t>AND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voorbeeld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25170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Libraries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18</a:t>
            </a:fld>
            <a:endParaRPr lang="nl-NL" dirty="0"/>
          </a:p>
        </p:txBody>
      </p:sp>
      <p:sp>
        <p:nvSpPr>
          <p:cNvPr id="6" name="Tijdelijke aanduiding voor inhoud 7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ln>
            <a:headEnd/>
            <a:tailEnd/>
          </a:ln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library_name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library_name.package_name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</a:p>
          <a:p>
            <a:pPr indent="0">
              <a:buNone/>
            </a:pP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The most frequently used packages are:</a:t>
            </a: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Package </a:t>
            </a:r>
            <a:r>
              <a:rPr lang="en-GB" sz="1600" i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standard</a:t>
            </a:r>
            <a:r>
              <a:rPr lang="en-GB" sz="16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, 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from the library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(visible </a:t>
            </a:r>
            <a:r>
              <a:rPr lang="en-GB" sz="1600" u="sng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by default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 </a:t>
            </a:r>
            <a:r>
              <a:rPr lang="en-GB" sz="1600" i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work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(where the projects are saved is visible </a:t>
            </a:r>
            <a:r>
              <a:rPr lang="en-GB" sz="1600" u="sng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by default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Package </a:t>
            </a:r>
            <a:r>
              <a:rPr lang="en-GB" sz="16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std_logic_1164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, from the library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(when needed, must be explicitly declared)</a:t>
            </a:r>
          </a:p>
          <a:p>
            <a:pPr indent="0">
              <a:buNone/>
            </a:pPr>
            <a:endParaRPr lang="en-GB" sz="1600" dirty="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          -- optional declaration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std.standard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 --optional</a:t>
            </a: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 work          -- optional</a:t>
            </a: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USE 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work.all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  -- optional; also not needed if defined as below</a:t>
            </a: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USE 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work.my_package.all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  --if an extra user made package is needed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 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USE ieee.std_logic_1164.all</a:t>
            </a: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</a:p>
          <a:p>
            <a:pPr indent="0">
              <a:buNone/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898473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INCLUDE : </a:t>
            </a:r>
            <a:r>
              <a:rPr lang="nl-NL" i="1" dirty="0"/>
              <a:t>IEEE.STD_LOGIC_1164</a:t>
            </a:r>
            <a:r>
              <a:rPr lang="nl-NL" dirty="0"/>
              <a:t> LIBRARY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19</a:t>
            </a:fld>
            <a:endParaRPr lang="nl-NL" dirty="0"/>
          </a:p>
        </p:txBody>
      </p:sp>
      <p:sp>
        <p:nvSpPr>
          <p:cNvPr id="8" name="Tijdelijke aanduiding voor inhoud 7"/>
          <p:cNvSpPr>
            <a:spLocks/>
          </p:cNvSpPr>
          <p:nvPr/>
        </p:nvSpPr>
        <p:spPr bwMode="auto">
          <a:xfrm>
            <a:off x="428818" y="1199071"/>
            <a:ext cx="5868652" cy="1008112"/>
          </a:xfrm>
          <a:prstGeom prst="rect">
            <a:avLst/>
          </a:prstGeom>
          <a:ln>
            <a:headEnd/>
            <a:tailEnd/>
          </a:ln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std_logic_1164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326208" y="778648"/>
            <a:ext cx="7244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/>
              <a:t>https://www.csee.umbc.edu/portal/help/VHDL/std_logic_1164.vhdl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428818" y="2365122"/>
            <a:ext cx="76715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 </a:t>
            </a:r>
            <a:r>
              <a:rPr lang="nl-NL" dirty="0" err="1"/>
              <a:t>Defines</a:t>
            </a:r>
            <a:r>
              <a:rPr lang="nl-NL" dirty="0"/>
              <a:t> STD_LOGIC as well as STD_LOGIC_VECTOR (array of STD_LOGIC)</a:t>
            </a:r>
          </a:p>
          <a:p>
            <a:r>
              <a:rPr lang="nl-NL" dirty="0"/>
              <a:t>	       'U',  -- </a:t>
            </a:r>
            <a:r>
              <a:rPr lang="nl-NL" dirty="0" err="1"/>
              <a:t>Uninitialized</a:t>
            </a:r>
            <a:endParaRPr lang="nl-NL" dirty="0"/>
          </a:p>
          <a:p>
            <a:r>
              <a:rPr lang="nl-NL" dirty="0"/>
              <a:t>                         'X',  -- </a:t>
            </a:r>
            <a:r>
              <a:rPr lang="nl-NL" dirty="0" err="1"/>
              <a:t>Unknown</a:t>
            </a:r>
            <a:endParaRPr lang="nl-NL" dirty="0"/>
          </a:p>
          <a:p>
            <a:r>
              <a:rPr lang="nl-NL" dirty="0"/>
              <a:t>                         '0',  -- LOGIC  0</a:t>
            </a:r>
          </a:p>
          <a:p>
            <a:r>
              <a:rPr lang="nl-NL" dirty="0"/>
              <a:t>                         '1',  -- LOGIC  1</a:t>
            </a:r>
          </a:p>
          <a:p>
            <a:r>
              <a:rPr lang="nl-NL" dirty="0"/>
              <a:t>                         'Z',  -- High </a:t>
            </a:r>
            <a:r>
              <a:rPr lang="nl-NL" dirty="0" err="1"/>
              <a:t>Impedance</a:t>
            </a:r>
            <a:r>
              <a:rPr lang="nl-NL" dirty="0"/>
              <a:t>  (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tri-state I/O’s)</a:t>
            </a:r>
          </a:p>
          <a:p>
            <a:r>
              <a:rPr lang="nl-NL" dirty="0"/>
              <a:t>                         'W',-- </a:t>
            </a:r>
            <a:r>
              <a:rPr lang="nl-NL" dirty="0" err="1"/>
              <a:t>Weak</a:t>
            </a:r>
            <a:r>
              <a:rPr lang="nl-NL" dirty="0"/>
              <a:t>  </a:t>
            </a:r>
            <a:r>
              <a:rPr lang="nl-NL" dirty="0" err="1"/>
              <a:t>signal</a:t>
            </a:r>
            <a:endParaRPr lang="nl-NL" dirty="0"/>
          </a:p>
          <a:p>
            <a:r>
              <a:rPr lang="nl-NL" dirty="0"/>
              <a:t>                         'L',  -- </a:t>
            </a:r>
            <a:r>
              <a:rPr lang="nl-NL" dirty="0" err="1"/>
              <a:t>Weak</a:t>
            </a:r>
            <a:r>
              <a:rPr lang="nl-NL" dirty="0"/>
              <a:t> </a:t>
            </a:r>
            <a:r>
              <a:rPr lang="nl-NL" dirty="0" err="1"/>
              <a:t>signal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logic  0   as </a:t>
            </a:r>
            <a:r>
              <a:rPr lang="nl-NL" dirty="0" err="1"/>
              <a:t>preference</a:t>
            </a:r>
            <a:r>
              <a:rPr lang="nl-NL" dirty="0"/>
              <a:t>    </a:t>
            </a:r>
          </a:p>
          <a:p>
            <a:r>
              <a:rPr lang="nl-NL" dirty="0"/>
              <a:t>                         'H',  -- </a:t>
            </a:r>
            <a:r>
              <a:rPr lang="nl-NL" dirty="0" err="1"/>
              <a:t>Weak</a:t>
            </a:r>
            <a:r>
              <a:rPr lang="nl-NL" dirty="0"/>
              <a:t> </a:t>
            </a:r>
            <a:r>
              <a:rPr lang="nl-NL" dirty="0" err="1"/>
              <a:t>signal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logic  1   as </a:t>
            </a:r>
            <a:r>
              <a:rPr lang="nl-NL" dirty="0" err="1"/>
              <a:t>preference</a:t>
            </a:r>
            <a:r>
              <a:rPr lang="nl-NL" dirty="0"/>
              <a:t>    </a:t>
            </a:r>
          </a:p>
          <a:p>
            <a:r>
              <a:rPr lang="nl-NL" dirty="0"/>
              <a:t>                         '-'   -- </a:t>
            </a:r>
            <a:r>
              <a:rPr lang="nl-NL" dirty="0" err="1"/>
              <a:t>Don't</a:t>
            </a:r>
            <a:r>
              <a:rPr lang="nl-NL" dirty="0"/>
              <a:t> care</a:t>
            </a:r>
          </a:p>
          <a:p>
            <a:r>
              <a:rPr lang="nl-NL" dirty="0" err="1">
                <a:solidFill>
                  <a:srgbClr val="FF0000"/>
                </a:solidFill>
              </a:rPr>
              <a:t>Simulation</a:t>
            </a:r>
            <a:r>
              <a:rPr lang="nl-NL" dirty="0">
                <a:solidFill>
                  <a:srgbClr val="FF0000"/>
                </a:solidFill>
              </a:rPr>
              <a:t> or </a:t>
            </a:r>
            <a:r>
              <a:rPr lang="nl-NL" dirty="0" err="1">
                <a:solidFill>
                  <a:srgbClr val="FF0000"/>
                </a:solidFill>
              </a:rPr>
              <a:t>Synthesis</a:t>
            </a:r>
            <a:r>
              <a:rPr lang="nl-NL" dirty="0">
                <a:solidFill>
                  <a:srgbClr val="FF0000"/>
                </a:solidFill>
              </a:rPr>
              <a:t>?</a:t>
            </a:r>
          </a:p>
          <a:p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323528" y="5369600"/>
            <a:ext cx="65966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Defines various FUNCTIONS, such as EDGE DETECTION</a:t>
            </a:r>
          </a:p>
          <a:p>
            <a:r>
              <a:rPr lang="en-US" dirty="0"/>
              <a:t>    -------------------------------------------------------------------    </a:t>
            </a:r>
          </a:p>
          <a:p>
            <a:r>
              <a:rPr lang="en-US" dirty="0"/>
              <a:t>FUNCTION </a:t>
            </a:r>
            <a:r>
              <a:rPr lang="en-US" dirty="0" err="1"/>
              <a:t>rising_edge</a:t>
            </a:r>
            <a:r>
              <a:rPr lang="en-US" dirty="0"/>
              <a:t>  (SIGNAL s : </a:t>
            </a:r>
            <a:r>
              <a:rPr lang="en-US" dirty="0" err="1">
                <a:solidFill>
                  <a:srgbClr val="FF0000"/>
                </a:solidFill>
              </a:rPr>
              <a:t>std_ulogic</a:t>
            </a:r>
            <a:r>
              <a:rPr lang="en-US" dirty="0"/>
              <a:t>) RETURN BOOLEAN;</a:t>
            </a:r>
          </a:p>
          <a:p>
            <a:r>
              <a:rPr lang="en-US" dirty="0"/>
              <a:t>FUNCTION </a:t>
            </a:r>
            <a:r>
              <a:rPr lang="en-US" dirty="0" err="1"/>
              <a:t>falling_edge</a:t>
            </a:r>
            <a:r>
              <a:rPr lang="en-US" dirty="0"/>
              <a:t> (SIGNAL s : </a:t>
            </a:r>
            <a:r>
              <a:rPr lang="en-US" dirty="0" err="1">
                <a:solidFill>
                  <a:srgbClr val="FF0000"/>
                </a:solidFill>
              </a:rPr>
              <a:t>std_ulogic</a:t>
            </a:r>
            <a:r>
              <a:rPr lang="en-US" dirty="0"/>
              <a:t>) RETURN BOOLEAN;</a:t>
            </a:r>
          </a:p>
        </p:txBody>
      </p:sp>
    </p:spTree>
    <p:extLst>
      <p:ext uri="{BB962C8B-B14F-4D97-AF65-F5344CB8AC3E}">
        <p14:creationId xmlns:p14="http://schemas.microsoft.com/office/powerpoint/2010/main" val="1740535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Data Types: IEEE 1164 Standard Logic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20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980728"/>
            <a:ext cx="75608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nl-NL" sz="3200" dirty="0"/>
              <a:t> </a:t>
            </a:r>
            <a:r>
              <a:rPr lang="nl-NL" sz="3200" dirty="0" err="1"/>
              <a:t>IEEE’s</a:t>
            </a:r>
            <a:r>
              <a:rPr lang="nl-NL" sz="3200" dirty="0"/>
              <a:t> </a:t>
            </a:r>
            <a:r>
              <a:rPr lang="nl-NL" sz="3200" b="1" dirty="0" err="1">
                <a:solidFill>
                  <a:schemeClr val="accent3"/>
                </a:solidFill>
              </a:rPr>
              <a:t>std</a:t>
            </a:r>
            <a:r>
              <a:rPr lang="nl-NL" sz="3200" b="1" dirty="0">
                <a:solidFill>
                  <a:schemeClr val="accent3"/>
                </a:solidFill>
              </a:rPr>
              <a:t>_</a:t>
            </a:r>
            <a:r>
              <a:rPr lang="nl-NL" sz="3200" b="1" dirty="0" err="1">
                <a:solidFill>
                  <a:schemeClr val="accent3"/>
                </a:solidFill>
              </a:rPr>
              <a:t>logic</a:t>
            </a:r>
            <a:r>
              <a:rPr lang="nl-NL" sz="3200" b="1" dirty="0">
                <a:solidFill>
                  <a:schemeClr val="accent3"/>
                </a:solidFill>
              </a:rPr>
              <a:t>_1164 </a:t>
            </a:r>
            <a:r>
              <a:rPr lang="nl-NL" sz="3200" dirty="0" err="1"/>
              <a:t>examples</a:t>
            </a:r>
            <a:r>
              <a:rPr lang="nl-NL" sz="3200" dirty="0"/>
              <a:t>: </a:t>
            </a:r>
          </a:p>
          <a:p>
            <a:pPr>
              <a:buFont typeface="Wingdings" pitchFamily="2" charset="2"/>
              <a:buChar char="§"/>
            </a:pPr>
            <a:endParaRPr lang="nl-NL" sz="3200" dirty="0"/>
          </a:p>
          <a:p>
            <a:pPr>
              <a:buFont typeface="Wingdings" pitchFamily="2" charset="2"/>
              <a:buChar char="§"/>
            </a:pPr>
            <a:r>
              <a:rPr lang="nl-NL" sz="3200" dirty="0"/>
              <a:t> STD_ULOGIC</a:t>
            </a:r>
          </a:p>
          <a:p>
            <a:pPr>
              <a:buFont typeface="Wingdings" pitchFamily="2" charset="2"/>
              <a:buChar char="§"/>
            </a:pPr>
            <a:endParaRPr lang="nl-NL" sz="3200" dirty="0"/>
          </a:p>
          <a:p>
            <a:pPr>
              <a:buFont typeface="Wingdings" pitchFamily="2" charset="2"/>
              <a:buChar char="§"/>
            </a:pPr>
            <a:endParaRPr lang="nl-NL" sz="3200" dirty="0"/>
          </a:p>
          <a:p>
            <a:pPr>
              <a:buFont typeface="Wingdings" pitchFamily="2" charset="2"/>
              <a:buChar char="§"/>
            </a:pPr>
            <a:endParaRPr lang="nl-NL" sz="3200" dirty="0"/>
          </a:p>
          <a:p>
            <a:pPr>
              <a:buFont typeface="Wingdings" pitchFamily="2" charset="2"/>
              <a:buChar char="§"/>
            </a:pPr>
            <a:r>
              <a:rPr lang="nl-NL" sz="3200" dirty="0"/>
              <a:t> STD_ULOGIC_VECTOR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656" y="4653136"/>
            <a:ext cx="6408712" cy="1200329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b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STD_ULOGIC_VECTOR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endParaRPr lang="nl-NL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b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“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1100ZZZZ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”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en-GB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array of 8 </a:t>
            </a:r>
            <a:r>
              <a:rPr lang="en-GB" sz="1400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std_logic’s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  </a:t>
            </a:r>
            <a:r>
              <a:rPr lang="nl-NL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in MSB </a:t>
            </a:r>
            <a:r>
              <a:rPr lang="nl-NL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representation</a:t>
            </a:r>
            <a:endParaRPr lang="nl-NL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1880" y="1838459"/>
            <a:ext cx="5040560" cy="1754326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a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endParaRPr lang="nl-NL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‘</a:t>
            </a:r>
            <a:r>
              <a:rPr lang="pt-BR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pt-BR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 is zero</a:t>
            </a:r>
            <a:endParaRPr lang="pt-BR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‘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GB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 is one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‘Z’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GB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 is high-impedance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</a:t>
            </a:r>
            <a:r>
              <a:rPr lang="nl-NL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</a:t>
            </a:r>
            <a:r>
              <a:rPr lang="nl-NL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used</a:t>
            </a:r>
            <a:r>
              <a:rPr lang="nl-NL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for</a:t>
            </a:r>
            <a:r>
              <a:rPr lang="nl-NL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bidi</a:t>
            </a:r>
            <a:r>
              <a:rPr lang="nl-NL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ports</a:t>
            </a:r>
            <a:endParaRPr lang="nl-NL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405276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Types:</a:t>
            </a:r>
            <a:r>
              <a:rPr lang="nl-NL" i="1" dirty="0"/>
              <a:t> </a:t>
            </a:r>
            <a:r>
              <a:rPr lang="nl-NL" i="1" dirty="0" err="1"/>
              <a:t>IEEE.numeric_std.all</a:t>
            </a:r>
            <a:r>
              <a:rPr lang="nl-NL" dirty="0"/>
              <a:t> LIBRARY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21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1628800"/>
            <a:ext cx="8229600" cy="3600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 marL="457200" lvl="1" indent="0">
              <a:buNone/>
            </a:pPr>
            <a:r>
              <a:rPr lang="en-GB" sz="2000" b="1" dirty="0"/>
              <a:t>Allows for: unsigned, signed, integer, natural</a:t>
            </a:r>
          </a:p>
          <a:p>
            <a:pPr marL="457200" lvl="1" indent="0">
              <a:buNone/>
            </a:pPr>
            <a:r>
              <a:rPr lang="en-GB" sz="2000" dirty="0"/>
              <a:t>Contains many </a:t>
            </a:r>
            <a:r>
              <a:rPr lang="en-GB" sz="2000" b="1" dirty="0"/>
              <a:t>functions</a:t>
            </a:r>
            <a:r>
              <a:rPr lang="en-GB" sz="2000" dirty="0"/>
              <a:t> such as: abs(), + addition, - subtraction, * multiplication, / division,  etc…, that can be used with these types</a:t>
            </a:r>
          </a:p>
          <a:p>
            <a:pPr marL="457200" lvl="1" indent="0">
              <a:buNone/>
            </a:pPr>
            <a:r>
              <a:rPr lang="en-GB" sz="2000" dirty="0"/>
              <a:t>As well as: &gt;, &lt;, &lt;=, &gt;=, =, </a:t>
            </a:r>
            <a:r>
              <a:rPr lang="en-GB" sz="2000" dirty="0" err="1"/>
              <a:t>sll</a:t>
            </a:r>
            <a:r>
              <a:rPr lang="en-GB" sz="2000" dirty="0"/>
              <a:t>, </a:t>
            </a:r>
            <a:r>
              <a:rPr lang="en-GB" sz="2000" dirty="0" err="1"/>
              <a:t>srl</a:t>
            </a:r>
            <a:endParaRPr lang="en-GB" sz="2000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Normal STD_LOGIC_VECTORS: can’t calculate with those!</a:t>
            </a:r>
          </a:p>
          <a:p>
            <a:pPr marL="457200" lvl="1" indent="0">
              <a:buNone/>
            </a:pPr>
            <a:r>
              <a:rPr lang="en-GB" sz="2000" dirty="0"/>
              <a:t>Additional </a:t>
            </a:r>
            <a:r>
              <a:rPr lang="en-GB" sz="2000" b="1" dirty="0"/>
              <a:t>Type conversion functions </a:t>
            </a:r>
            <a:r>
              <a:rPr lang="en-GB" sz="2000" dirty="0"/>
              <a:t>needed to overcome this…..</a:t>
            </a:r>
          </a:p>
          <a:p>
            <a:pPr marL="457200" lvl="1" indent="0">
              <a:buNone/>
            </a:pPr>
            <a:r>
              <a:rPr lang="en-GB" sz="2000" u="sng" dirty="0" err="1"/>
              <a:t>Zie</a:t>
            </a:r>
            <a:r>
              <a:rPr lang="en-GB" sz="2000" u="sng" dirty="0"/>
              <a:t> H10.7 van het </a:t>
            </a:r>
            <a:r>
              <a:rPr lang="en-GB" sz="2000" u="sng" dirty="0" err="1"/>
              <a:t>boek</a:t>
            </a:r>
            <a:r>
              <a:rPr lang="en-GB" sz="2000" u="sng" dirty="0"/>
              <a:t>.</a:t>
            </a:r>
            <a:endParaRPr lang="nl-NL" sz="1600" u="sng" dirty="0"/>
          </a:p>
        </p:txBody>
      </p:sp>
      <p:sp>
        <p:nvSpPr>
          <p:cNvPr id="7" name="Tijdelijke aanduiding voor inhoud 7"/>
          <p:cNvSpPr>
            <a:spLocks/>
          </p:cNvSpPr>
          <p:nvPr/>
        </p:nvSpPr>
        <p:spPr bwMode="auto">
          <a:xfrm>
            <a:off x="1331640" y="876251"/>
            <a:ext cx="5868652" cy="1008112"/>
          </a:xfrm>
          <a:prstGeom prst="rect">
            <a:avLst/>
          </a:prstGeom>
          <a:ln>
            <a:headEnd/>
            <a:tailEnd/>
          </a:ln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numeric_std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---------------------------------------------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8" name="Tekstvak 7"/>
          <p:cNvSpPr txBox="1"/>
          <p:nvPr/>
        </p:nvSpPr>
        <p:spPr>
          <a:xfrm>
            <a:off x="1348832" y="5676371"/>
            <a:ext cx="6337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https://www.csee.umbc.edu/portal/help/VHDL/numeric_std.vhdl</a:t>
            </a:r>
          </a:p>
        </p:txBody>
      </p:sp>
    </p:spTree>
    <p:extLst>
      <p:ext uri="{BB962C8B-B14F-4D97-AF65-F5344CB8AC3E}">
        <p14:creationId xmlns:p14="http://schemas.microsoft.com/office/powerpoint/2010/main" val="3297052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Conversion of Common Types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22</a:t>
            </a:fld>
            <a:endParaRPr lang="nl-NL" dirty="0"/>
          </a:p>
        </p:txBody>
      </p:sp>
      <p:sp>
        <p:nvSpPr>
          <p:cNvPr id="6" name="Rectangle 5"/>
          <p:cNvSpPr/>
          <p:nvPr/>
        </p:nvSpPr>
        <p:spPr>
          <a:xfrm>
            <a:off x="1115616" y="1340768"/>
            <a:ext cx="7200800" cy="923330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a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b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UNSIGNED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c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15616" y="2636912"/>
            <a:ext cx="7272808" cy="648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l-NL" dirty="0"/>
              <a:t>(</a:t>
            </a:r>
            <a:r>
              <a:rPr lang="nl-NL" dirty="0" err="1"/>
              <a:t>un</a:t>
            </a:r>
            <a:r>
              <a:rPr lang="nl-NL" dirty="0"/>
              <a:t>)</a:t>
            </a:r>
            <a:r>
              <a:rPr lang="nl-NL" dirty="0" err="1"/>
              <a:t>signed</a:t>
            </a:r>
            <a:r>
              <a:rPr lang="nl-NL" dirty="0"/>
              <a:t> 		→	</a:t>
            </a:r>
            <a:r>
              <a:rPr lang="nl-NL" dirty="0" err="1"/>
              <a:t>std</a:t>
            </a:r>
            <a:r>
              <a:rPr lang="nl-NL" dirty="0"/>
              <a:t>_</a:t>
            </a:r>
            <a:r>
              <a:rPr lang="nl-NL" dirty="0" err="1"/>
              <a:t>logic</a:t>
            </a:r>
            <a:r>
              <a:rPr lang="nl-NL" dirty="0"/>
              <a:t>_vector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15616" y="4365104"/>
            <a:ext cx="7200800" cy="576064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nl-NL" sz="2800" dirty="0" err="1"/>
              <a:t>std</a:t>
            </a:r>
            <a:r>
              <a:rPr lang="nl-NL" sz="2800" dirty="0"/>
              <a:t>_</a:t>
            </a:r>
            <a:r>
              <a:rPr lang="nl-NL" sz="2800" dirty="0" err="1"/>
              <a:t>logic</a:t>
            </a:r>
            <a:r>
              <a:rPr lang="nl-NL" sz="2800" dirty="0"/>
              <a:t>_vector 	→	(</a:t>
            </a:r>
            <a:r>
              <a:rPr lang="nl-NL" sz="2800" dirty="0" err="1"/>
              <a:t>un</a:t>
            </a:r>
            <a:r>
              <a:rPr lang="nl-NL" sz="2800" dirty="0"/>
              <a:t>)</a:t>
            </a:r>
            <a:r>
              <a:rPr lang="nl-NL" sz="2800" dirty="0" err="1"/>
              <a:t>signed</a:t>
            </a:r>
            <a:endParaRPr lang="nl-NL" sz="2800" dirty="0"/>
          </a:p>
        </p:txBody>
      </p:sp>
      <p:sp>
        <p:nvSpPr>
          <p:cNvPr id="9" name="Rectangle 8"/>
          <p:cNvSpPr/>
          <p:nvPr/>
        </p:nvSpPr>
        <p:spPr>
          <a:xfrm>
            <a:off x="1115616" y="3284984"/>
            <a:ext cx="7200800" cy="646331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b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4941168"/>
            <a:ext cx="7200800" cy="646331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b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UNSIGNED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95053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Conversion of Common Types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6" name="Rectangle 5"/>
          <p:cNvSpPr/>
          <p:nvPr/>
        </p:nvSpPr>
        <p:spPr>
          <a:xfrm>
            <a:off x="1115616" y="1196752"/>
            <a:ext cx="7200800" cy="1200329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d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UNSIGNED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e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f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INTEGER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255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g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INTEGER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-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128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127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15616" y="2708920"/>
            <a:ext cx="7200800" cy="5760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l-NL" dirty="0"/>
              <a:t>integer	→	(</a:t>
            </a:r>
            <a:r>
              <a:rPr lang="nl-NL" dirty="0" err="1"/>
              <a:t>un</a:t>
            </a:r>
            <a:r>
              <a:rPr lang="nl-NL" dirty="0"/>
              <a:t>)</a:t>
            </a:r>
            <a:r>
              <a:rPr lang="nl-NL" dirty="0" err="1"/>
              <a:t>signed</a:t>
            </a:r>
            <a:endParaRPr lang="nl-NL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15616" y="4221088"/>
            <a:ext cx="72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nl-NL" sz="2800" dirty="0"/>
              <a:t>(</a:t>
            </a:r>
            <a:r>
              <a:rPr lang="nl-NL" sz="2800" dirty="0" err="1"/>
              <a:t>un</a:t>
            </a:r>
            <a:r>
              <a:rPr lang="nl-NL" sz="2800" dirty="0"/>
              <a:t>)</a:t>
            </a:r>
            <a:r>
              <a:rPr lang="nl-NL" sz="2800" dirty="0" err="1"/>
              <a:t>signed</a:t>
            </a:r>
            <a:r>
              <a:rPr lang="nl-NL" sz="2800" dirty="0"/>
              <a:t>		→	integer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616" y="3284984"/>
            <a:ext cx="7200800" cy="646331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TO_UNSIGNED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f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8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GB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d is an array of 8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e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TO_SIGNED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g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8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GB" sz="14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e is an array of 8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4797152"/>
            <a:ext cx="7200800" cy="646331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f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TO_INTEGER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g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TO_INTEGER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e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83060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Conversion of Common Types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15616" y="2780928"/>
            <a:ext cx="7200800" cy="5040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nl-NL" dirty="0"/>
              <a:t>integer 		→ 	 </a:t>
            </a:r>
            <a:r>
              <a:rPr lang="nl-NL" dirty="0" err="1"/>
              <a:t>std</a:t>
            </a:r>
            <a:r>
              <a:rPr lang="nl-NL" dirty="0"/>
              <a:t>_</a:t>
            </a:r>
            <a:r>
              <a:rPr lang="nl-NL" dirty="0" err="1"/>
              <a:t>logic</a:t>
            </a:r>
            <a:r>
              <a:rPr lang="nl-NL" dirty="0"/>
              <a:t>_vector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616" y="1124744"/>
            <a:ext cx="7200800" cy="923330"/>
          </a:xfrm>
          <a:prstGeom prst="rect">
            <a:avLst/>
          </a:prstGeom>
          <a:ln/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h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pt-BR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pt-BR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pt-BR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pt-BR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pt-BR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i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INTEGER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255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j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INTEGER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-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128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127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15616" y="4293096"/>
            <a:ext cx="72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nl-NL" sz="2800" dirty="0" err="1"/>
              <a:t>std</a:t>
            </a:r>
            <a:r>
              <a:rPr lang="nl-NL" sz="2800" dirty="0"/>
              <a:t>_</a:t>
            </a:r>
            <a:r>
              <a:rPr lang="nl-NL" sz="2800" dirty="0" err="1"/>
              <a:t>logic</a:t>
            </a:r>
            <a:r>
              <a:rPr lang="nl-NL" sz="2800" dirty="0"/>
              <a:t>_vector 	→ 	integer 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616" y="3284984"/>
            <a:ext cx="7200800" cy="646331"/>
          </a:xfrm>
          <a:prstGeom prst="rect">
            <a:avLst/>
          </a:prstGeom>
          <a:ln/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h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TO_UNSIGNED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</a:t>
            </a:r>
            <a:r>
              <a:rPr lang="nl-NL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b="1" dirty="0" err="1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i'length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h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j</a:t>
            </a:r>
            <a:r>
              <a:rPr lang="nl-NL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b="1" dirty="0" err="1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j'length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4869160"/>
            <a:ext cx="7200800" cy="646331"/>
          </a:xfrm>
          <a:prstGeom prst="rect">
            <a:avLst/>
          </a:prstGeom>
          <a:ln/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TO_INTEGER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UNSIGNED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h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j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TO_INTEGER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SIGNED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h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));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93310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Warning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67744" y="1484784"/>
            <a:ext cx="4590256" cy="2484854"/>
          </a:xfrm>
          <a:gradFill>
            <a:gsLst>
              <a:gs pos="0">
                <a:schemeClr val="tx1"/>
              </a:gs>
              <a:gs pos="100000">
                <a:schemeClr val="accent3"/>
              </a:gs>
            </a:gsLst>
            <a:lin ang="5400000" scaled="1"/>
          </a:gradFill>
          <a:ln w="25400"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r>
              <a:rPr lang="nl-NL" sz="4800" b="1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544" y="4365104"/>
            <a:ext cx="8208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nl-NL" sz="2400" dirty="0" err="1"/>
              <a:t>Don’t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it</a:t>
            </a:r>
            <a:r>
              <a:rPr lang="nl-NL" sz="2400" dirty="0"/>
              <a:t>, </a:t>
            </a:r>
            <a:r>
              <a:rPr lang="nl-NL" sz="2400" dirty="0" err="1"/>
              <a:t>no</a:t>
            </a:r>
            <a:r>
              <a:rPr lang="nl-NL" sz="2400" dirty="0"/>
              <a:t> matter </a:t>
            </a:r>
            <a:r>
              <a:rPr lang="nl-NL" sz="2400" dirty="0" err="1"/>
              <a:t>what</a:t>
            </a:r>
            <a:r>
              <a:rPr lang="nl-NL" sz="2400" dirty="0"/>
              <a:t> </a:t>
            </a:r>
            <a:r>
              <a:rPr lang="nl-NL" sz="2400" dirty="0" err="1"/>
              <a:t>older</a:t>
            </a:r>
            <a:r>
              <a:rPr lang="nl-NL" sz="2400" dirty="0"/>
              <a:t> </a:t>
            </a:r>
            <a:r>
              <a:rPr lang="nl-NL" sz="2400" dirty="0" err="1"/>
              <a:t>books</a:t>
            </a:r>
            <a:r>
              <a:rPr lang="nl-NL" sz="2400" dirty="0"/>
              <a:t> </a:t>
            </a:r>
            <a:r>
              <a:rPr lang="nl-NL" sz="2400" dirty="0" err="1"/>
              <a:t>or</a:t>
            </a:r>
            <a:r>
              <a:rPr lang="nl-NL" sz="2400" dirty="0"/>
              <a:t> websites/forums/code snippets online </a:t>
            </a:r>
            <a:r>
              <a:rPr lang="nl-NL" sz="2400" dirty="0" err="1"/>
              <a:t>say</a:t>
            </a:r>
            <a:r>
              <a:rPr lang="nl-NL" sz="2400" dirty="0"/>
              <a:t>!</a:t>
            </a:r>
          </a:p>
          <a:p>
            <a:pPr algn="ctr">
              <a:buNone/>
            </a:pPr>
            <a:r>
              <a:rPr lang="nl-NL" sz="2400" dirty="0" err="1"/>
              <a:t>Use</a:t>
            </a:r>
            <a:r>
              <a:rPr lang="nl-NL" sz="2400" dirty="0"/>
              <a:t> IEEE 1164 </a:t>
            </a:r>
          </a:p>
          <a:p>
            <a:pPr algn="ctr">
              <a:buNone/>
            </a:pPr>
            <a:r>
              <a:rPr lang="nl-NL" sz="2400" b="1" dirty="0" err="1"/>
              <a:t>ieee.numeric</a:t>
            </a:r>
            <a:r>
              <a:rPr lang="nl-NL" sz="2400" b="1" dirty="0"/>
              <a:t>_</a:t>
            </a:r>
            <a:r>
              <a:rPr lang="nl-NL" sz="2400" b="1" dirty="0" err="1"/>
              <a:t>std.all</a:t>
            </a:r>
            <a:r>
              <a:rPr lang="nl-NL" sz="2400" b="1" dirty="0"/>
              <a:t> </a:t>
            </a:r>
          </a:p>
          <a:p>
            <a:pPr algn="ctr">
              <a:buNone/>
            </a:pPr>
            <a:r>
              <a:rPr lang="nl-NL" sz="2400" dirty="0" err="1"/>
              <a:t>instead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unsigned</a:t>
            </a:r>
            <a:r>
              <a:rPr lang="nl-NL" sz="2400" dirty="0"/>
              <a:t> and </a:t>
            </a:r>
            <a:r>
              <a:rPr lang="nl-NL" sz="2400" dirty="0" err="1"/>
              <a:t>signed</a:t>
            </a:r>
            <a:r>
              <a:rPr lang="nl-NL" sz="2400" dirty="0"/>
              <a:t> types!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700808"/>
            <a:ext cx="457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nl-NL" sz="4400" b="1" dirty="0">
                <a:solidFill>
                  <a:schemeClr val="bg1"/>
                </a:solidFill>
              </a:rPr>
              <a:t>STD_LOGIC_ARITH </a:t>
            </a:r>
          </a:p>
          <a:p>
            <a:pPr algn="ctr">
              <a:buNone/>
            </a:pPr>
            <a:r>
              <a:rPr lang="nl-NL" sz="4400" dirty="0">
                <a:solidFill>
                  <a:schemeClr val="bg1"/>
                </a:solidFill>
              </a:rPr>
              <a:t>is </a:t>
            </a:r>
          </a:p>
          <a:p>
            <a:pPr algn="ctr">
              <a:buNone/>
            </a:pPr>
            <a:r>
              <a:rPr lang="nl-NL" sz="4400" b="1" dirty="0">
                <a:solidFill>
                  <a:schemeClr val="bg1"/>
                </a:solidFill>
              </a:rPr>
              <a:t>OBSOLETE</a:t>
            </a:r>
          </a:p>
        </p:txBody>
      </p:sp>
    </p:spTree>
    <p:extLst>
      <p:ext uri="{BB962C8B-B14F-4D97-AF65-F5344CB8AC3E}">
        <p14:creationId xmlns:p14="http://schemas.microsoft.com/office/powerpoint/2010/main" val="16693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Assignment</a:t>
            </a:r>
            <a:r>
              <a:rPr lang="nl-NL" dirty="0"/>
              <a:t>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22322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l-NL" sz="2400" dirty="0"/>
              <a:t>&lt;= 	</a:t>
            </a:r>
            <a:r>
              <a:rPr lang="nl-NL" sz="2400" dirty="0" err="1"/>
              <a:t>for</a:t>
            </a:r>
            <a:r>
              <a:rPr lang="nl-NL" sz="2400" dirty="0"/>
              <a:t> a </a:t>
            </a:r>
            <a:r>
              <a:rPr lang="nl-NL" sz="2400" b="1" i="1" dirty="0" err="1"/>
              <a:t>signal</a:t>
            </a:r>
            <a:endParaRPr lang="nl-NL" sz="2400" b="1" i="1" dirty="0"/>
          </a:p>
          <a:p>
            <a:pPr>
              <a:buNone/>
            </a:pPr>
            <a:r>
              <a:rPr lang="nl-NL" sz="2400" dirty="0"/>
              <a:t>:= 		</a:t>
            </a:r>
            <a:r>
              <a:rPr lang="nl-NL" sz="2400" dirty="0" err="1"/>
              <a:t>for</a:t>
            </a:r>
            <a:r>
              <a:rPr lang="nl-NL" sz="2400" dirty="0"/>
              <a:t> a </a:t>
            </a:r>
            <a:r>
              <a:rPr lang="nl-NL" sz="2400" b="1" i="1" dirty="0" err="1"/>
              <a:t>variable</a:t>
            </a:r>
            <a:r>
              <a:rPr lang="nl-NL" sz="2400" dirty="0"/>
              <a:t> </a:t>
            </a:r>
            <a:r>
              <a:rPr lang="nl-NL" sz="24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sz="2400" dirty="0" err="1">
                <a:solidFill>
                  <a:schemeClr val="bg1">
                    <a:lumMod val="65000"/>
                  </a:schemeClr>
                </a:solidFill>
              </a:rPr>
              <a:t>covered</a:t>
            </a:r>
            <a:r>
              <a:rPr lang="nl-NL" sz="2400" dirty="0">
                <a:solidFill>
                  <a:schemeClr val="bg1">
                    <a:lumMod val="65000"/>
                  </a:schemeClr>
                </a:solidFill>
              </a:rPr>
              <a:t> later)</a:t>
            </a:r>
          </a:p>
          <a:p>
            <a:pPr>
              <a:buNone/>
            </a:pPr>
            <a:r>
              <a:rPr lang="nl-NL" sz="2400" dirty="0"/>
              <a:t>=&gt; 	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individual</a:t>
            </a:r>
            <a:r>
              <a:rPr lang="nl-NL" sz="2400" dirty="0"/>
              <a:t> </a:t>
            </a:r>
            <a:r>
              <a:rPr lang="nl-NL" sz="2400" dirty="0" err="1"/>
              <a:t>elements</a:t>
            </a:r>
            <a:r>
              <a:rPr lang="nl-NL" sz="2400" dirty="0"/>
              <a:t> of a vector</a:t>
            </a:r>
          </a:p>
          <a:p>
            <a:pPr>
              <a:buNone/>
            </a:pPr>
            <a:endParaRPr lang="nl-NL" sz="2400" dirty="0"/>
          </a:p>
          <a:p>
            <a:pPr>
              <a:buNone/>
            </a:pPr>
            <a:r>
              <a:rPr lang="nl-NL" sz="2400" b="1" dirty="0" err="1"/>
              <a:t>Example</a:t>
            </a:r>
            <a:r>
              <a:rPr lang="nl-NL" sz="2400" b="1" dirty="0"/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552" y="3212976"/>
            <a:ext cx="8352928" cy="2554545"/>
          </a:xfrm>
          <a:prstGeom prst="rect">
            <a:avLst/>
          </a:prstGeom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nl-NL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a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6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</a:t>
            </a:r>
            <a:r>
              <a:rPr lang="nl-NL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_</a:t>
            </a:r>
            <a:r>
              <a:rPr lang="nl-NL" sz="16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logic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variable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integer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255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3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endParaRPr lang="nl-NL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'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'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			</a:t>
            </a:r>
            <a:r>
              <a:rPr lang="en-GB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assign single bits with '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b 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:=</a:t>
            </a:r>
            <a:r>
              <a:rPr lang="nl-NL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10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nl-NL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			</a:t>
            </a:r>
            <a:r>
              <a:rPr lang="nl-NL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</a:t>
            </a:r>
            <a:r>
              <a:rPr lang="nl-NL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assign</a:t>
            </a:r>
            <a:r>
              <a:rPr lang="nl-NL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an</a:t>
            </a:r>
            <a:r>
              <a:rPr lang="nl-NL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integer</a:t>
            </a:r>
            <a:endParaRPr lang="nl-NL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SimSun"/>
              </a:rPr>
              <a:t>"1100"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			</a:t>
            </a:r>
            <a:r>
              <a:rPr lang="en-GB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assign a vector with "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3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=&gt;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'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'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2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=&gt;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'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'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OTHERS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=&gt;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'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'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	</a:t>
            </a:r>
            <a:r>
              <a:rPr lang="en-GB" sz="12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–- same as previous line</a:t>
            </a:r>
          </a:p>
          <a:p>
            <a:r>
              <a:rPr lang="nl-N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 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c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US" sz="2400" b="1" dirty="0">
              <a:solidFill>
                <a:srgbClr val="000080"/>
              </a:solidFill>
              <a:highlight>
                <a:srgbClr val="FFFFFF"/>
              </a:highlight>
              <a:latin typeface="Times New Roman"/>
              <a:ea typeface="SimSun"/>
            </a:endParaRPr>
          </a:p>
          <a:p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831637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available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numeric_std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27</a:t>
            </a:fld>
            <a:endParaRPr lang="nl-NL" dirty="0"/>
          </a:p>
        </p:txBody>
      </p:sp>
      <p:sp>
        <p:nvSpPr>
          <p:cNvPr id="6" name="Content Placeholder 8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84576"/>
          </a:xfrm>
        </p:spPr>
        <p:txBody>
          <a:bodyPr>
            <a:noAutofit/>
          </a:bodyPr>
          <a:lstStyle/>
          <a:p>
            <a:r>
              <a:rPr lang="nl-NL" dirty="0" err="1"/>
              <a:t>Logical</a:t>
            </a:r>
            <a:endParaRPr lang="nl-NL" dirty="0"/>
          </a:p>
          <a:p>
            <a:pPr lvl="1">
              <a:buNone/>
            </a:pPr>
            <a:r>
              <a:rPr lang="en-GB" sz="2000" dirty="0"/>
              <a:t>not, and, or, </a:t>
            </a:r>
            <a:r>
              <a:rPr lang="en-GB" sz="2000" dirty="0" err="1"/>
              <a:t>nand</a:t>
            </a:r>
            <a:r>
              <a:rPr lang="en-GB" sz="2000" dirty="0"/>
              <a:t>, nor, </a:t>
            </a:r>
            <a:r>
              <a:rPr lang="en-GB" sz="2000" dirty="0" err="1"/>
              <a:t>xor</a:t>
            </a:r>
            <a:r>
              <a:rPr lang="en-GB" sz="2000" dirty="0"/>
              <a:t>, </a:t>
            </a:r>
            <a:r>
              <a:rPr lang="en-GB" sz="2000" dirty="0" err="1"/>
              <a:t>xnor</a:t>
            </a:r>
            <a:endParaRPr lang="en-GB" sz="2000" dirty="0"/>
          </a:p>
          <a:p>
            <a:r>
              <a:rPr lang="nl-NL" dirty="0" err="1"/>
              <a:t>Arithmetic</a:t>
            </a:r>
            <a:endParaRPr lang="nl-NL" dirty="0"/>
          </a:p>
          <a:p>
            <a:pPr lvl="1">
              <a:buNone/>
            </a:pPr>
            <a:r>
              <a:rPr lang="nl-NL" sz="2000" dirty="0"/>
              <a:t>+, -, *, /, **, </a:t>
            </a:r>
            <a:r>
              <a:rPr lang="nl-NL" sz="2000" dirty="0" err="1"/>
              <a:t>mod</a:t>
            </a:r>
            <a:r>
              <a:rPr lang="nl-NL" sz="2000" dirty="0"/>
              <a:t>, rem, </a:t>
            </a:r>
            <a:r>
              <a:rPr lang="nl-NL" sz="2000" dirty="0" err="1"/>
              <a:t>abs</a:t>
            </a:r>
            <a:endParaRPr lang="nl-NL" sz="2000" dirty="0"/>
          </a:p>
          <a:p>
            <a:pPr lvl="2">
              <a:buNone/>
            </a:pPr>
            <a:r>
              <a:rPr lang="nl-NL" sz="1600" dirty="0"/>
              <a:t>NOTE: </a:t>
            </a:r>
            <a:r>
              <a:rPr lang="nl-NL" sz="1600" dirty="0" err="1"/>
              <a:t>Not</a:t>
            </a:r>
            <a:r>
              <a:rPr lang="nl-NL" sz="1600" dirty="0"/>
              <a:t> all </a:t>
            </a:r>
            <a:r>
              <a:rPr lang="nl-NL" sz="1600" dirty="0" err="1"/>
              <a:t>synthesizable</a:t>
            </a:r>
            <a:endParaRPr lang="nl-NL" sz="1600" dirty="0"/>
          </a:p>
          <a:p>
            <a:r>
              <a:rPr lang="nl-NL" dirty="0" err="1"/>
              <a:t>Comparison</a:t>
            </a:r>
            <a:endParaRPr lang="nl-NL" dirty="0"/>
          </a:p>
          <a:p>
            <a:pPr lvl="1">
              <a:buNone/>
            </a:pPr>
            <a:r>
              <a:rPr lang="nl-NL" sz="2000" dirty="0"/>
              <a:t>=,  /=,  &lt;,  &gt;,  &lt;=,  &gt;=</a:t>
            </a:r>
          </a:p>
          <a:p>
            <a:r>
              <a:rPr lang="nl-NL" dirty="0"/>
              <a:t>Shift operators:</a:t>
            </a:r>
          </a:p>
          <a:p>
            <a:pPr lvl="1">
              <a:buNone/>
            </a:pPr>
            <a:r>
              <a:rPr lang="en-GB" sz="2000" dirty="0" err="1"/>
              <a:t>sll</a:t>
            </a:r>
            <a:r>
              <a:rPr lang="en-GB" sz="2000" dirty="0"/>
              <a:t>,  </a:t>
            </a:r>
            <a:r>
              <a:rPr lang="en-GB" sz="2000" dirty="0" err="1"/>
              <a:t>srl</a:t>
            </a:r>
            <a:r>
              <a:rPr lang="en-GB" sz="2000" dirty="0"/>
              <a:t>	-- shift left logical, shift right logical</a:t>
            </a:r>
          </a:p>
          <a:p>
            <a:pPr lvl="1">
              <a:buNone/>
            </a:pPr>
            <a:r>
              <a:rPr lang="en-GB" sz="2000" dirty="0" err="1"/>
              <a:t>sla</a:t>
            </a:r>
            <a:r>
              <a:rPr lang="en-GB" sz="2000" dirty="0"/>
              <a:t>, </a:t>
            </a:r>
            <a:r>
              <a:rPr lang="en-GB" sz="2000" dirty="0" err="1"/>
              <a:t>sra</a:t>
            </a:r>
            <a:r>
              <a:rPr lang="en-GB" sz="2000" dirty="0"/>
              <a:t>	-- shift right arithmetic, shift right arithmetic</a:t>
            </a:r>
          </a:p>
          <a:p>
            <a:pPr lvl="1">
              <a:buNone/>
            </a:pPr>
            <a:r>
              <a:rPr lang="en-GB" sz="2000" dirty="0" err="1"/>
              <a:t>rol</a:t>
            </a:r>
            <a:r>
              <a:rPr lang="en-GB" sz="2000" dirty="0"/>
              <a:t>, </a:t>
            </a:r>
            <a:r>
              <a:rPr lang="en-GB" sz="2000" dirty="0" err="1"/>
              <a:t>ror</a:t>
            </a:r>
            <a:r>
              <a:rPr lang="en-GB" sz="2000" dirty="0"/>
              <a:t>	-- rotate left, rotate right</a:t>
            </a:r>
          </a:p>
          <a:p>
            <a:pPr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948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Attributes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28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1340768"/>
            <a:ext cx="8712968" cy="2585323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d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STD_LOGIC_VECTOR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endParaRPr lang="nl-NL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en-GB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LOW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			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</a:t>
            </a:r>
            <a:r>
              <a:rPr lang="en-GB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laagste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array index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en-GB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HIGH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			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</a:t>
            </a:r>
            <a:r>
              <a:rPr lang="en-GB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hoogste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array index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nl-NL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LEFT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			</a:t>
            </a:r>
            <a:r>
              <a:rPr lang="nl-NL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meest linkse </a:t>
            </a:r>
            <a:r>
              <a:rPr lang="nl-NL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array</a:t>
            </a:r>
            <a:r>
              <a:rPr lang="nl-NL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index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en-GB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RIGHT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			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</a:t>
            </a:r>
            <a:r>
              <a:rPr lang="en-GB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meest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rechtse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 array index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nl-NL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LENGTH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8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			</a:t>
            </a:r>
            <a:r>
              <a:rPr lang="nl-NL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lengte van de vector</a:t>
            </a:r>
            <a:endParaRPr lang="nl-NL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en-GB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RANGE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DOWNTO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		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range of the vector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d'</a:t>
            </a:r>
            <a:r>
              <a:rPr lang="nl-NL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REVERSE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_RANGE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7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	</a:t>
            </a:r>
            <a:r>
              <a:rPr lang="en-GB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 reverse range of the vector</a:t>
            </a:r>
            <a:endParaRPr lang="en-US" sz="3200" b="1" dirty="0">
              <a:solidFill>
                <a:srgbClr val="000080"/>
              </a:solidFill>
              <a:highlight>
                <a:srgbClr val="FFFFFF"/>
              </a:highlight>
              <a:latin typeface="Times New Roman"/>
              <a:ea typeface="SimSu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EE0E7-3ADC-C278-70D1-4A9FD8A27048}"/>
              </a:ext>
            </a:extLst>
          </p:cNvPr>
          <p:cNvSpPr txBox="1"/>
          <p:nvPr/>
        </p:nvSpPr>
        <p:spPr>
          <a:xfrm>
            <a:off x="467544" y="4437112"/>
            <a:ext cx="204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Zie</a:t>
            </a:r>
            <a:r>
              <a:rPr lang="en-US" dirty="0"/>
              <a:t> H9 van het </a:t>
            </a:r>
            <a:r>
              <a:rPr lang="en-US" dirty="0" err="1"/>
              <a:t>boek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496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Simple </a:t>
            </a:r>
            <a:r>
              <a:rPr lang="nl-NL" dirty="0" err="1"/>
              <a:t>Signal</a:t>
            </a:r>
            <a:r>
              <a:rPr lang="nl-NL" dirty="0"/>
              <a:t> </a:t>
            </a:r>
            <a:r>
              <a:rPr lang="nl-NL" dirty="0" err="1"/>
              <a:t>Assignment</a:t>
            </a:r>
            <a:r>
              <a:rPr lang="nl-NL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When the Right Hand Side (RHS) of a signal assignment changes, the signal assignment statement is executed</a:t>
            </a:r>
          </a:p>
          <a:p>
            <a:endParaRPr lang="nl-NL" dirty="0"/>
          </a:p>
          <a:p>
            <a:r>
              <a:rPr lang="nl-NL" dirty="0" err="1"/>
              <a:t>Signals</a:t>
            </a:r>
            <a:r>
              <a:rPr lang="nl-NL" dirty="0"/>
              <a:t> in a circuit are </a:t>
            </a:r>
            <a:r>
              <a:rPr lang="nl-NL" dirty="0" err="1"/>
              <a:t>modeled</a:t>
            </a:r>
            <a:r>
              <a:rPr lang="nl-NL" dirty="0"/>
              <a:t> as </a:t>
            </a:r>
            <a:r>
              <a:rPr lang="nl-NL" dirty="0" err="1"/>
              <a:t>signal</a:t>
            </a:r>
            <a:r>
              <a:rPr lang="nl-NL" dirty="0"/>
              <a:t> statement </a:t>
            </a:r>
            <a:r>
              <a:rPr lang="nl-NL" dirty="0" err="1"/>
              <a:t>assignments</a:t>
            </a:r>
            <a:r>
              <a:rPr lang="nl-NL" dirty="0"/>
              <a:t> in VHDL</a:t>
            </a:r>
          </a:p>
          <a:p>
            <a:endParaRPr lang="nl-NL" dirty="0"/>
          </a:p>
          <a:p>
            <a:r>
              <a:rPr lang="nl-NL" dirty="0"/>
              <a:t>Order in </a:t>
            </a:r>
            <a:r>
              <a:rPr lang="nl-NL" dirty="0" err="1"/>
              <a:t>text</a:t>
            </a:r>
            <a:r>
              <a:rPr lang="nl-NL" dirty="0"/>
              <a:t> is </a:t>
            </a:r>
            <a:r>
              <a:rPr lang="nl-NL" i="1" dirty="0" err="1"/>
              <a:t>not</a:t>
            </a:r>
            <a:r>
              <a:rPr lang="nl-NL" i="1" dirty="0"/>
              <a:t> </a:t>
            </a:r>
            <a:r>
              <a:rPr lang="nl-NL" dirty="0" err="1"/>
              <a:t>preserved</a:t>
            </a:r>
            <a:r>
              <a:rPr lang="nl-NL" dirty="0"/>
              <a:t>!</a:t>
            </a:r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6070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 flip-flop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We’ll</a:t>
            </a:r>
            <a:r>
              <a:rPr lang="nl-NL" dirty="0"/>
              <a:t> show </a:t>
            </a:r>
            <a:r>
              <a:rPr lang="nl-NL" dirty="0" err="1"/>
              <a:t>you</a:t>
            </a:r>
            <a:r>
              <a:rPr lang="nl-NL" dirty="0"/>
              <a:t> a </a:t>
            </a:r>
            <a:r>
              <a:rPr lang="nl-NL" dirty="0" err="1"/>
              <a:t>behavioral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description</a:t>
            </a:r>
            <a:r>
              <a:rPr lang="nl-NL" dirty="0"/>
              <a:t> of a </a:t>
            </a:r>
            <a:r>
              <a:rPr lang="nl-NL" dirty="0" err="1"/>
              <a:t>simple</a:t>
            </a:r>
            <a:r>
              <a:rPr lang="nl-NL" dirty="0"/>
              <a:t> D flip-flop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30</a:t>
            </a:fld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905694" y="5259311"/>
            <a:ext cx="56188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 err="1"/>
              <a:t>Figures</a:t>
            </a:r>
            <a:r>
              <a:rPr lang="nl-NL" sz="1100" b="1" dirty="0"/>
              <a:t> </a:t>
            </a:r>
            <a:r>
              <a:rPr lang="nl-NL" sz="1100" b="1" dirty="0" err="1"/>
              <a:t>adapted</a:t>
            </a:r>
            <a:r>
              <a:rPr lang="nl-NL" sz="1100" b="1" dirty="0"/>
              <a:t> </a:t>
            </a:r>
            <a:r>
              <a:rPr lang="nl-NL" sz="1100" b="1" dirty="0" err="1"/>
              <a:t>from</a:t>
            </a:r>
            <a:r>
              <a:rPr lang="nl-NL" sz="1100" b="1" dirty="0"/>
              <a:t> Embedded Systems Design: A </a:t>
            </a:r>
            <a:r>
              <a:rPr lang="nl-NL" sz="1100" b="1" dirty="0" err="1"/>
              <a:t>Unified</a:t>
            </a:r>
            <a:r>
              <a:rPr lang="nl-NL" sz="1100" b="1" dirty="0"/>
              <a:t> Hardware/Software </a:t>
            </a:r>
            <a:r>
              <a:rPr lang="nl-NL" sz="1100" b="1" dirty="0" err="1"/>
              <a:t>Introduction</a:t>
            </a:r>
            <a:endParaRPr lang="nl-NL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180CC6-7157-385B-BE6B-AC0E50314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25" y="2492896"/>
            <a:ext cx="7087950" cy="205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26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Example</a:t>
            </a:r>
            <a:r>
              <a:rPr lang="nl-NL" dirty="0"/>
              <a:t>: DFF (</a:t>
            </a:r>
            <a:r>
              <a:rPr lang="nl-NL" dirty="0" err="1"/>
              <a:t>good</a:t>
            </a:r>
            <a:r>
              <a:rPr lang="nl-NL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31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92522" y="908720"/>
            <a:ext cx="8229600" cy="5184576"/>
          </a:xfrm>
        </p:spPr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rising</a:t>
            </a:r>
            <a:r>
              <a:rPr lang="nl-NL" dirty="0"/>
              <a:t>_</a:t>
            </a:r>
            <a:r>
              <a:rPr lang="nl-NL" dirty="0" err="1"/>
              <a:t>edge</a:t>
            </a:r>
            <a:r>
              <a:rPr lang="nl-NL" dirty="0"/>
              <a:t>()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falling</a:t>
            </a:r>
            <a:r>
              <a:rPr lang="nl-NL" dirty="0"/>
              <a:t>_</a:t>
            </a:r>
            <a:r>
              <a:rPr lang="nl-NL" dirty="0" err="1"/>
              <a:t>edge</a:t>
            </a:r>
            <a:r>
              <a:rPr lang="nl-NL" dirty="0"/>
              <a:t>())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834" y="1772816"/>
            <a:ext cx="4248472" cy="452431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nl-NL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</a:t>
            </a:r>
            <a:r>
              <a:rPr lang="nl-NL" sz="12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_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logic</a:t>
            </a:r>
            <a:r>
              <a:rPr lang="nl-NL" sz="12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_1164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ENTITY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PORT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q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qi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OUT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ARCHITECTURE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dff_arch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PROCESS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IF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‘</a:t>
            </a:r>
            <a:r>
              <a:rPr lang="nl-NL" sz="12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        		q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‘</a:t>
            </a:r>
            <a:r>
              <a:rPr lang="nl-NL" sz="12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		ELSIF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80FF"/>
                </a:solidFill>
                <a:highlight>
                  <a:srgbClr val="FFFFFF"/>
                </a:highlight>
                <a:latin typeface="Courier New"/>
                <a:ea typeface="SimSun"/>
              </a:rPr>
              <a:t>rising_edge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	q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d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IF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PROCESS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qi</a:t>
            </a:r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SimSun"/>
              </a:rPr>
              <a:t>NOT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_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arch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9216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Example: D-FlipFlop (bad)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32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84576"/>
          </a:xfrm>
        </p:spPr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many</a:t>
            </a:r>
            <a:r>
              <a:rPr lang="nl-NL" dirty="0"/>
              <a:t> code snippets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‘EVENT </a:t>
            </a:r>
            <a:r>
              <a:rPr lang="nl-NL" dirty="0" err="1"/>
              <a:t>like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910" y="1628800"/>
            <a:ext cx="5328592" cy="4154984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nl-NL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std</a:t>
            </a:r>
            <a:r>
              <a:rPr lang="nl-NL" sz="12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_</a:t>
            </a:r>
            <a:r>
              <a:rPr lang="nl-NL" sz="12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logic</a:t>
            </a:r>
            <a:r>
              <a:rPr lang="nl-NL" sz="12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</a:rPr>
              <a:t>_1164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.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all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ENTITY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PORT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nl-NL" sz="12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q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qi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OUT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</a:rPr>
              <a:t>-------------------------------------</a:t>
            </a:r>
            <a:endParaRPr lang="nl-NL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ARCHITECTURE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implementation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dff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PROCESS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,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IF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‘</a:t>
            </a:r>
            <a:r>
              <a:rPr lang="nl-NL" sz="12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q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‘</a:t>
            </a:r>
            <a:r>
              <a:rPr lang="nl-NL" sz="12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0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ELSIF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clk’</a:t>
            </a:r>
            <a:r>
              <a:rPr lang="en-GB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EVENT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SimSun"/>
              </a:rPr>
              <a:t>AND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=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‘</a:t>
            </a:r>
            <a:r>
              <a:rPr lang="en-GB" sz="12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</a:rPr>
              <a:t>1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’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  <a:endParaRPr lang="en-GB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q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d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IF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PROCESS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nl-NL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qi</a:t>
            </a:r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1200" b="1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SimSun"/>
              </a:rPr>
              <a:t>NOT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q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nl-NL" sz="12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nl-NL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implementation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US" sz="1200" b="1" dirty="0">
              <a:solidFill>
                <a:srgbClr val="000080"/>
              </a:solidFill>
              <a:highlight>
                <a:srgbClr val="FFFFFF"/>
              </a:highlight>
              <a:latin typeface="Times New Roman"/>
              <a:ea typeface="SimSun"/>
            </a:endParaRPr>
          </a:p>
          <a:p>
            <a:endParaRPr lang="nl-NL" sz="12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pic>
        <p:nvPicPr>
          <p:cNvPr id="8" name="Picture 3" descr="C:\TEMP\INTERNET\CACHE\Content.IE5\S1KT43XT\MP900185054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2534" y="1628800"/>
            <a:ext cx="2781662" cy="4161656"/>
          </a:xfrm>
          <a:prstGeom prst="rect">
            <a:avLst/>
          </a:prstGeom>
          <a:noFill/>
          <a:ln w="25400">
            <a:solidFill>
              <a:schemeClr val="dk1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4446193" y="2581296"/>
            <a:ext cx="3424684" cy="3695700"/>
            <a:chOff x="4120313" y="2924944"/>
            <a:chExt cx="3456384" cy="3600400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10" name="Freeform 9"/>
            <p:cNvSpPr/>
            <p:nvPr/>
          </p:nvSpPr>
          <p:spPr>
            <a:xfrm flipV="1">
              <a:off x="4120313" y="2924944"/>
              <a:ext cx="3456384" cy="3600400"/>
            </a:xfrm>
            <a:custGeom>
              <a:avLst/>
              <a:gdLst>
                <a:gd name="connsiteX0" fmla="*/ 1080120 w 2160240"/>
                <a:gd name="connsiteY0" fmla="*/ 2088232 h 2088232"/>
                <a:gd name="connsiteX1" fmla="*/ 329413 w 2160240"/>
                <a:gd name="connsiteY1" fmla="*/ 1794823 h 2088232"/>
                <a:gd name="connsiteX2" fmla="*/ 1 w 2160240"/>
                <a:gd name="connsiteY2" fmla="*/ 1044115 h 2088232"/>
                <a:gd name="connsiteX3" fmla="*/ 329415 w 2160240"/>
                <a:gd name="connsiteY3" fmla="*/ 293408 h 2088232"/>
                <a:gd name="connsiteX4" fmla="*/ 1080123 w 2160240"/>
                <a:gd name="connsiteY4" fmla="*/ 0 h 2088232"/>
                <a:gd name="connsiteX5" fmla="*/ 1830830 w 2160240"/>
                <a:gd name="connsiteY5" fmla="*/ 293410 h 2088232"/>
                <a:gd name="connsiteX6" fmla="*/ 2160242 w 2160240"/>
                <a:gd name="connsiteY6" fmla="*/ 1044118 h 2088232"/>
                <a:gd name="connsiteX7" fmla="*/ 1843882 w 2160240"/>
                <a:gd name="connsiteY7" fmla="*/ 1782420 h 2088232"/>
                <a:gd name="connsiteX8" fmla="*/ 2160240 w 2160240"/>
                <a:gd name="connsiteY8" fmla="*/ 1782418 h 2088232"/>
                <a:gd name="connsiteX9" fmla="*/ 2160240 w 2160240"/>
                <a:gd name="connsiteY9" fmla="*/ 2088232 h 2088232"/>
                <a:gd name="connsiteX10" fmla="*/ 1080120 w 2160240"/>
                <a:gd name="connsiteY10" fmla="*/ 2088232 h 2088232"/>
                <a:gd name="connsiteX0" fmla="*/ 1080119 w 2232247"/>
                <a:gd name="connsiteY0" fmla="*/ 2088232 h 2376264"/>
                <a:gd name="connsiteX1" fmla="*/ 329412 w 2232247"/>
                <a:gd name="connsiteY1" fmla="*/ 1794823 h 2376264"/>
                <a:gd name="connsiteX2" fmla="*/ 0 w 2232247"/>
                <a:gd name="connsiteY2" fmla="*/ 1044115 h 2376264"/>
                <a:gd name="connsiteX3" fmla="*/ 329414 w 2232247"/>
                <a:gd name="connsiteY3" fmla="*/ 293408 h 2376264"/>
                <a:gd name="connsiteX4" fmla="*/ 1080122 w 2232247"/>
                <a:gd name="connsiteY4" fmla="*/ 0 h 2376264"/>
                <a:gd name="connsiteX5" fmla="*/ 1830829 w 2232247"/>
                <a:gd name="connsiteY5" fmla="*/ 293410 h 2376264"/>
                <a:gd name="connsiteX6" fmla="*/ 2160241 w 2232247"/>
                <a:gd name="connsiteY6" fmla="*/ 1044118 h 2376264"/>
                <a:gd name="connsiteX7" fmla="*/ 1843881 w 2232247"/>
                <a:gd name="connsiteY7" fmla="*/ 1782420 h 2376264"/>
                <a:gd name="connsiteX8" fmla="*/ 2160239 w 2232247"/>
                <a:gd name="connsiteY8" fmla="*/ 1782418 h 2376264"/>
                <a:gd name="connsiteX9" fmla="*/ 2232247 w 2232247"/>
                <a:gd name="connsiteY9" fmla="*/ 2376264 h 2376264"/>
                <a:gd name="connsiteX10" fmla="*/ 1080119 w 2232247"/>
                <a:gd name="connsiteY10" fmla="*/ 2088232 h 2376264"/>
                <a:gd name="connsiteX0" fmla="*/ 1080119 w 2232247"/>
                <a:gd name="connsiteY0" fmla="*/ 2088232 h 2376264"/>
                <a:gd name="connsiteX1" fmla="*/ 329412 w 2232247"/>
                <a:gd name="connsiteY1" fmla="*/ 1794823 h 2376264"/>
                <a:gd name="connsiteX2" fmla="*/ 0 w 2232247"/>
                <a:gd name="connsiteY2" fmla="*/ 1044115 h 2376264"/>
                <a:gd name="connsiteX3" fmla="*/ 329414 w 2232247"/>
                <a:gd name="connsiteY3" fmla="*/ 293408 h 2376264"/>
                <a:gd name="connsiteX4" fmla="*/ 1080122 w 2232247"/>
                <a:gd name="connsiteY4" fmla="*/ 0 h 2376264"/>
                <a:gd name="connsiteX5" fmla="*/ 1830829 w 2232247"/>
                <a:gd name="connsiteY5" fmla="*/ 293410 h 2376264"/>
                <a:gd name="connsiteX6" fmla="*/ 2160241 w 2232247"/>
                <a:gd name="connsiteY6" fmla="*/ 1044118 h 2376264"/>
                <a:gd name="connsiteX7" fmla="*/ 1843881 w 2232247"/>
                <a:gd name="connsiteY7" fmla="*/ 1782420 h 2376264"/>
                <a:gd name="connsiteX8" fmla="*/ 2160239 w 2232247"/>
                <a:gd name="connsiteY8" fmla="*/ 2304256 h 2376264"/>
                <a:gd name="connsiteX9" fmla="*/ 2232247 w 2232247"/>
                <a:gd name="connsiteY9" fmla="*/ 2376264 h 2376264"/>
                <a:gd name="connsiteX10" fmla="*/ 1080119 w 2232247"/>
                <a:gd name="connsiteY10" fmla="*/ 2088232 h 2376264"/>
                <a:gd name="connsiteX0" fmla="*/ 1080119 w 2232247"/>
                <a:gd name="connsiteY0" fmla="*/ 2088232 h 2376264"/>
                <a:gd name="connsiteX1" fmla="*/ 329412 w 2232247"/>
                <a:gd name="connsiteY1" fmla="*/ 1794823 h 2376264"/>
                <a:gd name="connsiteX2" fmla="*/ 0 w 2232247"/>
                <a:gd name="connsiteY2" fmla="*/ 1044115 h 2376264"/>
                <a:gd name="connsiteX3" fmla="*/ 329414 w 2232247"/>
                <a:gd name="connsiteY3" fmla="*/ 293408 h 2376264"/>
                <a:gd name="connsiteX4" fmla="*/ 1080122 w 2232247"/>
                <a:gd name="connsiteY4" fmla="*/ 0 h 2376264"/>
                <a:gd name="connsiteX5" fmla="*/ 1830829 w 2232247"/>
                <a:gd name="connsiteY5" fmla="*/ 293410 h 2376264"/>
                <a:gd name="connsiteX6" fmla="*/ 2160241 w 2232247"/>
                <a:gd name="connsiteY6" fmla="*/ 1044118 h 2376264"/>
                <a:gd name="connsiteX7" fmla="*/ 1584175 w 2232247"/>
                <a:gd name="connsiteY7" fmla="*/ 1944216 h 2376264"/>
                <a:gd name="connsiteX8" fmla="*/ 2160239 w 2232247"/>
                <a:gd name="connsiteY8" fmla="*/ 2304256 h 2376264"/>
                <a:gd name="connsiteX9" fmla="*/ 2232247 w 2232247"/>
                <a:gd name="connsiteY9" fmla="*/ 2376264 h 2376264"/>
                <a:gd name="connsiteX10" fmla="*/ 1080119 w 2232247"/>
                <a:gd name="connsiteY10" fmla="*/ 2088232 h 2376264"/>
                <a:gd name="connsiteX0" fmla="*/ 1080119 w 2232247"/>
                <a:gd name="connsiteY0" fmla="*/ 2088232 h 2376264"/>
                <a:gd name="connsiteX1" fmla="*/ 329412 w 2232247"/>
                <a:gd name="connsiteY1" fmla="*/ 1794823 h 2376264"/>
                <a:gd name="connsiteX2" fmla="*/ 0 w 2232247"/>
                <a:gd name="connsiteY2" fmla="*/ 1044115 h 2376264"/>
                <a:gd name="connsiteX3" fmla="*/ 329414 w 2232247"/>
                <a:gd name="connsiteY3" fmla="*/ 293408 h 2376264"/>
                <a:gd name="connsiteX4" fmla="*/ 1080122 w 2232247"/>
                <a:gd name="connsiteY4" fmla="*/ 0 h 2376264"/>
                <a:gd name="connsiteX5" fmla="*/ 1830829 w 2232247"/>
                <a:gd name="connsiteY5" fmla="*/ 293410 h 2376264"/>
                <a:gd name="connsiteX6" fmla="*/ 2160241 w 2232247"/>
                <a:gd name="connsiteY6" fmla="*/ 1044118 h 2376264"/>
                <a:gd name="connsiteX7" fmla="*/ 1584175 w 2232247"/>
                <a:gd name="connsiteY7" fmla="*/ 1944216 h 2376264"/>
                <a:gd name="connsiteX8" fmla="*/ 2160239 w 2232247"/>
                <a:gd name="connsiteY8" fmla="*/ 2304256 h 2376264"/>
                <a:gd name="connsiteX9" fmla="*/ 2232247 w 2232247"/>
                <a:gd name="connsiteY9" fmla="*/ 2376264 h 2376264"/>
                <a:gd name="connsiteX10" fmla="*/ 1080119 w 2232247"/>
                <a:gd name="connsiteY10" fmla="*/ 2088232 h 2376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32247" h="2376264">
                  <a:moveTo>
                    <a:pt x="1080119" y="2088232"/>
                  </a:moveTo>
                  <a:cubicBezTo>
                    <a:pt x="799991" y="2088232"/>
                    <a:pt x="530820" y="1983028"/>
                    <a:pt x="329412" y="1794823"/>
                  </a:cubicBezTo>
                  <a:cubicBezTo>
                    <a:pt x="118882" y="1598094"/>
                    <a:pt x="0" y="1327169"/>
                    <a:pt x="0" y="1044115"/>
                  </a:cubicBezTo>
                  <a:cubicBezTo>
                    <a:pt x="0" y="761061"/>
                    <a:pt x="118883" y="490136"/>
                    <a:pt x="329414" y="293408"/>
                  </a:cubicBezTo>
                  <a:cubicBezTo>
                    <a:pt x="530823" y="105203"/>
                    <a:pt x="799994" y="0"/>
                    <a:pt x="1080122" y="0"/>
                  </a:cubicBezTo>
                  <a:cubicBezTo>
                    <a:pt x="1360250" y="0"/>
                    <a:pt x="1629421" y="105204"/>
                    <a:pt x="1830829" y="293410"/>
                  </a:cubicBezTo>
                  <a:cubicBezTo>
                    <a:pt x="2041359" y="490139"/>
                    <a:pt x="2160241" y="761064"/>
                    <a:pt x="2160241" y="1044118"/>
                  </a:cubicBezTo>
                  <a:cubicBezTo>
                    <a:pt x="2160241" y="1321035"/>
                    <a:pt x="2076662" y="1822916"/>
                    <a:pt x="1584175" y="1944216"/>
                  </a:cubicBezTo>
                  <a:lnTo>
                    <a:pt x="2160239" y="2304256"/>
                  </a:lnTo>
                  <a:lnTo>
                    <a:pt x="2232247" y="2376264"/>
                  </a:lnTo>
                  <a:lnTo>
                    <a:pt x="1080119" y="2088232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9259" y="3975565"/>
              <a:ext cx="2736304" cy="20005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spcBef>
                  <a:spcPct val="20000"/>
                </a:spcBef>
                <a:defRPr/>
              </a:pPr>
              <a:r>
                <a:rPr lang="nl-NL" sz="2000" dirty="0" err="1">
                  <a:solidFill>
                    <a:schemeClr val="accent1"/>
                  </a:solidFill>
                </a:rPr>
                <a:t>Why</a:t>
              </a:r>
              <a:r>
                <a:rPr lang="nl-NL" sz="2000" dirty="0">
                  <a:solidFill>
                    <a:schemeClr val="accent1"/>
                  </a:solidFill>
                </a:rPr>
                <a:t> is </a:t>
              </a:r>
              <a:r>
                <a:rPr lang="nl-NL" sz="2000" dirty="0" err="1">
                  <a:solidFill>
                    <a:schemeClr val="accent1"/>
                  </a:solidFill>
                </a:rPr>
                <a:t>this</a:t>
              </a:r>
              <a:r>
                <a:rPr lang="nl-NL" sz="2000" dirty="0">
                  <a:solidFill>
                    <a:schemeClr val="accent1"/>
                  </a:solidFill>
                </a:rPr>
                <a:t> </a:t>
              </a:r>
              <a:r>
                <a:rPr lang="nl-NL" sz="2000" dirty="0" err="1">
                  <a:solidFill>
                    <a:schemeClr val="accent1"/>
                  </a:solidFill>
                </a:rPr>
                <a:t>not</a:t>
              </a:r>
              <a:r>
                <a:rPr lang="nl-NL" sz="2000" dirty="0">
                  <a:solidFill>
                    <a:schemeClr val="accent1"/>
                  </a:solidFill>
                </a:rPr>
                <a:t> a proper DFF?</a:t>
              </a:r>
            </a:p>
            <a:p>
              <a:pPr marL="342900" lvl="0" indent="-342900">
                <a:spcBef>
                  <a:spcPct val="20000"/>
                </a:spcBef>
                <a:defRPr/>
              </a:pPr>
              <a:r>
                <a:rPr lang="nl-NL" sz="2000" dirty="0">
                  <a:solidFill>
                    <a:schemeClr val="accent1"/>
                  </a:solidFill>
                </a:rPr>
                <a:t>Hint: </a:t>
              </a:r>
              <a:r>
                <a:rPr lang="nl-NL" sz="2000" dirty="0" err="1">
                  <a:solidFill>
                    <a:schemeClr val="accent1"/>
                  </a:solidFill>
                </a:rPr>
                <a:t>think</a:t>
              </a:r>
              <a:r>
                <a:rPr lang="nl-NL" sz="2000" dirty="0">
                  <a:solidFill>
                    <a:schemeClr val="accent1"/>
                  </a:solidFill>
                </a:rPr>
                <a:t> of the </a:t>
              </a:r>
              <a:r>
                <a:rPr lang="nl-NL" sz="2000" dirty="0" err="1">
                  <a:solidFill>
                    <a:schemeClr val="accent1"/>
                  </a:solidFill>
                </a:rPr>
                <a:t>values</a:t>
              </a:r>
              <a:r>
                <a:rPr lang="nl-NL" sz="2000" dirty="0">
                  <a:solidFill>
                    <a:schemeClr val="accent1"/>
                  </a:solidFill>
                </a:rPr>
                <a:t> a STD_LOGIC </a:t>
              </a:r>
              <a:r>
                <a:rPr lang="nl-NL" sz="2000" dirty="0" err="1">
                  <a:solidFill>
                    <a:schemeClr val="accent1"/>
                  </a:solidFill>
                </a:rPr>
                <a:t>signal</a:t>
              </a:r>
              <a:r>
                <a:rPr lang="nl-NL" sz="2000" dirty="0">
                  <a:solidFill>
                    <a:schemeClr val="accent1"/>
                  </a:solidFill>
                </a:rPr>
                <a:t> </a:t>
              </a:r>
              <a:r>
                <a:rPr lang="nl-NL" sz="2000" dirty="0" err="1">
                  <a:solidFill>
                    <a:schemeClr val="accent1"/>
                  </a:solidFill>
                </a:rPr>
                <a:t>can</a:t>
              </a:r>
              <a:r>
                <a:rPr lang="nl-NL" sz="2000" dirty="0">
                  <a:solidFill>
                    <a:schemeClr val="accent1"/>
                  </a:solidFill>
                </a:rPr>
                <a:t> </a:t>
              </a:r>
              <a:r>
                <a:rPr lang="nl-NL" sz="2000" dirty="0" err="1">
                  <a:solidFill>
                    <a:schemeClr val="accent1"/>
                  </a:solidFill>
                </a:rPr>
                <a:t>obtain</a:t>
              </a:r>
              <a:r>
                <a:rPr lang="nl-NL" sz="2000" dirty="0">
                  <a:solidFill>
                    <a:schemeClr val="accent1"/>
                  </a:solidFill>
                </a:rPr>
                <a:t> </a:t>
              </a:r>
              <a:r>
                <a:rPr lang="nl-NL" sz="2000" dirty="0" err="1">
                  <a:solidFill>
                    <a:schemeClr val="accent1"/>
                  </a:solidFill>
                </a:rPr>
                <a:t>by</a:t>
              </a:r>
              <a:r>
                <a:rPr lang="nl-NL" sz="2000" dirty="0">
                  <a:solidFill>
                    <a:schemeClr val="accent1"/>
                  </a:solidFill>
                </a:rPr>
                <a:t> </a:t>
              </a:r>
              <a:r>
                <a:rPr lang="nl-NL" sz="2000" dirty="0" err="1">
                  <a:solidFill>
                    <a:schemeClr val="accent1"/>
                  </a:solidFill>
                </a:rPr>
                <a:t>definition</a:t>
              </a:r>
              <a:r>
                <a:rPr lang="nl-NL" sz="2000" dirty="0">
                  <a:solidFill>
                    <a:schemeClr val="accent1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06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Introductie in VHDL</a:t>
            </a:r>
          </a:p>
          <a:p>
            <a:endParaRPr lang="nl-NL" dirty="0"/>
          </a:p>
          <a:p>
            <a:r>
              <a:rPr lang="nl-NL" dirty="0" err="1"/>
              <a:t>Verify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functional</a:t>
            </a:r>
            <a:r>
              <a:rPr lang="nl-NL" dirty="0"/>
              <a:t> </a:t>
            </a:r>
            <a:r>
              <a:rPr lang="nl-NL" dirty="0" err="1"/>
              <a:t>behavior</a:t>
            </a:r>
            <a:r>
              <a:rPr lang="nl-NL" dirty="0"/>
              <a:t> of </a:t>
            </a:r>
            <a:r>
              <a:rPr lang="nl-NL" dirty="0" err="1"/>
              <a:t>your</a:t>
            </a:r>
            <a:r>
              <a:rPr lang="nl-NL" dirty="0"/>
              <a:t> design </a:t>
            </a:r>
            <a:r>
              <a:rPr lang="nl-NL" dirty="0" err="1"/>
              <a:t>with</a:t>
            </a:r>
            <a:r>
              <a:rPr lang="nl-NL" dirty="0"/>
              <a:t> test </a:t>
            </a:r>
            <a:r>
              <a:rPr lang="nl-NL" dirty="0" err="1"/>
              <a:t>benches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Use</a:t>
            </a:r>
            <a:r>
              <a:rPr lang="nl-NL" dirty="0"/>
              <a:t> standard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conversion</a:t>
            </a:r>
            <a:r>
              <a:rPr lang="nl-NL" dirty="0"/>
              <a:t> of data types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8336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Homework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 err="1"/>
              <a:t>Covered</a:t>
            </a:r>
            <a:r>
              <a:rPr lang="nl-NL" dirty="0"/>
              <a:t> </a:t>
            </a:r>
            <a:r>
              <a:rPr lang="nl-NL" dirty="0" err="1"/>
              <a:t>today</a:t>
            </a:r>
            <a:r>
              <a:rPr lang="nl-NL" dirty="0"/>
              <a:t>:</a:t>
            </a:r>
          </a:p>
          <a:p>
            <a:pPr lvl="1"/>
            <a:r>
              <a:rPr lang="en-GB" dirty="0"/>
              <a:t>Discussion of previous week</a:t>
            </a:r>
          </a:p>
          <a:p>
            <a:pPr lvl="1"/>
            <a:r>
              <a:rPr lang="en-GB" dirty="0"/>
              <a:t>Introduction to VHDL</a:t>
            </a:r>
          </a:p>
          <a:p>
            <a:pPr lvl="1"/>
            <a:r>
              <a:rPr lang="en-GB" dirty="0"/>
              <a:t>Code structure and data types</a:t>
            </a:r>
          </a:p>
          <a:p>
            <a:pPr lvl="1"/>
            <a:r>
              <a:rPr lang="en-GB" dirty="0"/>
              <a:t>Design verification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Homework: </a:t>
            </a:r>
          </a:p>
          <a:p>
            <a:pPr lvl="1"/>
            <a:r>
              <a:rPr lang="en-GB" dirty="0"/>
              <a:t>2.1, 2.2a, 3.1, 3.20, 3.22, 3.24</a:t>
            </a:r>
          </a:p>
          <a:p>
            <a:endParaRPr lang="en-GB" dirty="0"/>
          </a:p>
          <a:p>
            <a:r>
              <a:rPr lang="en-GB" dirty="0"/>
              <a:t>Next week:</a:t>
            </a:r>
          </a:p>
          <a:p>
            <a:pPr lvl="1"/>
            <a:r>
              <a:rPr lang="en-GB" dirty="0"/>
              <a:t>Combinational versus sequential design</a:t>
            </a:r>
          </a:p>
          <a:p>
            <a:pPr lvl="1"/>
            <a:r>
              <a:rPr lang="en-GB" dirty="0"/>
              <a:t>Concurrent and sequential code</a:t>
            </a:r>
          </a:p>
          <a:p>
            <a:pPr lvl="1"/>
            <a:r>
              <a:rPr lang="en-GB" dirty="0"/>
              <a:t>Signals versus variables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53327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thema">
  <a:themeElements>
    <a:clrScheme name="Custom 3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000000"/>
      </a:accent1>
      <a:accent2>
        <a:srgbClr val="600000"/>
      </a:accent2>
      <a:accent3>
        <a:srgbClr val="C00000"/>
      </a:accent3>
      <a:accent4>
        <a:srgbClr val="326064"/>
      </a:accent4>
      <a:accent5>
        <a:srgbClr val="5C92B5"/>
      </a:accent5>
      <a:accent6>
        <a:srgbClr val="A04DA3"/>
      </a:accent6>
      <a:hlink>
        <a:srgbClr val="67AFBD"/>
      </a:hlink>
      <a:folHlink>
        <a:srgbClr val="C2A874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9CF096EA0F74E95A1679122595694" ma:contentTypeVersion="16" ma:contentTypeDescription="Create a new document." ma:contentTypeScope="" ma:versionID="810d64b5f220c177966b0631fcbd73b6">
  <xsd:schema xmlns:xsd="http://www.w3.org/2001/XMLSchema" xmlns:xs="http://www.w3.org/2001/XMLSchema" xmlns:p="http://schemas.microsoft.com/office/2006/metadata/properties" xmlns:ns2="29616316-1aa5-4fa3-a691-4a532bc3402d" xmlns:ns3="98e963da-112d-402c-956e-5af79f0b067b" targetNamespace="http://schemas.microsoft.com/office/2006/metadata/properties" ma:root="true" ma:fieldsID="2e8b1bf51ec49dd3713ecc6fb87f9ed5" ns2:_="" ns3:_="">
    <xsd:import namespace="29616316-1aa5-4fa3-a691-4a532bc3402d"/>
    <xsd:import namespace="98e963da-112d-402c-956e-5af79f0b0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16316-1aa5-4fa3-a691-4a532bc34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77cde-f098-4d32-ba13-c78038edde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963da-112d-402c-956e-5af79f0b0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f7d4953-e0e4-4c29-8050-1efe1e8a515b}" ma:internalName="TaxCatchAll" ma:showField="CatchAllData" ma:web="98e963da-112d-402c-956e-5af79f0b0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e963da-112d-402c-956e-5af79f0b067b" xsi:nil="true"/>
    <lcf76f155ced4ddcb4097134ff3c332f xmlns="29616316-1aa5-4fa3-a691-4a532bc3402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D282E11-0800-4428-BAA9-CA91B6D950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DA72A9-A12C-4B94-9814-9FB33E462A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16316-1aa5-4fa3-a691-4a532bc3402d"/>
    <ds:schemaRef ds:uri="98e963da-112d-402c-956e-5af79f0b0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7EB75B-5DA3-4C13-BF2F-077FAB8BC0C8}">
  <ds:schemaRefs>
    <ds:schemaRef ds:uri="http://schemas.microsoft.com/office/2006/metadata/properties"/>
    <ds:schemaRef ds:uri="http://schemas.microsoft.com/office/infopath/2007/PartnerControls"/>
    <ds:schemaRef ds:uri="98e963da-112d-402c-956e-5af79f0b067b"/>
    <ds:schemaRef ds:uri="29616316-1aa5-4fa3-a691-4a532bc340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3067</Words>
  <Application>Microsoft Office PowerPoint</Application>
  <PresentationFormat>On-screen Show (4:3)</PresentationFormat>
  <Paragraphs>530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Consolas</vt:lpstr>
      <vt:lpstr>Courier New</vt:lpstr>
      <vt:lpstr>Times New Roman</vt:lpstr>
      <vt:lpstr>Wingdings</vt:lpstr>
      <vt:lpstr>presentatie_thema</vt:lpstr>
      <vt:lpstr>Hardware Programming HWP01 </vt:lpstr>
      <vt:lpstr>Planning: theory</vt:lpstr>
      <vt:lpstr>Agenda</vt:lpstr>
      <vt:lpstr>Agenda</vt:lpstr>
      <vt:lpstr>Introduction to VHDL</vt:lpstr>
      <vt:lpstr>Entity and architecture keywords</vt:lpstr>
      <vt:lpstr>VHDL Design</vt:lpstr>
      <vt:lpstr>Agenda</vt:lpstr>
      <vt:lpstr>Design verification: test bench</vt:lpstr>
      <vt:lpstr>Test bench overview</vt:lpstr>
      <vt:lpstr>Delay models</vt:lpstr>
      <vt:lpstr>Discussion of testbench example</vt:lpstr>
      <vt:lpstr>PowerPoint Presentation</vt:lpstr>
      <vt:lpstr>Agenda</vt:lpstr>
      <vt:lpstr>Logic values</vt:lpstr>
      <vt:lpstr>Resolved and Unresolved</vt:lpstr>
      <vt:lpstr>Example: AND gate</vt:lpstr>
      <vt:lpstr>Libraries</vt:lpstr>
      <vt:lpstr>INCLUDE : IEEE.STD_LOGIC_1164 LIBRARY</vt:lpstr>
      <vt:lpstr>Data Types: IEEE 1164 Standard Logic</vt:lpstr>
      <vt:lpstr>Data Types: IEEE.numeric_std.all LIBRARY</vt:lpstr>
      <vt:lpstr>Conversion of Common Types</vt:lpstr>
      <vt:lpstr>Conversion of Common Types</vt:lpstr>
      <vt:lpstr>Conversion of Common Types</vt:lpstr>
      <vt:lpstr>Warning</vt:lpstr>
      <vt:lpstr>Assignment Operators</vt:lpstr>
      <vt:lpstr>Other Functions available with numeric_std</vt:lpstr>
      <vt:lpstr>Attributes</vt:lpstr>
      <vt:lpstr>Simple Signal Assignment statement</vt:lpstr>
      <vt:lpstr>D flip-flop</vt:lpstr>
      <vt:lpstr>Example: DFF (good)</vt:lpstr>
      <vt:lpstr>Example: D-FlipFlop (bad)</vt:lpstr>
      <vt:lpstr>Summary</vt:lpstr>
      <vt:lpstr>Homework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Programmeerbare Hardware HWP01</dc:title>
  <dc:creator>PelJH</dc:creator>
  <cp:lastModifiedBy>Verhagen, R.T. (Ron)</cp:lastModifiedBy>
  <cp:revision>257</cp:revision>
  <cp:lastPrinted>2013-09-03T09:52:57Z</cp:lastPrinted>
  <dcterms:created xsi:type="dcterms:W3CDTF">2010-09-14T09:49:30Z</dcterms:created>
  <dcterms:modified xsi:type="dcterms:W3CDTF">2024-07-18T13:43:56Z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0x0101002889CF096EA0F74E95A1679122595694</vt:lpwstr>
  </property>
</Properties>
</file>