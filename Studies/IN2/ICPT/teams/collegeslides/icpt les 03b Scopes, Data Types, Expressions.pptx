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37"/>
  </p:notesMasterIdLst>
  <p:sldIdLst>
    <p:sldId id="256" r:id="rId5"/>
    <p:sldId id="262" r:id="rId6"/>
    <p:sldId id="360" r:id="rId7"/>
    <p:sldId id="385" r:id="rId8"/>
    <p:sldId id="386" r:id="rId9"/>
    <p:sldId id="387" r:id="rId10"/>
    <p:sldId id="388" r:id="rId11"/>
    <p:sldId id="389" r:id="rId12"/>
    <p:sldId id="392" r:id="rId13"/>
    <p:sldId id="393" r:id="rId14"/>
    <p:sldId id="394" r:id="rId15"/>
    <p:sldId id="395" r:id="rId16"/>
    <p:sldId id="404" r:id="rId17"/>
    <p:sldId id="396" r:id="rId18"/>
    <p:sldId id="399" r:id="rId19"/>
    <p:sldId id="400" r:id="rId20"/>
    <p:sldId id="401" r:id="rId21"/>
    <p:sldId id="402" r:id="rId22"/>
    <p:sldId id="403" r:id="rId23"/>
    <p:sldId id="405" r:id="rId24"/>
    <p:sldId id="407" r:id="rId25"/>
    <p:sldId id="411" r:id="rId26"/>
    <p:sldId id="412" r:id="rId27"/>
    <p:sldId id="417" r:id="rId28"/>
    <p:sldId id="409" r:id="rId29"/>
    <p:sldId id="410" r:id="rId30"/>
    <p:sldId id="406" r:id="rId31"/>
    <p:sldId id="418" r:id="rId32"/>
    <p:sldId id="416" r:id="rId33"/>
    <p:sldId id="415" r:id="rId34"/>
    <p:sldId id="419" r:id="rId35"/>
    <p:sldId id="420" r:id="rId36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75D2F-2CD1-044D-8988-731F08A96316}" v="3" dt="2019-12-11T20:41:07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0"/>
    <p:restoredTop sz="94662"/>
  </p:normalViewPr>
  <p:slideViewPr>
    <p:cSldViewPr>
      <p:cViewPr varScale="1">
        <p:scale>
          <a:sx n="109" d="100"/>
          <a:sy n="109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, Ron" userId="24548d85-388a-4276-9d61-77686c5c648d" providerId="ADAL" clId="{C4875D2F-2CD1-044D-8988-731F08A96316}"/>
    <pc:docChg chg="custSel modSld">
      <pc:chgData name="Arts, Ron" userId="24548d85-388a-4276-9d61-77686c5c648d" providerId="ADAL" clId="{C4875D2F-2CD1-044D-8988-731F08A96316}" dt="2019-12-11T20:41:53.663" v="22" actId="14100"/>
      <pc:docMkLst>
        <pc:docMk/>
      </pc:docMkLst>
      <pc:sldChg chg="modSp">
        <pc:chgData name="Arts, Ron" userId="24548d85-388a-4276-9d61-77686c5c648d" providerId="ADAL" clId="{C4875D2F-2CD1-044D-8988-731F08A96316}" dt="2019-12-11T20:41:11.105" v="21" actId="20577"/>
        <pc:sldMkLst>
          <pc:docMk/>
          <pc:sldMk cId="1926223095" sldId="415"/>
        </pc:sldMkLst>
        <pc:spChg chg="mod">
          <ac:chgData name="Arts, Ron" userId="24548d85-388a-4276-9d61-77686c5c648d" providerId="ADAL" clId="{C4875D2F-2CD1-044D-8988-731F08A96316}" dt="2019-12-11T20:41:11.105" v="21" actId="20577"/>
          <ac:spMkLst>
            <pc:docMk/>
            <pc:sldMk cId="1926223095" sldId="415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4875D2F-2CD1-044D-8988-731F08A96316}" dt="2019-12-11T20:40:20.958" v="0" actId="14100"/>
        <pc:sldMkLst>
          <pc:docMk/>
          <pc:sldMk cId="2542315140" sldId="416"/>
        </pc:sldMkLst>
        <pc:spChg chg="mod">
          <ac:chgData name="Arts, Ron" userId="24548d85-388a-4276-9d61-77686c5c648d" providerId="ADAL" clId="{C4875D2F-2CD1-044D-8988-731F08A96316}" dt="2019-12-11T20:40:20.958" v="0" actId="14100"/>
          <ac:spMkLst>
            <pc:docMk/>
            <pc:sldMk cId="2542315140" sldId="416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4875D2F-2CD1-044D-8988-731F08A96316}" dt="2019-12-11T20:41:53.663" v="22" actId="14100"/>
        <pc:sldMkLst>
          <pc:docMk/>
          <pc:sldMk cId="976200774" sldId="419"/>
        </pc:sldMkLst>
        <pc:spChg chg="mod">
          <ac:chgData name="Arts, Ron" userId="24548d85-388a-4276-9d61-77686c5c648d" providerId="ADAL" clId="{C4875D2F-2CD1-044D-8988-731F08A96316}" dt="2019-12-11T20:41:53.663" v="22" actId="14100"/>
          <ac:spMkLst>
            <pc:docMk/>
            <pc:sldMk cId="976200774" sldId="41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5F84-F7A7-46FA-BC08-F661D96BBCA7}" type="datetimeFigureOut">
              <a:rPr lang="nl-NL" smtClean="0"/>
              <a:pPr/>
              <a:t>11-12-2019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F1AB-29EF-4445-A82D-E8624A7043CE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C9F0FFE3-FF5E-104F-9964-3DEDE826B65C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438B0070-4B57-6447-9107-07813C664939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8B04468A-42AD-FE47-8A3B-187B18BAB598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E268ABFA-2DC1-2D4D-AE8E-21BE29E9ADC2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F8B98142-9A03-5C44-8281-D51D7DF0ED72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E632E292-0EE0-384F-9B25-126BF3AB7206}" type="slidenum">
              <a:rPr lang="en-US" sz="1200"/>
              <a:pPr/>
              <a:t>15</a:t>
            </a:fld>
            <a:endParaRPr 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897EB935-63EA-E54B-A873-48A850C89F31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AF0F2D76-14FB-4F41-87B6-64DC188917E4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943EDC8B-6A2C-F542-9159-F87E9054FBB7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0DFEE61C-2D52-5C4F-895E-2C8CC0D6A6EE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984" y="-171400"/>
            <a:ext cx="7772400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Klik om de titelstijl van het model te bewerken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235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16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Titelstijl van model bewerken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een tite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al 8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31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23114C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1237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37931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1-</a:t>
            </a:r>
            <a:fld id="{81B6E379-F4F0-E34F-8DAF-0A4A148E88F6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07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0872" y="1279301"/>
            <a:ext cx="8229600" cy="423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30488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23114C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23114C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titel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1" r:id="rId2"/>
    <p:sldLayoutId id="2147483657" r:id="rId3"/>
    <p:sldLayoutId id="2147483664" r:id="rId4"/>
    <p:sldLayoutId id="214748366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20BDB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ICPT – Concepten in Programmeertalen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Les 3b </a:t>
            </a:r>
            <a:endParaRPr lang="nl-NL" dirty="0"/>
          </a:p>
          <a:p>
            <a:r>
              <a:rPr lang="nl-NL" dirty="0"/>
              <a:t>Scopes</a:t>
            </a:r>
          </a:p>
          <a:p>
            <a:r>
              <a:rPr lang="nl-NL" dirty="0"/>
              <a:t>Data types</a:t>
            </a:r>
          </a:p>
          <a:p>
            <a:r>
              <a:rPr lang="nl-NL" dirty="0" err="1"/>
              <a:t>Expressions</a:t>
            </a:r>
            <a:r>
              <a:rPr lang="nl-NL" dirty="0"/>
              <a:t> &amp; statements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Opleiding Informatica</a:t>
            </a:r>
          </a:p>
        </p:txBody>
      </p:sp>
    </p:spTree>
    <p:extLst>
      <p:ext uri="{BB962C8B-B14F-4D97-AF65-F5344CB8AC3E}">
        <p14:creationId xmlns:p14="http://schemas.microsoft.com/office/powerpoint/2010/main" val="403045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Vragen?</a:t>
            </a:r>
          </a:p>
          <a:p>
            <a:pPr marL="0" indent="0">
              <a:buNone/>
            </a:pPr>
            <a:r>
              <a:rPr lang="nl-NL" sz="2000" dirty="0"/>
              <a:t>Scopes</a:t>
            </a:r>
          </a:p>
          <a:p>
            <a:pPr marL="0" indent="0">
              <a:buNone/>
            </a:pPr>
            <a:r>
              <a:rPr lang="nl-NL" sz="2000" dirty="0"/>
              <a:t>Data Types</a:t>
            </a:r>
          </a:p>
          <a:p>
            <a:pPr marL="0" indent="0">
              <a:buNone/>
            </a:pPr>
            <a:r>
              <a:rPr lang="nl-NL" sz="2000" dirty="0" err="1"/>
              <a:t>Expressions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assignment</a:t>
            </a:r>
            <a:r>
              <a:rPr lang="nl-NL" sz="2000" dirty="0"/>
              <a:t> types</a:t>
            </a:r>
          </a:p>
          <a:p>
            <a:pPr marL="0" indent="0">
              <a:buNone/>
            </a:pPr>
            <a:r>
              <a:rPr lang="nl-NL" sz="2000" dirty="0"/>
              <a:t>Statements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Planning voor deze les</a:t>
            </a:r>
          </a:p>
        </p:txBody>
      </p:sp>
    </p:spTree>
    <p:extLst>
      <p:ext uri="{BB962C8B-B14F-4D97-AF65-F5344CB8AC3E}">
        <p14:creationId xmlns:p14="http://schemas.microsoft.com/office/powerpoint/2010/main" val="355863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 over de vorige les?</a:t>
            </a:r>
          </a:p>
        </p:txBody>
      </p:sp>
    </p:spTree>
    <p:extLst>
      <p:ext uri="{BB962C8B-B14F-4D97-AF65-F5344CB8AC3E}">
        <p14:creationId xmlns:p14="http://schemas.microsoft.com/office/powerpoint/2010/main" val="288025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FE5DAEB-8EC5-3B44-970B-B14CFCFC4FFD}" type="slidenum">
              <a:rPr lang="en-US" sz="1000">
                <a:latin typeface="Arial" charset="0"/>
              </a:rPr>
              <a:pPr/>
              <a:t>4</a:t>
            </a:fld>
            <a:endParaRPr lang="en-US" sz="1000">
              <a:latin typeface="Arial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 Attributes: Scope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153400" cy="4572000"/>
          </a:xfrm>
        </p:spPr>
        <p:txBody>
          <a:bodyPr/>
          <a:lstStyle/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The </a:t>
            </a:r>
            <a:r>
              <a:rPr lang="en-US" sz="2400" i="1">
                <a:latin typeface="Lucida Sans Unicode" charset="0"/>
                <a:cs typeface="Lucida Sans Unicode" charset="0"/>
              </a:rPr>
              <a:t>scope</a:t>
            </a:r>
            <a:r>
              <a:rPr lang="en-US" sz="2400">
                <a:latin typeface="Lucida Sans Unicode" charset="0"/>
                <a:cs typeface="Lucida Sans Unicode" charset="0"/>
              </a:rPr>
              <a:t> of a variable is the range of statements over which it is visible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The </a:t>
            </a:r>
            <a:r>
              <a:rPr lang="en-US" sz="2400" i="1">
                <a:latin typeface="Lucida Sans Unicode" charset="0"/>
                <a:cs typeface="Lucida Sans Unicode" charset="0"/>
              </a:rPr>
              <a:t>local variables</a:t>
            </a:r>
            <a:r>
              <a:rPr lang="en-US" sz="2400">
                <a:latin typeface="Lucida Sans Unicode" charset="0"/>
                <a:cs typeface="Lucida Sans Unicode" charset="0"/>
              </a:rPr>
              <a:t> of a program unit are those that are declared in that unit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The </a:t>
            </a:r>
            <a:r>
              <a:rPr lang="en-US" sz="2400" i="1">
                <a:latin typeface="Lucida Sans Unicode" charset="0"/>
                <a:cs typeface="Lucida Sans Unicode" charset="0"/>
              </a:rPr>
              <a:t>nonlocal variables</a:t>
            </a:r>
            <a:r>
              <a:rPr lang="en-US" sz="2400">
                <a:latin typeface="Lucida Sans Unicode" charset="0"/>
                <a:cs typeface="Lucida Sans Unicode" charset="0"/>
              </a:rPr>
              <a:t> of a program unit are those that are visible in the unit but not declared there</a:t>
            </a:r>
          </a:p>
          <a:p>
            <a:pPr eaLnBrk="1" hangingPunct="1"/>
            <a:r>
              <a:rPr lang="en-US" sz="2400" i="1">
                <a:latin typeface="Lucida Sans Unicode" charset="0"/>
                <a:cs typeface="Lucida Sans Unicode" charset="0"/>
              </a:rPr>
              <a:t>Global variables</a:t>
            </a:r>
            <a:r>
              <a:rPr lang="en-US" sz="2400">
                <a:latin typeface="Lucida Sans Unicode" charset="0"/>
                <a:cs typeface="Lucida Sans Unicode" charset="0"/>
              </a:rPr>
              <a:t> are a special category of nonlocal variables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The scope rules of a language determine how references to names are associated with variables</a:t>
            </a:r>
          </a:p>
        </p:txBody>
      </p:sp>
    </p:spTree>
    <p:extLst>
      <p:ext uri="{BB962C8B-B14F-4D97-AF65-F5344CB8AC3E}">
        <p14:creationId xmlns:p14="http://schemas.microsoft.com/office/powerpoint/2010/main" val="53381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AA54C8F-0E0A-7944-BA43-E60E904568EF}" type="slidenum">
              <a:rPr lang="en-US" sz="1000">
                <a:latin typeface="Arial" charset="0"/>
              </a:rPr>
              <a:pPr/>
              <a:t>5</a:t>
            </a:fld>
            <a:endParaRPr lang="en-US" sz="1000">
              <a:latin typeface="Arial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Static Scope</a:t>
            </a:r>
            <a:br>
              <a:rPr lang="en-US" sz="3200">
                <a:latin typeface="Lucida Sans Unicode" charset="0"/>
                <a:cs typeface="Lucida Sans Unicode" charset="0"/>
              </a:rPr>
            </a:br>
            <a:endParaRPr lang="en-US" sz="3200">
              <a:latin typeface="Lucida Sans Unicode" charset="0"/>
              <a:cs typeface="Lucida Sans Unicode" charset="0"/>
            </a:endParaRP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143000"/>
            <a:ext cx="8153400" cy="4572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Based on program text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To connect a name reference to a variable, you (or the compiler) must find the declaration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i="1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Search process</a:t>
            </a:r>
            <a:r>
              <a:rPr lang="en-US" sz="2400" dirty="0">
                <a:latin typeface="Lucida Sans Unicode" charset="0"/>
                <a:cs typeface="Lucida Sans Unicode" charset="0"/>
              </a:rPr>
              <a:t>: search declarations, first locally, then in increasingly larger enclosing scopes, until one is found for the given name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Enclosing static scopes (to a specific scope) are called its </a:t>
            </a:r>
            <a:r>
              <a:rPr lang="en-US" sz="2400" i="1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static ancestors</a:t>
            </a:r>
            <a:r>
              <a:rPr lang="en-US" sz="2400" dirty="0">
                <a:latin typeface="Lucida Sans Unicode" charset="0"/>
                <a:cs typeface="Lucida Sans Unicode" charset="0"/>
              </a:rPr>
              <a:t>; the nearest static ancestor is called a </a:t>
            </a:r>
            <a:r>
              <a:rPr lang="en-US" sz="2400" i="1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static parent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Some languages allow nested subprogram definitions, which create nested static scopes (e.g., Ada, JavaScript, Common LISP, Scheme, Fortran 2003+, F#, and Python)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>
              <a:solidFill>
                <a:schemeClr val="tx2"/>
              </a:solidFill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83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D8C09DCE-D5A3-FC46-A505-B9D10271F5FA}" type="slidenum">
              <a:rPr lang="en-US" sz="1000">
                <a:latin typeface="Arial" charset="0"/>
              </a:rPr>
              <a:pPr/>
              <a:t>6</a:t>
            </a:fld>
            <a:endParaRPr lang="en-US" sz="1000">
              <a:latin typeface="Arial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Scope (continued)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Variables can be hidden from a unit by having a "closer" variable with the same name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Ada allows access to these "hidden" variables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E.g.,  </a:t>
            </a:r>
            <a:r>
              <a:rPr lang="en-US" b="1">
                <a:latin typeface="Courier New" charset="0"/>
                <a:ea typeface="Lucida Sans Unicode" charset="0"/>
                <a:cs typeface="Lucida Sans Unicode" charset="0"/>
              </a:rPr>
              <a:t>unit.name</a:t>
            </a:r>
          </a:p>
        </p:txBody>
      </p:sp>
    </p:spTree>
    <p:extLst>
      <p:ext uri="{BB962C8B-B14F-4D97-AF65-F5344CB8AC3E}">
        <p14:creationId xmlns:p14="http://schemas.microsoft.com/office/powerpoint/2010/main" val="288423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B2AD54E-2BFC-204D-A94B-19AFDBA3E4F2}" type="slidenum">
              <a:rPr lang="en-US" sz="1000">
                <a:latin typeface="Arial" charset="0"/>
              </a:rPr>
              <a:pPr/>
              <a:t>7</a:t>
            </a:fld>
            <a:endParaRPr lang="en-US" sz="1000">
              <a:latin typeface="Arial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Blocks </a:t>
            </a:r>
            <a:br>
              <a:rPr lang="en-US" sz="3200">
                <a:latin typeface="Lucida Sans Unicode" charset="0"/>
                <a:cs typeface="Lucida Sans Unicode" charset="0"/>
              </a:rPr>
            </a:br>
            <a:endParaRPr lang="en-US" sz="3200">
              <a:latin typeface="Lucida Sans Unicode" charset="0"/>
              <a:cs typeface="Lucida Sans Unicode" charset="0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7772400" cy="4724400"/>
          </a:xfrm>
        </p:spPr>
        <p:txBody>
          <a:bodyPr/>
          <a:lstStyle/>
          <a:p>
            <a:pPr lvl="1" eaLnBrk="1" hangingPunct="1"/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A method of creating static scopes inside program units--from ALGOL 60</a:t>
            </a:r>
          </a:p>
          <a:p>
            <a:pPr lvl="1" eaLnBrk="1" hangingPunct="1"/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Example in C: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  <a:cs typeface="Courier New" charset="0"/>
              </a:rPr>
              <a:t>           void sub() {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             int count;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             while (...) {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		      int count;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               count++;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               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    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       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Courier New" charset="0"/>
                <a:cs typeface="Lucida Sans Unicode" charset="0"/>
              </a:rPr>
              <a:t>   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latin typeface="Courier New" charset="0"/>
                <a:cs typeface="Lucida Sans Unicode" charset="0"/>
              </a:rPr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latin typeface="Courier New" charset="0"/>
                <a:cs typeface="Lucida Sans Unicode" charset="0"/>
              </a:rPr>
              <a:t>     </a:t>
            </a:r>
            <a:r>
              <a:rPr lang="en-US" sz="2000">
                <a:latin typeface="Courier New" charset="0"/>
                <a:cs typeface="Lucida Sans Unicode" charset="0"/>
              </a:rPr>
              <a:t>- Note: legal in C and C++, but not in Java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>
                <a:latin typeface="Courier New" charset="0"/>
                <a:cs typeface="Lucida Sans Unicode" charset="0"/>
              </a:rPr>
              <a:t>              and C# - too error-prone</a:t>
            </a:r>
          </a:p>
        </p:txBody>
      </p:sp>
    </p:spTree>
    <p:extLst>
      <p:ext uri="{BB962C8B-B14F-4D97-AF65-F5344CB8AC3E}">
        <p14:creationId xmlns:p14="http://schemas.microsoft.com/office/powerpoint/2010/main" val="4594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Declaration Order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C99, C++, Java, and C# allow variable declarations to appear anywhere a statement can appear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In C99, C++, and Java, the scope of all local variables is from the declaration to the end of the block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In C#, the scope of any variable declared in a block is the whole block, regardless of the position of the declaration in the block</a:t>
            </a:r>
          </a:p>
          <a:p>
            <a:pPr lvl="2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However, a variable still must be declared before it can be used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C551428-3379-F241-8398-C0D4B1B10F47}" type="slidenum">
              <a:rPr lang="en-US" sz="1000">
                <a:latin typeface="Arial" charset="0"/>
              </a:rPr>
              <a:pPr/>
              <a:t>8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333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Declaration Order </a:t>
            </a:r>
            <a:r>
              <a:rPr lang="en-US" sz="2400">
                <a:latin typeface="Lucida Sans Unicode" charset="0"/>
                <a:cs typeface="Lucida Sans Unicode" charset="0"/>
              </a:rPr>
              <a:t>(continued)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In C++, Java, and C#, variables can be declared in </a:t>
            </a:r>
            <a:r>
              <a:rPr lang="en-US" sz="2400">
                <a:latin typeface="Courier New" charset="0"/>
                <a:cs typeface="Courier New" charset="0"/>
              </a:rPr>
              <a:t>for</a:t>
            </a:r>
            <a:r>
              <a:rPr lang="en-US">
                <a:latin typeface="Lucida Sans Unicode" charset="0"/>
                <a:cs typeface="Lucida Sans Unicode" charset="0"/>
              </a:rPr>
              <a:t> statements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The scope of such variables is restricted to the </a:t>
            </a:r>
            <a:r>
              <a:rPr lang="en-US" sz="2000">
                <a:latin typeface="Courier New" charset="0"/>
                <a:ea typeface="ＭＳ Ｐゴシック" charset="0"/>
                <a:cs typeface="Courier New" charset="0"/>
              </a:rPr>
              <a:t>for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construct</a:t>
            </a: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65225C6-4C1B-874F-B0EA-B4E08B9198E1}" type="slidenum">
              <a:rPr lang="en-US" sz="1000">
                <a:latin typeface="Arial" charset="0"/>
              </a:rPr>
              <a:pPr/>
              <a:t>9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732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Global Scope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755576" y="1369891"/>
            <a:ext cx="8153400" cy="4800600"/>
          </a:xfrm>
        </p:spPr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C, C++, PHP, and Python support a program structure that consists of a sequence of function definitions in a file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These languages allow variable declarations to appear outside function definitions</a:t>
            </a:r>
          </a:p>
          <a:p>
            <a:pPr lvl="1"/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r>
              <a:rPr lang="en-US" dirty="0">
                <a:latin typeface="Lucida Sans Unicode" charset="0"/>
                <a:cs typeface="Lucida Sans Unicode" charset="0"/>
              </a:rPr>
              <a:t>C and C++have both declarations (just attributes) and definitions (attributes and storage)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A declaration outside a function definition specifies that it is defined in another file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AB30570-9CE5-6740-AF02-67DB87502F10}" type="slidenum">
              <a:rPr lang="en-US" sz="1000">
                <a:latin typeface="Arial" charset="0"/>
              </a:rPr>
              <a:pPr/>
              <a:t>10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83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Global Scope </a:t>
            </a:r>
            <a:r>
              <a:rPr lang="en-US" sz="2800">
                <a:latin typeface="Lucida Sans Unicode" charset="0"/>
                <a:cs typeface="Lucida Sans Unicode" charset="0"/>
              </a:rPr>
              <a:t>(continued)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PHP 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Programs are embedded in HTML markup documents, in any number of fragments, some statements and some function definitions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The scope of a variable (implicitly) declared in a function is local to the function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The scope of a variable implicitly declared outside functions is from the declaration to the end of the program, but skips over any intervening functions</a:t>
            </a:r>
          </a:p>
          <a:p>
            <a:pPr lvl="2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Global variables can be accessed in a function through the </a:t>
            </a:r>
            <a:r>
              <a:rPr lang="en-US" sz="1800">
                <a:latin typeface="Courier New" charset="0"/>
                <a:ea typeface="ＭＳ Ｐゴシック" charset="0"/>
                <a:cs typeface="Courier New" charset="0"/>
              </a:rPr>
              <a:t>$GLOBALS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array or by declaring it </a:t>
            </a:r>
            <a:r>
              <a:rPr lang="en-US" sz="1800">
                <a:latin typeface="Courier New" charset="0"/>
                <a:ea typeface="ＭＳ Ｐゴシック" charset="0"/>
                <a:cs typeface="Courier New" charset="0"/>
              </a:rPr>
              <a:t>global</a:t>
            </a: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346104E-E8B9-A041-8B87-DA87F9BD944F}" type="slidenum">
              <a:rPr lang="en-US" sz="1000">
                <a:latin typeface="Arial" charset="0"/>
              </a:rPr>
              <a:pPr/>
              <a:t>11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585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Global Scope </a:t>
            </a:r>
            <a:r>
              <a:rPr lang="en-US" sz="2800">
                <a:latin typeface="Lucida Sans Unicode" charset="0"/>
                <a:cs typeface="Lucida Sans Unicode" charset="0"/>
              </a:rPr>
              <a:t>(continued)</a:t>
            </a: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Python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 global variable can be referenced in functions, but can be assigned in a function only if it has been declared to be </a:t>
            </a:r>
            <a:r>
              <a:rPr lang="en-US" sz="2000">
                <a:latin typeface="Courier New" charset="0"/>
                <a:ea typeface="ＭＳ Ｐゴシック" charset="0"/>
                <a:cs typeface="Courier New" charset="0"/>
              </a:rPr>
              <a:t>global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in the function</a:t>
            </a:r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C14A9322-B29A-6F4C-B974-F133DAC39228}" type="slidenum">
              <a:rPr lang="en-US" sz="1000">
                <a:latin typeface="Arial" charset="0"/>
              </a:rPr>
              <a:pPr/>
              <a:t>12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272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13</a:t>
            </a:fld>
            <a:endParaRPr lang="nl-NL" dirty="0"/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l="1430" t="10638" r="8153"/>
          <a:stretch/>
        </p:blipFill>
        <p:spPr>
          <a:xfrm>
            <a:off x="782510" y="908720"/>
            <a:ext cx="7317882" cy="4608860"/>
          </a:xfrm>
        </p:spPr>
      </p:pic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Static</a:t>
            </a:r>
            <a:r>
              <a:rPr lang="nl-NL" dirty="0"/>
              <a:t> versus </a:t>
            </a:r>
            <a:r>
              <a:rPr lang="nl-NL" dirty="0" err="1"/>
              <a:t>dynamic</a:t>
            </a:r>
            <a:r>
              <a:rPr lang="nl-NL" dirty="0"/>
              <a:t> scope</a:t>
            </a:r>
          </a:p>
        </p:txBody>
      </p:sp>
    </p:spTree>
    <p:extLst>
      <p:ext uri="{BB962C8B-B14F-4D97-AF65-F5344CB8AC3E}">
        <p14:creationId xmlns:p14="http://schemas.microsoft.com/office/powerpoint/2010/main" val="1560169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D183B2CB-CA3A-CF48-9785-2E2F93DCBDE9}" type="slidenum">
              <a:rPr lang="en-US" sz="1000">
                <a:latin typeface="Arial" charset="0"/>
              </a:rPr>
              <a:pPr/>
              <a:t>14</a:t>
            </a:fld>
            <a:endParaRPr lang="en-US" sz="1000">
              <a:latin typeface="Arial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Evaluation of Static Scoping</a:t>
            </a:r>
            <a:br>
              <a:rPr lang="en-US" sz="3200">
                <a:latin typeface="Lucida Sans Unicode" charset="0"/>
                <a:cs typeface="Lucida Sans Unicode" charset="0"/>
              </a:rPr>
            </a:br>
            <a:endParaRPr lang="en-US" sz="3200">
              <a:latin typeface="Lucida Sans Unicode" charset="0"/>
              <a:cs typeface="Lucida Sans Unicode" charset="0"/>
            </a:endParaRP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Works well in many situations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Problems: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In most cases, too much access is possible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As a program evolves, the initial structure is destroyed and local variables often become global; subprograms also gravitate toward become global, rather than nested</a:t>
            </a:r>
          </a:p>
        </p:txBody>
      </p:sp>
    </p:spTree>
    <p:extLst>
      <p:ext uri="{BB962C8B-B14F-4D97-AF65-F5344CB8AC3E}">
        <p14:creationId xmlns:p14="http://schemas.microsoft.com/office/powerpoint/2010/main" val="4005706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21AE539-ACA3-ED40-8AE4-B78D7804B119}" type="slidenum">
              <a:rPr lang="en-US" sz="1000">
                <a:latin typeface="Arial" charset="0"/>
              </a:rPr>
              <a:pPr/>
              <a:t>15</a:t>
            </a:fld>
            <a:endParaRPr lang="en-US" sz="1000">
              <a:latin typeface="Arial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/>
              <a:t>Evaluation of Dynamic Scoping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153400" cy="5105400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ea typeface="+mn-ea"/>
            </a:endParaRPr>
          </a:p>
          <a:p>
            <a:pPr lvl="1" eaLnBrk="1" hangingPunct="1">
              <a:defRPr/>
            </a:pPr>
            <a:r>
              <a:rPr lang="en-US" dirty="0"/>
              <a:t>Advantage: convenience</a:t>
            </a:r>
          </a:p>
          <a:p>
            <a:pPr lvl="1">
              <a:defRPr/>
            </a:pPr>
            <a:r>
              <a:rPr lang="en-US" i="1" dirty="0"/>
              <a:t>Disadvantages:</a:t>
            </a:r>
            <a:r>
              <a:rPr lang="en-US" dirty="0"/>
              <a:t> </a:t>
            </a:r>
          </a:p>
          <a:p>
            <a:pPr marL="1371600" lvl="2" indent="-457200">
              <a:buFontTx/>
              <a:buAutoNum type="arabicPeriod"/>
              <a:defRPr/>
            </a:pPr>
            <a:r>
              <a:rPr lang="en-US" dirty="0"/>
              <a:t>While a subprogram is executing, its variables are visible to all subprograms it calls</a:t>
            </a:r>
          </a:p>
          <a:p>
            <a:pPr marL="1371600" lvl="2" indent="-457200">
              <a:buFontTx/>
              <a:buAutoNum type="arabicPeriod"/>
              <a:defRPr/>
            </a:pPr>
            <a:r>
              <a:rPr lang="en-US" dirty="0"/>
              <a:t> Impossible to statically type check</a:t>
            </a:r>
          </a:p>
          <a:p>
            <a:pPr lvl="2">
              <a:buFontTx/>
              <a:buNone/>
              <a:defRPr/>
            </a:pPr>
            <a:r>
              <a:rPr lang="en-US" dirty="0"/>
              <a:t>3. Poor readability- it is not possible to statically</a:t>
            </a:r>
          </a:p>
          <a:p>
            <a:pPr lvl="2">
              <a:buFontTx/>
              <a:buNone/>
              <a:defRPr/>
            </a:pPr>
            <a:r>
              <a:rPr lang="en-US" dirty="0"/>
              <a:t>    determine the type of a variable</a:t>
            </a:r>
          </a:p>
        </p:txBody>
      </p:sp>
    </p:spTree>
    <p:extLst>
      <p:ext uri="{BB962C8B-B14F-4D97-AF65-F5344CB8AC3E}">
        <p14:creationId xmlns:p14="http://schemas.microsoft.com/office/powerpoint/2010/main" val="234839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19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7BE7470-95AE-4A4D-8AA6-37865FB0A4A6}" type="slidenum">
              <a:rPr lang="en-US" sz="1000">
                <a:latin typeface="Arial" charset="0"/>
              </a:rPr>
              <a:pPr/>
              <a:t>16</a:t>
            </a:fld>
            <a:endParaRPr lang="en-US" sz="1000">
              <a:latin typeface="Arial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Scope and Lifetime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Scope and lifetime are sometimes closely related, but are </a:t>
            </a:r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different</a:t>
            </a:r>
            <a:r>
              <a:rPr lang="en-US">
                <a:latin typeface="Lucida Sans Unicode" charset="0"/>
                <a:cs typeface="Lucida Sans Unicode" charset="0"/>
              </a:rPr>
              <a:t> concepts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Consider a </a:t>
            </a:r>
            <a:r>
              <a:rPr lang="en-US" b="1">
                <a:latin typeface="Courier New" charset="0"/>
                <a:cs typeface="Lucida Sans Unicode" charset="0"/>
              </a:rPr>
              <a:t>static</a:t>
            </a:r>
            <a:r>
              <a:rPr lang="en-US">
                <a:latin typeface="Lucida Sans Unicode" charset="0"/>
                <a:cs typeface="Lucida Sans Unicode" charset="0"/>
              </a:rPr>
              <a:t> variable in a C or C++ function</a:t>
            </a:r>
          </a:p>
        </p:txBody>
      </p:sp>
    </p:spTree>
    <p:extLst>
      <p:ext uri="{BB962C8B-B14F-4D97-AF65-F5344CB8AC3E}">
        <p14:creationId xmlns:p14="http://schemas.microsoft.com/office/powerpoint/2010/main" val="962613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30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CFE5C309-8C43-0A4F-9AEF-CF38A1272B47}" type="slidenum">
              <a:rPr lang="en-US" sz="1000">
                <a:latin typeface="Arial" charset="0"/>
              </a:rPr>
              <a:pPr/>
              <a:t>17</a:t>
            </a:fld>
            <a:endParaRPr lang="en-US" sz="1000">
              <a:latin typeface="Arial" charset="0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Referencing Environments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The </a:t>
            </a:r>
            <a:r>
              <a:rPr lang="en-US" sz="2400" i="1">
                <a:latin typeface="Lucida Sans Unicode" charset="0"/>
                <a:cs typeface="Lucida Sans Unicode" charset="0"/>
              </a:rPr>
              <a:t>referencing environment</a:t>
            </a:r>
            <a:r>
              <a:rPr lang="en-US" sz="2400">
                <a:latin typeface="Lucida Sans Unicode" charset="0"/>
                <a:cs typeface="Lucida Sans Unicode" charset="0"/>
              </a:rPr>
              <a:t> of a statement is the collection of all names that are visible in the statement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In a static-scoped language, it is the local variables plus all of the visible variables in all of the enclosing scopes 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A subprogram is </a:t>
            </a:r>
            <a:r>
              <a:rPr lang="en-US" sz="240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active</a:t>
            </a:r>
            <a:r>
              <a:rPr lang="en-US" sz="2400">
                <a:latin typeface="Lucida Sans Unicode" charset="0"/>
                <a:cs typeface="Lucida Sans Unicode" charset="0"/>
              </a:rPr>
              <a:t> if its execution has begun but has not yet terminated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In a dynamic-scoped language, the referencing environment is the local variables plus all visible variables in all active subprograms</a:t>
            </a:r>
          </a:p>
        </p:txBody>
      </p:sp>
    </p:spTree>
    <p:extLst>
      <p:ext uri="{BB962C8B-B14F-4D97-AF65-F5344CB8AC3E}">
        <p14:creationId xmlns:p14="http://schemas.microsoft.com/office/powerpoint/2010/main" val="1849276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1028058-9145-0945-B080-4BC6D7F878FE}" type="slidenum">
              <a:rPr lang="en-US" sz="1000">
                <a:latin typeface="Arial" charset="0"/>
              </a:rPr>
              <a:pPr/>
              <a:t>18</a:t>
            </a:fld>
            <a:endParaRPr lang="en-US" sz="1000">
              <a:latin typeface="Arial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Named Constants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A </a:t>
            </a:r>
            <a:r>
              <a:rPr lang="en-US" sz="2400" i="1">
                <a:latin typeface="Lucida Sans Unicode" charset="0"/>
                <a:cs typeface="Lucida Sans Unicode" charset="0"/>
              </a:rPr>
              <a:t>named constant</a:t>
            </a:r>
            <a:r>
              <a:rPr lang="en-US" sz="2400">
                <a:latin typeface="Lucida Sans Unicode" charset="0"/>
                <a:cs typeface="Lucida Sans Unicode" charset="0"/>
              </a:rPr>
              <a:t> is a variable that is bound to a value only when it is bound to storage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Advantages</a:t>
            </a:r>
            <a:r>
              <a:rPr lang="en-US" sz="2400">
                <a:latin typeface="Lucida Sans Unicode" charset="0"/>
                <a:cs typeface="Lucida Sans Unicode" charset="0"/>
              </a:rPr>
              <a:t>: readability and modifiability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Used to parameterize programs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The binding of values to named constants can be either static (called </a:t>
            </a:r>
            <a:r>
              <a:rPr lang="en-US" sz="2400" i="1">
                <a:latin typeface="Lucida Sans Unicode" charset="0"/>
                <a:cs typeface="Lucida Sans Unicode" charset="0"/>
              </a:rPr>
              <a:t>manifest constants</a:t>
            </a:r>
            <a:r>
              <a:rPr lang="en-US" sz="2400">
                <a:latin typeface="Lucida Sans Unicode" charset="0"/>
                <a:cs typeface="Lucida Sans Unicode" charset="0"/>
              </a:rPr>
              <a:t>) or dynamic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Languages: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Ada, C++, and Java: expressions of any kind, dynamically bound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C# has two kinds, </a:t>
            </a:r>
            <a:r>
              <a:rPr lang="en-US" sz="1800" b="1">
                <a:latin typeface="Courier New" charset="0"/>
                <a:ea typeface="Lucida Sans Unicode" charset="0"/>
                <a:cs typeface="Lucida Sans Unicode" charset="0"/>
              </a:rPr>
              <a:t>readonly</a:t>
            </a: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 and </a:t>
            </a:r>
            <a:r>
              <a:rPr lang="en-US" sz="1800" b="1">
                <a:latin typeface="Courier New" charset="0"/>
                <a:ea typeface="Lucida Sans Unicode" charset="0"/>
                <a:cs typeface="Lucida Sans Unicode" charset="0"/>
              </a:rPr>
              <a:t>const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    - the values of </a:t>
            </a:r>
            <a:r>
              <a:rPr lang="en-US" sz="1800" b="1">
                <a:latin typeface="Courier New" charset="0"/>
                <a:ea typeface="Lucida Sans Unicode" charset="0"/>
                <a:cs typeface="Lucida Sans Unicode" charset="0"/>
              </a:rPr>
              <a:t>const</a:t>
            </a: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 named constants are bound at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        compile time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    - The values of </a:t>
            </a:r>
            <a:r>
              <a:rPr lang="en-US" sz="1800" b="1">
                <a:latin typeface="Courier New" charset="0"/>
                <a:ea typeface="Lucida Sans Unicode" charset="0"/>
                <a:cs typeface="Lucida Sans Unicode" charset="0"/>
              </a:rPr>
              <a:t>readonly</a:t>
            </a: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 named constants are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        dynamically bound</a:t>
            </a:r>
          </a:p>
        </p:txBody>
      </p:sp>
    </p:spTree>
    <p:extLst>
      <p:ext uri="{BB962C8B-B14F-4D97-AF65-F5344CB8AC3E}">
        <p14:creationId xmlns:p14="http://schemas.microsoft.com/office/powerpoint/2010/main" val="800249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AA452DB8-FB99-114B-9CE0-3CFE084E7EE7}" type="slidenum">
              <a:rPr lang="en-US" sz="1000">
                <a:latin typeface="Arial" charset="0"/>
              </a:rPr>
              <a:pPr/>
              <a:t>19</a:t>
            </a:fld>
            <a:endParaRPr lang="en-US" sz="1000">
              <a:latin typeface="Arial" charset="0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Summary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Case sensitivity and the relationship of names to special words represent design issues of names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Variables are characterized by the sextuples: name, address, value, type, lifetime, scope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Binding is the association of attributes with program entities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Scalar variables are categorized as: static, stack dynamic, explicit heap dynamic, implicit heap dynamic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Strong typing means detecting all type errors</a:t>
            </a:r>
          </a:p>
        </p:txBody>
      </p:sp>
    </p:spTree>
    <p:extLst>
      <p:ext uri="{BB962C8B-B14F-4D97-AF65-F5344CB8AC3E}">
        <p14:creationId xmlns:p14="http://schemas.microsoft.com/office/powerpoint/2010/main" val="106313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PAUZE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62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Datatypes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66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Datatypes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Wat is de maximale waarde van een int?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33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 Java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l-NL" dirty="0"/>
              <a:t>Wat is de maximale waarde van een int?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public class Test {</a:t>
            </a:r>
          </a:p>
          <a:p>
            <a:pPr marL="0" indent="0">
              <a:buNone/>
            </a:pPr>
            <a:endParaRPr lang="nl-NL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public </a:t>
            </a:r>
            <a:r>
              <a:rPr lang="nl-NL" dirty="0" err="1">
                <a:latin typeface="Courier"/>
                <a:cs typeface="Courier"/>
              </a:rPr>
              <a:t>static</a:t>
            </a:r>
            <a:r>
              <a:rPr lang="nl-NL" dirty="0">
                <a:latin typeface="Courier"/>
                <a:cs typeface="Courier"/>
              </a:rPr>
              <a:t> </a:t>
            </a:r>
            <a:r>
              <a:rPr lang="nl-NL" dirty="0" err="1">
                <a:latin typeface="Courier"/>
                <a:cs typeface="Courier"/>
              </a:rPr>
              <a:t>void</a:t>
            </a:r>
            <a:r>
              <a:rPr lang="nl-NL" dirty="0">
                <a:latin typeface="Courier"/>
                <a:cs typeface="Courier"/>
              </a:rPr>
              <a:t> </a:t>
            </a:r>
            <a:r>
              <a:rPr lang="nl-NL" dirty="0" err="1">
                <a:latin typeface="Courier"/>
                <a:cs typeface="Courier"/>
              </a:rPr>
              <a:t>main</a:t>
            </a:r>
            <a:r>
              <a:rPr lang="nl-NL" dirty="0">
                <a:latin typeface="Courier"/>
                <a:cs typeface="Courier"/>
              </a:rPr>
              <a:t>(String[] </a:t>
            </a:r>
            <a:r>
              <a:rPr lang="nl-NL" dirty="0" err="1">
                <a:latin typeface="Courier"/>
                <a:cs typeface="Courier"/>
              </a:rPr>
              <a:t>args</a:t>
            </a:r>
            <a:r>
              <a:rPr lang="nl-NL" dirty="0">
                <a:latin typeface="Courier"/>
                <a:cs typeface="Courier"/>
              </a:rPr>
              <a:t>) {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	int a = </a:t>
            </a:r>
            <a:r>
              <a:rPr lang="nl-NL" dirty="0" err="1">
                <a:latin typeface="Courier"/>
                <a:cs typeface="Courier"/>
              </a:rPr>
              <a:t>Integer.</a:t>
            </a:r>
            <a:r>
              <a:rPr lang="nl-NL" i="1" dirty="0" err="1">
                <a:latin typeface="Courier"/>
                <a:cs typeface="Courier"/>
              </a:rPr>
              <a:t>MAX_VALUE</a:t>
            </a:r>
            <a:r>
              <a:rPr lang="nl-NL" i="1" dirty="0">
                <a:latin typeface="Courier"/>
                <a:cs typeface="Courier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	</a:t>
            </a:r>
            <a:r>
              <a:rPr lang="nl-NL" dirty="0" err="1">
                <a:latin typeface="Courier"/>
                <a:cs typeface="Courier"/>
              </a:rPr>
              <a:t>System.</a:t>
            </a:r>
            <a:r>
              <a:rPr lang="nl-NL" i="1" dirty="0" err="1">
                <a:latin typeface="Courier"/>
                <a:cs typeface="Courier"/>
              </a:rPr>
              <a:t>out.println</a:t>
            </a:r>
            <a:r>
              <a:rPr lang="nl-NL" i="1" dirty="0">
                <a:latin typeface="Courier"/>
                <a:cs typeface="Courier"/>
              </a:rPr>
              <a:t>(a); //</a:t>
            </a:r>
            <a:r>
              <a:rPr lang="nl-NL" dirty="0">
                <a:latin typeface="Courier"/>
                <a:cs typeface="Courier"/>
              </a:rPr>
              <a:t>2147483647</a:t>
            </a:r>
            <a:endParaRPr lang="nl-NL" i="1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	a = a+1;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	</a:t>
            </a:r>
            <a:r>
              <a:rPr lang="nl-NL" dirty="0" err="1">
                <a:latin typeface="Courier"/>
                <a:cs typeface="Courier"/>
              </a:rPr>
              <a:t>System.</a:t>
            </a:r>
            <a:r>
              <a:rPr lang="nl-NL" i="1" dirty="0" err="1">
                <a:latin typeface="Courier"/>
                <a:cs typeface="Courier"/>
              </a:rPr>
              <a:t>out.println</a:t>
            </a:r>
            <a:r>
              <a:rPr lang="nl-NL" i="1" dirty="0">
                <a:latin typeface="Courier"/>
                <a:cs typeface="Courier"/>
              </a:rPr>
              <a:t>(a); //</a:t>
            </a:r>
            <a:r>
              <a:rPr lang="nl-NL" dirty="0">
                <a:latin typeface="Courier"/>
                <a:cs typeface="Courier"/>
              </a:rPr>
              <a:t>-2147483648</a:t>
            </a:r>
            <a:endParaRPr lang="nl-NL" i="1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	a = a+1;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	</a:t>
            </a:r>
            <a:r>
              <a:rPr lang="nl-NL" dirty="0" err="1">
                <a:latin typeface="Courier"/>
                <a:cs typeface="Courier"/>
              </a:rPr>
              <a:t>System.</a:t>
            </a:r>
            <a:r>
              <a:rPr lang="nl-NL" i="1" dirty="0" err="1">
                <a:latin typeface="Courier"/>
                <a:cs typeface="Courier"/>
              </a:rPr>
              <a:t>out.println</a:t>
            </a:r>
            <a:r>
              <a:rPr lang="nl-NL" i="1" dirty="0">
                <a:latin typeface="Courier"/>
                <a:cs typeface="Courier"/>
              </a:rPr>
              <a:t>(a); //</a:t>
            </a:r>
            <a:r>
              <a:rPr lang="nl-NL" dirty="0">
                <a:latin typeface="Courier"/>
                <a:cs typeface="Courier"/>
              </a:rPr>
              <a:t>-2147483647</a:t>
            </a:r>
          </a:p>
          <a:p>
            <a:pPr marL="0" indent="0">
              <a:buNone/>
            </a:pPr>
            <a:r>
              <a:rPr lang="nl-NL" i="1" dirty="0">
                <a:latin typeface="Courier"/>
                <a:cs typeface="Courier"/>
              </a:rPr>
              <a:t>		</a:t>
            </a:r>
            <a:r>
              <a:rPr lang="nl-NL" dirty="0">
                <a:latin typeface="Courier"/>
                <a:cs typeface="Courier"/>
              </a:rPr>
              <a:t>a = </a:t>
            </a:r>
            <a:r>
              <a:rPr lang="nl-NL" dirty="0" err="1">
                <a:latin typeface="Courier"/>
                <a:cs typeface="Courier"/>
              </a:rPr>
              <a:t>Integer.</a:t>
            </a:r>
            <a:r>
              <a:rPr lang="nl-NL" i="1" dirty="0" err="1">
                <a:latin typeface="Courier"/>
                <a:cs typeface="Courier"/>
              </a:rPr>
              <a:t>MAX_VALUE</a:t>
            </a:r>
            <a:r>
              <a:rPr lang="nl-NL" i="1" dirty="0">
                <a:latin typeface="Courier"/>
                <a:cs typeface="Courier"/>
              </a:rPr>
              <a:t> + </a:t>
            </a:r>
            <a:r>
              <a:rPr lang="nl-NL" i="1" dirty="0" err="1">
                <a:latin typeface="Courier"/>
                <a:cs typeface="Courier"/>
              </a:rPr>
              <a:t>Integer.MAX_VALUE</a:t>
            </a:r>
            <a:r>
              <a:rPr lang="nl-NL" i="1" dirty="0">
                <a:latin typeface="Courier"/>
                <a:cs typeface="Courier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	</a:t>
            </a:r>
            <a:r>
              <a:rPr lang="nl-NL" dirty="0" err="1">
                <a:latin typeface="Courier"/>
                <a:cs typeface="Courier"/>
              </a:rPr>
              <a:t>System.</a:t>
            </a:r>
            <a:r>
              <a:rPr lang="nl-NL" i="1" dirty="0" err="1">
                <a:latin typeface="Courier"/>
                <a:cs typeface="Courier"/>
              </a:rPr>
              <a:t>out.println</a:t>
            </a:r>
            <a:r>
              <a:rPr lang="nl-NL" i="1" dirty="0">
                <a:latin typeface="Courier"/>
                <a:cs typeface="Courier"/>
              </a:rPr>
              <a:t>(a); //-2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}</a:t>
            </a:r>
          </a:p>
          <a:p>
            <a:pPr marL="0" indent="0">
              <a:buNone/>
            </a:pPr>
            <a:endParaRPr lang="nl-NL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}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58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 een </a:t>
            </a:r>
            <a:r>
              <a:rPr lang="nl-NL" dirty="0" err="1"/>
              <a:t>Arduino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i="1" dirty="0"/>
              <a:t>On the </a:t>
            </a:r>
            <a:r>
              <a:rPr lang="nl-NL" i="1" dirty="0" err="1"/>
              <a:t>Uno</a:t>
            </a:r>
            <a:r>
              <a:rPr lang="nl-NL" i="1" dirty="0"/>
              <a:t> </a:t>
            </a:r>
            <a:r>
              <a:rPr lang="nl-NL" i="1" dirty="0" err="1"/>
              <a:t>and</a:t>
            </a:r>
            <a:r>
              <a:rPr lang="nl-NL" i="1" dirty="0"/>
              <a:t> </a:t>
            </a:r>
            <a:r>
              <a:rPr lang="nl-NL" i="1" dirty="0" err="1"/>
              <a:t>other</a:t>
            </a:r>
            <a:r>
              <a:rPr lang="nl-NL" i="1" dirty="0"/>
              <a:t> ATMEGA </a:t>
            </a:r>
            <a:r>
              <a:rPr lang="nl-NL" i="1" dirty="0" err="1"/>
              <a:t>based</a:t>
            </a:r>
            <a:r>
              <a:rPr lang="nl-NL" i="1" dirty="0"/>
              <a:t> boards, </a:t>
            </a:r>
            <a:r>
              <a:rPr lang="nl-NL" i="1" dirty="0" err="1"/>
              <a:t>unsigned</a:t>
            </a:r>
            <a:r>
              <a:rPr lang="nl-NL" i="1" dirty="0"/>
              <a:t> </a:t>
            </a:r>
            <a:r>
              <a:rPr lang="nl-NL" i="1" dirty="0" err="1"/>
              <a:t>ints</a:t>
            </a:r>
            <a:r>
              <a:rPr lang="nl-NL" i="1" dirty="0"/>
              <a:t> (</a:t>
            </a:r>
            <a:r>
              <a:rPr lang="nl-NL" i="1" dirty="0" err="1"/>
              <a:t>unsigned</a:t>
            </a:r>
            <a:r>
              <a:rPr lang="nl-NL" i="1" dirty="0"/>
              <a:t> integers) are the </a:t>
            </a:r>
            <a:r>
              <a:rPr lang="nl-NL" i="1" dirty="0" err="1"/>
              <a:t>same</a:t>
            </a:r>
            <a:r>
              <a:rPr lang="nl-NL" i="1" dirty="0"/>
              <a:t> as </a:t>
            </a:r>
            <a:r>
              <a:rPr lang="nl-NL" i="1" dirty="0" err="1"/>
              <a:t>ints</a:t>
            </a:r>
            <a:r>
              <a:rPr lang="nl-NL" i="1" dirty="0"/>
              <a:t> in </a:t>
            </a:r>
            <a:r>
              <a:rPr lang="nl-NL" i="1" dirty="0" err="1"/>
              <a:t>that</a:t>
            </a:r>
            <a:r>
              <a:rPr lang="nl-NL" i="1" dirty="0"/>
              <a:t> </a:t>
            </a:r>
            <a:r>
              <a:rPr lang="nl-NL" i="1" dirty="0" err="1"/>
              <a:t>they</a:t>
            </a:r>
            <a:r>
              <a:rPr lang="nl-NL" i="1" dirty="0"/>
              <a:t> store a 2 byte </a:t>
            </a:r>
            <a:r>
              <a:rPr lang="nl-NL" i="1" dirty="0" err="1"/>
              <a:t>value</a:t>
            </a:r>
            <a:r>
              <a:rPr lang="nl-NL" i="1" dirty="0"/>
              <a:t>. </a:t>
            </a:r>
            <a:r>
              <a:rPr lang="nl-NL" i="1" dirty="0" err="1"/>
              <a:t>Instead</a:t>
            </a:r>
            <a:r>
              <a:rPr lang="nl-NL" i="1" dirty="0"/>
              <a:t> of storing </a:t>
            </a:r>
            <a:r>
              <a:rPr lang="nl-NL" i="1" dirty="0" err="1"/>
              <a:t>negative</a:t>
            </a:r>
            <a:r>
              <a:rPr lang="nl-NL" i="1" dirty="0"/>
              <a:t> </a:t>
            </a:r>
            <a:r>
              <a:rPr lang="nl-NL" i="1" dirty="0" err="1"/>
              <a:t>numbers</a:t>
            </a:r>
            <a:r>
              <a:rPr lang="nl-NL" i="1" dirty="0"/>
              <a:t> </a:t>
            </a:r>
            <a:r>
              <a:rPr lang="nl-NL" i="1" dirty="0" err="1"/>
              <a:t>however</a:t>
            </a:r>
            <a:r>
              <a:rPr lang="nl-NL" i="1" dirty="0"/>
              <a:t> </a:t>
            </a:r>
            <a:r>
              <a:rPr lang="nl-NL" i="1" dirty="0" err="1"/>
              <a:t>they</a:t>
            </a:r>
            <a:r>
              <a:rPr lang="nl-NL" i="1" dirty="0"/>
              <a:t> </a:t>
            </a:r>
            <a:r>
              <a:rPr lang="nl-NL" i="1" dirty="0" err="1"/>
              <a:t>only</a:t>
            </a:r>
            <a:r>
              <a:rPr lang="nl-NL" i="1" dirty="0"/>
              <a:t> store </a:t>
            </a:r>
            <a:r>
              <a:rPr lang="nl-NL" i="1" dirty="0" err="1"/>
              <a:t>positive</a:t>
            </a:r>
            <a:r>
              <a:rPr lang="nl-NL" i="1" dirty="0"/>
              <a:t> </a:t>
            </a:r>
            <a:r>
              <a:rPr lang="nl-NL" i="1" dirty="0" err="1"/>
              <a:t>values</a:t>
            </a:r>
            <a:r>
              <a:rPr lang="nl-NL" i="1" dirty="0"/>
              <a:t>, </a:t>
            </a:r>
            <a:r>
              <a:rPr lang="nl-NL" i="1" dirty="0" err="1"/>
              <a:t>yielding</a:t>
            </a:r>
            <a:r>
              <a:rPr lang="nl-NL" i="1" dirty="0"/>
              <a:t> a </a:t>
            </a:r>
            <a:r>
              <a:rPr lang="nl-NL" i="1" dirty="0" err="1"/>
              <a:t>useful</a:t>
            </a:r>
            <a:r>
              <a:rPr lang="nl-NL" i="1" dirty="0"/>
              <a:t> range of 0 </a:t>
            </a:r>
            <a:r>
              <a:rPr lang="nl-NL" i="1" dirty="0" err="1"/>
              <a:t>to</a:t>
            </a:r>
            <a:r>
              <a:rPr lang="nl-NL" i="1" dirty="0"/>
              <a:t> 65,535 (2^16) - 1).</a:t>
            </a:r>
          </a:p>
          <a:p>
            <a:pPr marL="0" indent="0">
              <a:buNone/>
            </a:pPr>
            <a:r>
              <a:rPr lang="nl-NL" i="1" dirty="0"/>
              <a:t>The </a:t>
            </a:r>
            <a:r>
              <a:rPr lang="nl-NL" i="1" dirty="0" err="1"/>
              <a:t>Due</a:t>
            </a:r>
            <a:r>
              <a:rPr lang="nl-NL" i="1" dirty="0"/>
              <a:t> stores a 4 byte (32-bit) </a:t>
            </a:r>
            <a:r>
              <a:rPr lang="nl-NL" i="1" dirty="0" err="1"/>
              <a:t>value</a:t>
            </a:r>
            <a:r>
              <a:rPr lang="nl-NL" i="1" dirty="0"/>
              <a:t>, </a:t>
            </a:r>
            <a:r>
              <a:rPr lang="nl-NL" i="1" dirty="0" err="1"/>
              <a:t>ranging</a:t>
            </a:r>
            <a:r>
              <a:rPr lang="nl-NL" i="1" dirty="0"/>
              <a:t> </a:t>
            </a:r>
            <a:r>
              <a:rPr lang="nl-NL" i="1" dirty="0" err="1"/>
              <a:t>from</a:t>
            </a:r>
            <a:r>
              <a:rPr lang="nl-NL" i="1" dirty="0"/>
              <a:t> 0 </a:t>
            </a:r>
            <a:r>
              <a:rPr lang="nl-NL" i="1" dirty="0" err="1"/>
              <a:t>to</a:t>
            </a:r>
            <a:r>
              <a:rPr lang="nl-NL" i="1" dirty="0"/>
              <a:t> 4,294,967,295 (2^32 - 1).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Bron</a:t>
            </a:r>
            <a:r>
              <a:rPr lang="en-US" dirty="0"/>
              <a:t>: http://</a:t>
            </a:r>
            <a:r>
              <a:rPr lang="en-US" dirty="0" err="1"/>
              <a:t>arduino.cc</a:t>
            </a:r>
            <a:r>
              <a:rPr lang="en-US" dirty="0"/>
              <a:t>/en/Reference/</a:t>
            </a:r>
            <a:r>
              <a:rPr lang="en-US" dirty="0" err="1"/>
              <a:t>UnsignedInt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69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25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NL" sz="1600" b="1" dirty="0">
                <a:latin typeface="Courier New"/>
                <a:cs typeface="Courier New"/>
              </a:rPr>
              <a:t>#</a:t>
            </a:r>
            <a:r>
              <a:rPr lang="nl-NL" sz="1600" b="1" dirty="0" err="1">
                <a:latin typeface="Courier New"/>
                <a:cs typeface="Courier New"/>
              </a:rPr>
              <a:t>include</a:t>
            </a:r>
            <a:r>
              <a:rPr lang="nl-NL" sz="1600" b="1" dirty="0">
                <a:latin typeface="Courier New"/>
                <a:cs typeface="Courier New"/>
              </a:rPr>
              <a:t> &lt;</a:t>
            </a:r>
            <a:r>
              <a:rPr lang="nl-NL" sz="1600" b="1" dirty="0" err="1">
                <a:latin typeface="Courier New"/>
                <a:cs typeface="Courier New"/>
              </a:rPr>
              <a:t>stdio.h</a:t>
            </a:r>
            <a:r>
              <a:rPr lang="nl-NL" sz="1600" b="1" dirty="0">
                <a:latin typeface="Courier New"/>
                <a:cs typeface="Courier New"/>
              </a:rPr>
              <a:t>&gt;</a:t>
            </a:r>
          </a:p>
          <a:p>
            <a:pPr marL="0" indent="0">
              <a:buNone/>
            </a:pPr>
            <a:r>
              <a:rPr lang="nl-NL" sz="1600" b="1" dirty="0">
                <a:latin typeface="Courier New"/>
                <a:cs typeface="Courier New"/>
              </a:rPr>
              <a:t>int </a:t>
            </a:r>
            <a:r>
              <a:rPr lang="nl-NL" sz="1600" b="1" dirty="0" err="1">
                <a:latin typeface="Courier New"/>
                <a:cs typeface="Courier New"/>
              </a:rPr>
              <a:t>main</a:t>
            </a:r>
            <a:r>
              <a:rPr lang="nl-NL" sz="1600" b="1" dirty="0">
                <a:latin typeface="Courier New"/>
                <a:cs typeface="Courier New"/>
              </a:rPr>
              <a:t>()</a:t>
            </a:r>
          </a:p>
          <a:p>
            <a:pPr marL="0" indent="0">
              <a:buNone/>
            </a:pPr>
            <a:endParaRPr lang="nl-NL" sz="16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nl-NL" sz="1600" b="1" dirty="0">
                <a:latin typeface="Courier New"/>
                <a:cs typeface="Courier New"/>
              </a:rPr>
              <a:t>{</a:t>
            </a:r>
          </a:p>
          <a:p>
            <a:pPr marL="0" indent="0">
              <a:buNone/>
            </a:pPr>
            <a:r>
              <a:rPr lang="nl-NL" sz="1600" b="1" dirty="0">
                <a:latin typeface="Courier New"/>
                <a:cs typeface="Courier New"/>
              </a:rPr>
              <a:t>int a = 7;</a:t>
            </a:r>
          </a:p>
          <a:p>
            <a:pPr marL="0" indent="0">
              <a:buNone/>
            </a:pPr>
            <a:r>
              <a:rPr lang="nl-NL" sz="1600" b="1" dirty="0">
                <a:latin typeface="Courier New"/>
                <a:cs typeface="Courier New"/>
              </a:rPr>
              <a:t>int *</a:t>
            </a:r>
            <a:r>
              <a:rPr lang="nl-NL" sz="1600" b="1" dirty="0" err="1">
                <a:latin typeface="Courier New"/>
                <a:cs typeface="Courier New"/>
              </a:rPr>
              <a:t>ptr</a:t>
            </a:r>
            <a:r>
              <a:rPr lang="nl-NL" sz="1600" b="1" dirty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nl-NL" sz="1600" b="1" dirty="0" err="1">
                <a:latin typeface="Courier New"/>
                <a:cs typeface="Courier New"/>
              </a:rPr>
              <a:t>ptr</a:t>
            </a:r>
            <a:r>
              <a:rPr lang="nl-NL" sz="1600" b="1" dirty="0">
                <a:latin typeface="Courier New"/>
                <a:cs typeface="Courier New"/>
              </a:rPr>
              <a:t> = &amp;a; //De variabele </a:t>
            </a:r>
            <a:r>
              <a:rPr lang="nl-NL" sz="1600" b="1" dirty="0" err="1">
                <a:latin typeface="Courier New"/>
                <a:cs typeface="Courier New"/>
              </a:rPr>
              <a:t>ptr</a:t>
            </a:r>
            <a:r>
              <a:rPr lang="nl-NL" sz="1600" b="1" dirty="0">
                <a:latin typeface="Courier New"/>
                <a:cs typeface="Courier New"/>
              </a:rPr>
              <a:t> krijgt het geheugenadres van de variabele a</a:t>
            </a:r>
          </a:p>
          <a:p>
            <a:pPr marL="0" indent="0">
              <a:buNone/>
            </a:pPr>
            <a:r>
              <a:rPr lang="nl-NL" sz="1600" b="1" dirty="0" err="1">
                <a:latin typeface="Courier New"/>
                <a:cs typeface="Courier New"/>
              </a:rPr>
              <a:t>printf</a:t>
            </a:r>
            <a:r>
              <a:rPr lang="nl-NL" sz="1600" b="1" dirty="0">
                <a:latin typeface="Courier New"/>
                <a:cs typeface="Courier New"/>
              </a:rPr>
              <a:t>("a: %i\n", a); //7</a:t>
            </a:r>
          </a:p>
          <a:p>
            <a:pPr marL="0" indent="0">
              <a:buNone/>
            </a:pPr>
            <a:r>
              <a:rPr lang="nl-NL" sz="1600" b="1" dirty="0" err="1">
                <a:latin typeface="Courier New"/>
                <a:cs typeface="Courier New"/>
              </a:rPr>
              <a:t>printf</a:t>
            </a:r>
            <a:r>
              <a:rPr lang="nl-NL" sz="1600" b="1" dirty="0">
                <a:latin typeface="Courier New"/>
                <a:cs typeface="Courier New"/>
              </a:rPr>
              <a:t>("&amp;a: %i\n", &amp;a); //bv. -1076858772</a:t>
            </a:r>
          </a:p>
          <a:p>
            <a:pPr marL="0" indent="0">
              <a:buNone/>
            </a:pPr>
            <a:r>
              <a:rPr lang="nl-NL" sz="1600" b="1" dirty="0" err="1">
                <a:latin typeface="Courier New"/>
                <a:cs typeface="Courier New"/>
              </a:rPr>
              <a:t>printf</a:t>
            </a:r>
            <a:r>
              <a:rPr lang="nl-NL" sz="1600" b="1" dirty="0">
                <a:latin typeface="Courier New"/>
                <a:cs typeface="Courier New"/>
              </a:rPr>
              <a:t>("</a:t>
            </a:r>
            <a:r>
              <a:rPr lang="nl-NL" sz="1600" b="1" dirty="0" err="1">
                <a:latin typeface="Courier New"/>
                <a:cs typeface="Courier New"/>
              </a:rPr>
              <a:t>ptr</a:t>
            </a:r>
            <a:r>
              <a:rPr lang="nl-NL" sz="1600" b="1" dirty="0">
                <a:latin typeface="Courier New"/>
                <a:cs typeface="Courier New"/>
              </a:rPr>
              <a:t>: %i\n", </a:t>
            </a:r>
            <a:r>
              <a:rPr lang="nl-NL" sz="1600" b="1" dirty="0" err="1">
                <a:latin typeface="Courier New"/>
                <a:cs typeface="Courier New"/>
              </a:rPr>
              <a:t>ptr</a:t>
            </a:r>
            <a:r>
              <a:rPr lang="nl-NL" sz="1600" b="1" dirty="0">
                <a:latin typeface="Courier New"/>
                <a:cs typeface="Courier New"/>
              </a:rPr>
              <a:t>); //bv. -1076858772 hetzelfde als &amp;a</a:t>
            </a:r>
          </a:p>
          <a:p>
            <a:pPr marL="0" indent="0">
              <a:buNone/>
            </a:pPr>
            <a:r>
              <a:rPr lang="nl-NL" sz="1600" b="1" dirty="0" err="1">
                <a:latin typeface="Courier New"/>
                <a:cs typeface="Courier New"/>
              </a:rPr>
              <a:t>printf</a:t>
            </a:r>
            <a:r>
              <a:rPr lang="nl-NL" sz="1600" b="1" dirty="0">
                <a:latin typeface="Courier New"/>
                <a:cs typeface="Courier New"/>
              </a:rPr>
              <a:t>("*</a:t>
            </a:r>
            <a:r>
              <a:rPr lang="nl-NL" sz="1600" b="1" dirty="0" err="1">
                <a:latin typeface="Courier New"/>
                <a:cs typeface="Courier New"/>
              </a:rPr>
              <a:t>ptr</a:t>
            </a:r>
            <a:r>
              <a:rPr lang="nl-NL" sz="1600" b="1" dirty="0">
                <a:latin typeface="Courier New"/>
                <a:cs typeface="Courier New"/>
              </a:rPr>
              <a:t>: %i\n", *</a:t>
            </a:r>
            <a:r>
              <a:rPr lang="nl-NL" sz="1600" b="1" dirty="0" err="1">
                <a:latin typeface="Courier New"/>
                <a:cs typeface="Courier New"/>
              </a:rPr>
              <a:t>ptr</a:t>
            </a:r>
            <a:r>
              <a:rPr lang="nl-NL" sz="1600" b="1" dirty="0">
                <a:latin typeface="Courier New"/>
                <a:cs typeface="Courier New"/>
              </a:rPr>
              <a:t>); //7</a:t>
            </a:r>
          </a:p>
          <a:p>
            <a:pPr marL="0" indent="0">
              <a:buNone/>
            </a:pPr>
            <a:r>
              <a:rPr lang="nl-NL" sz="1600" b="1" dirty="0">
                <a:latin typeface="Courier New"/>
                <a:cs typeface="Courier New"/>
              </a:rPr>
              <a:t>return(0);</a:t>
            </a:r>
          </a:p>
          <a:p>
            <a:pPr marL="0" indent="0">
              <a:buNone/>
            </a:pPr>
            <a:r>
              <a:rPr lang="nl-NL" sz="16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Pointers</a:t>
            </a:r>
          </a:p>
        </p:txBody>
      </p:sp>
      <p:sp>
        <p:nvSpPr>
          <p:cNvPr id="6" name="Rechthoek 5"/>
          <p:cNvSpPr/>
          <p:nvPr/>
        </p:nvSpPr>
        <p:spPr>
          <a:xfrm>
            <a:off x="4067944" y="1484784"/>
            <a:ext cx="1872208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1"/>
                </a:solidFill>
              </a:rPr>
              <a:t>Waarde:</a:t>
            </a:r>
          </a:p>
          <a:p>
            <a:pPr algn="ctr"/>
            <a:r>
              <a:rPr lang="nl-NL" dirty="0">
                <a:solidFill>
                  <a:schemeClr val="tx1"/>
                </a:solidFill>
              </a:rPr>
              <a:t> 7</a:t>
            </a:r>
          </a:p>
        </p:txBody>
      </p:sp>
      <p:sp>
        <p:nvSpPr>
          <p:cNvPr id="8" name="Tekstvak 7"/>
          <p:cNvSpPr txBox="1"/>
          <p:nvPr/>
        </p:nvSpPr>
        <p:spPr>
          <a:xfrm>
            <a:off x="4860032" y="2204864"/>
            <a:ext cx="2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10" name="Rechthoek 9"/>
          <p:cNvSpPr/>
          <p:nvPr/>
        </p:nvSpPr>
        <p:spPr>
          <a:xfrm>
            <a:off x="4067944" y="908720"/>
            <a:ext cx="1872208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1"/>
                </a:solidFill>
              </a:rPr>
              <a:t>Adres:</a:t>
            </a:r>
          </a:p>
          <a:p>
            <a:pPr algn="ctr"/>
            <a:r>
              <a:rPr lang="nl-NL" dirty="0">
                <a:solidFill>
                  <a:schemeClr val="tx1"/>
                </a:solidFill>
              </a:rPr>
              <a:t> -107685877</a:t>
            </a:r>
            <a:r>
              <a:rPr lang="nl-NL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Rechthoek 10"/>
          <p:cNvSpPr/>
          <p:nvPr/>
        </p:nvSpPr>
        <p:spPr>
          <a:xfrm>
            <a:off x="6516216" y="1484784"/>
            <a:ext cx="1872208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1"/>
                </a:solidFill>
              </a:rPr>
              <a:t>Waarde:</a:t>
            </a:r>
          </a:p>
          <a:p>
            <a:pPr algn="ctr"/>
            <a:r>
              <a:rPr lang="nl-NL" dirty="0">
                <a:solidFill>
                  <a:schemeClr val="tx1"/>
                </a:solidFill>
              </a:rPr>
              <a:t> -107685877</a:t>
            </a:r>
            <a:r>
              <a:rPr lang="nl-NL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7308304" y="2204864"/>
            <a:ext cx="46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ptr</a:t>
            </a:r>
            <a:endParaRPr lang="nl-NL" dirty="0"/>
          </a:p>
        </p:txBody>
      </p:sp>
      <p:sp>
        <p:nvSpPr>
          <p:cNvPr id="13" name="Rechthoek 12"/>
          <p:cNvSpPr/>
          <p:nvPr/>
        </p:nvSpPr>
        <p:spPr>
          <a:xfrm>
            <a:off x="6516216" y="908720"/>
            <a:ext cx="1872208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1"/>
                </a:solidFill>
              </a:rPr>
              <a:t>Adres:</a:t>
            </a:r>
          </a:p>
          <a:p>
            <a:pPr algn="ctr"/>
            <a:r>
              <a:rPr lang="nl-NL" dirty="0">
                <a:solidFill>
                  <a:schemeClr val="tx1"/>
                </a:solidFill>
              </a:rPr>
              <a:t> -107685877</a:t>
            </a:r>
            <a:r>
              <a:rPr lang="nl-NL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5" name="Rechte verbindingslijn met pijl 14"/>
          <p:cNvCxnSpPr>
            <a:stCxn id="11" idx="1"/>
            <a:endCxn id="10" idx="3"/>
          </p:cNvCxnSpPr>
          <p:nvPr/>
        </p:nvCxnSpPr>
        <p:spPr>
          <a:xfrm flipH="1" flipV="1">
            <a:off x="5940152" y="1232756"/>
            <a:ext cx="576064" cy="576064"/>
          </a:xfrm>
          <a:prstGeom prst="straightConnector1">
            <a:avLst/>
          </a:prstGeom>
          <a:ln w="38100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399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26</a:t>
            </a:fld>
            <a:endParaRPr lang="nl-NL" dirty="0"/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-13103" b="-13103"/>
          <a:stretch>
            <a:fillRect/>
          </a:stretch>
        </p:blipFill>
        <p:spPr>
          <a:xfrm>
            <a:off x="590550" y="1279525"/>
            <a:ext cx="8229600" cy="4310063"/>
          </a:xfrm>
        </p:spPr>
      </p:pic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Dangling</a:t>
            </a:r>
            <a:r>
              <a:rPr lang="nl-NL" dirty="0"/>
              <a:t> (bungelende) pointer</a:t>
            </a:r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300" y="1739900"/>
            <a:ext cx="8140700" cy="3378200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300" y="1739900"/>
            <a:ext cx="8140700" cy="3378200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300" y="1739900"/>
            <a:ext cx="81407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77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Java memory model</a:t>
            </a:r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4289" b="4289"/>
          <a:stretch>
            <a:fillRect/>
          </a:stretch>
        </p:blipFill>
        <p:spPr/>
      </p:pic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85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Java stack &amp; </a:t>
            </a:r>
            <a:r>
              <a:rPr lang="nl-NL" dirty="0" err="1"/>
              <a:t>heap</a:t>
            </a:r>
            <a:endParaRPr lang="nl-NL" dirty="0"/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49210" r="-49210"/>
          <a:stretch>
            <a:fillRect/>
          </a:stretch>
        </p:blipFill>
        <p:spPr/>
      </p:pic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417638"/>
            <a:ext cx="8229600" cy="4099594"/>
          </a:xfrm>
        </p:spPr>
        <p:txBody>
          <a:bodyPr/>
          <a:lstStyle/>
          <a:p>
            <a:pPr marL="0" indent="0">
              <a:buNone/>
            </a:pPr>
            <a:r>
              <a:rPr lang="nl-NL" b="1" dirty="0"/>
              <a:t>public class Test {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	</a:t>
            </a:r>
            <a:r>
              <a:rPr lang="nl-NL" b="1" dirty="0"/>
              <a:t>public </a:t>
            </a:r>
            <a:r>
              <a:rPr lang="nl-NL" b="1" dirty="0" err="1"/>
              <a:t>static</a:t>
            </a:r>
            <a:r>
              <a:rPr lang="nl-NL" b="1" dirty="0"/>
              <a:t> </a:t>
            </a:r>
            <a:r>
              <a:rPr lang="nl-NL" b="1" dirty="0" err="1"/>
              <a:t>void</a:t>
            </a:r>
            <a:r>
              <a:rPr lang="nl-NL" b="1" dirty="0"/>
              <a:t> </a:t>
            </a:r>
            <a:r>
              <a:rPr lang="nl-NL" b="1" dirty="0" err="1"/>
              <a:t>main</a:t>
            </a:r>
            <a:r>
              <a:rPr lang="nl-NL" b="1" dirty="0"/>
              <a:t>(String[] </a:t>
            </a:r>
            <a:r>
              <a:rPr lang="nl-NL" b="1" dirty="0" err="1"/>
              <a:t>args</a:t>
            </a:r>
            <a:r>
              <a:rPr lang="nl-NL" b="1" dirty="0"/>
              <a:t>) {</a:t>
            </a:r>
          </a:p>
          <a:p>
            <a:pPr marL="0" indent="0">
              <a:buNone/>
            </a:pPr>
            <a:r>
              <a:rPr lang="nl-NL" dirty="0"/>
              <a:t>		Object a = </a:t>
            </a:r>
            <a:r>
              <a:rPr lang="nl-NL" b="1" dirty="0"/>
              <a:t>new Object();</a:t>
            </a:r>
          </a:p>
          <a:p>
            <a:pPr marL="0" indent="0">
              <a:buNone/>
            </a:pPr>
            <a:r>
              <a:rPr lang="nl-NL" dirty="0"/>
              <a:t>		Object b = </a:t>
            </a:r>
            <a:r>
              <a:rPr lang="nl-NL" b="1" dirty="0"/>
              <a:t>new Object();</a:t>
            </a:r>
          </a:p>
          <a:p>
            <a:pPr marL="0" indent="0">
              <a:buNone/>
            </a:pPr>
            <a:r>
              <a:rPr lang="nl-NL" dirty="0"/>
              <a:t>		a = b;</a:t>
            </a:r>
          </a:p>
          <a:p>
            <a:pPr marL="0" indent="0">
              <a:buNone/>
            </a:pPr>
            <a:r>
              <a:rPr lang="nl-NL" dirty="0"/>
              <a:t>	}</a:t>
            </a:r>
          </a:p>
          <a:p>
            <a:pPr marL="0" indent="0">
              <a:buNone/>
            </a:pPr>
            <a:r>
              <a:rPr lang="nl-NL" dirty="0"/>
              <a:t>}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15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30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489646"/>
            <a:ext cx="8229600" cy="40995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nl-NL" b="1" dirty="0"/>
              <a:t>public class Test {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	</a:t>
            </a:r>
            <a:r>
              <a:rPr lang="nl-NL" b="1" dirty="0"/>
              <a:t>public </a:t>
            </a:r>
            <a:r>
              <a:rPr lang="nl-NL" b="1" dirty="0" err="1"/>
              <a:t>static</a:t>
            </a:r>
            <a:r>
              <a:rPr lang="nl-NL" b="1" dirty="0"/>
              <a:t> </a:t>
            </a:r>
            <a:r>
              <a:rPr lang="nl-NL" b="1" dirty="0" err="1"/>
              <a:t>void</a:t>
            </a:r>
            <a:r>
              <a:rPr lang="nl-NL" b="1" dirty="0"/>
              <a:t> </a:t>
            </a:r>
            <a:r>
              <a:rPr lang="nl-NL" b="1" dirty="0" err="1"/>
              <a:t>main</a:t>
            </a:r>
            <a:r>
              <a:rPr lang="nl-NL" b="1" dirty="0"/>
              <a:t>(String[] </a:t>
            </a:r>
            <a:r>
              <a:rPr lang="nl-NL" b="1" dirty="0" err="1"/>
              <a:t>args</a:t>
            </a:r>
            <a:r>
              <a:rPr lang="nl-NL" b="1" dirty="0"/>
              <a:t>) {</a:t>
            </a:r>
          </a:p>
          <a:p>
            <a:pPr marL="0" indent="0">
              <a:buNone/>
            </a:pPr>
            <a:r>
              <a:rPr lang="nl-NL" dirty="0"/>
              <a:t>		String a = "test";</a:t>
            </a:r>
          </a:p>
          <a:p>
            <a:pPr marL="0" indent="0">
              <a:buNone/>
            </a:pPr>
            <a:r>
              <a:rPr lang="nl-NL" dirty="0"/>
              <a:t>		String b = "te".</a:t>
            </a:r>
            <a:r>
              <a:rPr lang="nl-NL" dirty="0" err="1"/>
              <a:t>concat</a:t>
            </a:r>
            <a:r>
              <a:rPr lang="nl-NL" dirty="0"/>
              <a:t>("st");</a:t>
            </a:r>
          </a:p>
          <a:p>
            <a:pPr marL="0" indent="0">
              <a:buNone/>
            </a:pPr>
            <a:r>
              <a:rPr lang="ro-RO" dirty="0"/>
              <a:t>		System.</a:t>
            </a:r>
            <a:r>
              <a:rPr lang="ro-RO" i="1" dirty="0"/>
              <a:t>out.println("a == b? " + (a == b));</a:t>
            </a:r>
          </a:p>
          <a:p>
            <a:pPr marL="0" indent="0">
              <a:buNone/>
            </a:pPr>
            <a:r>
              <a:rPr lang="ro-RO" i="1" dirty="0"/>
              <a:t>		//levert false op</a:t>
            </a:r>
          </a:p>
          <a:p>
            <a:pPr marL="0" indent="0">
              <a:buNone/>
            </a:pPr>
            <a:r>
              <a:rPr lang="pl-PL" dirty="0"/>
              <a:t>		b = </a:t>
            </a:r>
            <a:r>
              <a:rPr lang="pl-PL" dirty="0" err="1"/>
              <a:t>b.intern</a:t>
            </a:r>
            <a:r>
              <a:rPr lang="pl-PL" dirty="0"/>
              <a:t>();</a:t>
            </a:r>
          </a:p>
          <a:p>
            <a:pPr marL="0" indent="0">
              <a:buNone/>
            </a:pPr>
            <a:r>
              <a:rPr lang="ro-RO" dirty="0"/>
              <a:t>		System.</a:t>
            </a:r>
            <a:r>
              <a:rPr lang="ro-RO" i="1" dirty="0"/>
              <a:t>out.println("a == b? " + (a == b));</a:t>
            </a:r>
          </a:p>
          <a:p>
            <a:pPr marL="0" indent="0">
              <a:buNone/>
            </a:pPr>
            <a:r>
              <a:rPr lang="ro-RO" i="1" dirty="0"/>
              <a:t>		//levert true op</a:t>
            </a:r>
          </a:p>
          <a:p>
            <a:pPr marL="0" indent="0">
              <a:buNone/>
            </a:pPr>
            <a:r>
              <a:rPr lang="ro-RO" i="1" dirty="0"/>
              <a:t>		b = b+</a:t>
            </a:r>
            <a:r>
              <a:rPr lang="nl-NL" dirty="0"/>
              <a:t> ”1";</a:t>
            </a:r>
            <a:endParaRPr lang="ro-RO" i="1" dirty="0"/>
          </a:p>
          <a:p>
            <a:pPr marL="0" indent="0">
              <a:buNone/>
            </a:pPr>
            <a:r>
              <a:rPr lang="ro-RO" dirty="0"/>
              <a:t>	}</a:t>
            </a:r>
          </a:p>
          <a:p>
            <a:pPr marL="0" indent="0">
              <a:buNone/>
            </a:pPr>
            <a:r>
              <a:rPr lang="ro-RO" dirty="0"/>
              <a:t>}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6223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31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417638"/>
            <a:ext cx="8229600" cy="41716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Point: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self,x</a:t>
            </a:r>
            <a:r>
              <a:rPr lang="en-US" dirty="0"/>
              <a:t> = 0,y = 0):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self.x</a:t>
            </a:r>
            <a:r>
              <a:rPr lang="en-US" dirty="0"/>
              <a:t> = x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self.y</a:t>
            </a:r>
            <a:r>
              <a:rPr lang="en-US" dirty="0"/>
              <a:t> = y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----------------------------------------------------</a:t>
            </a:r>
          </a:p>
          <a:p>
            <a:pPr marL="0" indent="0">
              <a:buNone/>
            </a:pPr>
            <a:r>
              <a:rPr lang="nl-NL" dirty="0"/>
              <a:t>&gt;&gt;&gt; p1 = Point(2,3)</a:t>
            </a:r>
          </a:p>
          <a:p>
            <a:pPr marL="0" indent="0">
              <a:buNone/>
            </a:pPr>
            <a:r>
              <a:rPr lang="nl-NL" dirty="0"/>
              <a:t>&gt;&gt;&gt; p2 = Point(-1,2)</a:t>
            </a:r>
          </a:p>
          <a:p>
            <a:pPr marL="0" indent="0">
              <a:buNone/>
            </a:pPr>
            <a:r>
              <a:rPr lang="nl-NL" dirty="0"/>
              <a:t>&gt;&gt;&gt; p1 + p2</a:t>
            </a:r>
          </a:p>
          <a:p>
            <a:pPr marL="0" indent="0">
              <a:buNone/>
            </a:pPr>
            <a:r>
              <a:rPr lang="nl-NL" dirty="0" err="1"/>
              <a:t>Traceback</a:t>
            </a:r>
            <a:r>
              <a:rPr lang="nl-NL" dirty="0"/>
              <a:t> (most recent call last):</a:t>
            </a:r>
          </a:p>
          <a:p>
            <a:pPr marL="0" indent="0">
              <a:buNone/>
            </a:pPr>
            <a:r>
              <a:rPr lang="nl-NL" dirty="0"/>
              <a:t>...</a:t>
            </a:r>
          </a:p>
          <a:p>
            <a:pPr marL="0" indent="0">
              <a:buNone/>
            </a:pPr>
            <a:r>
              <a:rPr lang="nl-NL" dirty="0" err="1"/>
              <a:t>TypeError</a:t>
            </a:r>
            <a:r>
              <a:rPr lang="nl-NL" dirty="0"/>
              <a:t>: </a:t>
            </a:r>
            <a:r>
              <a:rPr lang="nl-NL" dirty="0" err="1"/>
              <a:t>unsupported</a:t>
            </a:r>
            <a:r>
              <a:rPr lang="nl-NL" dirty="0"/>
              <a:t> </a:t>
            </a:r>
            <a:r>
              <a:rPr lang="nl-NL" dirty="0" err="1"/>
              <a:t>operand</a:t>
            </a:r>
            <a:r>
              <a:rPr lang="nl-NL" dirty="0"/>
              <a:t> type(s) </a:t>
            </a:r>
            <a:r>
              <a:rPr lang="nl-NL" dirty="0" err="1"/>
              <a:t>for</a:t>
            </a:r>
            <a:r>
              <a:rPr lang="nl-NL" dirty="0"/>
              <a:t> +: 'Point' </a:t>
            </a:r>
            <a:r>
              <a:rPr lang="nl-NL" dirty="0" err="1"/>
              <a:t>and</a:t>
            </a:r>
            <a:r>
              <a:rPr lang="nl-NL" dirty="0"/>
              <a:t> 'Point'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http://</a:t>
            </a:r>
            <a:r>
              <a:rPr lang="nl-NL" dirty="0" err="1"/>
              <a:t>www.programiz.com</a:t>
            </a:r>
            <a:r>
              <a:rPr lang="nl-NL" dirty="0"/>
              <a:t>/python-</a:t>
            </a:r>
            <a:r>
              <a:rPr lang="nl-NL" dirty="0" err="1"/>
              <a:t>programming</a:t>
            </a:r>
            <a:r>
              <a:rPr lang="nl-NL" dirty="0"/>
              <a:t>/operator-</a:t>
            </a:r>
            <a:r>
              <a:rPr lang="nl-NL" dirty="0" err="1"/>
              <a:t>overloading</a:t>
            </a:r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Operator </a:t>
            </a:r>
            <a:r>
              <a:rPr lang="nl-NL" dirty="0" err="1"/>
              <a:t>overloading</a:t>
            </a:r>
            <a:r>
              <a:rPr lang="nl-NL" dirty="0"/>
              <a:t> niet geïmplementeerd</a:t>
            </a:r>
          </a:p>
        </p:txBody>
      </p:sp>
    </p:spTree>
    <p:extLst>
      <p:ext uri="{BB962C8B-B14F-4D97-AF65-F5344CB8AC3E}">
        <p14:creationId xmlns:p14="http://schemas.microsoft.com/office/powerpoint/2010/main" val="976200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class Point:</a:t>
            </a:r>
          </a:p>
          <a:p>
            <a:pPr marL="0" indent="0">
              <a:buNone/>
            </a:pPr>
            <a:r>
              <a:rPr lang="nl-NL" dirty="0"/>
              <a:t>    # </a:t>
            </a:r>
            <a:r>
              <a:rPr lang="nl-NL" dirty="0" err="1"/>
              <a:t>previous</a:t>
            </a:r>
            <a:r>
              <a:rPr lang="nl-NL" dirty="0"/>
              <a:t> </a:t>
            </a:r>
            <a:r>
              <a:rPr lang="nl-NL" dirty="0" err="1"/>
              <a:t>definitions</a:t>
            </a:r>
            <a:r>
              <a:rPr lang="nl-NL" dirty="0"/>
              <a:t>...</a:t>
            </a:r>
          </a:p>
          <a:p>
            <a:pPr marL="0" indent="0">
              <a:buNone/>
            </a:pPr>
            <a:r>
              <a:rPr lang="nl-NL" dirty="0"/>
              <a:t>    </a:t>
            </a:r>
          </a:p>
          <a:p>
            <a:pPr marL="0" indent="0">
              <a:buNone/>
            </a:pPr>
            <a:r>
              <a:rPr lang="nl-NL" dirty="0"/>
              <a:t>    </a:t>
            </a:r>
            <a:r>
              <a:rPr lang="nl-NL" dirty="0" err="1"/>
              <a:t>def</a:t>
            </a:r>
            <a:r>
              <a:rPr lang="nl-NL" dirty="0"/>
              <a:t> __</a:t>
            </a:r>
            <a:r>
              <a:rPr lang="nl-NL" dirty="0" err="1"/>
              <a:t>add</a:t>
            </a:r>
            <a:r>
              <a:rPr lang="nl-NL" dirty="0"/>
              <a:t>__(</a:t>
            </a:r>
            <a:r>
              <a:rPr lang="nl-NL" dirty="0" err="1"/>
              <a:t>self,other</a:t>
            </a:r>
            <a:r>
              <a:rPr lang="nl-NL" dirty="0"/>
              <a:t>):</a:t>
            </a:r>
          </a:p>
          <a:p>
            <a:pPr marL="0" indent="0">
              <a:buNone/>
            </a:pPr>
            <a:r>
              <a:rPr lang="nl-NL" dirty="0"/>
              <a:t>        x = </a:t>
            </a:r>
            <a:r>
              <a:rPr lang="nl-NL" dirty="0" err="1"/>
              <a:t>self.x</a:t>
            </a:r>
            <a:r>
              <a:rPr lang="nl-NL" dirty="0"/>
              <a:t> + </a:t>
            </a:r>
            <a:r>
              <a:rPr lang="nl-NL" dirty="0" err="1"/>
              <a:t>other.x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        y = </a:t>
            </a:r>
            <a:r>
              <a:rPr lang="nl-NL" dirty="0" err="1"/>
              <a:t>self.y</a:t>
            </a:r>
            <a:r>
              <a:rPr lang="nl-NL" dirty="0"/>
              <a:t> + </a:t>
            </a:r>
            <a:r>
              <a:rPr lang="nl-NL" dirty="0" err="1"/>
              <a:t>other.y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        return Point(</a:t>
            </a:r>
            <a:r>
              <a:rPr lang="nl-NL" dirty="0" err="1"/>
              <a:t>x,y</a:t>
            </a:r>
            <a:r>
              <a:rPr lang="nl-NL" dirty="0"/>
              <a:t>)</a:t>
            </a:r>
          </a:p>
          <a:p>
            <a:pPr marL="0" indent="0">
              <a:buNone/>
            </a:pPr>
            <a:r>
              <a:rPr lang="nl-NL" dirty="0"/>
              <a:t>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&gt;&gt;&gt; p1 = Point(2,3)</a:t>
            </a:r>
          </a:p>
          <a:p>
            <a:pPr marL="0" indent="0">
              <a:buNone/>
            </a:pPr>
            <a:r>
              <a:rPr lang="en-US" dirty="0"/>
              <a:t>&gt;&gt;&gt; p2 = Point(-1,2)</a:t>
            </a:r>
          </a:p>
          <a:p>
            <a:pPr marL="0" indent="0">
              <a:buNone/>
            </a:pPr>
            <a:r>
              <a:rPr lang="en-US" dirty="0"/>
              <a:t>&gt;&gt;&gt; print(p1 + p2)</a:t>
            </a:r>
          </a:p>
          <a:p>
            <a:pPr marL="0" indent="0">
              <a:buNone/>
            </a:pPr>
            <a:r>
              <a:rPr lang="en-US" dirty="0"/>
              <a:t>(1,5)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http://</a:t>
            </a:r>
            <a:r>
              <a:rPr lang="nl-NL" dirty="0" err="1"/>
              <a:t>www.programiz.com</a:t>
            </a:r>
            <a:r>
              <a:rPr lang="nl-NL" dirty="0"/>
              <a:t>/python-</a:t>
            </a:r>
            <a:r>
              <a:rPr lang="nl-NL" dirty="0" err="1"/>
              <a:t>programming</a:t>
            </a:r>
            <a:r>
              <a:rPr lang="nl-NL" dirty="0"/>
              <a:t>/operator-</a:t>
            </a:r>
            <a:r>
              <a:rPr lang="nl-NL" dirty="0" err="1"/>
              <a:t>overloading</a:t>
            </a:r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Operator </a:t>
            </a:r>
            <a:r>
              <a:rPr lang="nl-NL" dirty="0" err="1"/>
              <a:t>overloading</a:t>
            </a:r>
            <a:r>
              <a:rPr lang="nl-NL" dirty="0"/>
              <a:t> geïmplementeerd</a:t>
            </a:r>
          </a:p>
        </p:txBody>
      </p:sp>
    </p:spTree>
    <p:extLst>
      <p:ext uri="{BB962C8B-B14F-4D97-AF65-F5344CB8AC3E}">
        <p14:creationId xmlns:p14="http://schemas.microsoft.com/office/powerpoint/2010/main" val="1246909903"/>
      </p:ext>
    </p:extLst>
  </p:cSld>
  <p:clrMapOvr>
    <a:masterClrMapping/>
  </p:clrMapOvr>
</p:sld>
</file>

<file path=ppt/theme/theme1.xml><?xml version="1.0" encoding="utf-8"?>
<a:theme xmlns:a="http://schemas.openxmlformats.org/drawingml/2006/main" name="hsleiden_nl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AB2A5A18D8404DBA73EF508DB4A06C" ma:contentTypeVersion="10" ma:contentTypeDescription="Een nieuw document maken." ma:contentTypeScope="" ma:versionID="373d39ad46615713677e9c3b89cd816b">
  <xsd:schema xmlns:xsd="http://www.w3.org/2001/XMLSchema" xmlns:xs="http://www.w3.org/2001/XMLSchema" xmlns:p="http://schemas.microsoft.com/office/2006/metadata/properties" xmlns:ns2="29d2fd08-a643-4874-a881-64648cdec31e" xmlns:ns3="65ea3e1d-5866-4f28-856d-8de3ded6bbfa" targetNamespace="http://schemas.microsoft.com/office/2006/metadata/properties" ma:root="true" ma:fieldsID="d9c0c6368d671c97b5cbddb522b225cb" ns2:_="" ns3:_="">
    <xsd:import namespace="29d2fd08-a643-4874-a881-64648cdec31e"/>
    <xsd:import namespace="65ea3e1d-5866-4f28-856d-8de3ded6b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fd08-a643-4874-a881-64648cdec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a3e1d-5866-4f28-856d-8de3ded6bb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EC094C-0A48-4A95-B4CE-64D2F4BE52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C436A4-BF5F-417F-B2D7-BE60094F4D98}"/>
</file>

<file path=customXml/itemProps3.xml><?xml version="1.0" encoding="utf-8"?>
<ds:datastoreItem xmlns:ds="http://schemas.openxmlformats.org/officeDocument/2006/customXml" ds:itemID="{43D0A410-967D-4E23-AE27-F154AA909F50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hsleiden_nl.potx</Template>
  <TotalTime>2926</TotalTime>
  <Words>1912</Words>
  <Application>Microsoft Macintosh PowerPoint</Application>
  <PresentationFormat>Diavoorstelling (4:3)</PresentationFormat>
  <Paragraphs>269</Paragraphs>
  <Slides>32</Slides>
  <Notes>10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32</vt:i4>
      </vt:variant>
    </vt:vector>
  </HeadingPairs>
  <TitlesOfParts>
    <vt:vector size="40" baseType="lpstr">
      <vt:lpstr>Arial</vt:lpstr>
      <vt:lpstr>Calibri</vt:lpstr>
      <vt:lpstr>Courier</vt:lpstr>
      <vt:lpstr>Courier New</vt:lpstr>
      <vt:lpstr>Lucida Sans Unicode</vt:lpstr>
      <vt:lpstr>Times</vt:lpstr>
      <vt:lpstr>Verdana</vt:lpstr>
      <vt:lpstr>hsleiden_nl</vt:lpstr>
      <vt:lpstr>ICPT – Concepten in Programmeertalen</vt:lpstr>
      <vt:lpstr>Planning voor deze les</vt:lpstr>
      <vt:lpstr>Vragen over de vorige les?</vt:lpstr>
      <vt:lpstr>Variable Attributes: Scope</vt:lpstr>
      <vt:lpstr>Static Scope </vt:lpstr>
      <vt:lpstr>Scope (continued)</vt:lpstr>
      <vt:lpstr>Blocks  </vt:lpstr>
      <vt:lpstr>Declaration Order</vt:lpstr>
      <vt:lpstr>Declaration Order (continued)</vt:lpstr>
      <vt:lpstr>Global Scope</vt:lpstr>
      <vt:lpstr>Global Scope (continued)</vt:lpstr>
      <vt:lpstr>Global Scope (continued)</vt:lpstr>
      <vt:lpstr>Static versus dynamic scope</vt:lpstr>
      <vt:lpstr>Evaluation of Static Scoping </vt:lpstr>
      <vt:lpstr>Evaluation of Dynamic Scoping</vt:lpstr>
      <vt:lpstr>Scope and Lifetime</vt:lpstr>
      <vt:lpstr>Referencing Environments</vt:lpstr>
      <vt:lpstr>Named Constants</vt:lpstr>
      <vt:lpstr>Summary</vt:lpstr>
      <vt:lpstr>PAUZE</vt:lpstr>
      <vt:lpstr>Datatypes</vt:lpstr>
      <vt:lpstr>Datatypes</vt:lpstr>
      <vt:lpstr>In Java</vt:lpstr>
      <vt:lpstr>Op een Arduino?</vt:lpstr>
      <vt:lpstr>Pointers</vt:lpstr>
      <vt:lpstr>Dangling (bungelende) pointer</vt:lpstr>
      <vt:lpstr>Java memory model</vt:lpstr>
      <vt:lpstr>Java stack &amp; heap</vt:lpstr>
      <vt:lpstr>PowerPoint-presentatie</vt:lpstr>
      <vt:lpstr>PowerPoint-presentatie</vt:lpstr>
      <vt:lpstr>Operator overloading niet geïmplementeerd</vt:lpstr>
      <vt:lpstr>Operator overloading geïmplementeerd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Lars Wildenberg</dc:creator>
  <cp:lastModifiedBy>Arts, Ron</cp:lastModifiedBy>
  <cp:revision>70</cp:revision>
  <dcterms:created xsi:type="dcterms:W3CDTF">2013-11-07T10:07:57Z</dcterms:created>
  <dcterms:modified xsi:type="dcterms:W3CDTF">2019-12-11T20:42:03Z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0x010100E8AB2A5A18D8404DBA73EF508DB4A06C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1100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