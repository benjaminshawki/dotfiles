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4"/>
  </p:sldMasterIdLst>
  <p:notesMasterIdLst>
    <p:notesMasterId r:id="rId145"/>
  </p:notesMasterIdLst>
  <p:sldIdLst>
    <p:sldId id="256"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399" r:id="rId23"/>
    <p:sldId id="279" r:id="rId24"/>
    <p:sldId id="280" r:id="rId25"/>
    <p:sldId id="281" r:id="rId26"/>
    <p:sldId id="282"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21" r:id="rId55"/>
    <p:sldId id="322" r:id="rId56"/>
    <p:sldId id="323" r:id="rId57"/>
    <p:sldId id="324" r:id="rId58"/>
    <p:sldId id="325" r:id="rId59"/>
    <p:sldId id="326" r:id="rId60"/>
    <p:sldId id="327" r:id="rId61"/>
    <p:sldId id="397" r:id="rId62"/>
    <p:sldId id="328" r:id="rId63"/>
    <p:sldId id="329" r:id="rId64"/>
    <p:sldId id="330" r:id="rId65"/>
    <p:sldId id="331" r:id="rId66"/>
    <p:sldId id="332" r:id="rId67"/>
    <p:sldId id="333" r:id="rId68"/>
    <p:sldId id="334" r:id="rId69"/>
    <p:sldId id="335" r:id="rId70"/>
    <p:sldId id="336" r:id="rId71"/>
    <p:sldId id="337" r:id="rId72"/>
    <p:sldId id="338" r:id="rId73"/>
    <p:sldId id="339" r:id="rId74"/>
    <p:sldId id="340" r:id="rId75"/>
    <p:sldId id="341" r:id="rId76"/>
    <p:sldId id="398" r:id="rId77"/>
    <p:sldId id="342" r:id="rId78"/>
    <p:sldId id="343" r:id="rId79"/>
    <p:sldId id="344" r:id="rId80"/>
    <p:sldId id="345" r:id="rId81"/>
    <p:sldId id="346" r:id="rId82"/>
    <p:sldId id="347" r:id="rId83"/>
    <p:sldId id="348" r:id="rId84"/>
    <p:sldId id="349" r:id="rId85"/>
    <p:sldId id="350" r:id="rId86"/>
    <p:sldId id="351" r:id="rId87"/>
    <p:sldId id="352" r:id="rId88"/>
    <p:sldId id="353" r:id="rId89"/>
    <p:sldId id="354" r:id="rId90"/>
    <p:sldId id="355" r:id="rId91"/>
    <p:sldId id="356" r:id="rId92"/>
    <p:sldId id="357" r:id="rId93"/>
    <p:sldId id="358" r:id="rId94"/>
    <p:sldId id="359" r:id="rId95"/>
    <p:sldId id="381" r:id="rId96"/>
    <p:sldId id="382" r:id="rId97"/>
    <p:sldId id="383" r:id="rId98"/>
    <p:sldId id="385" r:id="rId99"/>
    <p:sldId id="386" r:id="rId100"/>
    <p:sldId id="387" r:id="rId101"/>
    <p:sldId id="388" r:id="rId102"/>
    <p:sldId id="389" r:id="rId103"/>
    <p:sldId id="390" r:id="rId104"/>
    <p:sldId id="391" r:id="rId105"/>
    <p:sldId id="392" r:id="rId106"/>
    <p:sldId id="393" r:id="rId107"/>
    <p:sldId id="394" r:id="rId108"/>
    <p:sldId id="395" r:id="rId109"/>
    <p:sldId id="396" r:id="rId110"/>
    <p:sldId id="424" r:id="rId111"/>
    <p:sldId id="257" r:id="rId112"/>
    <p:sldId id="258" r:id="rId113"/>
    <p:sldId id="259" r:id="rId114"/>
    <p:sldId id="260" r:id="rId115"/>
    <p:sldId id="261" r:id="rId116"/>
    <p:sldId id="400" r:id="rId117"/>
    <p:sldId id="401" r:id="rId118"/>
    <p:sldId id="402" r:id="rId119"/>
    <p:sldId id="403" r:id="rId120"/>
    <p:sldId id="404" r:id="rId121"/>
    <p:sldId id="405" r:id="rId122"/>
    <p:sldId id="406" r:id="rId123"/>
    <p:sldId id="407" r:id="rId124"/>
    <p:sldId id="408" r:id="rId125"/>
    <p:sldId id="409" r:id="rId126"/>
    <p:sldId id="283" r:id="rId127"/>
    <p:sldId id="284" r:id="rId128"/>
    <p:sldId id="285" r:id="rId129"/>
    <p:sldId id="286" r:id="rId130"/>
    <p:sldId id="410" r:id="rId131"/>
    <p:sldId id="411" r:id="rId132"/>
    <p:sldId id="412" r:id="rId133"/>
    <p:sldId id="413" r:id="rId134"/>
    <p:sldId id="414" r:id="rId135"/>
    <p:sldId id="415" r:id="rId136"/>
    <p:sldId id="416" r:id="rId137"/>
    <p:sldId id="417" r:id="rId138"/>
    <p:sldId id="418" r:id="rId139"/>
    <p:sldId id="419" r:id="rId140"/>
    <p:sldId id="420" r:id="rId141"/>
    <p:sldId id="421" r:id="rId142"/>
    <p:sldId id="422" r:id="rId143"/>
    <p:sldId id="423" r:id="rId144"/>
  </p:sldIdLst>
  <p:sldSz cx="9144000" cy="6858000" type="screen4x3"/>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114C"/>
    <a:srgbClr val="20BD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0"/>
    <p:restoredTop sz="94694"/>
  </p:normalViewPr>
  <p:slideViewPr>
    <p:cSldViewPr>
      <p:cViewPr varScale="1">
        <p:scale>
          <a:sx n="121" d="100"/>
          <a:sy n="121" d="100"/>
        </p:scale>
        <p:origin x="1944"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tableStyles" Target="tableStyles.xml"/><Relationship Id="rId5" Type="http://schemas.openxmlformats.org/officeDocument/2006/relationships/slide" Target="slides/slide1.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slide" Target="slides/slide135.xml"/><Relationship Id="rId80" Type="http://schemas.openxmlformats.org/officeDocument/2006/relationships/slide" Target="slides/slide76.xml"/><Relationship Id="rId85" Type="http://schemas.openxmlformats.org/officeDocument/2006/relationships/slide" Target="slides/slide81.xml"/><Relationship Id="rId150" Type="http://schemas.microsoft.com/office/2016/11/relationships/changesInfo" Target="changesInfos/changesInfo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ts, Ron" userId="24548d85-388a-4276-9d61-77686c5c648d" providerId="ADAL" clId="{5BC82722-3494-B14B-84AB-29912261AEBA}"/>
    <pc:docChg chg="custSel modSld">
      <pc:chgData name="Arts, Ron" userId="24548d85-388a-4276-9d61-77686c5c648d" providerId="ADAL" clId="{5BC82722-3494-B14B-84AB-29912261AEBA}" dt="2020-07-06T09:26:13.859" v="59" actId="20577"/>
      <pc:docMkLst>
        <pc:docMk/>
      </pc:docMkLst>
      <pc:sldChg chg="modSp">
        <pc:chgData name="Arts, Ron" userId="24548d85-388a-4276-9d61-77686c5c648d" providerId="ADAL" clId="{5BC82722-3494-B14B-84AB-29912261AEBA}" dt="2020-07-06T09:26:13.859" v="59" actId="20577"/>
        <pc:sldMkLst>
          <pc:docMk/>
          <pc:sldMk cId="2522891412" sldId="280"/>
        </pc:sldMkLst>
        <pc:spChg chg="mod">
          <ac:chgData name="Arts, Ron" userId="24548d85-388a-4276-9d61-77686c5c648d" providerId="ADAL" clId="{5BC82722-3494-B14B-84AB-29912261AEBA}" dt="2020-07-06T09:26:13.859" v="59" actId="20577"/>
          <ac:spMkLst>
            <pc:docMk/>
            <pc:sldMk cId="2522891412" sldId="280"/>
            <ac:spMk id="20485" creationId="{00000000-0000-0000-0000-000000000000}"/>
          </ac:spMkLst>
        </pc:spChg>
      </pc:sldChg>
    </pc:docChg>
  </pc:docChgLst>
  <pc:docChgLst>
    <pc:chgData name="Arts, Ron" userId="24548d85-388a-4276-9d61-77686c5c648d" providerId="ADAL" clId="{29CD405C-AA9A-BE4D-8E40-9541FEF30985}"/>
    <pc:docChg chg="custSel addSld modSld">
      <pc:chgData name="Arts, Ron" userId="24548d85-388a-4276-9d61-77686c5c648d" providerId="ADAL" clId="{29CD405C-AA9A-BE4D-8E40-9541FEF30985}" dt="2020-02-14T12:52:36.605" v="62" actId="20577"/>
      <pc:docMkLst>
        <pc:docMk/>
      </pc:docMkLst>
      <pc:sldChg chg="modSp">
        <pc:chgData name="Arts, Ron" userId="24548d85-388a-4276-9d61-77686c5c648d" providerId="ADAL" clId="{29CD405C-AA9A-BE4D-8E40-9541FEF30985}" dt="2020-02-14T12:51:46.676" v="20" actId="20577"/>
        <pc:sldMkLst>
          <pc:docMk/>
          <pc:sldMk cId="4030450225" sldId="256"/>
        </pc:sldMkLst>
        <pc:spChg chg="mod">
          <ac:chgData name="Arts, Ron" userId="24548d85-388a-4276-9d61-77686c5c648d" providerId="ADAL" clId="{29CD405C-AA9A-BE4D-8E40-9541FEF30985}" dt="2020-02-14T12:51:46.676" v="20" actId="20577"/>
          <ac:spMkLst>
            <pc:docMk/>
            <pc:sldMk cId="4030450225" sldId="256"/>
            <ac:spMk id="3" creationId="{00000000-0000-0000-0000-000000000000}"/>
          </ac:spMkLst>
        </pc:spChg>
      </pc:sldChg>
      <pc:sldChg chg="add">
        <pc:chgData name="Arts, Ron" userId="24548d85-388a-4276-9d61-77686c5c648d" providerId="ADAL" clId="{29CD405C-AA9A-BE4D-8E40-9541FEF30985}" dt="2020-02-14T12:51:15.849" v="0"/>
        <pc:sldMkLst>
          <pc:docMk/>
          <pc:sldMk cId="1175105162" sldId="257"/>
        </pc:sldMkLst>
      </pc:sldChg>
      <pc:sldChg chg="add">
        <pc:chgData name="Arts, Ron" userId="24548d85-388a-4276-9d61-77686c5c648d" providerId="ADAL" clId="{29CD405C-AA9A-BE4D-8E40-9541FEF30985}" dt="2020-02-14T12:51:15.849" v="0"/>
        <pc:sldMkLst>
          <pc:docMk/>
          <pc:sldMk cId="1309316044" sldId="258"/>
        </pc:sldMkLst>
      </pc:sldChg>
      <pc:sldChg chg="add">
        <pc:chgData name="Arts, Ron" userId="24548d85-388a-4276-9d61-77686c5c648d" providerId="ADAL" clId="{29CD405C-AA9A-BE4D-8E40-9541FEF30985}" dt="2020-02-14T12:51:15.849" v="0"/>
        <pc:sldMkLst>
          <pc:docMk/>
          <pc:sldMk cId="1286201368" sldId="259"/>
        </pc:sldMkLst>
      </pc:sldChg>
      <pc:sldChg chg="modSp add">
        <pc:chgData name="Arts, Ron" userId="24548d85-388a-4276-9d61-77686c5c648d" providerId="ADAL" clId="{29CD405C-AA9A-BE4D-8E40-9541FEF30985}" dt="2020-02-14T12:51:16.118" v="1" actId="27636"/>
        <pc:sldMkLst>
          <pc:docMk/>
          <pc:sldMk cId="1987436151" sldId="260"/>
        </pc:sldMkLst>
        <pc:spChg chg="mod">
          <ac:chgData name="Arts, Ron" userId="24548d85-388a-4276-9d61-77686c5c648d" providerId="ADAL" clId="{29CD405C-AA9A-BE4D-8E40-9541FEF30985}" dt="2020-02-14T12:51:16.118" v="1" actId="27636"/>
          <ac:spMkLst>
            <pc:docMk/>
            <pc:sldMk cId="1987436151" sldId="260"/>
            <ac:spMk id="12293" creationId="{46D29CAE-13FB-F84D-974E-26737539F238}"/>
          </ac:spMkLst>
        </pc:spChg>
      </pc:sldChg>
      <pc:sldChg chg="add">
        <pc:chgData name="Arts, Ron" userId="24548d85-388a-4276-9d61-77686c5c648d" providerId="ADAL" clId="{29CD405C-AA9A-BE4D-8E40-9541FEF30985}" dt="2020-02-14T12:51:15.849" v="0"/>
        <pc:sldMkLst>
          <pc:docMk/>
          <pc:sldMk cId="331491950" sldId="261"/>
        </pc:sldMkLst>
      </pc:sldChg>
      <pc:sldChg chg="modSp">
        <pc:chgData name="Arts, Ron" userId="24548d85-388a-4276-9d61-77686c5c648d" providerId="ADAL" clId="{29CD405C-AA9A-BE4D-8E40-9541FEF30985}" dt="2020-02-14T12:52:04.011" v="41" actId="20577"/>
        <pc:sldMkLst>
          <pc:docMk/>
          <pc:sldMk cId="3558630627" sldId="262"/>
        </pc:sldMkLst>
        <pc:spChg chg="mod">
          <ac:chgData name="Arts, Ron" userId="24548d85-388a-4276-9d61-77686c5c648d" providerId="ADAL" clId="{29CD405C-AA9A-BE4D-8E40-9541FEF30985}" dt="2020-02-14T12:52:04.011" v="41" actId="20577"/>
          <ac:spMkLst>
            <pc:docMk/>
            <pc:sldMk cId="3558630627" sldId="262"/>
            <ac:spMk id="3" creationId="{00000000-0000-0000-0000-000000000000}"/>
          </ac:spMkLst>
        </pc:spChg>
      </pc:sldChg>
      <pc:sldChg chg="add">
        <pc:chgData name="Arts, Ron" userId="24548d85-388a-4276-9d61-77686c5c648d" providerId="ADAL" clId="{29CD405C-AA9A-BE4D-8E40-9541FEF30985}" dt="2020-02-14T12:51:15.849" v="0"/>
        <pc:sldMkLst>
          <pc:docMk/>
          <pc:sldMk cId="600363651" sldId="283"/>
        </pc:sldMkLst>
      </pc:sldChg>
      <pc:sldChg chg="add">
        <pc:chgData name="Arts, Ron" userId="24548d85-388a-4276-9d61-77686c5c648d" providerId="ADAL" clId="{29CD405C-AA9A-BE4D-8E40-9541FEF30985}" dt="2020-02-14T12:51:15.849" v="0"/>
        <pc:sldMkLst>
          <pc:docMk/>
          <pc:sldMk cId="2943177490" sldId="284"/>
        </pc:sldMkLst>
      </pc:sldChg>
      <pc:sldChg chg="add">
        <pc:chgData name="Arts, Ron" userId="24548d85-388a-4276-9d61-77686c5c648d" providerId="ADAL" clId="{29CD405C-AA9A-BE4D-8E40-9541FEF30985}" dt="2020-02-14T12:51:15.849" v="0"/>
        <pc:sldMkLst>
          <pc:docMk/>
          <pc:sldMk cId="1378476006" sldId="285"/>
        </pc:sldMkLst>
      </pc:sldChg>
      <pc:sldChg chg="add">
        <pc:chgData name="Arts, Ron" userId="24548d85-388a-4276-9d61-77686c5c648d" providerId="ADAL" clId="{29CD405C-AA9A-BE4D-8E40-9541FEF30985}" dt="2020-02-14T12:51:15.849" v="0"/>
        <pc:sldMkLst>
          <pc:docMk/>
          <pc:sldMk cId="1500283500" sldId="286"/>
        </pc:sldMkLst>
      </pc:sldChg>
      <pc:sldChg chg="add">
        <pc:chgData name="Arts, Ron" userId="24548d85-388a-4276-9d61-77686c5c648d" providerId="ADAL" clId="{29CD405C-AA9A-BE4D-8E40-9541FEF30985}" dt="2020-02-14T12:51:15.849" v="0"/>
        <pc:sldMkLst>
          <pc:docMk/>
          <pc:sldMk cId="2244304444" sldId="400"/>
        </pc:sldMkLst>
      </pc:sldChg>
      <pc:sldChg chg="add">
        <pc:chgData name="Arts, Ron" userId="24548d85-388a-4276-9d61-77686c5c648d" providerId="ADAL" clId="{29CD405C-AA9A-BE4D-8E40-9541FEF30985}" dt="2020-02-14T12:51:15.849" v="0"/>
        <pc:sldMkLst>
          <pc:docMk/>
          <pc:sldMk cId="988434170" sldId="401"/>
        </pc:sldMkLst>
      </pc:sldChg>
      <pc:sldChg chg="add">
        <pc:chgData name="Arts, Ron" userId="24548d85-388a-4276-9d61-77686c5c648d" providerId="ADAL" clId="{29CD405C-AA9A-BE4D-8E40-9541FEF30985}" dt="2020-02-14T12:51:15.849" v="0"/>
        <pc:sldMkLst>
          <pc:docMk/>
          <pc:sldMk cId="1764421508" sldId="402"/>
        </pc:sldMkLst>
      </pc:sldChg>
      <pc:sldChg chg="add">
        <pc:chgData name="Arts, Ron" userId="24548d85-388a-4276-9d61-77686c5c648d" providerId="ADAL" clId="{29CD405C-AA9A-BE4D-8E40-9541FEF30985}" dt="2020-02-14T12:51:15.849" v="0"/>
        <pc:sldMkLst>
          <pc:docMk/>
          <pc:sldMk cId="415652751" sldId="403"/>
        </pc:sldMkLst>
      </pc:sldChg>
      <pc:sldChg chg="add">
        <pc:chgData name="Arts, Ron" userId="24548d85-388a-4276-9d61-77686c5c648d" providerId="ADAL" clId="{29CD405C-AA9A-BE4D-8E40-9541FEF30985}" dt="2020-02-14T12:51:15.849" v="0"/>
        <pc:sldMkLst>
          <pc:docMk/>
          <pc:sldMk cId="1073658432" sldId="404"/>
        </pc:sldMkLst>
      </pc:sldChg>
      <pc:sldChg chg="add">
        <pc:chgData name="Arts, Ron" userId="24548d85-388a-4276-9d61-77686c5c648d" providerId="ADAL" clId="{29CD405C-AA9A-BE4D-8E40-9541FEF30985}" dt="2020-02-14T12:51:15.849" v="0"/>
        <pc:sldMkLst>
          <pc:docMk/>
          <pc:sldMk cId="2623754982" sldId="405"/>
        </pc:sldMkLst>
      </pc:sldChg>
      <pc:sldChg chg="add">
        <pc:chgData name="Arts, Ron" userId="24548d85-388a-4276-9d61-77686c5c648d" providerId="ADAL" clId="{29CD405C-AA9A-BE4D-8E40-9541FEF30985}" dt="2020-02-14T12:51:15.849" v="0"/>
        <pc:sldMkLst>
          <pc:docMk/>
          <pc:sldMk cId="2806286289" sldId="406"/>
        </pc:sldMkLst>
      </pc:sldChg>
      <pc:sldChg chg="add">
        <pc:chgData name="Arts, Ron" userId="24548d85-388a-4276-9d61-77686c5c648d" providerId="ADAL" clId="{29CD405C-AA9A-BE4D-8E40-9541FEF30985}" dt="2020-02-14T12:51:15.849" v="0"/>
        <pc:sldMkLst>
          <pc:docMk/>
          <pc:sldMk cId="3510246271" sldId="407"/>
        </pc:sldMkLst>
      </pc:sldChg>
      <pc:sldChg chg="add">
        <pc:chgData name="Arts, Ron" userId="24548d85-388a-4276-9d61-77686c5c648d" providerId="ADAL" clId="{29CD405C-AA9A-BE4D-8E40-9541FEF30985}" dt="2020-02-14T12:51:15.849" v="0"/>
        <pc:sldMkLst>
          <pc:docMk/>
          <pc:sldMk cId="742254889" sldId="408"/>
        </pc:sldMkLst>
      </pc:sldChg>
      <pc:sldChg chg="add">
        <pc:chgData name="Arts, Ron" userId="24548d85-388a-4276-9d61-77686c5c648d" providerId="ADAL" clId="{29CD405C-AA9A-BE4D-8E40-9541FEF30985}" dt="2020-02-14T12:51:15.849" v="0"/>
        <pc:sldMkLst>
          <pc:docMk/>
          <pc:sldMk cId="1498043132" sldId="409"/>
        </pc:sldMkLst>
      </pc:sldChg>
      <pc:sldChg chg="add">
        <pc:chgData name="Arts, Ron" userId="24548d85-388a-4276-9d61-77686c5c648d" providerId="ADAL" clId="{29CD405C-AA9A-BE4D-8E40-9541FEF30985}" dt="2020-02-14T12:51:15.849" v="0"/>
        <pc:sldMkLst>
          <pc:docMk/>
          <pc:sldMk cId="2951500084" sldId="410"/>
        </pc:sldMkLst>
      </pc:sldChg>
      <pc:sldChg chg="add">
        <pc:chgData name="Arts, Ron" userId="24548d85-388a-4276-9d61-77686c5c648d" providerId="ADAL" clId="{29CD405C-AA9A-BE4D-8E40-9541FEF30985}" dt="2020-02-14T12:51:15.849" v="0"/>
        <pc:sldMkLst>
          <pc:docMk/>
          <pc:sldMk cId="2978862130" sldId="411"/>
        </pc:sldMkLst>
      </pc:sldChg>
      <pc:sldChg chg="add">
        <pc:chgData name="Arts, Ron" userId="24548d85-388a-4276-9d61-77686c5c648d" providerId="ADAL" clId="{29CD405C-AA9A-BE4D-8E40-9541FEF30985}" dt="2020-02-14T12:51:15.849" v="0"/>
        <pc:sldMkLst>
          <pc:docMk/>
          <pc:sldMk cId="2984188271" sldId="412"/>
        </pc:sldMkLst>
      </pc:sldChg>
      <pc:sldChg chg="add">
        <pc:chgData name="Arts, Ron" userId="24548d85-388a-4276-9d61-77686c5c648d" providerId="ADAL" clId="{29CD405C-AA9A-BE4D-8E40-9541FEF30985}" dt="2020-02-14T12:51:15.849" v="0"/>
        <pc:sldMkLst>
          <pc:docMk/>
          <pc:sldMk cId="2690818362" sldId="413"/>
        </pc:sldMkLst>
      </pc:sldChg>
      <pc:sldChg chg="add">
        <pc:chgData name="Arts, Ron" userId="24548d85-388a-4276-9d61-77686c5c648d" providerId="ADAL" clId="{29CD405C-AA9A-BE4D-8E40-9541FEF30985}" dt="2020-02-14T12:51:15.849" v="0"/>
        <pc:sldMkLst>
          <pc:docMk/>
          <pc:sldMk cId="4101888861" sldId="414"/>
        </pc:sldMkLst>
      </pc:sldChg>
      <pc:sldChg chg="add">
        <pc:chgData name="Arts, Ron" userId="24548d85-388a-4276-9d61-77686c5c648d" providerId="ADAL" clId="{29CD405C-AA9A-BE4D-8E40-9541FEF30985}" dt="2020-02-14T12:51:15.849" v="0"/>
        <pc:sldMkLst>
          <pc:docMk/>
          <pc:sldMk cId="1295339200" sldId="415"/>
        </pc:sldMkLst>
      </pc:sldChg>
      <pc:sldChg chg="add">
        <pc:chgData name="Arts, Ron" userId="24548d85-388a-4276-9d61-77686c5c648d" providerId="ADAL" clId="{29CD405C-AA9A-BE4D-8E40-9541FEF30985}" dt="2020-02-14T12:51:15.849" v="0"/>
        <pc:sldMkLst>
          <pc:docMk/>
          <pc:sldMk cId="1521077704" sldId="416"/>
        </pc:sldMkLst>
      </pc:sldChg>
      <pc:sldChg chg="add">
        <pc:chgData name="Arts, Ron" userId="24548d85-388a-4276-9d61-77686c5c648d" providerId="ADAL" clId="{29CD405C-AA9A-BE4D-8E40-9541FEF30985}" dt="2020-02-14T12:51:15.849" v="0"/>
        <pc:sldMkLst>
          <pc:docMk/>
          <pc:sldMk cId="3891256302" sldId="417"/>
        </pc:sldMkLst>
      </pc:sldChg>
      <pc:sldChg chg="add">
        <pc:chgData name="Arts, Ron" userId="24548d85-388a-4276-9d61-77686c5c648d" providerId="ADAL" clId="{29CD405C-AA9A-BE4D-8E40-9541FEF30985}" dt="2020-02-14T12:51:15.849" v="0"/>
        <pc:sldMkLst>
          <pc:docMk/>
          <pc:sldMk cId="3835839763" sldId="418"/>
        </pc:sldMkLst>
      </pc:sldChg>
      <pc:sldChg chg="add">
        <pc:chgData name="Arts, Ron" userId="24548d85-388a-4276-9d61-77686c5c648d" providerId="ADAL" clId="{29CD405C-AA9A-BE4D-8E40-9541FEF30985}" dt="2020-02-14T12:51:15.849" v="0"/>
        <pc:sldMkLst>
          <pc:docMk/>
          <pc:sldMk cId="1818699507" sldId="419"/>
        </pc:sldMkLst>
      </pc:sldChg>
      <pc:sldChg chg="add">
        <pc:chgData name="Arts, Ron" userId="24548d85-388a-4276-9d61-77686c5c648d" providerId="ADAL" clId="{29CD405C-AA9A-BE4D-8E40-9541FEF30985}" dt="2020-02-14T12:51:15.849" v="0"/>
        <pc:sldMkLst>
          <pc:docMk/>
          <pc:sldMk cId="3528903112" sldId="420"/>
        </pc:sldMkLst>
      </pc:sldChg>
      <pc:sldChg chg="add">
        <pc:chgData name="Arts, Ron" userId="24548d85-388a-4276-9d61-77686c5c648d" providerId="ADAL" clId="{29CD405C-AA9A-BE4D-8E40-9541FEF30985}" dt="2020-02-14T12:51:15.849" v="0"/>
        <pc:sldMkLst>
          <pc:docMk/>
          <pc:sldMk cId="2417911448" sldId="421"/>
        </pc:sldMkLst>
      </pc:sldChg>
      <pc:sldChg chg="add">
        <pc:chgData name="Arts, Ron" userId="24548d85-388a-4276-9d61-77686c5c648d" providerId="ADAL" clId="{29CD405C-AA9A-BE4D-8E40-9541FEF30985}" dt="2020-02-14T12:51:15.849" v="0"/>
        <pc:sldMkLst>
          <pc:docMk/>
          <pc:sldMk cId="4044336634" sldId="422"/>
        </pc:sldMkLst>
      </pc:sldChg>
      <pc:sldChg chg="add">
        <pc:chgData name="Arts, Ron" userId="24548d85-388a-4276-9d61-77686c5c648d" providerId="ADAL" clId="{29CD405C-AA9A-BE4D-8E40-9541FEF30985}" dt="2020-02-14T12:51:15.849" v="0"/>
        <pc:sldMkLst>
          <pc:docMk/>
          <pc:sldMk cId="2550043039" sldId="423"/>
        </pc:sldMkLst>
      </pc:sldChg>
      <pc:sldChg chg="modSp add">
        <pc:chgData name="Arts, Ron" userId="24548d85-388a-4276-9d61-77686c5c648d" providerId="ADAL" clId="{29CD405C-AA9A-BE4D-8E40-9541FEF30985}" dt="2020-02-14T12:52:36.605" v="62" actId="20577"/>
        <pc:sldMkLst>
          <pc:docMk/>
          <pc:sldMk cId="3750444874" sldId="424"/>
        </pc:sldMkLst>
        <pc:spChg chg="mod">
          <ac:chgData name="Arts, Ron" userId="24548d85-388a-4276-9d61-77686c5c648d" providerId="ADAL" clId="{29CD405C-AA9A-BE4D-8E40-9541FEF30985}" dt="2020-02-14T12:52:32.502" v="44" actId="20577"/>
          <ac:spMkLst>
            <pc:docMk/>
            <pc:sldMk cId="3750444874" sldId="424"/>
            <ac:spMk id="3074" creationId="{00000000-0000-0000-0000-000000000000}"/>
          </ac:spMkLst>
        </pc:spChg>
        <pc:spChg chg="mod">
          <ac:chgData name="Arts, Ron" userId="24548d85-388a-4276-9d61-77686c5c648d" providerId="ADAL" clId="{29CD405C-AA9A-BE4D-8E40-9541FEF30985}" dt="2020-02-14T12:52:36.605" v="62" actId="20577"/>
          <ac:spMkLst>
            <pc:docMk/>
            <pc:sldMk cId="3750444874" sldId="424"/>
            <ac:spMk id="307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F9B5F84-F7A7-46FA-BC08-F661D96BBCA7}" type="datetimeFigureOut">
              <a:rPr lang="nl-NL" smtClean="0"/>
              <a:pPr/>
              <a:t>06-07-2020</a:t>
            </a:fld>
            <a:endParaRPr lang="nl-NL"/>
          </a:p>
        </p:txBody>
      </p:sp>
      <p:sp>
        <p:nvSpPr>
          <p:cNvPr id="4" name="Tijdelijke aanduiding voor dia-afbeelding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78F1AB-29EF-4445-A82D-E8624A7043CE}" type="slidenum">
              <a:rPr lang="nl-NL" smtClean="0"/>
              <a:pPr/>
              <a:t>‹nr.›</a:t>
            </a:fld>
            <a:endParaRPr lang="nl-NL"/>
          </a:p>
        </p:txBody>
      </p:sp>
    </p:spTree>
    <p:extLst>
      <p:ext uri="{BB962C8B-B14F-4D97-AF65-F5344CB8AC3E}">
        <p14:creationId xmlns:p14="http://schemas.microsoft.com/office/powerpoint/2010/main" val="1999909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6DBA2C02-5CCA-4B40-9B13-9647A4B19B1E}" type="slidenum">
              <a:rPr lang="en-US" sz="1200"/>
              <a:pPr/>
              <a:t>3</a:t>
            </a:fld>
            <a:endParaRPr lang="en-US" sz="120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B56A6382-7463-7B4C-88E3-9F155D5F1AD0}" type="slidenum">
              <a:rPr lang="en-US" sz="1200"/>
              <a:pPr/>
              <a:t>4</a:t>
            </a:fld>
            <a:endParaRPr lang="en-US" sz="1200"/>
          </a:p>
        </p:txBody>
      </p:sp>
      <p:sp>
        <p:nvSpPr>
          <p:cNvPr id="70659" name="Rectangle 2"/>
          <p:cNvSpPr>
            <a:spLocks noGrp="1" noRot="1" noChangeAspect="1" noChangeArrowheads="1" noTextEdit="1"/>
          </p:cNvSpPr>
          <p:nvPr>
            <p:ph type="sldImg"/>
          </p:nvPr>
        </p:nvSpPr>
        <p:spPr>
          <a:solidFill>
            <a:srgbClr val="FFFFFF"/>
          </a:solidFill>
          <a:ln/>
        </p:spPr>
      </p:sp>
      <p:sp>
        <p:nvSpPr>
          <p:cNvPr id="70660"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lIns="90004" tIns="45002" rIns="90004" bIns="45002"/>
          <a:lstStyle/>
          <a:p>
            <a:pPr eaLnBrk="1" hangingPunct="1"/>
            <a:endParaRPr lang="nl-NL">
              <a:latin typeface="Times"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D0ABDDCD-AF4B-D74C-B085-1A966C6F5F8A}" type="slidenum">
              <a:rPr lang="en-US" sz="1200"/>
              <a:pPr/>
              <a:t>5</a:t>
            </a:fld>
            <a:endParaRPr lang="en-US" sz="120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6484B5BA-0BF9-B14A-A409-9495EB9B092A}" type="slidenum">
              <a:rPr lang="en-US" sz="1200"/>
              <a:pPr/>
              <a:t>6</a:t>
            </a:fld>
            <a:endParaRPr lang="en-US" sz="120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C4276641-C850-704E-A493-EFC469DD641F}" type="slidenum">
              <a:rPr lang="en-US" sz="1200"/>
              <a:pPr/>
              <a:t>7</a:t>
            </a:fld>
            <a:endParaRPr lang="en-US" sz="120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C1974E7B-22A1-0141-A889-763BD1BABF90}" type="slidenum">
              <a:rPr lang="en-US" sz="1200"/>
              <a:pPr/>
              <a:t>8</a:t>
            </a:fld>
            <a:endParaRPr lang="en-US" sz="120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4EF5FE68-CC68-8C4E-9868-588A9E5D4F05}" type="slidenum">
              <a:rPr lang="en-US" sz="1200"/>
              <a:pPr/>
              <a:t>9</a:t>
            </a:fld>
            <a:endParaRPr lang="en-US" sz="120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7F52A528-4616-F04F-903E-4115E0A74FE4}" type="slidenum">
              <a:rPr lang="en-US" sz="1200"/>
              <a:pPr/>
              <a:t>10</a:t>
            </a:fld>
            <a:endParaRPr lang="en-US" sz="120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F3DEB178-B06D-984D-917A-E990B5847490}" type="slidenum">
              <a:rPr lang="en-US" sz="1200"/>
              <a:pPr/>
              <a:t>12</a:t>
            </a:fld>
            <a:endParaRPr lang="en-US" sz="120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4AB90C68-B6B8-3149-9B62-21476E84EFAF}" type="slidenum">
              <a:rPr lang="en-US" sz="1200"/>
              <a:pPr/>
              <a:t>13</a:t>
            </a:fld>
            <a:endParaRPr lang="en-US" sz="120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C30EAF0E-1EE1-1A4F-9E8A-45310B6F502E}" type="slidenum">
              <a:rPr lang="en-US" sz="1200"/>
              <a:pPr/>
              <a:t>14</a:t>
            </a:fld>
            <a:endParaRPr lang="en-US" sz="120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FCE521D5-DA7A-924A-957E-53C6A26164C6}" type="slidenum">
              <a:rPr lang="en-US" sz="1200"/>
              <a:pPr/>
              <a:t>15</a:t>
            </a:fld>
            <a:endParaRPr lang="en-US" sz="120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FAFBD5D7-B41F-B047-BCAF-E388132E8F29}" type="slidenum">
              <a:rPr lang="en-US" sz="1200"/>
              <a:pPr/>
              <a:t>16</a:t>
            </a:fld>
            <a:endParaRPr lang="en-US" sz="120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E82870B6-3B2F-6F4D-BEEF-C469783E2CF7}" type="slidenum">
              <a:rPr lang="en-US" sz="1200"/>
              <a:pPr/>
              <a:t>17</a:t>
            </a:fld>
            <a:endParaRPr lang="en-US" sz="120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2BE1A829-90F4-1D4B-8E51-8DAC9E9C3C62}" type="slidenum">
              <a:rPr lang="en-US" sz="1200"/>
              <a:pPr/>
              <a:t>18</a:t>
            </a:fld>
            <a:endParaRPr lang="en-US" sz="120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D5B2ECD1-4467-8D43-92B8-F9F5BE0625AD}" type="slidenum">
              <a:rPr lang="en-US" sz="1200"/>
              <a:pPr/>
              <a:t>20</a:t>
            </a:fld>
            <a:endParaRPr lang="en-US" sz="120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2B326F38-F078-A949-9CF2-1F59E970BA1A}" type="slidenum">
              <a:rPr lang="en-US" sz="1200"/>
              <a:pPr/>
              <a:t>21</a:t>
            </a:fld>
            <a:endParaRPr lang="en-US" sz="12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371603F8-5B1A-374D-A339-98EB7D1261A2}" type="slidenum">
              <a:rPr lang="en-US" sz="1200"/>
              <a:pPr/>
              <a:t>22</a:t>
            </a:fld>
            <a:endParaRPr lang="en-US" sz="120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59E0E2B0-D043-0E47-BB23-36C9EE7E08E4}" type="slidenum">
              <a:rPr lang="en-US" sz="1200"/>
              <a:pPr/>
              <a:t>24</a:t>
            </a:fld>
            <a:endParaRPr lang="en-US" sz="120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8BAFA614-6CE3-CB40-9510-792BD63C80EE}" type="slidenum">
              <a:rPr lang="en-US" sz="1200"/>
              <a:pPr/>
              <a:t>25</a:t>
            </a:fld>
            <a:endParaRPr lang="en-US" sz="120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2A4B947B-8D48-FA48-B801-25194413B6AC}" type="slidenum">
              <a:rPr lang="en-US" sz="1200"/>
              <a:pPr/>
              <a:t>26</a:t>
            </a:fld>
            <a:endParaRPr lang="en-US" sz="120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B0F57117-C7BB-204C-A30B-01FCCA41B1F7}" type="slidenum">
              <a:rPr lang="en-US" sz="1200"/>
              <a:pPr/>
              <a:t>27</a:t>
            </a:fld>
            <a:endParaRPr lang="en-US" sz="120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FD4B267B-8098-DD4B-97D1-578ECEC49842}" type="slidenum">
              <a:rPr lang="en-US" sz="1200"/>
              <a:pPr/>
              <a:t>28</a:t>
            </a:fld>
            <a:endParaRPr lang="en-US" sz="120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4A67380D-9E44-7646-813E-F65A37CADBCA}" type="slidenum">
              <a:rPr lang="en-US" sz="1200"/>
              <a:pPr/>
              <a:t>29</a:t>
            </a:fld>
            <a:endParaRPr lang="en-US" sz="1200"/>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61B160B4-3E51-EE48-97A2-E924589A3E09}" type="slidenum">
              <a:rPr lang="en-US" sz="1200"/>
              <a:pPr/>
              <a:t>30</a:t>
            </a:fld>
            <a:endParaRPr lang="en-US" sz="120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A8B8CA77-E5B5-E94E-A001-6382AC3091DD}" type="slidenum">
              <a:rPr lang="en-US" sz="1200"/>
              <a:pPr/>
              <a:t>31</a:t>
            </a:fld>
            <a:endParaRPr 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718BE6F3-C80D-1943-9E68-05C37C435BDC}" type="slidenum">
              <a:rPr lang="en-US" sz="1200"/>
              <a:pPr/>
              <a:t>34</a:t>
            </a:fld>
            <a:endParaRPr lang="en-US" sz="120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ADB79B77-3199-FB44-B9E0-CE6918EA6470}" type="slidenum">
              <a:rPr lang="en-US" sz="1200"/>
              <a:pPr/>
              <a:t>41</a:t>
            </a:fld>
            <a:endParaRPr lang="en-US" sz="120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A64C91B2-A053-954D-BDD7-B01766BC0995}" type="slidenum">
              <a:rPr lang="en-US" sz="1200"/>
              <a:pPr/>
              <a:t>42</a:t>
            </a:fld>
            <a:endParaRPr lang="en-US" sz="120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9D0F5DBB-B933-364B-9617-4135350B73A4}" type="slidenum">
              <a:rPr lang="en-US" sz="1200"/>
              <a:pPr/>
              <a:t>43</a:t>
            </a:fld>
            <a:endParaRPr lang="en-US" sz="120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1E44E5A6-44F7-6140-B9B2-F88E7CD700FF}" type="slidenum">
              <a:rPr lang="en-US" sz="1200"/>
              <a:pPr/>
              <a:t>44</a:t>
            </a:fld>
            <a:endParaRPr lang="en-US" sz="120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8FE2A439-4BFE-1648-8906-75B5821BD0AD}" type="slidenum">
              <a:rPr lang="en-US" sz="1200"/>
              <a:pPr/>
              <a:t>45</a:t>
            </a:fld>
            <a:endParaRPr lang="en-US" sz="120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DE6AEE1E-6F54-6D40-8528-D6321E9A6B72}" type="slidenum">
              <a:rPr lang="en-US" sz="1200"/>
              <a:pPr/>
              <a:t>46</a:t>
            </a:fld>
            <a:endParaRPr lang="en-US" sz="120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377BD660-F95B-374B-9FC3-6143312E5662}" type="slidenum">
              <a:rPr lang="en-US" sz="1200"/>
              <a:pPr/>
              <a:t>47</a:t>
            </a:fld>
            <a:endParaRPr lang="en-US" sz="120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C88A06F3-98FB-4248-8224-9824FC115524}" type="slidenum">
              <a:rPr lang="en-US" sz="1200"/>
              <a:pPr/>
              <a:t>48</a:t>
            </a:fld>
            <a:endParaRPr lang="en-US" sz="120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1475D6D4-8E10-B747-A557-9397D436E5FE}" type="slidenum">
              <a:rPr lang="en-US" sz="1200"/>
              <a:pPr/>
              <a:t>49</a:t>
            </a:fld>
            <a:endParaRPr lang="en-US" sz="120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13E07449-C58C-224A-8F7A-EE35D65F024D}" type="slidenum">
              <a:rPr lang="en-US" sz="1200"/>
              <a:pPr/>
              <a:t>50</a:t>
            </a:fld>
            <a:endParaRPr lang="en-US" sz="120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16667F46-CE8A-2441-A9F7-8CF28E6683FA}" type="slidenum">
              <a:rPr lang="en-US" sz="1200"/>
              <a:pPr/>
              <a:t>51</a:t>
            </a:fld>
            <a:endParaRPr lang="en-US" sz="1200"/>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8BCC09B1-67E3-7E4D-A479-464A921CA20A}" type="slidenum">
              <a:rPr lang="en-US" sz="1200"/>
              <a:pPr/>
              <a:t>52</a:t>
            </a:fld>
            <a:endParaRPr lang="en-US" sz="120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015DF21E-A9D9-1A47-AD65-687C0A78798C}" type="slidenum">
              <a:rPr lang="en-US" sz="1200"/>
              <a:pPr/>
              <a:t>53</a:t>
            </a:fld>
            <a:endParaRPr lang="en-US" sz="1200"/>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30FC8842-757B-7641-BE3B-84EBD3BED477}" type="slidenum">
              <a:rPr lang="en-US" sz="1200"/>
              <a:pPr/>
              <a:t>54</a:t>
            </a:fld>
            <a:endParaRPr lang="en-US"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1B771F4F-1F8D-0B4C-83DC-09CA173704A0}" type="slidenum">
              <a:rPr lang="en-US" sz="1200"/>
              <a:pPr/>
              <a:t>55</a:t>
            </a:fld>
            <a:endParaRPr lang="en-US" sz="1200"/>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D359B243-E82F-DA40-A750-2A62C7DBF1FA}" type="slidenum">
              <a:rPr lang="en-US" sz="1200"/>
              <a:pPr/>
              <a:t>56</a:t>
            </a:fld>
            <a:endParaRPr lang="en-US" sz="120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3B731BDD-9F97-7E42-B585-72B2BDFEB66C}" type="slidenum">
              <a:rPr lang="en-US" sz="1200"/>
              <a:pPr/>
              <a:t>57</a:t>
            </a:fld>
            <a:endParaRPr lang="en-US" sz="120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2EF9D277-DAD4-0148-83A5-6487B0C642BB}" type="slidenum">
              <a:rPr lang="en-US" sz="1200"/>
              <a:pPr/>
              <a:t>59</a:t>
            </a:fld>
            <a:endParaRPr lang="en-US" sz="1200"/>
          </a:p>
        </p:txBody>
      </p:sp>
      <p:sp>
        <p:nvSpPr>
          <p:cNvPr id="76803" name="Rectangle 2"/>
          <p:cNvSpPr>
            <a:spLocks noGrp="1" noRot="1" noChangeAspect="1" noChangeArrowheads="1" noTextEdit="1"/>
          </p:cNvSpPr>
          <p:nvPr>
            <p:ph type="sldImg"/>
          </p:nvPr>
        </p:nvSpPr>
        <p:spPr>
          <a:solidFill>
            <a:srgbClr val="FFFFFF"/>
          </a:solidFill>
          <a:ln/>
        </p:spPr>
      </p:sp>
      <p:sp>
        <p:nvSpPr>
          <p:cNvPr id="76804"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lIns="90004" tIns="45002" rIns="90004" bIns="45002"/>
          <a:lstStyle/>
          <a:p>
            <a:pPr eaLnBrk="1" hangingPunct="1"/>
            <a:endParaRPr lang="nl-NL">
              <a:latin typeface="Times"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E0CCEC2D-57A0-3D4B-ABD9-60C78887AE14}" type="slidenum">
              <a:rPr lang="en-US" sz="1200"/>
              <a:pPr/>
              <a:t>60</a:t>
            </a:fld>
            <a:endParaRPr lang="en-US" sz="120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76DE4FDF-8628-0644-B725-078951E33D81}" type="slidenum">
              <a:rPr lang="en-US" sz="1200"/>
              <a:pPr/>
              <a:t>61</a:t>
            </a:fld>
            <a:endParaRPr lang="en-US" sz="120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9301CD0D-33D4-FD48-9894-2F05DD2F838A}" type="slidenum">
              <a:rPr lang="en-US" sz="1200"/>
              <a:pPr/>
              <a:t>62</a:t>
            </a:fld>
            <a:endParaRPr lang="en-US" sz="120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2D90537B-9FEE-B341-BDE5-DEEB4E26FEF4}" type="slidenum">
              <a:rPr lang="en-US" sz="1200"/>
              <a:pPr/>
              <a:t>63</a:t>
            </a:fld>
            <a:endParaRPr lang="en-US" sz="120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7702BF03-4502-EB4C-889A-45775179E0DD}" type="slidenum">
              <a:rPr lang="en-US" sz="1200"/>
              <a:pPr/>
              <a:t>64</a:t>
            </a:fld>
            <a:endParaRPr lang="en-US" sz="120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090E4F0A-0DDF-184B-9F88-7CEB40516B1E}" type="slidenum">
              <a:rPr lang="en-US" sz="1200"/>
              <a:pPr/>
              <a:t>65</a:t>
            </a:fld>
            <a:endParaRPr lang="en-US" sz="120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564E2708-77E0-E54C-9C11-CABFD7C75039}" type="slidenum">
              <a:rPr lang="en-US" sz="1200"/>
              <a:pPr/>
              <a:t>66</a:t>
            </a:fld>
            <a:endParaRPr lang="en-US" sz="120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972B3338-0EB9-8245-B20B-973E313EEFBF}" type="slidenum">
              <a:rPr lang="en-US" sz="1200"/>
              <a:pPr/>
              <a:t>67</a:t>
            </a:fld>
            <a:endParaRPr lang="en-US" sz="120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1A083C06-1E41-2E40-BD96-377C17F9D2CC}" type="slidenum">
              <a:rPr lang="en-US" sz="1200"/>
              <a:pPr/>
              <a:t>68</a:t>
            </a:fld>
            <a:endParaRPr lang="en-US" sz="12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55BE640F-3D35-F447-983B-3A391235E2FB}" type="slidenum">
              <a:rPr lang="en-US" sz="1200"/>
              <a:pPr/>
              <a:t>69</a:t>
            </a:fld>
            <a:endParaRPr lang="en-US" sz="120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0764BE73-D493-6040-8510-CCC6DED1C609}" type="slidenum">
              <a:rPr lang="en-US" sz="1200"/>
              <a:pPr/>
              <a:t>70</a:t>
            </a:fld>
            <a:endParaRPr lang="en-US" sz="120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A816B6AC-2A39-6347-B352-7E4DEB35D89B}" type="slidenum">
              <a:rPr lang="en-US" sz="1200"/>
              <a:pPr/>
              <a:t>72</a:t>
            </a:fld>
            <a:endParaRPr lang="en-US" sz="120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F4DAD2A2-76A0-2543-AA6D-36CA98704ECD}" type="slidenum">
              <a:rPr lang="en-US" sz="1200"/>
              <a:pPr/>
              <a:t>74</a:t>
            </a:fld>
            <a:endParaRPr lang="en-US" sz="120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BCAD7C17-EC8D-F84B-8237-4F0F458A421D}" type="slidenum">
              <a:rPr lang="en-US" sz="1200"/>
              <a:pPr/>
              <a:t>75</a:t>
            </a:fld>
            <a:endParaRPr lang="en-US" sz="120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CA71A630-36D4-5F4C-B8F3-4AF3E7064C0D}" type="slidenum">
              <a:rPr lang="en-US" sz="1200"/>
              <a:pPr/>
              <a:t>76</a:t>
            </a:fld>
            <a:endParaRPr lang="en-US" sz="120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4C258E99-6E86-0141-A2FC-7E2A2B475AB6}" type="slidenum">
              <a:rPr lang="en-US" sz="1200"/>
              <a:pPr/>
              <a:t>77</a:t>
            </a:fld>
            <a:endParaRPr lang="en-US" sz="120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205058AD-572E-B34F-A232-3EE50C1D12FE}" type="slidenum">
              <a:rPr lang="en-US" sz="1200"/>
              <a:pPr/>
              <a:t>78</a:t>
            </a:fld>
            <a:endParaRPr lang="en-US" sz="120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A3D1EFDD-0E6B-AB4C-805B-6049636EBA08}" type="slidenum">
              <a:rPr lang="en-US" sz="1200"/>
              <a:pPr/>
              <a:t>79</a:t>
            </a:fld>
            <a:endParaRPr lang="en-US" sz="120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70BF54C8-5190-AC40-AB56-34280381E0C2}" type="slidenum">
              <a:rPr lang="en-US" sz="1200"/>
              <a:pPr/>
              <a:t>80</a:t>
            </a:fld>
            <a:endParaRPr lang="en-US" sz="1200"/>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8F4EC2AB-89F6-844A-BE6F-4845CB719A00}" type="slidenum">
              <a:rPr lang="en-US" sz="1200"/>
              <a:pPr/>
              <a:t>81</a:t>
            </a:fld>
            <a:endParaRPr lang="en-US" sz="120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651510D1-E887-D146-97EE-4C46962294C8}" type="slidenum">
              <a:rPr lang="en-US" sz="1200"/>
              <a:pPr/>
              <a:t>82</a:t>
            </a:fld>
            <a:endParaRPr 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4195FC81-79BC-B049-84ED-7858CB33CACD}" type="slidenum">
              <a:rPr lang="en-US" sz="1200"/>
              <a:pPr/>
              <a:t>83</a:t>
            </a:fld>
            <a:endParaRPr lang="en-US" sz="120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E1240307-9D3F-E94A-8F5C-3238F96C3E47}" type="slidenum">
              <a:rPr lang="en-US" sz="1200"/>
              <a:pPr/>
              <a:t>84</a:t>
            </a:fld>
            <a:endParaRPr lang="en-US" sz="120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549BBE73-41A0-4F4A-975F-D5D9E2135B55}" type="slidenum">
              <a:rPr lang="en-US" sz="1200"/>
              <a:pPr/>
              <a:t>85</a:t>
            </a:fld>
            <a:endParaRPr lang="en-US" sz="1200"/>
          </a:p>
        </p:txBody>
      </p:sp>
      <p:sp>
        <p:nvSpPr>
          <p:cNvPr id="101379" name="Rectangle 2"/>
          <p:cNvSpPr>
            <a:spLocks noGrp="1" noRot="1" noChangeAspect="1" noChangeArrowheads="1" noTextEdit="1"/>
          </p:cNvSpPr>
          <p:nvPr>
            <p:ph type="sldImg"/>
          </p:nvPr>
        </p:nvSpPr>
        <p:spPr>
          <a:solidFill>
            <a:srgbClr val="FFFFFF"/>
          </a:solidFill>
          <a:ln/>
        </p:spPr>
      </p:sp>
      <p:sp>
        <p:nvSpPr>
          <p:cNvPr id="101380"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lIns="90004" tIns="45002" rIns="90004" bIns="45002"/>
          <a:lstStyle/>
          <a:p>
            <a:pPr eaLnBrk="1" hangingPunct="1"/>
            <a:endParaRPr lang="nl-NL">
              <a:latin typeface="Times"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92F61EEA-6326-6448-9CBF-2AFEA67D4276}" type="slidenum">
              <a:rPr lang="en-US" sz="1200"/>
              <a:pPr/>
              <a:t>86</a:t>
            </a:fld>
            <a:endParaRPr lang="en-US" sz="120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079A0F4C-9434-8D42-900D-E86DE36E7B5F}" type="slidenum">
              <a:rPr lang="en-US" sz="1200"/>
              <a:pPr/>
              <a:t>87</a:t>
            </a:fld>
            <a:endParaRPr lang="en-US" sz="120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112EBE0F-8CC3-9948-AD56-81CD50559987}" type="slidenum">
              <a:rPr lang="en-US" sz="1200"/>
              <a:pPr/>
              <a:t>88</a:t>
            </a:fld>
            <a:endParaRPr lang="en-US" sz="120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8CC1356A-C88B-0F47-9873-CAA33B26BAD8}" type="slidenum">
              <a:rPr lang="en-US" sz="1200"/>
              <a:pPr/>
              <a:t>89</a:t>
            </a:fld>
            <a:endParaRPr lang="en-US" sz="120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B543FC9C-CEF5-6049-AAA4-B280E064B882}" type="slidenum">
              <a:rPr lang="en-US" sz="1200"/>
              <a:pPr/>
              <a:t>90</a:t>
            </a:fld>
            <a:endParaRPr lang="en-US" sz="120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18BBCFF5-10AD-1B48-A238-63FF2D56F250}" type="slidenum">
              <a:rPr lang="en-US" sz="1200"/>
              <a:pPr/>
              <a:t>91</a:t>
            </a:fld>
            <a:endParaRPr lang="en-US" sz="120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8A200BE3-747F-F349-A93C-DD16AAF5425A}" type="slidenum">
              <a:rPr lang="en-US" sz="1200"/>
              <a:pPr/>
              <a:t>92</a:t>
            </a:fld>
            <a:endParaRPr lang="en-US" sz="120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24C88DD1-8BB8-5545-A047-EC2DBD54DC06}" type="slidenum">
              <a:rPr lang="en-US" sz="1200"/>
              <a:pPr/>
              <a:t>93</a:t>
            </a:fld>
            <a:endParaRPr lang="en-US" sz="1200"/>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0D66E22A-F5AF-334D-A524-1490F92A5BA0}" type="slidenum">
              <a:rPr lang="en-US" sz="1200"/>
              <a:pPr/>
              <a:t>94</a:t>
            </a:fld>
            <a:endParaRPr lang="en-US"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5E8AC2A1-3FAC-C343-973F-7DF09C0B0C5E}" type="slidenum">
              <a:rPr lang="en-US" sz="1200"/>
              <a:pPr/>
              <a:t>95</a:t>
            </a:fld>
            <a:endParaRPr lang="en-US" sz="1200"/>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36DF5DED-9616-1E4A-BE4F-49B882ECA26F}" type="slidenum">
              <a:rPr lang="en-US" sz="1200"/>
              <a:pPr/>
              <a:t>96</a:t>
            </a:fld>
            <a:endParaRPr lang="en-US" sz="120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DC8BE7D7-D90F-F945-8A8D-5CA4B1308D5F}" type="slidenum">
              <a:rPr lang="en-US" sz="1200"/>
              <a:pPr/>
              <a:t>97</a:t>
            </a:fld>
            <a:endParaRPr lang="en-US" sz="1200"/>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3968469A-EDB1-8D4A-BEEC-89D7CA99E7C9}" type="slidenum">
              <a:rPr lang="en-US" sz="1200"/>
              <a:pPr/>
              <a:t>98</a:t>
            </a:fld>
            <a:endParaRPr lang="en-US"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2A460C83-4B94-EA44-9FFD-B5161A9C090C}" type="slidenum">
              <a:rPr lang="en-US" sz="1200"/>
              <a:pPr/>
              <a:t>99</a:t>
            </a:fld>
            <a:endParaRPr lang="en-US" sz="1200"/>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32597240-28E1-DC45-A8CD-787A9ED60D43}" type="slidenum">
              <a:rPr lang="en-US" sz="1200"/>
              <a:pPr/>
              <a:t>100</a:t>
            </a:fld>
            <a:endParaRPr lang="en-US" sz="1200"/>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3E57C094-5783-F74F-8B9A-3627D35A8A2B}" type="slidenum">
              <a:rPr lang="en-US" sz="1200"/>
              <a:pPr/>
              <a:t>101</a:t>
            </a:fld>
            <a:endParaRPr lang="en-US" sz="1200"/>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5A50C67F-4941-6641-9C08-40B02A8652A2}" type="slidenum">
              <a:rPr lang="en-US" sz="1200"/>
              <a:pPr/>
              <a:t>102</a:t>
            </a:fld>
            <a:endParaRPr lang="en-US" sz="1200"/>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12CD3A12-9524-6046-B416-2EA293787668}" type="slidenum">
              <a:rPr lang="en-US" sz="1200"/>
              <a:pPr/>
              <a:t>103</a:t>
            </a:fld>
            <a:endParaRPr lang="en-US" sz="1200"/>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B89BBFE4-11F4-4B4E-A583-CDEB915C1B30}" type="slidenum">
              <a:rPr lang="en-US" sz="1200"/>
              <a:pPr/>
              <a:t>104</a:t>
            </a:fld>
            <a:endParaRPr lang="en-US" sz="1200"/>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00A5E3FE-97BA-CA45-BEB9-B24FB3D61E5E}" type="slidenum">
              <a:rPr lang="en-US" sz="1200"/>
              <a:pPr/>
              <a:t>105</a:t>
            </a:fld>
            <a:endParaRPr lang="en-US" sz="1200"/>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4BE9B23A-49C3-434E-987E-59F24FCDDD69}" type="slidenum">
              <a:rPr lang="en-US" sz="1200"/>
              <a:pPr/>
              <a:t>106</a:t>
            </a:fld>
            <a:endParaRPr lang="en-US" sz="1200"/>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fld id="{3B731BDD-9F97-7E42-B585-72B2BDFEB66C}" type="slidenum">
              <a:rPr lang="en-US" sz="1200"/>
              <a:pPr/>
              <a:t>107</a:t>
            </a:fld>
            <a:endParaRPr lang="en-US" sz="120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nl-NL">
              <a:latin typeface="Times" charset="0"/>
            </a:endParaRPr>
          </a:p>
        </p:txBody>
      </p:sp>
    </p:spTree>
    <p:extLst>
      <p:ext uri="{BB962C8B-B14F-4D97-AF65-F5344CB8AC3E}">
        <p14:creationId xmlns:p14="http://schemas.microsoft.com/office/powerpoint/2010/main" val="142622051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0E704050-7767-9F4A-8601-73C11744DB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3CF0FC75-951C-8E45-ACAD-331CD4CFAEFC}" type="slidenum">
              <a:rPr lang="en-US" altLang="en-US" sz="1200" smtClean="0"/>
              <a:pPr/>
              <a:t>108</a:t>
            </a:fld>
            <a:endParaRPr lang="en-US" altLang="en-US" sz="1200"/>
          </a:p>
        </p:txBody>
      </p:sp>
      <p:sp>
        <p:nvSpPr>
          <p:cNvPr id="7171" name="Rectangle 2">
            <a:extLst>
              <a:ext uri="{FF2B5EF4-FFF2-40B4-BE49-F238E27FC236}">
                <a16:creationId xmlns:a16="http://schemas.microsoft.com/office/drawing/2014/main" id="{3182D7A9-354A-A846-A04D-B19FE7A8E991}"/>
              </a:ext>
            </a:extLst>
          </p:cNvPr>
          <p:cNvSpPr>
            <a:spLocks noGrp="1" noRot="1" noChangeAspect="1" noChangeArrowheads="1" noTextEdit="1"/>
          </p:cNvSpPr>
          <p:nvPr>
            <p:ph type="sldImg"/>
          </p:nvPr>
        </p:nvSpPr>
        <p:spPr>
          <a:solidFill>
            <a:srgbClr val="FFFFFF"/>
          </a:solidFill>
          <a:ln/>
        </p:spPr>
      </p:sp>
      <p:sp>
        <p:nvSpPr>
          <p:cNvPr id="7172" name="Rectangle 3">
            <a:extLst>
              <a:ext uri="{FF2B5EF4-FFF2-40B4-BE49-F238E27FC236}">
                <a16:creationId xmlns:a16="http://schemas.microsoft.com/office/drawing/2014/main" id="{89E3E2EF-60C6-5B45-80F9-8B5E0453C144}"/>
              </a:ext>
            </a:extLst>
          </p:cNvPr>
          <p:cNvSpPr>
            <a:spLocks noGrp="1" noChangeArrowheads="1"/>
          </p:cNvSpPr>
          <p:nvPr>
            <p:ph type="body" idx="1"/>
          </p:nvPr>
        </p:nvSpPr>
        <p:spPr>
          <a:solidFill>
            <a:srgbClr val="FFFFFF"/>
          </a:solidFill>
          <a:ln>
            <a:solidFill>
              <a:srgbClr val="000000"/>
            </a:solidFill>
          </a:ln>
        </p:spPr>
        <p:txBody>
          <a:bodyPr lIns="90004" tIns="45002" rIns="90004" bIns="45002"/>
          <a:lstStyle/>
          <a:p>
            <a:pPr eaLnBrk="1" hangingPunct="1"/>
            <a:endParaRPr lang="en-US" altLang="en-US">
              <a:latin typeface="Times" pitchFamily="2" charset="0"/>
            </a:endParaRPr>
          </a:p>
        </p:txBody>
      </p:sp>
    </p:spTree>
    <p:extLst>
      <p:ext uri="{BB962C8B-B14F-4D97-AF65-F5344CB8AC3E}">
        <p14:creationId xmlns:p14="http://schemas.microsoft.com/office/powerpoint/2010/main" val="323025800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792B72E4-0F55-204C-9CDF-EA3FDEEAE3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F087F1B7-BC6B-D04F-B8A7-0DF3C387E5A3}" type="slidenum">
              <a:rPr lang="en-US" altLang="en-US" sz="1200" smtClean="0"/>
              <a:pPr/>
              <a:t>109</a:t>
            </a:fld>
            <a:endParaRPr lang="en-US" altLang="en-US" sz="1200"/>
          </a:p>
        </p:txBody>
      </p:sp>
      <p:sp>
        <p:nvSpPr>
          <p:cNvPr id="9219" name="Rectangle 2">
            <a:extLst>
              <a:ext uri="{FF2B5EF4-FFF2-40B4-BE49-F238E27FC236}">
                <a16:creationId xmlns:a16="http://schemas.microsoft.com/office/drawing/2014/main" id="{2E804BAF-B0F5-9A4C-B2E4-8A14AB2754BE}"/>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60654087-281A-A040-AF5C-E2814CF6E5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427384047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231C5F9B-323F-D645-9187-A92748ED19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05225887-23E8-2549-AE7C-2577B0CD0F77}" type="slidenum">
              <a:rPr lang="en-US" altLang="en-US" sz="1200" smtClean="0"/>
              <a:pPr/>
              <a:t>110</a:t>
            </a:fld>
            <a:endParaRPr lang="en-US" altLang="en-US" sz="1200"/>
          </a:p>
        </p:txBody>
      </p:sp>
      <p:sp>
        <p:nvSpPr>
          <p:cNvPr id="11267" name="Rectangle 2">
            <a:extLst>
              <a:ext uri="{FF2B5EF4-FFF2-40B4-BE49-F238E27FC236}">
                <a16:creationId xmlns:a16="http://schemas.microsoft.com/office/drawing/2014/main" id="{E9FA3D7B-8748-D64C-BB2D-4B8FCDAAD4AB}"/>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F141E731-3D69-9944-B2C2-7FCDE2E8D9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174139776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E0A5E651-70A3-EF4F-914E-7404619609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F9DB7ECA-65F1-5F4E-A701-9A6BDFF25E95}" type="slidenum">
              <a:rPr lang="en-US" altLang="en-US" sz="1200" smtClean="0"/>
              <a:pPr/>
              <a:t>111</a:t>
            </a:fld>
            <a:endParaRPr lang="en-US" altLang="en-US" sz="1200"/>
          </a:p>
        </p:txBody>
      </p:sp>
      <p:sp>
        <p:nvSpPr>
          <p:cNvPr id="13315" name="Rectangle 2">
            <a:extLst>
              <a:ext uri="{FF2B5EF4-FFF2-40B4-BE49-F238E27FC236}">
                <a16:creationId xmlns:a16="http://schemas.microsoft.com/office/drawing/2014/main" id="{9BD27984-8B1E-2946-892D-22BFEB66517E}"/>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36D965DE-B1D6-4C44-ACD2-0EFA2BCE99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357569823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190AA823-9F8C-7D4E-8037-8F41652C92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5AC50864-DB1F-704F-80C3-95B4411DA02A}" type="slidenum">
              <a:rPr lang="en-US" altLang="en-US" sz="1200" smtClean="0"/>
              <a:pPr/>
              <a:t>112</a:t>
            </a:fld>
            <a:endParaRPr lang="en-US" altLang="en-US" sz="1200"/>
          </a:p>
        </p:txBody>
      </p:sp>
      <p:sp>
        <p:nvSpPr>
          <p:cNvPr id="15363" name="Rectangle 2">
            <a:extLst>
              <a:ext uri="{FF2B5EF4-FFF2-40B4-BE49-F238E27FC236}">
                <a16:creationId xmlns:a16="http://schemas.microsoft.com/office/drawing/2014/main" id="{19C24E70-6675-8E43-ADDC-FD00E29237DD}"/>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F96C3785-C168-E24B-BA93-249FF73FDD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403713716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650D1ECE-996B-6F4B-A53E-E377A4FC85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2D7C6B05-6D72-DE40-9F42-D501F0C6C06E}" type="slidenum">
              <a:rPr lang="en-US" altLang="en-US" sz="1200" smtClean="0"/>
              <a:pPr/>
              <a:t>113</a:t>
            </a:fld>
            <a:endParaRPr lang="en-US" altLang="en-US" sz="1200"/>
          </a:p>
        </p:txBody>
      </p:sp>
      <p:sp>
        <p:nvSpPr>
          <p:cNvPr id="17411" name="Rectangle 2">
            <a:extLst>
              <a:ext uri="{FF2B5EF4-FFF2-40B4-BE49-F238E27FC236}">
                <a16:creationId xmlns:a16="http://schemas.microsoft.com/office/drawing/2014/main" id="{6E7F3A9D-A36A-4C4D-80E2-5AF30EB2C2C7}"/>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DB765EA8-6BC2-3945-883E-FC2FEA4FBA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14777112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367CFB6B-A8C9-284B-84B3-9E7FDF0CBE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A7CE28C1-6821-EF4E-AA98-15304FE9A630}" type="slidenum">
              <a:rPr lang="en-US" altLang="en-US" sz="1200" smtClean="0"/>
              <a:pPr/>
              <a:t>114</a:t>
            </a:fld>
            <a:endParaRPr lang="en-US" altLang="en-US" sz="1200"/>
          </a:p>
        </p:txBody>
      </p:sp>
      <p:sp>
        <p:nvSpPr>
          <p:cNvPr id="19459" name="Rectangle 2">
            <a:extLst>
              <a:ext uri="{FF2B5EF4-FFF2-40B4-BE49-F238E27FC236}">
                <a16:creationId xmlns:a16="http://schemas.microsoft.com/office/drawing/2014/main" id="{A7E899E0-7E96-B64C-B3C1-A84732D3662B}"/>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5A02787B-6FED-0048-A329-FB36366232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96925639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720915FE-01FD-2948-BC63-75CF17F08F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A212E511-2A9F-D549-9ED0-6F73996E2C11}" type="slidenum">
              <a:rPr lang="en-US" altLang="en-US" sz="1200" smtClean="0"/>
              <a:pPr/>
              <a:t>115</a:t>
            </a:fld>
            <a:endParaRPr lang="en-US" altLang="en-US" sz="1200"/>
          </a:p>
        </p:txBody>
      </p:sp>
      <p:sp>
        <p:nvSpPr>
          <p:cNvPr id="21507" name="Rectangle 2">
            <a:extLst>
              <a:ext uri="{FF2B5EF4-FFF2-40B4-BE49-F238E27FC236}">
                <a16:creationId xmlns:a16="http://schemas.microsoft.com/office/drawing/2014/main" id="{E289D949-D7E2-E141-A30E-FA6C33C4C550}"/>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CFE72D34-9A90-934B-A6D9-800C922550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32665715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F180E9DD-0E8A-3F4D-BA47-197AFE60D6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45AD8FC8-9C86-0344-9686-7A965A9F22D9}" type="slidenum">
              <a:rPr lang="en-US" altLang="en-US" sz="1200" smtClean="0"/>
              <a:pPr/>
              <a:t>116</a:t>
            </a:fld>
            <a:endParaRPr lang="en-US" altLang="en-US" sz="1200"/>
          </a:p>
        </p:txBody>
      </p:sp>
      <p:sp>
        <p:nvSpPr>
          <p:cNvPr id="23555" name="Rectangle 2">
            <a:extLst>
              <a:ext uri="{FF2B5EF4-FFF2-40B4-BE49-F238E27FC236}">
                <a16:creationId xmlns:a16="http://schemas.microsoft.com/office/drawing/2014/main" id="{40465CB4-1C44-594A-B00A-4DEB268D0CBE}"/>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08CA7D0E-7E76-9347-A232-B4F3A37D60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57392031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0080533D-9B84-8443-92EF-FD480E87ED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4C213768-711C-3C4C-8E35-A343BD6DE1F2}" type="slidenum">
              <a:rPr lang="en-US" altLang="en-US" sz="1200" smtClean="0"/>
              <a:pPr/>
              <a:t>117</a:t>
            </a:fld>
            <a:endParaRPr lang="en-US" altLang="en-US" sz="1200"/>
          </a:p>
        </p:txBody>
      </p:sp>
      <p:sp>
        <p:nvSpPr>
          <p:cNvPr id="25603" name="Rectangle 2">
            <a:extLst>
              <a:ext uri="{FF2B5EF4-FFF2-40B4-BE49-F238E27FC236}">
                <a16:creationId xmlns:a16="http://schemas.microsoft.com/office/drawing/2014/main" id="{5AA774C2-4519-CD40-B585-9BA7FDE32E68}"/>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B5402616-7EF2-7F4B-92DF-415D20B8F9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130264199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57B9536F-357A-FD41-A69B-6603B9105F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E49A75BD-ACD3-AC4F-AF2E-DBF07095DA44}" type="slidenum">
              <a:rPr lang="en-US" altLang="en-US" sz="1200" smtClean="0"/>
              <a:pPr/>
              <a:t>118</a:t>
            </a:fld>
            <a:endParaRPr lang="en-US" altLang="en-US" sz="1200"/>
          </a:p>
        </p:txBody>
      </p:sp>
      <p:sp>
        <p:nvSpPr>
          <p:cNvPr id="27651" name="Rectangle 2">
            <a:extLst>
              <a:ext uri="{FF2B5EF4-FFF2-40B4-BE49-F238E27FC236}">
                <a16:creationId xmlns:a16="http://schemas.microsoft.com/office/drawing/2014/main" id="{33438B88-F4EA-7441-9DB0-105AED8AF1BA}"/>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C2FE441E-F437-DF42-BEA7-B6EE88C5CB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335921193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261E19BC-9E6E-DC4D-BB5C-32738A7C93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0944A0F8-076A-C54E-985D-FEA67012F531}" type="slidenum">
              <a:rPr lang="en-US" altLang="en-US" sz="1200" smtClean="0"/>
              <a:pPr/>
              <a:t>119</a:t>
            </a:fld>
            <a:endParaRPr lang="en-US" altLang="en-US" sz="1200"/>
          </a:p>
        </p:txBody>
      </p:sp>
      <p:sp>
        <p:nvSpPr>
          <p:cNvPr id="29699" name="Rectangle 2">
            <a:extLst>
              <a:ext uri="{FF2B5EF4-FFF2-40B4-BE49-F238E27FC236}">
                <a16:creationId xmlns:a16="http://schemas.microsoft.com/office/drawing/2014/main" id="{6563C7D2-06D0-F441-BCD0-F941A8AD9D75}"/>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759003CE-E315-C24E-8F0E-D0B39AD841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225235185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177CF03A-78BA-E342-964D-86CFE922EB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C07CF6DB-0359-6A4B-912F-3535CDE116E0}" type="slidenum">
              <a:rPr lang="en-US" altLang="en-US" sz="1200" smtClean="0"/>
              <a:pPr/>
              <a:t>120</a:t>
            </a:fld>
            <a:endParaRPr lang="en-US" altLang="en-US" sz="1200"/>
          </a:p>
        </p:txBody>
      </p:sp>
      <p:sp>
        <p:nvSpPr>
          <p:cNvPr id="31747" name="Rectangle 2">
            <a:extLst>
              <a:ext uri="{FF2B5EF4-FFF2-40B4-BE49-F238E27FC236}">
                <a16:creationId xmlns:a16="http://schemas.microsoft.com/office/drawing/2014/main" id="{9949E5D5-14D3-B54A-859F-4A2DDB56A732}"/>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4FDCFD12-742D-3C43-979B-11C782650F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243012295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756AAEF0-D9C6-2441-9493-4EA1064CE2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C6879946-D1C9-834F-BF0E-FDD7C00375F8}" type="slidenum">
              <a:rPr lang="en-US" altLang="en-US" sz="1200" smtClean="0"/>
              <a:pPr/>
              <a:t>121</a:t>
            </a:fld>
            <a:endParaRPr lang="en-US" altLang="en-US" sz="1200"/>
          </a:p>
        </p:txBody>
      </p:sp>
      <p:sp>
        <p:nvSpPr>
          <p:cNvPr id="33795" name="Rectangle 2">
            <a:extLst>
              <a:ext uri="{FF2B5EF4-FFF2-40B4-BE49-F238E27FC236}">
                <a16:creationId xmlns:a16="http://schemas.microsoft.com/office/drawing/2014/main" id="{B2A4B1C7-581F-2F49-834F-14FB19272FCB}"/>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C7C6466B-D387-1F48-BBB9-005BEF2020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248366780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37AA8A79-C83C-994D-A77D-20F262523F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7D1C6E36-6D12-CE4B-A7AB-EAA7FB4C0DB5}" type="slidenum">
              <a:rPr lang="en-US" altLang="en-US" sz="1200" smtClean="0"/>
              <a:pPr/>
              <a:t>122</a:t>
            </a:fld>
            <a:endParaRPr lang="en-US" altLang="en-US" sz="1200"/>
          </a:p>
        </p:txBody>
      </p:sp>
      <p:sp>
        <p:nvSpPr>
          <p:cNvPr id="35843" name="Rectangle 2">
            <a:extLst>
              <a:ext uri="{FF2B5EF4-FFF2-40B4-BE49-F238E27FC236}">
                <a16:creationId xmlns:a16="http://schemas.microsoft.com/office/drawing/2014/main" id="{98BD3F11-94C9-1648-9639-3A8ECD0B2974}"/>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9334F4BD-F77F-804E-A8BC-9EAE485E1D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321823467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77E98049-FB4C-0D49-B823-79FB0E3CD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05790116-114B-FA4F-95AF-5BD0521BB276}" type="slidenum">
              <a:rPr lang="en-US" altLang="en-US" sz="1200" smtClean="0"/>
              <a:pPr/>
              <a:t>123</a:t>
            </a:fld>
            <a:endParaRPr lang="en-US" altLang="en-US" sz="1200"/>
          </a:p>
        </p:txBody>
      </p:sp>
      <p:sp>
        <p:nvSpPr>
          <p:cNvPr id="37891" name="Rectangle 2">
            <a:extLst>
              <a:ext uri="{FF2B5EF4-FFF2-40B4-BE49-F238E27FC236}">
                <a16:creationId xmlns:a16="http://schemas.microsoft.com/office/drawing/2014/main" id="{08CA558A-AACA-BE45-85EB-16BBEC508B65}"/>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655A1AC6-8032-EE4E-86EF-008E2222A1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71319816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368E0081-5F2E-0E47-B96F-74809A9069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FB834D08-8D8B-AF45-87FB-20477214F6BE}" type="slidenum">
              <a:rPr lang="en-US" altLang="en-US" sz="1200" smtClean="0"/>
              <a:pPr/>
              <a:t>124</a:t>
            </a:fld>
            <a:endParaRPr lang="en-US" altLang="en-US" sz="1200"/>
          </a:p>
        </p:txBody>
      </p:sp>
      <p:sp>
        <p:nvSpPr>
          <p:cNvPr id="39939" name="Rectangle 2">
            <a:extLst>
              <a:ext uri="{FF2B5EF4-FFF2-40B4-BE49-F238E27FC236}">
                <a16:creationId xmlns:a16="http://schemas.microsoft.com/office/drawing/2014/main" id="{D1CFAABA-CD1C-264E-80A1-70DF3000FA89}"/>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B5844904-98CD-654B-82EE-E50A085481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599076197"/>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289B8B51-934D-3C4C-AE75-A6DC2986E4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2B96A9B0-2703-4D46-8408-BD41C6DAAAE9}" type="slidenum">
              <a:rPr lang="en-US" altLang="en-US" sz="1200" smtClean="0"/>
              <a:pPr/>
              <a:t>125</a:t>
            </a:fld>
            <a:endParaRPr lang="en-US" altLang="en-US" sz="1200"/>
          </a:p>
        </p:txBody>
      </p:sp>
      <p:sp>
        <p:nvSpPr>
          <p:cNvPr id="41987" name="Rectangle 2">
            <a:extLst>
              <a:ext uri="{FF2B5EF4-FFF2-40B4-BE49-F238E27FC236}">
                <a16:creationId xmlns:a16="http://schemas.microsoft.com/office/drawing/2014/main" id="{64892B5C-37A4-0042-916C-84C05F0DC0F3}"/>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7267C686-D107-AE48-9197-912E0A30DA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418194397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518664FE-E8FC-494A-930D-68C0B4B15E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DB98B4DE-EE2A-D441-BC86-EC0B7E9E70C9}" type="slidenum">
              <a:rPr lang="en-US" altLang="en-US" sz="1200" smtClean="0"/>
              <a:pPr/>
              <a:t>126</a:t>
            </a:fld>
            <a:endParaRPr lang="en-US" altLang="en-US" sz="1200"/>
          </a:p>
        </p:txBody>
      </p:sp>
      <p:sp>
        <p:nvSpPr>
          <p:cNvPr id="44035" name="Rectangle 2">
            <a:extLst>
              <a:ext uri="{FF2B5EF4-FFF2-40B4-BE49-F238E27FC236}">
                <a16:creationId xmlns:a16="http://schemas.microsoft.com/office/drawing/2014/main" id="{2B2CF5D0-6EC4-6746-92EB-9452CCA5CDE3}"/>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0BB9264E-0DF2-4343-BA6B-80217BD4F2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239197003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9144E68C-DFBB-2E49-BBE3-12D5BE9865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05E29D65-7A60-E348-A17D-25DDD1011A3E}" type="slidenum">
              <a:rPr lang="en-US" altLang="en-US" sz="1200" smtClean="0"/>
              <a:pPr/>
              <a:t>127</a:t>
            </a:fld>
            <a:endParaRPr lang="en-US" altLang="en-US" sz="1200"/>
          </a:p>
        </p:txBody>
      </p:sp>
      <p:sp>
        <p:nvSpPr>
          <p:cNvPr id="46083" name="Rectangle 2">
            <a:extLst>
              <a:ext uri="{FF2B5EF4-FFF2-40B4-BE49-F238E27FC236}">
                <a16:creationId xmlns:a16="http://schemas.microsoft.com/office/drawing/2014/main" id="{CE5113FA-92B3-AB46-8AD8-D61B3E401FCA}"/>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3B924697-BE7C-7C4F-B12C-A7AD56C9B0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60454049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44FDD72D-08C0-4D43-89B0-3AC8548473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ABF0D5AF-23F9-964E-BAC8-271BFA7F31E5}" type="slidenum">
              <a:rPr lang="en-US" altLang="en-US" sz="1200" smtClean="0"/>
              <a:pPr/>
              <a:t>128</a:t>
            </a:fld>
            <a:endParaRPr lang="en-US" altLang="en-US" sz="1200"/>
          </a:p>
        </p:txBody>
      </p:sp>
      <p:sp>
        <p:nvSpPr>
          <p:cNvPr id="48131" name="Rectangle 2">
            <a:extLst>
              <a:ext uri="{FF2B5EF4-FFF2-40B4-BE49-F238E27FC236}">
                <a16:creationId xmlns:a16="http://schemas.microsoft.com/office/drawing/2014/main" id="{B77210A4-70AA-8543-AA5E-C1E9BEED3F98}"/>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DC6975FF-0A15-724E-86D4-B6601E2323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175050070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78E9200E-8AA8-B74D-B471-F5AC7ED30D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EB33E3C4-13DC-0843-A28F-B65E57086B2B}" type="slidenum">
              <a:rPr lang="en-US" altLang="en-US" sz="1200" smtClean="0"/>
              <a:pPr/>
              <a:t>129</a:t>
            </a:fld>
            <a:endParaRPr lang="en-US" altLang="en-US" sz="1200"/>
          </a:p>
        </p:txBody>
      </p:sp>
      <p:sp>
        <p:nvSpPr>
          <p:cNvPr id="50179" name="Rectangle 2">
            <a:extLst>
              <a:ext uri="{FF2B5EF4-FFF2-40B4-BE49-F238E27FC236}">
                <a16:creationId xmlns:a16="http://schemas.microsoft.com/office/drawing/2014/main" id="{007CDF9E-C794-0644-81D3-3F574929432F}"/>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10DEECC0-97F7-CF40-8BED-2EE0AFBA2A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6546281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BB8E00F5-EBBD-F745-BD09-DFBF0CDDDE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0ACC99B4-0DB2-D94C-9221-76AB47CE3D28}" type="slidenum">
              <a:rPr lang="en-US" altLang="en-US" sz="1200" smtClean="0"/>
              <a:pPr/>
              <a:t>130</a:t>
            </a:fld>
            <a:endParaRPr lang="en-US" altLang="en-US" sz="1200"/>
          </a:p>
        </p:txBody>
      </p:sp>
      <p:sp>
        <p:nvSpPr>
          <p:cNvPr id="52227" name="Rectangle 2">
            <a:extLst>
              <a:ext uri="{FF2B5EF4-FFF2-40B4-BE49-F238E27FC236}">
                <a16:creationId xmlns:a16="http://schemas.microsoft.com/office/drawing/2014/main" id="{D87AC56D-CB01-F048-8318-FF80A3433D4B}"/>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6B998749-704D-AF4D-B3F1-9703A64828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128183408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99CB2BC7-4880-CA4C-8DAB-EEB674107F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CEB36DE1-06F6-3F47-88AF-FAD9A3E6ABF5}" type="slidenum">
              <a:rPr lang="en-US" altLang="en-US" sz="1200" smtClean="0"/>
              <a:pPr/>
              <a:t>131</a:t>
            </a:fld>
            <a:endParaRPr lang="en-US" altLang="en-US" sz="1200"/>
          </a:p>
        </p:txBody>
      </p:sp>
      <p:sp>
        <p:nvSpPr>
          <p:cNvPr id="54275" name="Rectangle 2">
            <a:extLst>
              <a:ext uri="{FF2B5EF4-FFF2-40B4-BE49-F238E27FC236}">
                <a16:creationId xmlns:a16="http://schemas.microsoft.com/office/drawing/2014/main" id="{2A24FBE2-E26C-3446-B654-41FC892BC83B}"/>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BCFBBBED-53F0-4F49-815F-561B60A148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712627102"/>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1EE3E5FD-07DB-F94C-9E69-DDFAC048A2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8974F0D8-71CF-F543-96D2-897DA040796C}" type="slidenum">
              <a:rPr lang="en-US" altLang="en-US" sz="1200" smtClean="0"/>
              <a:pPr/>
              <a:t>132</a:t>
            </a:fld>
            <a:endParaRPr lang="en-US" altLang="en-US" sz="1200"/>
          </a:p>
        </p:txBody>
      </p:sp>
      <p:sp>
        <p:nvSpPr>
          <p:cNvPr id="56323" name="Rectangle 2">
            <a:extLst>
              <a:ext uri="{FF2B5EF4-FFF2-40B4-BE49-F238E27FC236}">
                <a16:creationId xmlns:a16="http://schemas.microsoft.com/office/drawing/2014/main" id="{43F74BAC-92E3-4645-B59F-902B887870FC}"/>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727DBC9F-E8E2-4B40-9E0C-5B042E6079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302225689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B2D95096-D5E6-BC46-BA87-185970BCE4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09183568-DD72-4C49-873B-2706D4D39DD5}" type="slidenum">
              <a:rPr lang="en-US" altLang="en-US" sz="1200" smtClean="0"/>
              <a:pPr/>
              <a:t>133</a:t>
            </a:fld>
            <a:endParaRPr lang="en-US" altLang="en-US" sz="1200"/>
          </a:p>
        </p:txBody>
      </p:sp>
      <p:sp>
        <p:nvSpPr>
          <p:cNvPr id="58371" name="Rectangle 2">
            <a:extLst>
              <a:ext uri="{FF2B5EF4-FFF2-40B4-BE49-F238E27FC236}">
                <a16:creationId xmlns:a16="http://schemas.microsoft.com/office/drawing/2014/main" id="{F835326C-BACB-A542-8314-230C97DFD0F6}"/>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F519D140-8840-BB4D-8CA6-B47759C139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ndParaRPr>
          </a:p>
        </p:txBody>
      </p:sp>
    </p:spTree>
    <p:extLst>
      <p:ext uri="{BB962C8B-B14F-4D97-AF65-F5344CB8AC3E}">
        <p14:creationId xmlns:p14="http://schemas.microsoft.com/office/powerpoint/2010/main" val="3408348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255984" y="-171400"/>
            <a:ext cx="7772400" cy="1470025"/>
          </a:xfrm>
          <a:prstGeom prst="rect">
            <a:avLst/>
          </a:prstGeom>
        </p:spPr>
        <p:txBody>
          <a:bodyPr anchor="b"/>
          <a:lstStyle>
            <a:lvl1pPr>
              <a:defRPr>
                <a:solidFill>
                  <a:schemeClr val="bg1"/>
                </a:solidFill>
              </a:defRPr>
            </a:lvl1pPr>
          </a:lstStyle>
          <a:p>
            <a:r>
              <a:rPr lang="x-none"/>
              <a:t>Titelstijl van model bewerken</a:t>
            </a:r>
            <a:endParaRPr lang="nl-NL" dirty="0"/>
          </a:p>
        </p:txBody>
      </p:sp>
      <p:sp>
        <p:nvSpPr>
          <p:cNvPr id="3" name="Ondertitel 2"/>
          <p:cNvSpPr>
            <a:spLocks noGrp="1"/>
          </p:cNvSpPr>
          <p:nvPr>
            <p:ph type="subTitle" idx="1"/>
          </p:nvPr>
        </p:nvSpPr>
        <p:spPr>
          <a:xfrm>
            <a:off x="331440" y="3429000"/>
            <a:ext cx="6400800" cy="1752600"/>
          </a:xfrm>
        </p:spPr>
        <p:txBody>
          <a:bodyPr>
            <a:normAutofit/>
          </a:bodyPr>
          <a:lstStyle>
            <a:lvl1pPr marL="0" indent="0" algn="l">
              <a:buNone/>
              <a:defRPr sz="2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Klik om de titelstijl van het model te bewerken</a:t>
            </a:r>
            <a:endParaRPr lang="nl-NL" dirty="0"/>
          </a:p>
        </p:txBody>
      </p:sp>
      <p:sp>
        <p:nvSpPr>
          <p:cNvPr id="5" name="Tijdelijke aanduiding voor voettekst 4"/>
          <p:cNvSpPr>
            <a:spLocks noGrp="1"/>
          </p:cNvSpPr>
          <p:nvPr>
            <p:ph type="ftr" sz="quarter" idx="11"/>
          </p:nvPr>
        </p:nvSpPr>
        <p:spPr>
          <a:xfrm>
            <a:off x="323528" y="5805264"/>
            <a:ext cx="6120680" cy="576064"/>
          </a:xfrm>
          <a:prstGeom prst="rect">
            <a:avLst/>
          </a:prstGeom>
        </p:spPr>
        <p:txBody>
          <a:bodyPr/>
          <a:lstStyle>
            <a:lvl1pPr>
              <a:defRPr>
                <a:solidFill>
                  <a:schemeClr val="bg1"/>
                </a:solidFill>
              </a:defRPr>
            </a:lvl1pPr>
          </a:lstStyle>
          <a:p>
            <a:endParaRPr lang="nl-NL"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10" name="Ovaal 9"/>
          <p:cNvSpPr/>
          <p:nvPr userDrawn="1"/>
        </p:nvSpPr>
        <p:spPr>
          <a:xfrm>
            <a:off x="4139952" y="6525344"/>
            <a:ext cx="216024" cy="216024"/>
          </a:xfrm>
          <a:prstGeom prst="ellipse">
            <a:avLst/>
          </a:prstGeom>
          <a:solidFill>
            <a:srgbClr val="20BD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Tijdelijke aanduiding voor dianummer 5"/>
          <p:cNvSpPr>
            <a:spLocks noGrp="1"/>
          </p:cNvSpPr>
          <p:nvPr>
            <p:ph type="sldNum" sz="quarter" idx="4"/>
          </p:nvPr>
        </p:nvSpPr>
        <p:spPr>
          <a:xfrm>
            <a:off x="3203848" y="6453336"/>
            <a:ext cx="2088232" cy="365125"/>
          </a:xfrm>
          <a:prstGeom prst="rect">
            <a:avLst/>
          </a:prstGeom>
        </p:spPr>
        <p:txBody>
          <a:bodyPr vert="horz" lIns="91440" tIns="45720" rIns="91440" bIns="45720" rtlCol="0" anchor="ctr"/>
          <a:lstStyle>
            <a:lvl1pPr algn="ctr">
              <a:defRPr sz="800">
                <a:solidFill>
                  <a:schemeClr val="bg1"/>
                </a:solidFill>
              </a:defRPr>
            </a:lvl1pPr>
          </a:lstStyle>
          <a:p>
            <a:fld id="{1DAD25AC-3D36-459B-92CD-44DA3A629171}" type="slidenum">
              <a:rPr lang="nl-NL" smtClean="0"/>
              <a:pPr/>
              <a:t>‹nr.›</a:t>
            </a:fld>
            <a:endParaRPr lang="nl-NL" dirty="0"/>
          </a:p>
        </p:txBody>
      </p:sp>
      <p:sp>
        <p:nvSpPr>
          <p:cNvPr id="15" name="Tijdelijke aanduiding voor inhoud 2"/>
          <p:cNvSpPr>
            <a:spLocks noGrp="1"/>
          </p:cNvSpPr>
          <p:nvPr>
            <p:ph idx="1"/>
          </p:nvPr>
        </p:nvSpPr>
        <p:spPr>
          <a:xfrm>
            <a:off x="590872" y="1279301"/>
            <a:ext cx="8229600" cy="4309939"/>
          </a:xfrm>
        </p:spPr>
        <p:txBody>
          <a:bodyPr/>
          <a:lstStyle/>
          <a:p>
            <a:pPr lvl="0"/>
            <a:r>
              <a:rPr lang="x-none"/>
              <a:t>Klik om de tekststijl van het model te bewerken</a:t>
            </a:r>
          </a:p>
          <a:p>
            <a:pPr lvl="1"/>
            <a:r>
              <a:rPr lang="x-none"/>
              <a:t>Tweede niveau</a:t>
            </a:r>
          </a:p>
          <a:p>
            <a:pPr lvl="2"/>
            <a:r>
              <a:rPr lang="x-none"/>
              <a:t>Derde niveau</a:t>
            </a:r>
          </a:p>
          <a:p>
            <a:pPr lvl="3"/>
            <a:r>
              <a:rPr lang="x-none"/>
              <a:t>Vierde niveau</a:t>
            </a:r>
          </a:p>
          <a:p>
            <a:pPr lvl="4"/>
            <a:r>
              <a:rPr lang="x-none"/>
              <a:t>Vijfde niveau</a:t>
            </a:r>
            <a:endParaRPr lang="nl-NL" dirty="0"/>
          </a:p>
        </p:txBody>
      </p:sp>
      <p:sp>
        <p:nvSpPr>
          <p:cNvPr id="16" name="Tijdelijke aanduiding voor voettekst 4"/>
          <p:cNvSpPr>
            <a:spLocks noGrp="1"/>
          </p:cNvSpPr>
          <p:nvPr>
            <p:ph type="ftr" sz="quarter" idx="11"/>
          </p:nvPr>
        </p:nvSpPr>
        <p:spPr>
          <a:xfrm>
            <a:off x="2627784" y="5805264"/>
            <a:ext cx="6120680" cy="576064"/>
          </a:xfrm>
          <a:prstGeom prst="rect">
            <a:avLst/>
          </a:prstGeom>
        </p:spPr>
        <p:txBody>
          <a:bodyPr/>
          <a:lstStyle/>
          <a:p>
            <a:endParaRPr lang="nl-NL" dirty="0"/>
          </a:p>
        </p:txBody>
      </p:sp>
      <p:sp>
        <p:nvSpPr>
          <p:cNvPr id="2" name="Titel 1"/>
          <p:cNvSpPr>
            <a:spLocks noGrp="1"/>
          </p:cNvSpPr>
          <p:nvPr>
            <p:ph type="title"/>
          </p:nvPr>
        </p:nvSpPr>
        <p:spPr/>
        <p:txBody>
          <a:bodyPr/>
          <a:lstStyle/>
          <a:p>
            <a:r>
              <a:rPr lang="x-none"/>
              <a:t>Titelstijl van model bewerken</a:t>
            </a:r>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10" name="Ovaal 9"/>
          <p:cNvSpPr/>
          <p:nvPr userDrawn="1"/>
        </p:nvSpPr>
        <p:spPr>
          <a:xfrm>
            <a:off x="4139952" y="6525344"/>
            <a:ext cx="216024" cy="216024"/>
          </a:xfrm>
          <a:prstGeom prst="ellipse">
            <a:avLst/>
          </a:prstGeom>
          <a:solidFill>
            <a:srgbClr val="20BD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 name="Tijdelijke aanduiding voor inhoud 2"/>
          <p:cNvSpPr>
            <a:spLocks noGrp="1"/>
          </p:cNvSpPr>
          <p:nvPr>
            <p:ph idx="1"/>
          </p:nvPr>
        </p:nvSpPr>
        <p:spPr>
          <a:xfrm>
            <a:off x="590872" y="1279301"/>
            <a:ext cx="8229600" cy="4309939"/>
          </a:xfrm>
        </p:spPr>
        <p:txBody>
          <a:bodyPr/>
          <a:lstStyle/>
          <a:p>
            <a:pPr lvl="0"/>
            <a:r>
              <a:rPr lang="x-none"/>
              <a:t>Klik om de tekststijl van het model te bewerken</a:t>
            </a:r>
          </a:p>
          <a:p>
            <a:pPr lvl="1"/>
            <a:r>
              <a:rPr lang="x-none"/>
              <a:t>Tweede niveau</a:t>
            </a:r>
          </a:p>
          <a:p>
            <a:pPr lvl="2"/>
            <a:r>
              <a:rPr lang="x-none"/>
              <a:t>Derde niveau</a:t>
            </a:r>
          </a:p>
          <a:p>
            <a:pPr lvl="3"/>
            <a:r>
              <a:rPr lang="x-none"/>
              <a:t>Vierde niveau</a:t>
            </a:r>
          </a:p>
          <a:p>
            <a:pPr lvl="4"/>
            <a:r>
              <a:rPr lang="x-none"/>
              <a:t>Vijfde niveau</a:t>
            </a:r>
            <a:endParaRPr lang="nl-NL" dirty="0"/>
          </a:p>
        </p:txBody>
      </p:sp>
      <p:sp>
        <p:nvSpPr>
          <p:cNvPr id="5" name="Tijdelijke aanduiding voor voettekst 4"/>
          <p:cNvSpPr>
            <a:spLocks noGrp="1"/>
          </p:cNvSpPr>
          <p:nvPr>
            <p:ph type="ftr" sz="quarter" idx="11"/>
          </p:nvPr>
        </p:nvSpPr>
        <p:spPr>
          <a:xfrm>
            <a:off x="2627784" y="5805264"/>
            <a:ext cx="6120680" cy="576064"/>
          </a:xfrm>
          <a:prstGeom prst="rect">
            <a:avLst/>
          </a:prstGeom>
        </p:spPr>
        <p:txBody>
          <a:bodyPr/>
          <a:lstStyle/>
          <a:p>
            <a:endParaRPr lang="nl-NL" dirty="0"/>
          </a:p>
        </p:txBody>
      </p:sp>
      <p:sp>
        <p:nvSpPr>
          <p:cNvPr id="8" name="Titel 1"/>
          <p:cNvSpPr>
            <a:spLocks noGrp="1"/>
          </p:cNvSpPr>
          <p:nvPr>
            <p:ph type="title"/>
          </p:nvPr>
        </p:nvSpPr>
        <p:spPr>
          <a:xfrm>
            <a:off x="323528" y="-90264"/>
            <a:ext cx="8229600" cy="1143000"/>
          </a:xfrm>
          <a:prstGeom prst="rect">
            <a:avLst/>
          </a:prstGeom>
        </p:spPr>
        <p:txBody>
          <a:bodyPr anchor="b"/>
          <a:lstStyle/>
          <a:p>
            <a:r>
              <a:rPr lang="x-none"/>
              <a:t>Titelstijl van model bewerken</a:t>
            </a:r>
            <a:endParaRPr lang="nl-NL" dirty="0"/>
          </a:p>
        </p:txBody>
      </p:sp>
      <p:sp>
        <p:nvSpPr>
          <p:cNvPr id="9" name="Tijdelijke aanduiding voor dianummer 5"/>
          <p:cNvSpPr>
            <a:spLocks noGrp="1"/>
          </p:cNvSpPr>
          <p:nvPr>
            <p:ph type="sldNum" sz="quarter" idx="4"/>
          </p:nvPr>
        </p:nvSpPr>
        <p:spPr>
          <a:xfrm>
            <a:off x="3203848" y="6453336"/>
            <a:ext cx="2088232" cy="365125"/>
          </a:xfrm>
          <a:prstGeom prst="rect">
            <a:avLst/>
          </a:prstGeom>
        </p:spPr>
        <p:txBody>
          <a:bodyPr vert="horz" lIns="91440" tIns="45720" rIns="91440" bIns="45720" rtlCol="0" anchor="ctr"/>
          <a:lstStyle>
            <a:lvl1pPr algn="ctr">
              <a:defRPr sz="800">
                <a:solidFill>
                  <a:schemeClr val="bg1"/>
                </a:solidFill>
              </a:defRPr>
            </a:lvl1pPr>
          </a:lstStyle>
          <a:p>
            <a:fld id="{1DAD25AC-3D36-459B-92CD-44DA3A629171}" type="slidenum">
              <a:rPr lang="nl-NL" smtClean="0"/>
              <a:pPr/>
              <a:t>‹nr.›</a:t>
            </a:fld>
            <a:endParaRPr lang="nl-N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lleen titel">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9" name="Ovaal 8"/>
          <p:cNvSpPr/>
          <p:nvPr userDrawn="1"/>
        </p:nvSpPr>
        <p:spPr>
          <a:xfrm>
            <a:off x="4139952" y="6525344"/>
            <a:ext cx="216024" cy="216024"/>
          </a:xfrm>
          <a:prstGeom prst="ellipse">
            <a:avLst/>
          </a:prstGeom>
          <a:solidFill>
            <a:srgbClr val="2311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solidFill>
                <a:srgbClr val="23114C"/>
              </a:solidFill>
            </a:endParaRPr>
          </a:p>
        </p:txBody>
      </p:sp>
      <p:sp>
        <p:nvSpPr>
          <p:cNvPr id="2" name="Titel 1"/>
          <p:cNvSpPr>
            <a:spLocks noGrp="1"/>
          </p:cNvSpPr>
          <p:nvPr>
            <p:ph type="title"/>
          </p:nvPr>
        </p:nvSpPr>
        <p:spPr>
          <a:xfrm>
            <a:off x="323528" y="-99392"/>
            <a:ext cx="8229600" cy="1143000"/>
          </a:xfrm>
          <a:prstGeom prst="rect">
            <a:avLst/>
          </a:prstGeom>
        </p:spPr>
        <p:txBody>
          <a:bodyPr anchor="b"/>
          <a:lstStyle/>
          <a:p>
            <a:r>
              <a:rPr lang="x-none"/>
              <a:t>Titelstijl van model bewerken</a:t>
            </a:r>
            <a:endParaRPr lang="nl-NL" dirty="0"/>
          </a:p>
        </p:txBody>
      </p:sp>
      <p:sp>
        <p:nvSpPr>
          <p:cNvPr id="4" name="Tijdelijke aanduiding voor voettekst 3"/>
          <p:cNvSpPr>
            <a:spLocks noGrp="1"/>
          </p:cNvSpPr>
          <p:nvPr>
            <p:ph type="ftr" sz="quarter" idx="11"/>
          </p:nvPr>
        </p:nvSpPr>
        <p:spPr>
          <a:xfrm>
            <a:off x="2123728" y="5805264"/>
            <a:ext cx="6120680" cy="576064"/>
          </a:xfrm>
          <a:prstGeom prst="rect">
            <a:avLst/>
          </a:prstGeom>
        </p:spPr>
        <p:txBody>
          <a:bodyPr/>
          <a:lstStyle>
            <a:lvl1pPr>
              <a:defRPr>
                <a:solidFill>
                  <a:schemeClr val="bg1"/>
                </a:solidFill>
              </a:defRPr>
            </a:lvl1pPr>
          </a:lstStyle>
          <a:p>
            <a:endParaRPr lang="nl-NL" dirty="0"/>
          </a:p>
        </p:txBody>
      </p:sp>
      <p:sp>
        <p:nvSpPr>
          <p:cNvPr id="7" name="Tijdelijke aanduiding voor inhoud 2"/>
          <p:cNvSpPr>
            <a:spLocks noGrp="1"/>
          </p:cNvSpPr>
          <p:nvPr>
            <p:ph idx="1"/>
          </p:nvPr>
        </p:nvSpPr>
        <p:spPr>
          <a:xfrm>
            <a:off x="590872" y="1279301"/>
            <a:ext cx="8229600" cy="4237931"/>
          </a:xfrm>
        </p:spPr>
        <p:txBody>
          <a:bodyPr/>
          <a:lstStyle/>
          <a:p>
            <a:pPr lvl="0"/>
            <a:r>
              <a:rPr lang="x-none"/>
              <a:t>Klik om de tekststijl van het model te bewerken</a:t>
            </a:r>
          </a:p>
          <a:p>
            <a:pPr lvl="1"/>
            <a:r>
              <a:rPr lang="x-none"/>
              <a:t>Tweede niveau</a:t>
            </a:r>
          </a:p>
          <a:p>
            <a:pPr lvl="2"/>
            <a:r>
              <a:rPr lang="x-none"/>
              <a:t>Derde niveau</a:t>
            </a:r>
          </a:p>
          <a:p>
            <a:pPr lvl="3"/>
            <a:r>
              <a:rPr lang="x-none"/>
              <a:t>Vierde niveau</a:t>
            </a:r>
          </a:p>
          <a:p>
            <a:pPr lvl="4"/>
            <a:r>
              <a:rPr lang="x-none"/>
              <a:t>Vijfde niveau</a:t>
            </a:r>
            <a:endParaRPr lang="nl-NL" dirty="0"/>
          </a:p>
        </p:txBody>
      </p:sp>
      <p:sp>
        <p:nvSpPr>
          <p:cNvPr id="8" name="Tijdelijke aanduiding voor dianummer 5"/>
          <p:cNvSpPr>
            <a:spLocks noGrp="1"/>
          </p:cNvSpPr>
          <p:nvPr>
            <p:ph type="sldNum" sz="quarter" idx="4"/>
          </p:nvPr>
        </p:nvSpPr>
        <p:spPr>
          <a:xfrm>
            <a:off x="3203848" y="6453336"/>
            <a:ext cx="2088232" cy="365125"/>
          </a:xfrm>
          <a:prstGeom prst="rect">
            <a:avLst/>
          </a:prstGeom>
        </p:spPr>
        <p:txBody>
          <a:bodyPr vert="horz" lIns="91440" tIns="45720" rIns="91440" bIns="45720" rtlCol="0" anchor="ctr"/>
          <a:lstStyle>
            <a:lvl1pPr algn="ctr">
              <a:defRPr sz="800">
                <a:solidFill>
                  <a:schemeClr val="bg1"/>
                </a:solidFill>
              </a:defRPr>
            </a:lvl1pPr>
          </a:lstStyle>
          <a:p>
            <a:fld id="{1DAD25AC-3D36-459B-92CD-44DA3A629171}" type="slidenum">
              <a:rPr lang="nl-NL" smtClean="0"/>
              <a:pPr/>
              <a:t>‹nr.›</a:t>
            </a:fld>
            <a:endParaRPr lang="nl-NL"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ftr" sz="quarter" idx="10"/>
          </p:nvPr>
        </p:nvSpPr>
        <p:spPr>
          <a:ln/>
        </p:spPr>
        <p:txBody>
          <a:bodyPr/>
          <a:lstStyle>
            <a:lvl1pPr>
              <a:defRPr/>
            </a:lvl1pPr>
          </a:lstStyle>
          <a:p>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r>
              <a:rPr lang="en-US"/>
              <a:t>1-</a:t>
            </a:r>
            <a:fld id="{2AA2123A-1ADD-9148-80CF-542193183EC8}" type="slidenum">
              <a:rPr lang="en-US"/>
              <a:pPr/>
              <a:t>‹nr.›</a:t>
            </a:fld>
            <a:endParaRPr lang="en-US"/>
          </a:p>
        </p:txBody>
      </p:sp>
    </p:spTree>
    <p:extLst>
      <p:ext uri="{BB962C8B-B14F-4D97-AF65-F5344CB8AC3E}">
        <p14:creationId xmlns:p14="http://schemas.microsoft.com/office/powerpoint/2010/main" val="2415235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ftr" sz="quarter" idx="10"/>
          </p:nvPr>
        </p:nvSpPr>
        <p:spPr>
          <a:ln/>
        </p:spPr>
        <p:txBody>
          <a:bodyPr/>
          <a:lstStyle>
            <a:lvl1pPr>
              <a:defRPr/>
            </a:lvl1pPr>
          </a:lstStyle>
          <a:p>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r>
              <a:rPr lang="en-US"/>
              <a:t>1-</a:t>
            </a:r>
            <a:fld id="{8EA55A50-2ECA-B246-A140-25B8A0E98392}" type="slidenum">
              <a:rPr lang="en-US"/>
              <a:pPr/>
              <a:t>‹nr.›</a:t>
            </a:fld>
            <a:endParaRPr lang="en-US"/>
          </a:p>
        </p:txBody>
      </p:sp>
    </p:spTree>
    <p:extLst>
      <p:ext uri="{BB962C8B-B14F-4D97-AF65-F5344CB8AC3E}">
        <p14:creationId xmlns:p14="http://schemas.microsoft.com/office/powerpoint/2010/main" val="2340017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cstate="print">
            <a:lum/>
          </a:blip>
          <a:srcRect/>
          <a:stretch>
            <a:fillRect/>
          </a:stretch>
        </a:blipFill>
        <a:effectLst/>
      </p:bgPr>
    </p:bg>
    <p:spTree>
      <p:nvGrpSpPr>
        <p:cNvPr id="1" name=""/>
        <p:cNvGrpSpPr/>
        <p:nvPr/>
      </p:nvGrpSpPr>
      <p:grpSpPr>
        <a:xfrm>
          <a:off x="0" y="0"/>
          <a:ext cx="0" cy="0"/>
          <a:chOff x="0" y="0"/>
          <a:chExt cx="0" cy="0"/>
        </a:xfrm>
      </p:grpSpPr>
      <p:sp>
        <p:nvSpPr>
          <p:cNvPr id="3" name="Tijdelijke aanduiding voor tekst 2"/>
          <p:cNvSpPr>
            <a:spLocks noGrp="1"/>
          </p:cNvSpPr>
          <p:nvPr>
            <p:ph type="body" idx="1"/>
          </p:nvPr>
        </p:nvSpPr>
        <p:spPr>
          <a:xfrm>
            <a:off x="590872" y="1279301"/>
            <a:ext cx="8229600" cy="4237931"/>
          </a:xfrm>
          <a:prstGeom prst="rect">
            <a:avLst/>
          </a:prstGeom>
        </p:spPr>
        <p:txBody>
          <a:bodyPr vert="horz" lIns="91440" tIns="45720" rIns="91440" bIns="45720" rtlCol="0">
            <a:normAutofit/>
          </a:body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4"/>
          </p:nvPr>
        </p:nvSpPr>
        <p:spPr>
          <a:xfrm>
            <a:off x="3230488" y="6448251"/>
            <a:ext cx="2133600" cy="365125"/>
          </a:xfrm>
          <a:prstGeom prst="rect">
            <a:avLst/>
          </a:prstGeom>
        </p:spPr>
        <p:txBody>
          <a:bodyPr vert="horz" lIns="91440" tIns="45720" rIns="91440" bIns="45720" rtlCol="0" anchor="ctr"/>
          <a:lstStyle>
            <a:lvl1pPr algn="ctr">
              <a:defRPr sz="1000">
                <a:solidFill>
                  <a:srgbClr val="23114C"/>
                </a:solidFill>
              </a:defRPr>
            </a:lvl1pPr>
          </a:lstStyle>
          <a:p>
            <a:fld id="{1DAD25AC-3D36-459B-92CD-44DA3A629171}" type="slidenum">
              <a:rPr lang="nl-NL" smtClean="0"/>
              <a:pPr/>
              <a:t>‹nr.›</a:t>
            </a:fld>
            <a:endParaRPr lang="nl-NL" dirty="0"/>
          </a:p>
        </p:txBody>
      </p:sp>
      <p:sp>
        <p:nvSpPr>
          <p:cNvPr id="9" name="Tijdelijke aanduiding voor voettekst 4"/>
          <p:cNvSpPr>
            <a:spLocks noGrp="1"/>
          </p:cNvSpPr>
          <p:nvPr>
            <p:ph type="ftr" sz="quarter" idx="3"/>
          </p:nvPr>
        </p:nvSpPr>
        <p:spPr>
          <a:xfrm>
            <a:off x="2627784" y="5805264"/>
            <a:ext cx="6120680" cy="576064"/>
          </a:xfrm>
          <a:prstGeom prst="rect">
            <a:avLst/>
          </a:prstGeom>
        </p:spPr>
        <p:txBody>
          <a:bodyPr vert="horz" lIns="91440" tIns="45720" rIns="91440" bIns="45720" rtlCol="0" anchor="t"/>
          <a:lstStyle>
            <a:lvl1pPr algn="l">
              <a:defRPr sz="1200">
                <a:solidFill>
                  <a:srgbClr val="23114C"/>
                </a:solidFill>
                <a:latin typeface="Verdana" pitchFamily="34" charset="0"/>
                <a:ea typeface="Verdana" pitchFamily="34" charset="0"/>
                <a:cs typeface="Verdana" pitchFamily="34" charset="0"/>
              </a:defRPr>
            </a:lvl1pPr>
          </a:lstStyle>
          <a:p>
            <a:endParaRPr lang="nl-NL" dirty="0"/>
          </a:p>
        </p:txBody>
      </p:sp>
      <p:sp>
        <p:nvSpPr>
          <p:cNvPr id="10" name="Tijdelijke aanduiding voor titel 9"/>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nl-NL"/>
              <a:t>Klik om de stijl te bewerken</a:t>
            </a:r>
          </a:p>
        </p:txBody>
      </p:sp>
    </p:spTree>
  </p:cSld>
  <p:clrMap bg1="lt1" tx1="dk1" bg2="lt2" tx2="dk2" accent1="accent1" accent2="accent2" accent3="accent3" accent4="accent4" accent5="accent5" accent6="accent6" hlink="hlink" folHlink="folHlink"/>
  <p:sldLayoutIdLst>
    <p:sldLayoutId id="2147483656" r:id="rId1"/>
    <p:sldLayoutId id="2147483661" r:id="rId2"/>
    <p:sldLayoutId id="2147483657" r:id="rId3"/>
    <p:sldLayoutId id="2147483664" r:id="rId4"/>
    <p:sldLayoutId id="2147483665" r:id="rId5"/>
    <p:sldLayoutId id="2147483666" r:id="rId6"/>
  </p:sldLayoutIdLst>
  <p:hf hdr="0" dt="0"/>
  <p:txStyles>
    <p:titleStyle>
      <a:lvl1pPr algn="l" defTabSz="914400" rtl="0" eaLnBrk="1" latinLnBrk="0" hangingPunct="1">
        <a:spcBef>
          <a:spcPct val="0"/>
        </a:spcBef>
        <a:buNone/>
        <a:defRPr sz="2600" b="1" kern="1200">
          <a:solidFill>
            <a:srgbClr val="20BDBA"/>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rgbClr val="23114C"/>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200" kern="1200">
          <a:solidFill>
            <a:srgbClr val="23114C"/>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900" kern="1200">
          <a:solidFill>
            <a:srgbClr val="23114C"/>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700" kern="1200">
          <a:solidFill>
            <a:srgbClr val="23114C"/>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400" kern="1200">
          <a:solidFill>
            <a:srgbClr val="23114C"/>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5.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nl-NL" dirty="0"/>
              <a:t>ICPT – Concepten in Programmeertalen</a:t>
            </a:r>
          </a:p>
        </p:txBody>
      </p:sp>
      <p:sp>
        <p:nvSpPr>
          <p:cNvPr id="3" name="Ondertitel 2"/>
          <p:cNvSpPr>
            <a:spLocks noGrp="1"/>
          </p:cNvSpPr>
          <p:nvPr>
            <p:ph type="subTitle" idx="1"/>
          </p:nvPr>
        </p:nvSpPr>
        <p:spPr/>
        <p:txBody>
          <a:bodyPr/>
          <a:lstStyle/>
          <a:p>
            <a:r>
              <a:rPr lang="nl-NL" dirty="0"/>
              <a:t>Les 5</a:t>
            </a:r>
          </a:p>
          <a:p>
            <a:r>
              <a:rPr lang="nl-NL" dirty="0"/>
              <a:t>Object georiënteerd programmeren</a:t>
            </a:r>
          </a:p>
          <a:p>
            <a:r>
              <a:rPr lang="nl-NL" dirty="0"/>
              <a:t>Concurrency</a:t>
            </a:r>
          </a:p>
          <a:p>
            <a:r>
              <a:rPr lang="nl-NL" dirty="0" err="1"/>
              <a:t>Exception</a:t>
            </a:r>
            <a:r>
              <a:rPr lang="nl-NL" dirty="0"/>
              <a:t> Handling</a:t>
            </a:r>
          </a:p>
        </p:txBody>
      </p:sp>
      <p:sp>
        <p:nvSpPr>
          <p:cNvPr id="6" name="Tijdelijke aanduiding voor voettekst 5"/>
          <p:cNvSpPr>
            <a:spLocks noGrp="1"/>
          </p:cNvSpPr>
          <p:nvPr>
            <p:ph type="ftr" sz="quarter" idx="11"/>
          </p:nvPr>
        </p:nvSpPr>
        <p:spPr/>
        <p:txBody>
          <a:bodyPr/>
          <a:lstStyle/>
          <a:p>
            <a:r>
              <a:rPr lang="nl-NL" dirty="0"/>
              <a:t>Opleiding Informatica</a:t>
            </a:r>
          </a:p>
        </p:txBody>
      </p:sp>
    </p:spTree>
    <p:extLst>
      <p:ext uri="{BB962C8B-B14F-4D97-AF65-F5344CB8AC3E}">
        <p14:creationId xmlns:p14="http://schemas.microsoft.com/office/powerpoint/2010/main" val="4030450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p:cNvSpPr>
            <a:spLocks noGrp="1"/>
          </p:cNvSpPr>
          <p:nvPr>
            <p:ph type="sldNum" sz="quarter" idx="4"/>
          </p:nvPr>
        </p:nvSpPr>
        <p:spPr/>
        <p:txBody>
          <a:bodyPr/>
          <a:lstStyle/>
          <a:p>
            <a:fld id="{1DAD25AC-3D36-459B-92CD-44DA3A629171}" type="slidenum">
              <a:rPr lang="nl-NL" smtClean="0"/>
              <a:pPr/>
              <a:t>2</a:t>
            </a:fld>
            <a:endParaRPr lang="nl-NL" dirty="0"/>
          </a:p>
        </p:txBody>
      </p:sp>
      <p:sp>
        <p:nvSpPr>
          <p:cNvPr id="3" name="Tijdelijke aanduiding voor inhoud 2"/>
          <p:cNvSpPr>
            <a:spLocks noGrp="1"/>
          </p:cNvSpPr>
          <p:nvPr>
            <p:ph idx="1"/>
          </p:nvPr>
        </p:nvSpPr>
        <p:spPr/>
        <p:txBody>
          <a:bodyPr>
            <a:normAutofit/>
          </a:bodyPr>
          <a:lstStyle/>
          <a:p>
            <a:pPr marL="0" indent="0">
              <a:buNone/>
            </a:pPr>
            <a:r>
              <a:rPr lang="nl-NL" sz="2000" dirty="0"/>
              <a:t>Object georiënteerd programmeren</a:t>
            </a:r>
          </a:p>
          <a:p>
            <a:pPr marL="0" indent="0">
              <a:buNone/>
            </a:pPr>
            <a:r>
              <a:rPr lang="nl-NL" sz="2000" dirty="0"/>
              <a:t>Pauze</a:t>
            </a:r>
          </a:p>
          <a:p>
            <a:pPr marL="0" indent="0">
              <a:buNone/>
            </a:pPr>
            <a:r>
              <a:rPr lang="nl-NL" sz="2000" dirty="0"/>
              <a:t>Concurrency</a:t>
            </a:r>
          </a:p>
          <a:p>
            <a:pPr marL="0" indent="0">
              <a:buNone/>
            </a:pPr>
            <a:r>
              <a:rPr lang="nl-NL" sz="2000" dirty="0" err="1"/>
              <a:t>Exception</a:t>
            </a:r>
            <a:r>
              <a:rPr lang="nl-NL" sz="2000" dirty="0"/>
              <a:t> Handling</a:t>
            </a:r>
          </a:p>
          <a:p>
            <a:pPr marL="0" indent="0">
              <a:buNone/>
            </a:pPr>
            <a:endParaRPr lang="nl-NL" sz="2000" dirty="0"/>
          </a:p>
          <a:p>
            <a:pPr marL="0" indent="0">
              <a:buNone/>
            </a:pPr>
            <a:endParaRPr lang="nl-NL" sz="2000" dirty="0"/>
          </a:p>
        </p:txBody>
      </p:sp>
      <p:sp>
        <p:nvSpPr>
          <p:cNvPr id="4" name="Tijdelijke aanduiding voor voettekst 3"/>
          <p:cNvSpPr>
            <a:spLocks noGrp="1"/>
          </p:cNvSpPr>
          <p:nvPr>
            <p:ph type="ftr" sz="quarter" idx="11"/>
          </p:nvPr>
        </p:nvSpPr>
        <p:spPr/>
        <p:txBody>
          <a:bodyPr/>
          <a:lstStyle/>
          <a:p>
            <a:endParaRPr lang="nl-NL" dirty="0"/>
          </a:p>
        </p:txBody>
      </p:sp>
      <p:sp>
        <p:nvSpPr>
          <p:cNvPr id="5" name="Titel 4"/>
          <p:cNvSpPr>
            <a:spLocks noGrp="1"/>
          </p:cNvSpPr>
          <p:nvPr>
            <p:ph type="title"/>
          </p:nvPr>
        </p:nvSpPr>
        <p:spPr/>
        <p:txBody>
          <a:bodyPr/>
          <a:lstStyle/>
          <a:p>
            <a:r>
              <a:rPr lang="nl-NL" dirty="0"/>
              <a:t>Planning voor vandaag</a:t>
            </a:r>
          </a:p>
        </p:txBody>
      </p:sp>
    </p:spTree>
    <p:extLst>
      <p:ext uri="{BB962C8B-B14F-4D97-AF65-F5344CB8AC3E}">
        <p14:creationId xmlns:p14="http://schemas.microsoft.com/office/powerpoint/2010/main" val="3558630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p:txBody>
          <a:bodyPr/>
          <a:lstStyle/>
          <a:p>
            <a:pPr eaLnBrk="1" hangingPunct="1"/>
            <a:r>
              <a:rPr lang="en-US">
                <a:latin typeface="Lucida Sans Unicode" charset="0"/>
                <a:cs typeface="Lucida Sans Unicode" charset="0"/>
              </a:rPr>
              <a:t>Chapter 12</a:t>
            </a:r>
          </a:p>
        </p:txBody>
      </p:sp>
      <p:sp>
        <p:nvSpPr>
          <p:cNvPr id="3075" name="Rectangle 5"/>
          <p:cNvSpPr>
            <a:spLocks noGrp="1" noChangeArrowheads="1"/>
          </p:cNvSpPr>
          <p:nvPr>
            <p:ph type="subTitle" idx="1"/>
          </p:nvPr>
        </p:nvSpPr>
        <p:spPr/>
        <p:txBody>
          <a:bodyPr/>
          <a:lstStyle/>
          <a:p>
            <a:pPr eaLnBrk="1" hangingPunct="1"/>
            <a:r>
              <a:rPr lang="en-US">
                <a:latin typeface="Lucida Sans Unicode" charset="0"/>
                <a:cs typeface="Lucida Sans Unicode" charset="0"/>
              </a:rPr>
              <a:t>Support for</a:t>
            </a:r>
          </a:p>
          <a:p>
            <a:pPr eaLnBrk="1" hangingPunct="1"/>
            <a:r>
              <a:rPr lang="en-US">
                <a:latin typeface="Lucida Sans Unicode" charset="0"/>
                <a:cs typeface="Lucida Sans Unicode" charset="0"/>
              </a:rPr>
              <a:t>Object-Oriented Programming</a:t>
            </a:r>
          </a:p>
        </p:txBody>
      </p:sp>
    </p:spTree>
    <p:extLst>
      <p:ext uri="{BB962C8B-B14F-4D97-AF65-F5344CB8AC3E}">
        <p14:creationId xmlns:p14="http://schemas.microsoft.com/office/powerpoint/2010/main" val="862076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409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4727F9F7-6F9C-B243-A7CC-69A4018F1D8F}" type="slidenum">
              <a:rPr lang="en-US" sz="1000">
                <a:latin typeface="Arial" charset="0"/>
              </a:rPr>
              <a:pPr/>
              <a:t>4</a:t>
            </a:fld>
            <a:endParaRPr lang="en-US" sz="1000">
              <a:latin typeface="Arial" charset="0"/>
            </a:endParaRPr>
          </a:p>
        </p:txBody>
      </p:sp>
      <p:sp>
        <p:nvSpPr>
          <p:cNvPr id="4100" name="Rectangle 2"/>
          <p:cNvSpPr>
            <a:spLocks noGrp="1" noChangeArrowheads="1"/>
          </p:cNvSpPr>
          <p:nvPr>
            <p:ph type="title"/>
          </p:nvPr>
        </p:nvSpPr>
        <p:spPr/>
        <p:txBody>
          <a:bodyPr/>
          <a:lstStyle/>
          <a:p>
            <a:pPr eaLnBrk="1" hangingPunct="1"/>
            <a:r>
              <a:rPr lang="en-US">
                <a:latin typeface="Lucida Sans Unicode" charset="0"/>
                <a:cs typeface="Lucida Sans Unicode" charset="0"/>
              </a:rPr>
              <a:t>Chapter 12 Topics</a:t>
            </a:r>
          </a:p>
        </p:txBody>
      </p:sp>
      <p:sp>
        <p:nvSpPr>
          <p:cNvPr id="4101" name="Rectangle 3"/>
          <p:cNvSpPr>
            <a:spLocks noGrp="1" noChangeArrowheads="1"/>
          </p:cNvSpPr>
          <p:nvPr>
            <p:ph type="body" idx="1"/>
          </p:nvPr>
        </p:nvSpPr>
        <p:spPr>
          <a:xfrm>
            <a:off x="827584" y="1295400"/>
            <a:ext cx="8064896" cy="4149824"/>
          </a:xfrm>
        </p:spPr>
        <p:txBody>
          <a:bodyPr>
            <a:normAutofit fontScale="92500" lnSpcReduction="10000"/>
          </a:bodyPr>
          <a:lstStyle/>
          <a:p>
            <a:pPr eaLnBrk="1" hangingPunct="1"/>
            <a:r>
              <a:rPr lang="en-US" sz="2400" dirty="0">
                <a:latin typeface="Lucida Sans Unicode" charset="0"/>
                <a:cs typeface="Lucida Sans Unicode" charset="0"/>
              </a:rPr>
              <a:t>Introduction</a:t>
            </a:r>
          </a:p>
          <a:p>
            <a:pPr eaLnBrk="1" hangingPunct="1"/>
            <a:r>
              <a:rPr lang="en-US" sz="2400" dirty="0">
                <a:latin typeface="Lucida Sans Unicode" charset="0"/>
                <a:cs typeface="Lucida Sans Unicode" charset="0"/>
              </a:rPr>
              <a:t>Object-Oriented Programming</a:t>
            </a:r>
          </a:p>
          <a:p>
            <a:pPr eaLnBrk="1" hangingPunct="1"/>
            <a:r>
              <a:rPr lang="en-US" sz="2400" dirty="0">
                <a:latin typeface="Lucida Sans Unicode" charset="0"/>
                <a:cs typeface="Lucida Sans Unicode" charset="0"/>
              </a:rPr>
              <a:t>Design Issues for Object-Oriented Languages</a:t>
            </a:r>
          </a:p>
          <a:p>
            <a:pPr eaLnBrk="1" hangingPunct="1"/>
            <a:r>
              <a:rPr lang="en-US" sz="2400" dirty="0">
                <a:latin typeface="Lucida Sans Unicode" charset="0"/>
                <a:cs typeface="Lucida Sans Unicode" charset="0"/>
              </a:rPr>
              <a:t>Support for Object-Oriented Programming in Smalltalk</a:t>
            </a:r>
          </a:p>
          <a:p>
            <a:pPr eaLnBrk="1" hangingPunct="1"/>
            <a:r>
              <a:rPr lang="en-US" sz="2400" dirty="0">
                <a:latin typeface="Lucida Sans Unicode" charset="0"/>
                <a:cs typeface="Lucida Sans Unicode" charset="0"/>
              </a:rPr>
              <a:t>Support for Object-Oriented Programming in C++</a:t>
            </a:r>
          </a:p>
          <a:p>
            <a:pPr eaLnBrk="1" hangingPunct="1"/>
            <a:r>
              <a:rPr lang="en-US" sz="2400" dirty="0">
                <a:latin typeface="Lucida Sans Unicode" charset="0"/>
                <a:cs typeface="Lucida Sans Unicode" charset="0"/>
              </a:rPr>
              <a:t>Support for Object-Oriented Programming in Objective-C</a:t>
            </a:r>
          </a:p>
          <a:p>
            <a:pPr eaLnBrk="1" hangingPunct="1"/>
            <a:r>
              <a:rPr lang="en-US" sz="2400" dirty="0">
                <a:latin typeface="Lucida Sans Unicode" charset="0"/>
                <a:cs typeface="Lucida Sans Unicode" charset="0"/>
              </a:rPr>
              <a:t>Support for Object-Oriented Programming in Java</a:t>
            </a:r>
          </a:p>
          <a:p>
            <a:pPr eaLnBrk="1" hangingPunct="1"/>
            <a:r>
              <a:rPr lang="en-US" sz="2400" dirty="0">
                <a:latin typeface="Lucida Sans Unicode" charset="0"/>
                <a:cs typeface="Lucida Sans Unicode" charset="0"/>
              </a:rPr>
              <a:t>Support for Object-Oriented Programming in C#</a:t>
            </a:r>
          </a:p>
          <a:p>
            <a:pPr eaLnBrk="1" hangingPunct="1"/>
            <a:r>
              <a:rPr lang="en-US" sz="2400" dirty="0">
                <a:latin typeface="Lucida Sans Unicode" charset="0"/>
                <a:cs typeface="Lucida Sans Unicode" charset="0"/>
              </a:rPr>
              <a:t>Support for Object-Oriented Programming in Ruby</a:t>
            </a:r>
          </a:p>
          <a:p>
            <a:pPr eaLnBrk="1" hangingPunct="1"/>
            <a:r>
              <a:rPr lang="en-US" sz="2400" dirty="0">
                <a:latin typeface="Lucida Sans Unicode" charset="0"/>
                <a:cs typeface="Lucida Sans Unicode" charset="0"/>
              </a:rPr>
              <a:t>Implementation of Object-Oriented Constructs</a:t>
            </a:r>
          </a:p>
        </p:txBody>
      </p:sp>
    </p:spTree>
    <p:extLst>
      <p:ext uri="{BB962C8B-B14F-4D97-AF65-F5344CB8AC3E}">
        <p14:creationId xmlns:p14="http://schemas.microsoft.com/office/powerpoint/2010/main" val="4175178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512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9EB0A25A-8845-7F4D-A31F-FA69DA50A7D9}" type="slidenum">
              <a:rPr lang="en-US" sz="1000">
                <a:latin typeface="Arial" charset="0"/>
              </a:rPr>
              <a:pPr/>
              <a:t>5</a:t>
            </a:fld>
            <a:endParaRPr lang="en-US" sz="1000">
              <a:latin typeface="Arial" charset="0"/>
            </a:endParaRPr>
          </a:p>
        </p:txBody>
      </p:sp>
      <p:sp>
        <p:nvSpPr>
          <p:cNvPr id="5124" name="Rectangle 2"/>
          <p:cNvSpPr>
            <a:spLocks noGrp="1" noChangeArrowheads="1"/>
          </p:cNvSpPr>
          <p:nvPr>
            <p:ph type="title"/>
          </p:nvPr>
        </p:nvSpPr>
        <p:spPr/>
        <p:txBody>
          <a:bodyPr/>
          <a:lstStyle/>
          <a:p>
            <a:pPr eaLnBrk="1" hangingPunct="1"/>
            <a:r>
              <a:rPr lang="en-US">
                <a:latin typeface="Lucida Sans Unicode" charset="0"/>
                <a:cs typeface="Lucida Sans Unicode" charset="0"/>
              </a:rPr>
              <a:t>Introduction</a:t>
            </a:r>
          </a:p>
        </p:txBody>
      </p:sp>
      <p:sp>
        <p:nvSpPr>
          <p:cNvPr id="5125" name="Rectangle 3"/>
          <p:cNvSpPr>
            <a:spLocks noGrp="1" noChangeArrowheads="1"/>
          </p:cNvSpPr>
          <p:nvPr>
            <p:ph type="body" idx="1"/>
          </p:nvPr>
        </p:nvSpPr>
        <p:spPr>
          <a:xfrm>
            <a:off x="533400" y="1295400"/>
            <a:ext cx="8153400" cy="4953000"/>
          </a:xfrm>
        </p:spPr>
        <p:txBody>
          <a:bodyPr/>
          <a:lstStyle/>
          <a:p>
            <a:pPr eaLnBrk="1" hangingPunct="1"/>
            <a:r>
              <a:rPr lang="en-US">
                <a:latin typeface="Lucida Sans Unicode" charset="0"/>
                <a:cs typeface="Lucida Sans Unicode" charset="0"/>
              </a:rPr>
              <a:t>Many object-oriented programming (OOP) languages</a:t>
            </a:r>
          </a:p>
          <a:p>
            <a:pPr lvl="1" eaLnBrk="1" hangingPunct="1"/>
            <a:r>
              <a:rPr lang="en-US">
                <a:latin typeface="Lucida Sans Unicode" charset="0"/>
                <a:ea typeface="Lucida Sans Unicode" charset="0"/>
                <a:cs typeface="Lucida Sans Unicode" charset="0"/>
              </a:rPr>
              <a:t>Some support procedural and data-oriented programming (e.g., Ada 95+ and C++)</a:t>
            </a:r>
          </a:p>
          <a:p>
            <a:pPr lvl="1" eaLnBrk="1" hangingPunct="1"/>
            <a:r>
              <a:rPr lang="en-US">
                <a:latin typeface="Lucida Sans Unicode" charset="0"/>
                <a:ea typeface="Lucida Sans Unicode" charset="0"/>
                <a:cs typeface="Lucida Sans Unicode" charset="0"/>
              </a:rPr>
              <a:t>Some support functional program (e.g., CLOS)</a:t>
            </a:r>
          </a:p>
          <a:p>
            <a:pPr lvl="1" eaLnBrk="1" hangingPunct="1"/>
            <a:r>
              <a:rPr lang="en-US">
                <a:latin typeface="Lucida Sans Unicode" charset="0"/>
                <a:ea typeface="Lucida Sans Unicode" charset="0"/>
                <a:cs typeface="Lucida Sans Unicode" charset="0"/>
              </a:rPr>
              <a:t>Newer languages do not support other paradigms but use their imperative structures (e.g., Java and C#)</a:t>
            </a:r>
          </a:p>
          <a:p>
            <a:pPr lvl="1" eaLnBrk="1" hangingPunct="1"/>
            <a:r>
              <a:rPr lang="en-US">
                <a:latin typeface="Lucida Sans Unicode" charset="0"/>
                <a:ea typeface="Lucida Sans Unicode" charset="0"/>
                <a:cs typeface="Lucida Sans Unicode" charset="0"/>
              </a:rPr>
              <a:t>Some are pure OOP language (e.g., Smalltalk &amp; Ruby)</a:t>
            </a:r>
          </a:p>
          <a:p>
            <a:pPr lvl="1" eaLnBrk="1" hangingPunct="1"/>
            <a:r>
              <a:rPr lang="en-US">
                <a:latin typeface="Lucida Sans Unicode" charset="0"/>
                <a:ea typeface="Lucida Sans Unicode" charset="0"/>
                <a:cs typeface="Lucida Sans Unicode" charset="0"/>
              </a:rPr>
              <a:t>Some functional languages support OOP, but they are not discussed in this chapter</a:t>
            </a:r>
          </a:p>
          <a:p>
            <a:pPr lvl="1" eaLnBrk="1" hangingPunct="1"/>
            <a:endParaRPr lang="en-US">
              <a:latin typeface="Lucida Sans Unicode" charset="0"/>
              <a:ea typeface="Lucida Sans Unicode" charset="0"/>
              <a:cs typeface="Lucida Sans Unicode" charset="0"/>
            </a:endParaRPr>
          </a:p>
          <a:p>
            <a:pPr lvl="1" eaLnBrk="1" hangingPunct="1"/>
            <a:endParaRPr lang="en-US">
              <a:latin typeface="Lucida Sans Unicode" charset="0"/>
              <a:ea typeface="Lucida Sans Unicode" charset="0"/>
              <a:cs typeface="Lucida Sans Unicode" charset="0"/>
            </a:endParaRPr>
          </a:p>
        </p:txBody>
      </p:sp>
    </p:spTree>
    <p:extLst>
      <p:ext uri="{BB962C8B-B14F-4D97-AF65-F5344CB8AC3E}">
        <p14:creationId xmlns:p14="http://schemas.microsoft.com/office/powerpoint/2010/main" val="2788041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14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71D2F7BD-2E5A-7945-AF80-A8AC94D92ACE}" type="slidenum">
              <a:rPr lang="en-US" sz="1000">
                <a:latin typeface="Arial" charset="0"/>
              </a:rPr>
              <a:pPr/>
              <a:t>6</a:t>
            </a:fld>
            <a:endParaRPr lang="en-US" sz="1000">
              <a:latin typeface="Arial" charset="0"/>
            </a:endParaRPr>
          </a:p>
        </p:txBody>
      </p:sp>
      <p:sp>
        <p:nvSpPr>
          <p:cNvPr id="6148" name="Rectangle 2"/>
          <p:cNvSpPr>
            <a:spLocks noGrp="1" noChangeArrowheads="1"/>
          </p:cNvSpPr>
          <p:nvPr>
            <p:ph type="title"/>
          </p:nvPr>
        </p:nvSpPr>
        <p:spPr/>
        <p:txBody>
          <a:bodyPr/>
          <a:lstStyle/>
          <a:p>
            <a:pPr eaLnBrk="1" hangingPunct="1"/>
            <a:r>
              <a:rPr lang="en-US">
                <a:latin typeface="Lucida Sans Unicode" charset="0"/>
                <a:cs typeface="Lucida Sans Unicode" charset="0"/>
              </a:rPr>
              <a:t>Object-Oriented Programming</a:t>
            </a:r>
          </a:p>
        </p:txBody>
      </p:sp>
      <p:sp>
        <p:nvSpPr>
          <p:cNvPr id="6149"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Three major language features:</a:t>
            </a:r>
          </a:p>
          <a:p>
            <a:pPr lvl="1" eaLnBrk="1" hangingPunct="1"/>
            <a:r>
              <a:rPr lang="en-US">
                <a:latin typeface="Lucida Sans Unicode" charset="0"/>
                <a:ea typeface="Lucida Sans Unicode" charset="0"/>
                <a:cs typeface="Lucida Sans Unicode" charset="0"/>
              </a:rPr>
              <a:t>Abstract data types (Chapter 11)</a:t>
            </a:r>
          </a:p>
          <a:p>
            <a:pPr lvl="1" eaLnBrk="1" hangingPunct="1"/>
            <a:r>
              <a:rPr lang="en-US">
                <a:latin typeface="Lucida Sans Unicode" charset="0"/>
                <a:ea typeface="Lucida Sans Unicode" charset="0"/>
                <a:cs typeface="Lucida Sans Unicode" charset="0"/>
              </a:rPr>
              <a:t>Inheritance</a:t>
            </a:r>
          </a:p>
          <a:p>
            <a:pPr lvl="2" eaLnBrk="1" hangingPunct="1"/>
            <a:r>
              <a:rPr lang="en-US">
                <a:latin typeface="Lucida Sans Unicode" charset="0"/>
                <a:ea typeface="Lucida Sans Unicode" charset="0"/>
                <a:cs typeface="Lucida Sans Unicode" charset="0"/>
              </a:rPr>
              <a:t>Inheritance is the central theme in OOP and languages that support it</a:t>
            </a:r>
          </a:p>
          <a:p>
            <a:pPr lvl="1" eaLnBrk="1" hangingPunct="1"/>
            <a:r>
              <a:rPr lang="en-US">
                <a:latin typeface="Lucida Sans Unicode" charset="0"/>
                <a:ea typeface="Lucida Sans Unicode" charset="0"/>
                <a:cs typeface="Lucida Sans Unicode" charset="0"/>
              </a:rPr>
              <a:t>Polymorphism</a:t>
            </a:r>
          </a:p>
        </p:txBody>
      </p:sp>
    </p:spTree>
    <p:extLst>
      <p:ext uri="{BB962C8B-B14F-4D97-AF65-F5344CB8AC3E}">
        <p14:creationId xmlns:p14="http://schemas.microsoft.com/office/powerpoint/2010/main" val="1082836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717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E525E1AA-3DEC-164F-9F1E-93F4F0039C8D}" type="slidenum">
              <a:rPr lang="en-US" sz="1000">
                <a:latin typeface="Arial" charset="0"/>
              </a:rPr>
              <a:pPr/>
              <a:t>7</a:t>
            </a:fld>
            <a:endParaRPr lang="en-US" sz="1000">
              <a:latin typeface="Arial" charset="0"/>
            </a:endParaRPr>
          </a:p>
        </p:txBody>
      </p:sp>
      <p:sp>
        <p:nvSpPr>
          <p:cNvPr id="7172" name="Rectangle 2"/>
          <p:cNvSpPr>
            <a:spLocks noGrp="1" noChangeArrowheads="1"/>
          </p:cNvSpPr>
          <p:nvPr>
            <p:ph type="title"/>
          </p:nvPr>
        </p:nvSpPr>
        <p:spPr/>
        <p:txBody>
          <a:bodyPr/>
          <a:lstStyle/>
          <a:p>
            <a:pPr eaLnBrk="1" hangingPunct="1"/>
            <a:r>
              <a:rPr lang="en-US">
                <a:latin typeface="Lucida Sans Unicode" charset="0"/>
                <a:cs typeface="Lucida Sans Unicode" charset="0"/>
              </a:rPr>
              <a:t>Inheritance</a:t>
            </a:r>
          </a:p>
        </p:txBody>
      </p:sp>
      <p:sp>
        <p:nvSpPr>
          <p:cNvPr id="7173" name="Rectangle 3"/>
          <p:cNvSpPr>
            <a:spLocks noGrp="1" noChangeArrowheads="1"/>
          </p:cNvSpPr>
          <p:nvPr>
            <p:ph type="body" idx="1"/>
          </p:nvPr>
        </p:nvSpPr>
        <p:spPr>
          <a:xfrm>
            <a:off x="609600" y="1447800"/>
            <a:ext cx="8153400" cy="4572000"/>
          </a:xfrm>
        </p:spPr>
        <p:txBody>
          <a:bodyPr/>
          <a:lstStyle/>
          <a:p>
            <a:pPr eaLnBrk="1" hangingPunct="1"/>
            <a:r>
              <a:rPr lang="en-US">
                <a:latin typeface="Lucida Sans Unicode" charset="0"/>
                <a:cs typeface="Lucida Sans Unicode" charset="0"/>
              </a:rPr>
              <a:t>Productivity increases can come from reuse</a:t>
            </a:r>
          </a:p>
          <a:p>
            <a:pPr lvl="1" eaLnBrk="1" hangingPunct="1"/>
            <a:r>
              <a:rPr lang="en-US">
                <a:latin typeface="Lucida Sans Unicode" charset="0"/>
                <a:ea typeface="Lucida Sans Unicode" charset="0"/>
                <a:cs typeface="Lucida Sans Unicode" charset="0"/>
              </a:rPr>
              <a:t>ADTs are difficult to reuse—always need changes</a:t>
            </a:r>
          </a:p>
          <a:p>
            <a:pPr lvl="1" eaLnBrk="1" hangingPunct="1"/>
            <a:r>
              <a:rPr lang="en-US">
                <a:latin typeface="Lucida Sans Unicode" charset="0"/>
                <a:ea typeface="Lucida Sans Unicode" charset="0"/>
                <a:cs typeface="Lucida Sans Unicode" charset="0"/>
              </a:rPr>
              <a:t>All ADTs are independent and at the same level</a:t>
            </a:r>
          </a:p>
          <a:p>
            <a:pPr eaLnBrk="1" hangingPunct="1"/>
            <a:r>
              <a:rPr lang="en-US">
                <a:latin typeface="Lucida Sans Unicode" charset="0"/>
                <a:cs typeface="Lucida Sans Unicode" charset="0"/>
              </a:rPr>
              <a:t>Inheritance allows new classes defined  in terms of existing ones, i.e., by allowing them to inherit common parts</a:t>
            </a:r>
          </a:p>
          <a:p>
            <a:pPr eaLnBrk="1" hangingPunct="1"/>
            <a:r>
              <a:rPr lang="en-US">
                <a:latin typeface="Lucida Sans Unicode" charset="0"/>
                <a:cs typeface="Lucida Sans Unicode" charset="0"/>
              </a:rPr>
              <a:t>Inheritance addresses both of the above concerns--reuse ADTs after minor changes and define classes in a hierarchy</a:t>
            </a:r>
          </a:p>
        </p:txBody>
      </p:sp>
    </p:spTree>
    <p:extLst>
      <p:ext uri="{BB962C8B-B14F-4D97-AF65-F5344CB8AC3E}">
        <p14:creationId xmlns:p14="http://schemas.microsoft.com/office/powerpoint/2010/main" val="2285108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819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EE9935D1-14AE-A045-99EC-0132694A5866}" type="slidenum">
              <a:rPr lang="en-US" sz="1000">
                <a:latin typeface="Arial" charset="0"/>
              </a:rPr>
              <a:pPr/>
              <a:t>8</a:t>
            </a:fld>
            <a:endParaRPr lang="en-US" sz="1000">
              <a:latin typeface="Arial" charset="0"/>
            </a:endParaRPr>
          </a:p>
        </p:txBody>
      </p:sp>
      <p:sp>
        <p:nvSpPr>
          <p:cNvPr id="8196" name="Rectangle 2"/>
          <p:cNvSpPr>
            <a:spLocks noGrp="1" noChangeArrowheads="1"/>
          </p:cNvSpPr>
          <p:nvPr>
            <p:ph type="title"/>
          </p:nvPr>
        </p:nvSpPr>
        <p:spPr/>
        <p:txBody>
          <a:bodyPr/>
          <a:lstStyle/>
          <a:p>
            <a:pPr eaLnBrk="1" hangingPunct="1"/>
            <a:r>
              <a:rPr lang="en-US">
                <a:latin typeface="Lucida Sans Unicode" charset="0"/>
                <a:cs typeface="Lucida Sans Unicode" charset="0"/>
              </a:rPr>
              <a:t>Object-Oriented Concepts</a:t>
            </a:r>
          </a:p>
        </p:txBody>
      </p:sp>
      <p:sp>
        <p:nvSpPr>
          <p:cNvPr id="8197"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ADTs are usually called </a:t>
            </a:r>
            <a:r>
              <a:rPr lang="en-US" i="1">
                <a:latin typeface="Lucida Sans Unicode" charset="0"/>
                <a:cs typeface="Lucida Sans Unicode" charset="0"/>
              </a:rPr>
              <a:t>classes</a:t>
            </a:r>
          </a:p>
          <a:p>
            <a:pPr eaLnBrk="1" hangingPunct="1"/>
            <a:r>
              <a:rPr lang="en-US">
                <a:latin typeface="Lucida Sans Unicode" charset="0"/>
                <a:cs typeface="Lucida Sans Unicode" charset="0"/>
              </a:rPr>
              <a:t>Class instances are called </a:t>
            </a:r>
            <a:r>
              <a:rPr lang="en-US" i="1">
                <a:latin typeface="Lucida Sans Unicode" charset="0"/>
                <a:cs typeface="Lucida Sans Unicode" charset="0"/>
              </a:rPr>
              <a:t>objects</a:t>
            </a:r>
          </a:p>
          <a:p>
            <a:pPr eaLnBrk="1" hangingPunct="1"/>
            <a:r>
              <a:rPr lang="en-US">
                <a:latin typeface="Lucida Sans Unicode" charset="0"/>
                <a:cs typeface="Lucida Sans Unicode" charset="0"/>
              </a:rPr>
              <a:t>A class that inherits is a </a:t>
            </a:r>
            <a:r>
              <a:rPr lang="en-US" i="1">
                <a:latin typeface="Lucida Sans Unicode" charset="0"/>
                <a:cs typeface="Lucida Sans Unicode" charset="0"/>
              </a:rPr>
              <a:t>derived class</a:t>
            </a:r>
            <a:r>
              <a:rPr lang="en-US">
                <a:latin typeface="Lucida Sans Unicode" charset="0"/>
                <a:cs typeface="Lucida Sans Unicode" charset="0"/>
              </a:rPr>
              <a:t> or a </a:t>
            </a:r>
            <a:r>
              <a:rPr lang="en-US" i="1">
                <a:latin typeface="Lucida Sans Unicode" charset="0"/>
                <a:cs typeface="Lucida Sans Unicode" charset="0"/>
              </a:rPr>
              <a:t>subclass</a:t>
            </a:r>
          </a:p>
          <a:p>
            <a:pPr eaLnBrk="1" hangingPunct="1"/>
            <a:r>
              <a:rPr lang="en-US">
                <a:latin typeface="Lucida Sans Unicode" charset="0"/>
                <a:cs typeface="Lucida Sans Unicode" charset="0"/>
              </a:rPr>
              <a:t>The class from which another class inherits is a parent class or </a:t>
            </a:r>
            <a:r>
              <a:rPr lang="en-US" i="1">
                <a:latin typeface="Lucida Sans Unicode" charset="0"/>
                <a:cs typeface="Lucida Sans Unicode" charset="0"/>
              </a:rPr>
              <a:t>superclass</a:t>
            </a:r>
          </a:p>
          <a:p>
            <a:pPr eaLnBrk="1" hangingPunct="1"/>
            <a:r>
              <a:rPr lang="en-US">
                <a:latin typeface="Lucida Sans Unicode" charset="0"/>
                <a:cs typeface="Lucida Sans Unicode" charset="0"/>
              </a:rPr>
              <a:t>Subprograms that define operations on objects are called </a:t>
            </a:r>
            <a:r>
              <a:rPr lang="en-US" i="1">
                <a:latin typeface="Lucida Sans Unicode" charset="0"/>
                <a:cs typeface="Lucida Sans Unicode" charset="0"/>
              </a:rPr>
              <a:t>methods</a:t>
            </a:r>
          </a:p>
        </p:txBody>
      </p:sp>
    </p:spTree>
    <p:extLst>
      <p:ext uri="{BB962C8B-B14F-4D97-AF65-F5344CB8AC3E}">
        <p14:creationId xmlns:p14="http://schemas.microsoft.com/office/powerpoint/2010/main" val="3589090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921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C3FF7658-A1EE-D44C-96B8-166E2F7D9FF0}" type="slidenum">
              <a:rPr lang="en-US" sz="1000">
                <a:latin typeface="Arial" charset="0"/>
              </a:rPr>
              <a:pPr/>
              <a:t>9</a:t>
            </a:fld>
            <a:endParaRPr lang="en-US" sz="1000">
              <a:latin typeface="Arial" charset="0"/>
            </a:endParaRPr>
          </a:p>
        </p:txBody>
      </p:sp>
      <p:sp>
        <p:nvSpPr>
          <p:cNvPr id="9220" name="Rectangle 2"/>
          <p:cNvSpPr>
            <a:spLocks noGrp="1" noChangeArrowheads="1"/>
          </p:cNvSpPr>
          <p:nvPr>
            <p:ph type="title"/>
          </p:nvPr>
        </p:nvSpPr>
        <p:spPr/>
        <p:txBody>
          <a:bodyPr/>
          <a:lstStyle/>
          <a:p>
            <a:pPr eaLnBrk="1" hangingPunct="1"/>
            <a:r>
              <a:rPr lang="en-US" sz="3200">
                <a:latin typeface="Lucida Sans Unicode" charset="0"/>
                <a:cs typeface="Lucida Sans Unicode" charset="0"/>
              </a:rPr>
              <a:t>Object-Oriented Concepts (continued)</a:t>
            </a:r>
          </a:p>
        </p:txBody>
      </p:sp>
      <p:sp>
        <p:nvSpPr>
          <p:cNvPr id="9221"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Calls to methods are called </a:t>
            </a:r>
            <a:r>
              <a:rPr lang="en-US" i="1">
                <a:latin typeface="Lucida Sans Unicode" charset="0"/>
                <a:cs typeface="Lucida Sans Unicode" charset="0"/>
              </a:rPr>
              <a:t>messages</a:t>
            </a:r>
          </a:p>
          <a:p>
            <a:pPr eaLnBrk="1" hangingPunct="1"/>
            <a:r>
              <a:rPr lang="en-US">
                <a:latin typeface="Lucida Sans Unicode" charset="0"/>
                <a:cs typeface="Lucida Sans Unicode" charset="0"/>
              </a:rPr>
              <a:t>The entire collection of methods of an object is called its </a:t>
            </a:r>
            <a:r>
              <a:rPr lang="en-US" i="1">
                <a:latin typeface="Lucida Sans Unicode" charset="0"/>
                <a:cs typeface="Lucida Sans Unicode" charset="0"/>
              </a:rPr>
              <a:t>message protocol</a:t>
            </a:r>
            <a:r>
              <a:rPr lang="en-US">
                <a:latin typeface="Lucida Sans Unicode" charset="0"/>
                <a:cs typeface="Lucida Sans Unicode" charset="0"/>
              </a:rPr>
              <a:t> or </a:t>
            </a:r>
            <a:r>
              <a:rPr lang="en-US" i="1">
                <a:latin typeface="Lucida Sans Unicode" charset="0"/>
                <a:cs typeface="Lucida Sans Unicode" charset="0"/>
              </a:rPr>
              <a:t>message interface</a:t>
            </a:r>
          </a:p>
          <a:p>
            <a:pPr eaLnBrk="1" hangingPunct="1"/>
            <a:r>
              <a:rPr lang="en-US">
                <a:latin typeface="Lucida Sans Unicode" charset="0"/>
                <a:cs typeface="Lucida Sans Unicode" charset="0"/>
              </a:rPr>
              <a:t>Messages have two parts--a method name and the destination object</a:t>
            </a:r>
          </a:p>
          <a:p>
            <a:pPr eaLnBrk="1" hangingPunct="1"/>
            <a:r>
              <a:rPr lang="en-US">
                <a:latin typeface="Lucida Sans Unicode" charset="0"/>
                <a:cs typeface="Lucida Sans Unicode" charset="0"/>
              </a:rPr>
              <a:t>In the simplest case, a class inherits all of the entities of its parent</a:t>
            </a:r>
          </a:p>
        </p:txBody>
      </p:sp>
    </p:spTree>
    <p:extLst>
      <p:ext uri="{BB962C8B-B14F-4D97-AF65-F5344CB8AC3E}">
        <p14:creationId xmlns:p14="http://schemas.microsoft.com/office/powerpoint/2010/main" val="4136553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024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CE3E311F-1586-D145-AEE0-882FF2BBEEB3}" type="slidenum">
              <a:rPr lang="en-US" sz="1000">
                <a:latin typeface="Arial" charset="0"/>
              </a:rPr>
              <a:pPr/>
              <a:t>10</a:t>
            </a:fld>
            <a:endParaRPr lang="en-US" sz="1000">
              <a:latin typeface="Arial" charset="0"/>
            </a:endParaRPr>
          </a:p>
        </p:txBody>
      </p:sp>
      <p:sp>
        <p:nvSpPr>
          <p:cNvPr id="10244" name="Rectangle 2"/>
          <p:cNvSpPr>
            <a:spLocks noGrp="1" noChangeArrowheads="1"/>
          </p:cNvSpPr>
          <p:nvPr>
            <p:ph type="title"/>
          </p:nvPr>
        </p:nvSpPr>
        <p:spPr>
          <a:xfrm>
            <a:off x="609600" y="533400"/>
            <a:ext cx="8153400" cy="1143000"/>
          </a:xfrm>
        </p:spPr>
        <p:txBody>
          <a:bodyPr/>
          <a:lstStyle/>
          <a:p>
            <a:pPr eaLnBrk="1" hangingPunct="1"/>
            <a:r>
              <a:rPr lang="en-US" sz="3200">
                <a:latin typeface="Lucida Sans Unicode" charset="0"/>
                <a:cs typeface="Lucida Sans Unicode" charset="0"/>
              </a:rPr>
              <a:t>Object-Oriented Concepts (continued)</a:t>
            </a:r>
          </a:p>
        </p:txBody>
      </p:sp>
      <p:sp>
        <p:nvSpPr>
          <p:cNvPr id="10245" name="Rectangle 3"/>
          <p:cNvSpPr>
            <a:spLocks noGrp="1" noChangeArrowheads="1"/>
          </p:cNvSpPr>
          <p:nvPr>
            <p:ph type="body" idx="1"/>
          </p:nvPr>
        </p:nvSpPr>
        <p:spPr>
          <a:xfrm>
            <a:off x="533400" y="1447800"/>
            <a:ext cx="8153400" cy="4572000"/>
          </a:xfrm>
        </p:spPr>
        <p:txBody>
          <a:bodyPr/>
          <a:lstStyle/>
          <a:p>
            <a:pPr eaLnBrk="1" hangingPunct="1"/>
            <a:r>
              <a:rPr lang="en-US">
                <a:latin typeface="Lucida Sans Unicode" charset="0"/>
                <a:cs typeface="Lucida Sans Unicode" charset="0"/>
              </a:rPr>
              <a:t>Inheritance can be complicated by access controls to encapsulated entities</a:t>
            </a:r>
          </a:p>
          <a:p>
            <a:pPr lvl="1" eaLnBrk="1" hangingPunct="1"/>
            <a:r>
              <a:rPr lang="en-US">
                <a:latin typeface="Lucida Sans Unicode" charset="0"/>
                <a:ea typeface="Lucida Sans Unicode" charset="0"/>
                <a:cs typeface="Lucida Sans Unicode" charset="0"/>
              </a:rPr>
              <a:t>A class can hide entities from its subclasses</a:t>
            </a:r>
          </a:p>
          <a:p>
            <a:pPr lvl="1" eaLnBrk="1" hangingPunct="1"/>
            <a:r>
              <a:rPr lang="en-US">
                <a:latin typeface="Lucida Sans Unicode" charset="0"/>
                <a:ea typeface="Lucida Sans Unicode" charset="0"/>
                <a:cs typeface="Lucida Sans Unicode" charset="0"/>
              </a:rPr>
              <a:t>A class can hide entities from its clients</a:t>
            </a:r>
          </a:p>
          <a:p>
            <a:pPr lvl="1" eaLnBrk="1" hangingPunct="1"/>
            <a:r>
              <a:rPr lang="en-US">
                <a:latin typeface="Lucida Sans Unicode" charset="0"/>
                <a:ea typeface="Lucida Sans Unicode" charset="0"/>
                <a:cs typeface="Lucida Sans Unicode" charset="0"/>
              </a:rPr>
              <a:t>A class can also hide entities for its clients while allowing its subclasses to see them</a:t>
            </a:r>
          </a:p>
          <a:p>
            <a:pPr eaLnBrk="1" hangingPunct="1"/>
            <a:r>
              <a:rPr lang="en-US">
                <a:latin typeface="Lucida Sans Unicode" charset="0"/>
                <a:cs typeface="Lucida Sans Unicode" charset="0"/>
              </a:rPr>
              <a:t>Besides inheriting methods as is, a class can modify an inherited method</a:t>
            </a:r>
          </a:p>
          <a:p>
            <a:pPr lvl="1" eaLnBrk="1" hangingPunct="1"/>
            <a:r>
              <a:rPr lang="en-US">
                <a:latin typeface="Lucida Sans Unicode" charset="0"/>
                <a:ea typeface="Lucida Sans Unicode" charset="0"/>
                <a:cs typeface="Lucida Sans Unicode" charset="0"/>
              </a:rPr>
              <a:t>The new one </a:t>
            </a:r>
            <a:r>
              <a:rPr lang="en-US" i="1">
                <a:latin typeface="Lucida Sans Unicode" charset="0"/>
                <a:ea typeface="Lucida Sans Unicode" charset="0"/>
                <a:cs typeface="Lucida Sans Unicode" charset="0"/>
              </a:rPr>
              <a:t>overrides</a:t>
            </a:r>
            <a:r>
              <a:rPr lang="en-US">
                <a:latin typeface="Lucida Sans Unicode" charset="0"/>
                <a:ea typeface="Lucida Sans Unicode" charset="0"/>
                <a:cs typeface="Lucida Sans Unicode" charset="0"/>
              </a:rPr>
              <a:t> the inherited one</a:t>
            </a:r>
          </a:p>
          <a:p>
            <a:pPr lvl="1" eaLnBrk="1" hangingPunct="1"/>
            <a:r>
              <a:rPr lang="en-US">
                <a:latin typeface="Lucida Sans Unicode" charset="0"/>
                <a:ea typeface="Lucida Sans Unicode" charset="0"/>
                <a:cs typeface="Lucida Sans Unicode" charset="0"/>
              </a:rPr>
              <a:t>The method in the parent is </a:t>
            </a:r>
            <a:r>
              <a:rPr lang="en-US" i="1">
                <a:latin typeface="Lucida Sans Unicode" charset="0"/>
                <a:ea typeface="Lucida Sans Unicode" charset="0"/>
                <a:cs typeface="Lucida Sans Unicode" charset="0"/>
              </a:rPr>
              <a:t>overriden</a:t>
            </a:r>
          </a:p>
        </p:txBody>
      </p:sp>
    </p:spTree>
    <p:extLst>
      <p:ext uri="{BB962C8B-B14F-4D97-AF65-F5344CB8AC3E}">
        <p14:creationId xmlns:p14="http://schemas.microsoft.com/office/powerpoint/2010/main" val="116342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atin typeface="Lucida Sans Unicode" charset="0"/>
                <a:cs typeface="Lucida Sans Unicode" charset="0"/>
              </a:rPr>
              <a:t>Object-Oriented Concepts </a:t>
            </a:r>
            <a:r>
              <a:rPr lang="en-US" sz="2800">
                <a:latin typeface="Lucida Sans Unicode" charset="0"/>
                <a:cs typeface="Lucida Sans Unicode" charset="0"/>
              </a:rPr>
              <a:t>(continued)</a:t>
            </a:r>
          </a:p>
        </p:txBody>
      </p:sp>
      <p:sp>
        <p:nvSpPr>
          <p:cNvPr id="11267" name="Content Placeholder 2"/>
          <p:cNvSpPr>
            <a:spLocks noGrp="1"/>
          </p:cNvSpPr>
          <p:nvPr>
            <p:ph idx="1"/>
          </p:nvPr>
        </p:nvSpPr>
        <p:spPr/>
        <p:txBody>
          <a:bodyPr/>
          <a:lstStyle/>
          <a:p>
            <a:r>
              <a:rPr lang="en-US">
                <a:latin typeface="Lucida Sans Unicode" charset="0"/>
                <a:cs typeface="Lucida Sans Unicode" charset="0"/>
              </a:rPr>
              <a:t>Three ways a class can differ from its parent:</a:t>
            </a:r>
          </a:p>
          <a:p>
            <a:pPr lvl="1">
              <a:buFontTx/>
              <a:buNone/>
            </a:pPr>
            <a:r>
              <a:rPr lang="en-US">
                <a:latin typeface="Lucida Sans Unicode" charset="0"/>
                <a:ea typeface="Lucida Sans Unicode" charset="0"/>
                <a:cs typeface="Lucida Sans Unicode" charset="0"/>
              </a:rPr>
              <a:t>1. The parent class can define some of its variables or methods to have private access, which means they will not be visible in the subclass</a:t>
            </a:r>
          </a:p>
          <a:p>
            <a:pPr lvl="1">
              <a:buFontTx/>
              <a:buNone/>
            </a:pPr>
            <a:r>
              <a:rPr lang="en-US">
                <a:latin typeface="Lucida Sans Unicode" charset="0"/>
                <a:ea typeface="Lucida Sans Unicode" charset="0"/>
                <a:cs typeface="Lucida Sans Unicode" charset="0"/>
              </a:rPr>
              <a:t>2. The subclass can add variables and/or methods to those inherited from the parent</a:t>
            </a:r>
          </a:p>
          <a:p>
            <a:pPr lvl="1">
              <a:buFontTx/>
              <a:buNone/>
            </a:pPr>
            <a:r>
              <a:rPr lang="en-US">
                <a:latin typeface="Lucida Sans Unicode" charset="0"/>
                <a:ea typeface="Lucida Sans Unicode" charset="0"/>
                <a:cs typeface="Lucida Sans Unicode" charset="0"/>
              </a:rPr>
              <a:t>3. The subclass can modify the behavior of one or more of its inherited methods.</a:t>
            </a:r>
          </a:p>
        </p:txBody>
      </p:sp>
      <p:sp>
        <p:nvSpPr>
          <p:cNvPr id="1126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126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04DD530D-6D76-E344-B80C-4BC83BB9FA1C}" type="slidenum">
              <a:rPr lang="en-US" sz="1000">
                <a:latin typeface="Arial" charset="0"/>
              </a:rPr>
              <a:pPr/>
              <a:t>11</a:t>
            </a:fld>
            <a:endParaRPr lang="en-US" sz="1000">
              <a:latin typeface="Arial" charset="0"/>
            </a:endParaRPr>
          </a:p>
        </p:txBody>
      </p:sp>
    </p:spTree>
    <p:extLst>
      <p:ext uri="{BB962C8B-B14F-4D97-AF65-F5344CB8AC3E}">
        <p14:creationId xmlns:p14="http://schemas.microsoft.com/office/powerpoint/2010/main" val="4123458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229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C4A5A8CF-43C0-AF49-87F8-3B6C7CA14331}" type="slidenum">
              <a:rPr lang="en-US" sz="1000">
                <a:latin typeface="Arial" charset="0"/>
              </a:rPr>
              <a:pPr/>
              <a:t>12</a:t>
            </a:fld>
            <a:endParaRPr lang="en-US" sz="1000">
              <a:latin typeface="Arial" charset="0"/>
            </a:endParaRPr>
          </a:p>
        </p:txBody>
      </p:sp>
      <p:sp>
        <p:nvSpPr>
          <p:cNvPr id="12292" name="Rectangle 2"/>
          <p:cNvSpPr>
            <a:spLocks noGrp="1" noChangeArrowheads="1"/>
          </p:cNvSpPr>
          <p:nvPr>
            <p:ph type="title"/>
          </p:nvPr>
        </p:nvSpPr>
        <p:spPr/>
        <p:txBody>
          <a:bodyPr/>
          <a:lstStyle/>
          <a:p>
            <a:pPr eaLnBrk="1" hangingPunct="1"/>
            <a:r>
              <a:rPr lang="en-US" sz="3200">
                <a:latin typeface="Lucida Sans Unicode" charset="0"/>
                <a:cs typeface="Lucida Sans Unicode" charset="0"/>
              </a:rPr>
              <a:t>Object-Oriented Concepts (continued)</a:t>
            </a:r>
          </a:p>
        </p:txBody>
      </p:sp>
      <p:sp>
        <p:nvSpPr>
          <p:cNvPr id="12293" name="Rectangle 3"/>
          <p:cNvSpPr>
            <a:spLocks noGrp="1" noChangeArrowheads="1"/>
          </p:cNvSpPr>
          <p:nvPr>
            <p:ph type="body" idx="1"/>
          </p:nvPr>
        </p:nvSpPr>
        <p:spPr>
          <a:xfrm>
            <a:off x="755576" y="1302748"/>
            <a:ext cx="8153400" cy="4572000"/>
          </a:xfrm>
        </p:spPr>
        <p:txBody>
          <a:bodyPr/>
          <a:lstStyle/>
          <a:p>
            <a:pPr eaLnBrk="1" hangingPunct="1">
              <a:lnSpc>
                <a:spcPct val="90000"/>
              </a:lnSpc>
            </a:pPr>
            <a:r>
              <a:rPr lang="en-US" dirty="0">
                <a:latin typeface="Lucida Sans Unicode" charset="0"/>
                <a:cs typeface="Lucida Sans Unicode" charset="0"/>
              </a:rPr>
              <a:t>There are two kinds of variables in a class:</a:t>
            </a:r>
          </a:p>
          <a:p>
            <a:pPr lvl="1" eaLnBrk="1" hangingPunct="1">
              <a:lnSpc>
                <a:spcPct val="90000"/>
              </a:lnSpc>
            </a:pPr>
            <a:r>
              <a:rPr lang="en-US" i="1" dirty="0">
                <a:latin typeface="Lucida Sans Unicode" charset="0"/>
                <a:ea typeface="Lucida Sans Unicode" charset="0"/>
                <a:cs typeface="Lucida Sans Unicode" charset="0"/>
              </a:rPr>
              <a:t>Class variables</a:t>
            </a:r>
            <a:r>
              <a:rPr lang="en-US" dirty="0">
                <a:latin typeface="Lucida Sans Unicode" charset="0"/>
                <a:ea typeface="Lucida Sans Unicode" charset="0"/>
                <a:cs typeface="Lucida Sans Unicode" charset="0"/>
              </a:rPr>
              <a:t> - one/class</a:t>
            </a:r>
          </a:p>
          <a:p>
            <a:pPr lvl="1" eaLnBrk="1" hangingPunct="1">
              <a:lnSpc>
                <a:spcPct val="90000"/>
              </a:lnSpc>
            </a:pPr>
            <a:r>
              <a:rPr lang="en-US" i="1" dirty="0">
                <a:latin typeface="Lucida Sans Unicode" charset="0"/>
                <a:ea typeface="Lucida Sans Unicode" charset="0"/>
                <a:cs typeface="Lucida Sans Unicode" charset="0"/>
              </a:rPr>
              <a:t>Instance variables</a:t>
            </a:r>
            <a:r>
              <a:rPr lang="en-US" dirty="0">
                <a:latin typeface="Lucida Sans Unicode" charset="0"/>
                <a:ea typeface="Lucida Sans Unicode" charset="0"/>
                <a:cs typeface="Lucida Sans Unicode" charset="0"/>
              </a:rPr>
              <a:t> - one/object</a:t>
            </a:r>
          </a:p>
          <a:p>
            <a:pPr eaLnBrk="1" hangingPunct="1">
              <a:lnSpc>
                <a:spcPct val="90000"/>
              </a:lnSpc>
            </a:pPr>
            <a:r>
              <a:rPr lang="en-US" dirty="0">
                <a:latin typeface="Lucida Sans Unicode" charset="0"/>
                <a:cs typeface="Lucida Sans Unicode" charset="0"/>
              </a:rPr>
              <a:t>There are two kinds of methods in a class:</a:t>
            </a:r>
          </a:p>
          <a:p>
            <a:pPr lvl="1" eaLnBrk="1" hangingPunct="1">
              <a:lnSpc>
                <a:spcPct val="90000"/>
              </a:lnSpc>
            </a:pPr>
            <a:r>
              <a:rPr lang="en-US" i="1" dirty="0">
                <a:latin typeface="Lucida Sans Unicode" charset="0"/>
                <a:ea typeface="Lucida Sans Unicode" charset="0"/>
                <a:cs typeface="Lucida Sans Unicode" charset="0"/>
              </a:rPr>
              <a:t>Class methods</a:t>
            </a:r>
            <a:r>
              <a:rPr lang="en-US" dirty="0">
                <a:latin typeface="Lucida Sans Unicode" charset="0"/>
                <a:ea typeface="Lucida Sans Unicode" charset="0"/>
                <a:cs typeface="Lucida Sans Unicode" charset="0"/>
              </a:rPr>
              <a:t> – accept messages to the class</a:t>
            </a:r>
          </a:p>
          <a:p>
            <a:pPr lvl="1" eaLnBrk="1" hangingPunct="1">
              <a:lnSpc>
                <a:spcPct val="90000"/>
              </a:lnSpc>
            </a:pPr>
            <a:r>
              <a:rPr lang="en-US" i="1" dirty="0">
                <a:latin typeface="Lucida Sans Unicode" charset="0"/>
                <a:ea typeface="Lucida Sans Unicode" charset="0"/>
                <a:cs typeface="Lucida Sans Unicode" charset="0"/>
              </a:rPr>
              <a:t>Instance methods</a:t>
            </a:r>
            <a:r>
              <a:rPr lang="en-US" dirty="0">
                <a:latin typeface="Lucida Sans Unicode" charset="0"/>
                <a:ea typeface="Lucida Sans Unicode" charset="0"/>
                <a:cs typeface="Lucida Sans Unicode" charset="0"/>
              </a:rPr>
              <a:t> – accept messages to objects</a:t>
            </a:r>
          </a:p>
          <a:p>
            <a:pPr eaLnBrk="1" hangingPunct="1">
              <a:lnSpc>
                <a:spcPct val="90000"/>
              </a:lnSpc>
            </a:pPr>
            <a:r>
              <a:rPr lang="en-US" dirty="0">
                <a:latin typeface="Lucida Sans Unicode" charset="0"/>
                <a:cs typeface="Lucida Sans Unicode" charset="0"/>
              </a:rPr>
              <a:t>Single vs. Multiple Inheritance</a:t>
            </a:r>
          </a:p>
          <a:p>
            <a:pPr eaLnBrk="1" hangingPunct="1">
              <a:lnSpc>
                <a:spcPct val="90000"/>
              </a:lnSpc>
            </a:pPr>
            <a:r>
              <a:rPr lang="en-US" dirty="0">
                <a:latin typeface="Lucida Sans Unicode" charset="0"/>
                <a:cs typeface="Lucida Sans Unicode" charset="0"/>
              </a:rPr>
              <a:t>One disadvantage of inheritance for reuse: </a:t>
            </a:r>
          </a:p>
          <a:p>
            <a:pPr lvl="1" eaLnBrk="1" hangingPunct="1">
              <a:lnSpc>
                <a:spcPct val="90000"/>
              </a:lnSpc>
            </a:pPr>
            <a:r>
              <a:rPr lang="en-US" dirty="0">
                <a:latin typeface="Lucida Sans Unicode" charset="0"/>
                <a:ea typeface="Lucida Sans Unicode" charset="0"/>
                <a:cs typeface="Lucida Sans Unicode" charset="0"/>
              </a:rPr>
              <a:t>Creates interdependencies among classes that complicate maintenance</a:t>
            </a:r>
          </a:p>
        </p:txBody>
      </p:sp>
    </p:spTree>
    <p:extLst>
      <p:ext uri="{BB962C8B-B14F-4D97-AF65-F5344CB8AC3E}">
        <p14:creationId xmlns:p14="http://schemas.microsoft.com/office/powerpoint/2010/main" val="2905032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331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EAD8249C-34FA-FE4D-950A-1E2CAC4F6A49}" type="slidenum">
              <a:rPr lang="en-US" sz="1000">
                <a:latin typeface="Arial" charset="0"/>
              </a:rPr>
              <a:pPr/>
              <a:t>13</a:t>
            </a:fld>
            <a:endParaRPr lang="en-US" sz="1000">
              <a:latin typeface="Arial" charset="0"/>
            </a:endParaRPr>
          </a:p>
        </p:txBody>
      </p:sp>
      <p:sp>
        <p:nvSpPr>
          <p:cNvPr id="13316" name="Rectangle 2"/>
          <p:cNvSpPr>
            <a:spLocks noGrp="1" noChangeArrowheads="1"/>
          </p:cNvSpPr>
          <p:nvPr>
            <p:ph type="title"/>
          </p:nvPr>
        </p:nvSpPr>
        <p:spPr/>
        <p:txBody>
          <a:bodyPr/>
          <a:lstStyle/>
          <a:p>
            <a:pPr eaLnBrk="1" hangingPunct="1"/>
            <a:r>
              <a:rPr lang="en-US">
                <a:latin typeface="Lucida Sans Unicode" charset="0"/>
                <a:cs typeface="Lucida Sans Unicode" charset="0"/>
              </a:rPr>
              <a:t>Dynamic Binding</a:t>
            </a:r>
          </a:p>
        </p:txBody>
      </p:sp>
      <p:sp>
        <p:nvSpPr>
          <p:cNvPr id="13317" name="Rectangle 3"/>
          <p:cNvSpPr>
            <a:spLocks noGrp="1" noChangeArrowheads="1"/>
          </p:cNvSpPr>
          <p:nvPr>
            <p:ph type="body" idx="1"/>
          </p:nvPr>
        </p:nvSpPr>
        <p:spPr>
          <a:xfrm>
            <a:off x="683568" y="1340768"/>
            <a:ext cx="8153400" cy="4953000"/>
          </a:xfrm>
        </p:spPr>
        <p:txBody>
          <a:bodyPr/>
          <a:lstStyle/>
          <a:p>
            <a:pPr eaLnBrk="1" hangingPunct="1">
              <a:lnSpc>
                <a:spcPct val="90000"/>
              </a:lnSpc>
            </a:pPr>
            <a:r>
              <a:rPr lang="en-US" dirty="0">
                <a:latin typeface="Lucida Sans Unicode" charset="0"/>
                <a:cs typeface="Lucida Sans Unicode" charset="0"/>
              </a:rPr>
              <a:t>A </a:t>
            </a:r>
            <a:r>
              <a:rPr lang="en-US" i="1" dirty="0">
                <a:latin typeface="Lucida Sans Unicode" charset="0"/>
                <a:cs typeface="Lucida Sans Unicode" charset="0"/>
              </a:rPr>
              <a:t>polymorphic variable</a:t>
            </a:r>
            <a:r>
              <a:rPr lang="en-US" dirty="0">
                <a:latin typeface="Lucida Sans Unicode" charset="0"/>
                <a:cs typeface="Lucida Sans Unicode" charset="0"/>
              </a:rPr>
              <a:t> can be defined in a class that is able to reference (or point to) objects of the class and objects of any of its descendants</a:t>
            </a:r>
          </a:p>
          <a:p>
            <a:pPr eaLnBrk="1" hangingPunct="1">
              <a:lnSpc>
                <a:spcPct val="90000"/>
              </a:lnSpc>
            </a:pPr>
            <a:r>
              <a:rPr lang="en-US" dirty="0">
                <a:latin typeface="Lucida Sans Unicode" charset="0"/>
                <a:cs typeface="Lucida Sans Unicode" charset="0"/>
              </a:rPr>
              <a:t>When a class hierarchy includes classes that override methods and such methods are called through a polymorphic variable, the binding to the correct method will be dynamic</a:t>
            </a:r>
          </a:p>
          <a:p>
            <a:pPr eaLnBrk="1" hangingPunct="1">
              <a:lnSpc>
                <a:spcPct val="90000"/>
              </a:lnSpc>
            </a:pPr>
            <a:r>
              <a:rPr lang="en-US" dirty="0">
                <a:latin typeface="Lucida Sans Unicode" charset="0"/>
                <a:cs typeface="Lucida Sans Unicode" charset="0"/>
              </a:rPr>
              <a:t>Allows software systems to be more easily extended during both development and maintenance</a:t>
            </a:r>
          </a:p>
        </p:txBody>
      </p:sp>
    </p:spTree>
    <p:extLst>
      <p:ext uri="{BB962C8B-B14F-4D97-AF65-F5344CB8AC3E}">
        <p14:creationId xmlns:p14="http://schemas.microsoft.com/office/powerpoint/2010/main" val="656366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433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108484BC-EE50-EB4A-B07A-9D08747A625D}" type="slidenum">
              <a:rPr lang="en-US" sz="1000">
                <a:latin typeface="Arial" charset="0"/>
              </a:rPr>
              <a:pPr/>
              <a:t>14</a:t>
            </a:fld>
            <a:endParaRPr lang="en-US" sz="1000">
              <a:latin typeface="Arial" charset="0"/>
            </a:endParaRPr>
          </a:p>
        </p:txBody>
      </p:sp>
      <p:sp>
        <p:nvSpPr>
          <p:cNvPr id="14340" name="Rectangle 2"/>
          <p:cNvSpPr>
            <a:spLocks noGrp="1" noChangeArrowheads="1"/>
          </p:cNvSpPr>
          <p:nvPr>
            <p:ph type="title"/>
          </p:nvPr>
        </p:nvSpPr>
        <p:spPr/>
        <p:txBody>
          <a:bodyPr/>
          <a:lstStyle/>
          <a:p>
            <a:pPr eaLnBrk="1" hangingPunct="1"/>
            <a:r>
              <a:rPr lang="en-US">
                <a:latin typeface="Lucida Sans Unicode" charset="0"/>
                <a:cs typeface="Lucida Sans Unicode" charset="0"/>
              </a:rPr>
              <a:t>Dynamic Binding Concepts</a:t>
            </a:r>
          </a:p>
        </p:txBody>
      </p:sp>
      <p:sp>
        <p:nvSpPr>
          <p:cNvPr id="14341"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An </a:t>
            </a:r>
            <a:r>
              <a:rPr lang="en-US" i="1">
                <a:latin typeface="Lucida Sans Unicode" charset="0"/>
                <a:cs typeface="Lucida Sans Unicode" charset="0"/>
              </a:rPr>
              <a:t>abstract method</a:t>
            </a:r>
            <a:r>
              <a:rPr lang="en-US">
                <a:latin typeface="Lucida Sans Unicode" charset="0"/>
                <a:cs typeface="Lucida Sans Unicode" charset="0"/>
              </a:rPr>
              <a:t> is one that does not include a definition (it only defines a protocol)</a:t>
            </a:r>
          </a:p>
          <a:p>
            <a:pPr eaLnBrk="1" hangingPunct="1"/>
            <a:r>
              <a:rPr lang="en-US">
                <a:latin typeface="Lucida Sans Unicode" charset="0"/>
                <a:cs typeface="Lucida Sans Unicode" charset="0"/>
              </a:rPr>
              <a:t>An </a:t>
            </a:r>
            <a:r>
              <a:rPr lang="en-US" i="1">
                <a:latin typeface="Lucida Sans Unicode" charset="0"/>
                <a:cs typeface="Lucida Sans Unicode" charset="0"/>
              </a:rPr>
              <a:t>abstract class</a:t>
            </a:r>
            <a:r>
              <a:rPr lang="en-US">
                <a:latin typeface="Lucida Sans Unicode" charset="0"/>
                <a:cs typeface="Lucida Sans Unicode" charset="0"/>
              </a:rPr>
              <a:t> is one that includes at least one virtual method</a:t>
            </a:r>
          </a:p>
          <a:p>
            <a:pPr eaLnBrk="1" hangingPunct="1"/>
            <a:r>
              <a:rPr lang="en-US">
                <a:latin typeface="Lucida Sans Unicode" charset="0"/>
                <a:cs typeface="Lucida Sans Unicode" charset="0"/>
              </a:rPr>
              <a:t>An abstract class cannot be instantiated</a:t>
            </a:r>
          </a:p>
        </p:txBody>
      </p:sp>
    </p:spTree>
    <p:extLst>
      <p:ext uri="{BB962C8B-B14F-4D97-AF65-F5344CB8AC3E}">
        <p14:creationId xmlns:p14="http://schemas.microsoft.com/office/powerpoint/2010/main" val="3932233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536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E8A0CD91-142E-DE4F-999B-C1D41A56020D}" type="slidenum">
              <a:rPr lang="en-US" sz="1000">
                <a:latin typeface="Arial" charset="0"/>
              </a:rPr>
              <a:pPr/>
              <a:t>15</a:t>
            </a:fld>
            <a:endParaRPr lang="en-US" sz="1000">
              <a:latin typeface="Arial" charset="0"/>
            </a:endParaRPr>
          </a:p>
        </p:txBody>
      </p:sp>
      <p:sp>
        <p:nvSpPr>
          <p:cNvPr id="15364" name="Rectangle 2"/>
          <p:cNvSpPr>
            <a:spLocks noGrp="1" noChangeArrowheads="1"/>
          </p:cNvSpPr>
          <p:nvPr>
            <p:ph type="title"/>
          </p:nvPr>
        </p:nvSpPr>
        <p:spPr/>
        <p:txBody>
          <a:bodyPr/>
          <a:lstStyle/>
          <a:p>
            <a:pPr eaLnBrk="1" hangingPunct="1"/>
            <a:r>
              <a:rPr lang="en-US">
                <a:latin typeface="Lucida Sans Unicode" charset="0"/>
                <a:cs typeface="Lucida Sans Unicode" charset="0"/>
              </a:rPr>
              <a:t>Design Issues for OOP Languages</a:t>
            </a:r>
          </a:p>
        </p:txBody>
      </p:sp>
      <p:sp>
        <p:nvSpPr>
          <p:cNvPr id="15365"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The Exclusivity of Objects</a:t>
            </a:r>
          </a:p>
          <a:p>
            <a:pPr eaLnBrk="1" hangingPunct="1"/>
            <a:r>
              <a:rPr lang="en-US">
                <a:latin typeface="Lucida Sans Unicode" charset="0"/>
                <a:cs typeface="Lucida Sans Unicode" charset="0"/>
              </a:rPr>
              <a:t>Are Subclasses Subtypes?</a:t>
            </a:r>
          </a:p>
          <a:p>
            <a:pPr eaLnBrk="1" hangingPunct="1"/>
            <a:r>
              <a:rPr lang="en-US">
                <a:latin typeface="Lucida Sans Unicode" charset="0"/>
                <a:cs typeface="Lucida Sans Unicode" charset="0"/>
              </a:rPr>
              <a:t>Single and Multiple Inheritance</a:t>
            </a:r>
          </a:p>
          <a:p>
            <a:pPr eaLnBrk="1" hangingPunct="1"/>
            <a:r>
              <a:rPr lang="en-US">
                <a:latin typeface="Lucida Sans Unicode" charset="0"/>
                <a:cs typeface="Lucida Sans Unicode" charset="0"/>
              </a:rPr>
              <a:t>Object Allocation and Deallocation</a:t>
            </a:r>
          </a:p>
          <a:p>
            <a:pPr eaLnBrk="1" hangingPunct="1"/>
            <a:r>
              <a:rPr lang="en-US">
                <a:latin typeface="Lucida Sans Unicode" charset="0"/>
                <a:cs typeface="Lucida Sans Unicode" charset="0"/>
              </a:rPr>
              <a:t>Dynamic and Static Binding</a:t>
            </a:r>
          </a:p>
          <a:p>
            <a:pPr eaLnBrk="1" hangingPunct="1"/>
            <a:r>
              <a:rPr lang="en-US">
                <a:latin typeface="Lucida Sans Unicode" charset="0"/>
                <a:cs typeface="Lucida Sans Unicode" charset="0"/>
              </a:rPr>
              <a:t>Nested Classes</a:t>
            </a:r>
          </a:p>
          <a:p>
            <a:pPr eaLnBrk="1" hangingPunct="1"/>
            <a:r>
              <a:rPr lang="en-US">
                <a:latin typeface="Lucida Sans Unicode" charset="0"/>
                <a:cs typeface="Lucida Sans Unicode" charset="0"/>
              </a:rPr>
              <a:t>Initialization of Objects</a:t>
            </a:r>
          </a:p>
        </p:txBody>
      </p:sp>
    </p:spTree>
    <p:extLst>
      <p:ext uri="{BB962C8B-B14F-4D97-AF65-F5344CB8AC3E}">
        <p14:creationId xmlns:p14="http://schemas.microsoft.com/office/powerpoint/2010/main" val="649348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638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23001E4D-F919-0F4D-8C3A-3AAF23ECB04F}" type="slidenum">
              <a:rPr lang="en-US" sz="1000">
                <a:latin typeface="Arial" charset="0"/>
              </a:rPr>
              <a:pPr/>
              <a:t>16</a:t>
            </a:fld>
            <a:endParaRPr lang="en-US" sz="1000">
              <a:latin typeface="Arial" charset="0"/>
            </a:endParaRPr>
          </a:p>
        </p:txBody>
      </p:sp>
      <p:sp>
        <p:nvSpPr>
          <p:cNvPr id="16388" name="Rectangle 2"/>
          <p:cNvSpPr>
            <a:spLocks noGrp="1" noChangeArrowheads="1"/>
          </p:cNvSpPr>
          <p:nvPr>
            <p:ph type="title"/>
          </p:nvPr>
        </p:nvSpPr>
        <p:spPr/>
        <p:txBody>
          <a:bodyPr/>
          <a:lstStyle/>
          <a:p>
            <a:pPr eaLnBrk="1" hangingPunct="1"/>
            <a:r>
              <a:rPr lang="en-US">
                <a:latin typeface="Lucida Sans Unicode" charset="0"/>
                <a:cs typeface="Lucida Sans Unicode" charset="0"/>
              </a:rPr>
              <a:t>The Exclusivity of Objects</a:t>
            </a:r>
          </a:p>
        </p:txBody>
      </p:sp>
      <p:sp>
        <p:nvSpPr>
          <p:cNvPr id="16389" name="Rectangle 3"/>
          <p:cNvSpPr>
            <a:spLocks noGrp="1" noChangeArrowheads="1"/>
          </p:cNvSpPr>
          <p:nvPr>
            <p:ph type="body" idx="1"/>
          </p:nvPr>
        </p:nvSpPr>
        <p:spPr/>
        <p:txBody>
          <a:bodyPr>
            <a:normAutofit lnSpcReduction="10000"/>
          </a:bodyPr>
          <a:lstStyle/>
          <a:p>
            <a:pPr eaLnBrk="1" hangingPunct="1">
              <a:lnSpc>
                <a:spcPct val="90000"/>
              </a:lnSpc>
            </a:pPr>
            <a:r>
              <a:rPr lang="en-US" sz="2400">
                <a:latin typeface="Lucida Sans Unicode" charset="0"/>
                <a:cs typeface="Lucida Sans Unicode" charset="0"/>
              </a:rPr>
              <a:t>Everything is an object</a:t>
            </a:r>
          </a:p>
          <a:p>
            <a:pPr lvl="1" eaLnBrk="1" hangingPunct="1">
              <a:lnSpc>
                <a:spcPct val="90000"/>
              </a:lnSpc>
            </a:pPr>
            <a:r>
              <a:rPr lang="en-US" sz="2000">
                <a:latin typeface="Lucida Sans Unicode" charset="0"/>
                <a:ea typeface="Lucida Sans Unicode" charset="0"/>
                <a:cs typeface="Lucida Sans Unicode" charset="0"/>
              </a:rPr>
              <a:t>Advantage - elegance and purity</a:t>
            </a:r>
          </a:p>
          <a:p>
            <a:pPr lvl="1" eaLnBrk="1" hangingPunct="1">
              <a:lnSpc>
                <a:spcPct val="90000"/>
              </a:lnSpc>
            </a:pPr>
            <a:r>
              <a:rPr lang="en-US" sz="2000">
                <a:latin typeface="Lucida Sans Unicode" charset="0"/>
                <a:ea typeface="Lucida Sans Unicode" charset="0"/>
                <a:cs typeface="Lucida Sans Unicode" charset="0"/>
              </a:rPr>
              <a:t>Disadvantage - slow operations on simple objects</a:t>
            </a:r>
          </a:p>
          <a:p>
            <a:pPr eaLnBrk="1" hangingPunct="1">
              <a:lnSpc>
                <a:spcPct val="90000"/>
              </a:lnSpc>
            </a:pPr>
            <a:r>
              <a:rPr lang="en-US" sz="2400">
                <a:latin typeface="Lucida Sans Unicode" charset="0"/>
                <a:cs typeface="Lucida Sans Unicode" charset="0"/>
              </a:rPr>
              <a:t>Add objects to a complete typing system</a:t>
            </a:r>
          </a:p>
          <a:p>
            <a:pPr lvl="1" eaLnBrk="1" hangingPunct="1">
              <a:lnSpc>
                <a:spcPct val="90000"/>
              </a:lnSpc>
            </a:pPr>
            <a:r>
              <a:rPr lang="en-US" sz="2000">
                <a:latin typeface="Lucida Sans Unicode" charset="0"/>
                <a:ea typeface="Lucida Sans Unicode" charset="0"/>
                <a:cs typeface="Lucida Sans Unicode" charset="0"/>
              </a:rPr>
              <a:t>Advantage - fast operations on simple objects</a:t>
            </a:r>
          </a:p>
          <a:p>
            <a:pPr lvl="1" eaLnBrk="1" hangingPunct="1">
              <a:lnSpc>
                <a:spcPct val="90000"/>
              </a:lnSpc>
            </a:pPr>
            <a:r>
              <a:rPr lang="en-US" sz="2000">
                <a:latin typeface="Lucida Sans Unicode" charset="0"/>
                <a:ea typeface="Lucida Sans Unicode" charset="0"/>
                <a:cs typeface="Lucida Sans Unicode" charset="0"/>
              </a:rPr>
              <a:t>Disadvantage - results in a confusing type system (two kinds of entities)</a:t>
            </a:r>
          </a:p>
          <a:p>
            <a:pPr eaLnBrk="1" hangingPunct="1">
              <a:lnSpc>
                <a:spcPct val="90000"/>
              </a:lnSpc>
            </a:pPr>
            <a:r>
              <a:rPr lang="en-US" sz="2400">
                <a:latin typeface="Lucida Sans Unicode" charset="0"/>
                <a:cs typeface="Lucida Sans Unicode" charset="0"/>
              </a:rPr>
              <a:t>Include an imperative-style typing system for primitives but make everything else objects</a:t>
            </a:r>
          </a:p>
          <a:p>
            <a:pPr lvl="1" eaLnBrk="1" hangingPunct="1">
              <a:lnSpc>
                <a:spcPct val="90000"/>
              </a:lnSpc>
            </a:pPr>
            <a:r>
              <a:rPr lang="en-US" sz="2000">
                <a:latin typeface="Lucida Sans Unicode" charset="0"/>
                <a:ea typeface="Lucida Sans Unicode" charset="0"/>
                <a:cs typeface="Lucida Sans Unicode" charset="0"/>
              </a:rPr>
              <a:t>Advantage - fast operations on simple objects and a relatively small typing system</a:t>
            </a:r>
          </a:p>
          <a:p>
            <a:pPr lvl="1" eaLnBrk="1" hangingPunct="1">
              <a:lnSpc>
                <a:spcPct val="90000"/>
              </a:lnSpc>
            </a:pPr>
            <a:r>
              <a:rPr lang="en-US" sz="2000">
                <a:latin typeface="Lucida Sans Unicode" charset="0"/>
                <a:ea typeface="Lucida Sans Unicode" charset="0"/>
                <a:cs typeface="Lucida Sans Unicode" charset="0"/>
              </a:rPr>
              <a:t>Disadvantage - still some confusion because of the two type systems</a:t>
            </a:r>
          </a:p>
          <a:p>
            <a:pPr eaLnBrk="1" hangingPunct="1">
              <a:lnSpc>
                <a:spcPct val="90000"/>
              </a:lnSpc>
            </a:pPr>
            <a:endParaRPr lang="en-US" sz="2400">
              <a:latin typeface="Lucida Sans Unicode" charset="0"/>
              <a:cs typeface="Lucida Sans Unicode" charset="0"/>
            </a:endParaRPr>
          </a:p>
        </p:txBody>
      </p:sp>
    </p:spTree>
    <p:extLst>
      <p:ext uri="{BB962C8B-B14F-4D97-AF65-F5344CB8AC3E}">
        <p14:creationId xmlns:p14="http://schemas.microsoft.com/office/powerpoint/2010/main" val="1790084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741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A88F3C71-380C-7943-A1CD-3120BFB1CCCD}" type="slidenum">
              <a:rPr lang="en-US" sz="1000">
                <a:latin typeface="Arial" charset="0"/>
              </a:rPr>
              <a:pPr/>
              <a:t>17</a:t>
            </a:fld>
            <a:endParaRPr lang="en-US" sz="1000">
              <a:latin typeface="Arial" charset="0"/>
            </a:endParaRPr>
          </a:p>
        </p:txBody>
      </p:sp>
      <p:sp>
        <p:nvSpPr>
          <p:cNvPr id="17412" name="Rectangle 2"/>
          <p:cNvSpPr>
            <a:spLocks noGrp="1" noChangeArrowheads="1"/>
          </p:cNvSpPr>
          <p:nvPr>
            <p:ph type="title"/>
          </p:nvPr>
        </p:nvSpPr>
        <p:spPr/>
        <p:txBody>
          <a:bodyPr/>
          <a:lstStyle/>
          <a:p>
            <a:pPr eaLnBrk="1" hangingPunct="1"/>
            <a:r>
              <a:rPr lang="en-US">
                <a:latin typeface="Lucida Sans Unicode" charset="0"/>
                <a:cs typeface="Lucida Sans Unicode" charset="0"/>
              </a:rPr>
              <a:t>Are Subclasses Subtypes?</a:t>
            </a:r>
          </a:p>
        </p:txBody>
      </p:sp>
      <p:sp>
        <p:nvSpPr>
          <p:cNvPr id="17413" name="Rectangle 3"/>
          <p:cNvSpPr>
            <a:spLocks noGrp="1" noChangeArrowheads="1"/>
          </p:cNvSpPr>
          <p:nvPr>
            <p:ph type="body" idx="1"/>
          </p:nvPr>
        </p:nvSpPr>
        <p:spPr/>
        <p:txBody>
          <a:bodyPr/>
          <a:lstStyle/>
          <a:p>
            <a:pPr eaLnBrk="1" hangingPunct="1">
              <a:lnSpc>
                <a:spcPct val="90000"/>
              </a:lnSpc>
            </a:pPr>
            <a:r>
              <a:rPr lang="en-US">
                <a:latin typeface="Lucida Sans Unicode" charset="0"/>
                <a:cs typeface="Lucida Sans Unicode" charset="0"/>
              </a:rPr>
              <a:t>Does an </a:t>
            </a:r>
            <a:r>
              <a:rPr lang="ja-JP" altLang="en-US">
                <a:latin typeface="Lucida Sans Unicode" charset="0"/>
                <a:cs typeface="Lucida Sans Unicode" charset="0"/>
              </a:rPr>
              <a:t>“</a:t>
            </a:r>
            <a:r>
              <a:rPr lang="en-US">
                <a:solidFill>
                  <a:schemeClr val="tx2"/>
                </a:solidFill>
                <a:latin typeface="Lucida Sans Unicode" charset="0"/>
                <a:cs typeface="Lucida Sans Unicode" charset="0"/>
              </a:rPr>
              <a:t>is-a</a:t>
            </a:r>
            <a:r>
              <a:rPr lang="ja-JP" altLang="en-US">
                <a:solidFill>
                  <a:schemeClr val="tx2"/>
                </a:solidFill>
                <a:latin typeface="Lucida Sans Unicode" charset="0"/>
                <a:cs typeface="Lucida Sans Unicode" charset="0"/>
              </a:rPr>
              <a:t>”</a:t>
            </a:r>
            <a:r>
              <a:rPr lang="en-US">
                <a:solidFill>
                  <a:schemeClr val="tx2"/>
                </a:solidFill>
                <a:latin typeface="Lucida Sans Unicode" charset="0"/>
                <a:cs typeface="Lucida Sans Unicode" charset="0"/>
              </a:rPr>
              <a:t> relationship</a:t>
            </a:r>
            <a:r>
              <a:rPr lang="en-US">
                <a:latin typeface="Lucida Sans Unicode" charset="0"/>
                <a:cs typeface="Lucida Sans Unicode" charset="0"/>
              </a:rPr>
              <a:t> hold between a parent class object and an object of the subclass?</a:t>
            </a:r>
          </a:p>
          <a:p>
            <a:pPr lvl="1" eaLnBrk="1" hangingPunct="1">
              <a:lnSpc>
                <a:spcPct val="90000"/>
              </a:lnSpc>
            </a:pPr>
            <a:r>
              <a:rPr lang="en-US">
                <a:latin typeface="Lucida Sans Unicode" charset="0"/>
                <a:ea typeface="Lucida Sans Unicode" charset="0"/>
                <a:cs typeface="Lucida Sans Unicode" charset="0"/>
              </a:rPr>
              <a:t>If a derived class is-a parent class, then objects of the derived class must behave the same as the parent class object</a:t>
            </a:r>
          </a:p>
          <a:p>
            <a:pPr eaLnBrk="1" hangingPunct="1">
              <a:lnSpc>
                <a:spcPct val="90000"/>
              </a:lnSpc>
            </a:pPr>
            <a:r>
              <a:rPr lang="en-US">
                <a:latin typeface="Lucida Sans Unicode" charset="0"/>
                <a:cs typeface="Lucida Sans Unicode" charset="0"/>
              </a:rPr>
              <a:t>A derived class is a subtype if it has an is-a relationship with its parent class</a:t>
            </a:r>
          </a:p>
          <a:p>
            <a:pPr lvl="1" eaLnBrk="1" hangingPunct="1">
              <a:lnSpc>
                <a:spcPct val="90000"/>
              </a:lnSpc>
            </a:pPr>
            <a:r>
              <a:rPr lang="en-US">
                <a:latin typeface="Lucida Sans Unicode" charset="0"/>
                <a:ea typeface="Lucida Sans Unicode" charset="0"/>
                <a:cs typeface="Lucida Sans Unicode" charset="0"/>
              </a:rPr>
              <a:t>Subclass can only add variables and methods and override inherited methods in </a:t>
            </a:r>
            <a:r>
              <a:rPr lang="ja-JP" altLang="en-US">
                <a:latin typeface="Lucida Sans Unicode" charset="0"/>
                <a:ea typeface="Lucida Sans Unicode" charset="0"/>
                <a:cs typeface="Lucida Sans Unicode" charset="0"/>
              </a:rPr>
              <a:t>“</a:t>
            </a:r>
            <a:r>
              <a:rPr lang="en-US">
                <a:latin typeface="Lucida Sans Unicode" charset="0"/>
                <a:ea typeface="Lucida Sans Unicode" charset="0"/>
                <a:cs typeface="Lucida Sans Unicode" charset="0"/>
              </a:rPr>
              <a:t>compatible</a:t>
            </a:r>
            <a:r>
              <a:rPr lang="ja-JP" altLang="en-US">
                <a:latin typeface="Lucida Sans Unicode" charset="0"/>
                <a:ea typeface="Lucida Sans Unicode" charset="0"/>
                <a:cs typeface="Lucida Sans Unicode" charset="0"/>
              </a:rPr>
              <a:t>”</a:t>
            </a:r>
            <a:r>
              <a:rPr lang="en-US">
                <a:latin typeface="Lucida Sans Unicode" charset="0"/>
                <a:ea typeface="Lucida Sans Unicode" charset="0"/>
                <a:cs typeface="Lucida Sans Unicode" charset="0"/>
              </a:rPr>
              <a:t> ways</a:t>
            </a:r>
          </a:p>
          <a:p>
            <a:pPr eaLnBrk="1" hangingPunct="1">
              <a:lnSpc>
                <a:spcPct val="90000"/>
              </a:lnSpc>
            </a:pPr>
            <a:endParaRPr lang="en-US">
              <a:latin typeface="Lucida Sans Unicode" charset="0"/>
              <a:cs typeface="Lucida Sans Unicode" charset="0"/>
            </a:endParaRPr>
          </a:p>
        </p:txBody>
      </p:sp>
    </p:spTree>
    <p:extLst>
      <p:ext uri="{BB962C8B-B14F-4D97-AF65-F5344CB8AC3E}">
        <p14:creationId xmlns:p14="http://schemas.microsoft.com/office/powerpoint/2010/main" val="851956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843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5A0495DE-C6D5-6844-ADEF-E9B9ACB571E0}" type="slidenum">
              <a:rPr lang="en-US" sz="1000">
                <a:latin typeface="Arial" charset="0"/>
              </a:rPr>
              <a:pPr/>
              <a:t>18</a:t>
            </a:fld>
            <a:endParaRPr lang="en-US" sz="1000">
              <a:latin typeface="Arial" charset="0"/>
            </a:endParaRPr>
          </a:p>
        </p:txBody>
      </p:sp>
      <p:sp>
        <p:nvSpPr>
          <p:cNvPr id="18436" name="Rectangle 2"/>
          <p:cNvSpPr>
            <a:spLocks noGrp="1" noChangeArrowheads="1"/>
          </p:cNvSpPr>
          <p:nvPr>
            <p:ph type="title"/>
          </p:nvPr>
        </p:nvSpPr>
        <p:spPr/>
        <p:txBody>
          <a:bodyPr/>
          <a:lstStyle/>
          <a:p>
            <a:pPr eaLnBrk="1" hangingPunct="1"/>
            <a:r>
              <a:rPr lang="en-US">
                <a:latin typeface="Lucida Sans Unicode" charset="0"/>
                <a:cs typeface="Lucida Sans Unicode" charset="0"/>
              </a:rPr>
              <a:t>Single and Multiple Inheritance</a:t>
            </a:r>
          </a:p>
        </p:txBody>
      </p:sp>
      <p:sp>
        <p:nvSpPr>
          <p:cNvPr id="18437"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Multiple inheritance allows a new class to inherit from two or more classes</a:t>
            </a:r>
          </a:p>
          <a:p>
            <a:pPr eaLnBrk="1" hangingPunct="1"/>
            <a:r>
              <a:rPr lang="en-US">
                <a:latin typeface="Lucida Sans Unicode" charset="0"/>
                <a:cs typeface="Lucida Sans Unicode" charset="0"/>
              </a:rPr>
              <a:t>Disadvantages of multiple inheritance:</a:t>
            </a:r>
          </a:p>
          <a:p>
            <a:pPr lvl="1" eaLnBrk="1" hangingPunct="1"/>
            <a:r>
              <a:rPr lang="en-US">
                <a:latin typeface="Lucida Sans Unicode" charset="0"/>
                <a:ea typeface="Lucida Sans Unicode" charset="0"/>
                <a:cs typeface="Lucida Sans Unicode" charset="0"/>
              </a:rPr>
              <a:t>Language and implementation complexity (in part due to name collisions)</a:t>
            </a:r>
          </a:p>
          <a:p>
            <a:pPr lvl="1" eaLnBrk="1" hangingPunct="1"/>
            <a:r>
              <a:rPr lang="en-US">
                <a:latin typeface="Lucida Sans Unicode" charset="0"/>
                <a:ea typeface="Lucida Sans Unicode" charset="0"/>
                <a:cs typeface="Lucida Sans Unicode" charset="0"/>
              </a:rPr>
              <a:t>Potential inefficiency - dynamic binding costs more with multiple inheritance (but not much)</a:t>
            </a:r>
          </a:p>
          <a:p>
            <a:pPr eaLnBrk="1" hangingPunct="1"/>
            <a:r>
              <a:rPr lang="en-US">
                <a:latin typeface="Lucida Sans Unicode" charset="0"/>
                <a:cs typeface="Lucida Sans Unicode" charset="0"/>
              </a:rPr>
              <a:t>Advantage: </a:t>
            </a:r>
          </a:p>
          <a:p>
            <a:pPr lvl="1" eaLnBrk="1" hangingPunct="1"/>
            <a:r>
              <a:rPr lang="en-US">
                <a:latin typeface="Lucida Sans Unicode" charset="0"/>
                <a:ea typeface="Lucida Sans Unicode" charset="0"/>
                <a:cs typeface="Lucida Sans Unicode" charset="0"/>
              </a:rPr>
              <a:t>Sometimes it is quite convenient and valuable</a:t>
            </a:r>
          </a:p>
        </p:txBody>
      </p:sp>
    </p:spTree>
    <p:extLst>
      <p:ext uri="{BB962C8B-B14F-4D97-AF65-F5344CB8AC3E}">
        <p14:creationId xmlns:p14="http://schemas.microsoft.com/office/powerpoint/2010/main" val="220481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Diamond</a:t>
            </a:r>
            <a:r>
              <a:rPr lang="nl-NL" dirty="0"/>
              <a:t> of </a:t>
            </a:r>
            <a:r>
              <a:rPr lang="nl-NL" dirty="0" err="1"/>
              <a:t>Death</a:t>
            </a:r>
            <a:r>
              <a:rPr lang="nl-NL" dirty="0"/>
              <a:t> (Multiple </a:t>
            </a:r>
            <a:r>
              <a:rPr lang="nl-NL" dirty="0" err="1"/>
              <a:t>Inheritance</a:t>
            </a:r>
            <a:r>
              <a:rPr lang="nl-NL" dirty="0"/>
              <a:t>)</a:t>
            </a:r>
          </a:p>
        </p:txBody>
      </p:sp>
      <p:sp>
        <p:nvSpPr>
          <p:cNvPr id="4" name="Tijdelijke aanduiding voor voettekst 3"/>
          <p:cNvSpPr>
            <a:spLocks noGrp="1"/>
          </p:cNvSpPr>
          <p:nvPr>
            <p:ph type="ftr" sz="quarter" idx="10"/>
          </p:nvPr>
        </p:nvSpPr>
        <p:spPr/>
        <p:txBody>
          <a:bodyPr/>
          <a:lstStyle/>
          <a:p>
            <a:endParaRPr lang="en-US" dirty="0"/>
          </a:p>
        </p:txBody>
      </p:sp>
      <p:sp>
        <p:nvSpPr>
          <p:cNvPr id="5" name="Tijdelijke aanduiding voor dianummer 4"/>
          <p:cNvSpPr>
            <a:spLocks noGrp="1"/>
          </p:cNvSpPr>
          <p:nvPr>
            <p:ph type="sldNum" sz="quarter" idx="11"/>
          </p:nvPr>
        </p:nvSpPr>
        <p:spPr/>
        <p:txBody>
          <a:bodyPr/>
          <a:lstStyle/>
          <a:p>
            <a:r>
              <a:rPr lang="en-US"/>
              <a:t>1-</a:t>
            </a:r>
            <a:fld id="{2AA2123A-1ADD-9148-80CF-542193183EC8}" type="slidenum">
              <a:rPr lang="en-US" smtClean="0"/>
              <a:pPr/>
              <a:t>19</a:t>
            </a:fld>
            <a:endParaRPr lang="en-US"/>
          </a:p>
        </p:txBody>
      </p:sp>
      <p:pic>
        <p:nvPicPr>
          <p:cNvPr id="9" name="Tijdelijke aanduiding voor inhoud 8"/>
          <p:cNvPicPr>
            <a:picLocks noGrp="1" noChangeAspect="1"/>
          </p:cNvPicPr>
          <p:nvPr>
            <p:ph idx="1"/>
          </p:nvPr>
        </p:nvPicPr>
        <p:blipFill rotWithShape="1">
          <a:blip r:embed="rId2"/>
          <a:srcRect l="3813" t="6768" r="6653" b="7640"/>
          <a:stretch/>
        </p:blipFill>
        <p:spPr>
          <a:xfrm>
            <a:off x="2244706" y="1124744"/>
            <a:ext cx="4343518" cy="4483070"/>
          </a:xfrm>
        </p:spPr>
      </p:pic>
    </p:spTree>
    <p:extLst>
      <p:ext uri="{BB962C8B-B14F-4D97-AF65-F5344CB8AC3E}">
        <p14:creationId xmlns:p14="http://schemas.microsoft.com/office/powerpoint/2010/main" val="1787271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945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8CBD1868-9294-F94A-8E47-F96ED8413A60}" type="slidenum">
              <a:rPr lang="en-US" sz="1000">
                <a:latin typeface="Arial" charset="0"/>
              </a:rPr>
              <a:pPr/>
              <a:t>20</a:t>
            </a:fld>
            <a:endParaRPr lang="en-US" sz="1000">
              <a:latin typeface="Arial" charset="0"/>
            </a:endParaRPr>
          </a:p>
        </p:txBody>
      </p:sp>
      <p:sp>
        <p:nvSpPr>
          <p:cNvPr id="19460" name="Rectangle 2"/>
          <p:cNvSpPr>
            <a:spLocks noGrp="1" noChangeArrowheads="1"/>
          </p:cNvSpPr>
          <p:nvPr>
            <p:ph type="title"/>
          </p:nvPr>
        </p:nvSpPr>
        <p:spPr/>
        <p:txBody>
          <a:bodyPr/>
          <a:lstStyle/>
          <a:p>
            <a:pPr eaLnBrk="1" hangingPunct="1"/>
            <a:r>
              <a:rPr lang="en-US" sz="3200">
                <a:latin typeface="Lucida Sans Unicode" charset="0"/>
                <a:cs typeface="Lucida Sans Unicode" charset="0"/>
              </a:rPr>
              <a:t>Allocation and DeAllocation of Objects</a:t>
            </a:r>
          </a:p>
        </p:txBody>
      </p:sp>
      <p:sp>
        <p:nvSpPr>
          <p:cNvPr id="19461" name="Rectangle 3"/>
          <p:cNvSpPr>
            <a:spLocks noGrp="1" noChangeArrowheads="1"/>
          </p:cNvSpPr>
          <p:nvPr>
            <p:ph type="body" idx="1"/>
          </p:nvPr>
        </p:nvSpPr>
        <p:spPr>
          <a:xfrm>
            <a:off x="533400" y="1447800"/>
            <a:ext cx="8153400" cy="4572000"/>
          </a:xfrm>
        </p:spPr>
        <p:txBody>
          <a:bodyPr/>
          <a:lstStyle/>
          <a:p>
            <a:pPr eaLnBrk="1" hangingPunct="1">
              <a:lnSpc>
                <a:spcPct val="90000"/>
              </a:lnSpc>
            </a:pPr>
            <a:r>
              <a:rPr lang="en-US" dirty="0">
                <a:latin typeface="Lucida Sans Unicode" charset="0"/>
                <a:cs typeface="Lucida Sans Unicode" charset="0"/>
              </a:rPr>
              <a:t>From where are objects allocated?</a:t>
            </a:r>
          </a:p>
          <a:p>
            <a:pPr lvl="1" eaLnBrk="1" hangingPunct="1">
              <a:lnSpc>
                <a:spcPct val="90000"/>
              </a:lnSpc>
            </a:pPr>
            <a:r>
              <a:rPr lang="en-US" dirty="0">
                <a:latin typeface="Lucida Sans Unicode" charset="0"/>
                <a:ea typeface="Lucida Sans Unicode" charset="0"/>
                <a:cs typeface="Lucida Sans Unicode" charset="0"/>
              </a:rPr>
              <a:t>If they behave like the ADTs, they can be allocated from anywhere</a:t>
            </a:r>
          </a:p>
          <a:p>
            <a:pPr lvl="2" eaLnBrk="1" hangingPunct="1">
              <a:lnSpc>
                <a:spcPct val="90000"/>
              </a:lnSpc>
            </a:pPr>
            <a:r>
              <a:rPr lang="en-US" dirty="0">
                <a:latin typeface="Lucida Sans Unicode" charset="0"/>
                <a:ea typeface="Lucida Sans Unicode" charset="0"/>
                <a:cs typeface="Lucida Sans Unicode" charset="0"/>
              </a:rPr>
              <a:t>Allocated from the run-time stack</a:t>
            </a:r>
          </a:p>
          <a:p>
            <a:pPr lvl="2" eaLnBrk="1" hangingPunct="1">
              <a:lnSpc>
                <a:spcPct val="90000"/>
              </a:lnSpc>
            </a:pPr>
            <a:r>
              <a:rPr lang="en-US" dirty="0">
                <a:latin typeface="Lucida Sans Unicode" charset="0"/>
                <a:ea typeface="Lucida Sans Unicode" charset="0"/>
                <a:cs typeface="Lucida Sans Unicode" charset="0"/>
              </a:rPr>
              <a:t>Explicitly create on the heap (via </a:t>
            </a:r>
            <a:r>
              <a:rPr lang="en-US" dirty="0">
                <a:latin typeface="Courier New" charset="0"/>
                <a:ea typeface="ＭＳ Ｐゴシック" charset="0"/>
                <a:cs typeface="Courier New" charset="0"/>
              </a:rPr>
              <a:t>new</a:t>
            </a:r>
            <a:r>
              <a:rPr lang="en-US" dirty="0">
                <a:latin typeface="Lucida Sans Unicode" charset="0"/>
                <a:ea typeface="Lucida Sans Unicode" charset="0"/>
                <a:cs typeface="Lucida Sans Unicode" charset="0"/>
              </a:rPr>
              <a:t>)</a:t>
            </a:r>
          </a:p>
          <a:p>
            <a:pPr lvl="1" eaLnBrk="1" hangingPunct="1">
              <a:lnSpc>
                <a:spcPct val="90000"/>
              </a:lnSpc>
            </a:pPr>
            <a:r>
              <a:rPr lang="en-US" dirty="0">
                <a:latin typeface="Lucida Sans Unicode" charset="0"/>
                <a:ea typeface="Lucida Sans Unicode" charset="0"/>
                <a:cs typeface="Lucida Sans Unicode" charset="0"/>
              </a:rPr>
              <a:t>If they are all heap-dynamic, references can be uniform thru a pointer or reference variable</a:t>
            </a:r>
          </a:p>
          <a:p>
            <a:pPr lvl="2" eaLnBrk="1" hangingPunct="1">
              <a:lnSpc>
                <a:spcPct val="90000"/>
              </a:lnSpc>
            </a:pPr>
            <a:r>
              <a:rPr lang="en-US" dirty="0">
                <a:latin typeface="Lucida Sans Unicode" charset="0"/>
                <a:ea typeface="Lucida Sans Unicode" charset="0"/>
                <a:cs typeface="Lucida Sans Unicode" charset="0"/>
              </a:rPr>
              <a:t>Simplifies assignment - dereferencing can be implicit</a:t>
            </a:r>
          </a:p>
          <a:p>
            <a:pPr lvl="1" eaLnBrk="1" hangingPunct="1">
              <a:lnSpc>
                <a:spcPct val="90000"/>
              </a:lnSpc>
            </a:pPr>
            <a:r>
              <a:rPr lang="en-US" dirty="0">
                <a:latin typeface="Lucida Sans Unicode" charset="0"/>
                <a:ea typeface="Lucida Sans Unicode" charset="0"/>
                <a:cs typeface="Lucida Sans Unicode" charset="0"/>
              </a:rPr>
              <a:t>If objects are stack dynamic, there is a problem with regard to subtypes – </a:t>
            </a:r>
            <a:r>
              <a:rPr lang="en-US" i="1" dirty="0">
                <a:latin typeface="Lucida Sans Unicode" charset="0"/>
                <a:ea typeface="Lucida Sans Unicode" charset="0"/>
                <a:cs typeface="Lucida Sans Unicode" charset="0"/>
              </a:rPr>
              <a:t>object slicing</a:t>
            </a:r>
          </a:p>
          <a:p>
            <a:pPr eaLnBrk="1" hangingPunct="1">
              <a:lnSpc>
                <a:spcPct val="90000"/>
              </a:lnSpc>
            </a:pPr>
            <a:r>
              <a:rPr lang="en-US" dirty="0">
                <a:latin typeface="Lucida Sans Unicode" charset="0"/>
                <a:cs typeface="Lucida Sans Unicode" charset="0"/>
              </a:rPr>
              <a:t>Is deallocation explicit or implicit?</a:t>
            </a:r>
          </a:p>
        </p:txBody>
      </p:sp>
    </p:spTree>
    <p:extLst>
      <p:ext uri="{BB962C8B-B14F-4D97-AF65-F5344CB8AC3E}">
        <p14:creationId xmlns:p14="http://schemas.microsoft.com/office/powerpoint/2010/main" val="1871765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048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FC275EFA-7506-3842-8BBB-5A2A7DA29F7B}" type="slidenum">
              <a:rPr lang="en-US" sz="1000">
                <a:latin typeface="Arial" charset="0"/>
              </a:rPr>
              <a:pPr/>
              <a:t>21</a:t>
            </a:fld>
            <a:endParaRPr lang="en-US" sz="1000">
              <a:latin typeface="Arial" charset="0"/>
            </a:endParaRPr>
          </a:p>
        </p:txBody>
      </p:sp>
      <p:sp>
        <p:nvSpPr>
          <p:cNvPr id="20484" name="Rectangle 2"/>
          <p:cNvSpPr>
            <a:spLocks noGrp="1" noChangeArrowheads="1"/>
          </p:cNvSpPr>
          <p:nvPr>
            <p:ph type="title"/>
          </p:nvPr>
        </p:nvSpPr>
        <p:spPr/>
        <p:txBody>
          <a:bodyPr/>
          <a:lstStyle/>
          <a:p>
            <a:pPr eaLnBrk="1" hangingPunct="1"/>
            <a:r>
              <a:rPr lang="en-US">
                <a:latin typeface="Lucida Sans Unicode" charset="0"/>
                <a:cs typeface="Lucida Sans Unicode" charset="0"/>
              </a:rPr>
              <a:t>Dynamic and Static Binding</a:t>
            </a:r>
          </a:p>
        </p:txBody>
      </p:sp>
      <p:sp>
        <p:nvSpPr>
          <p:cNvPr id="20485" name="Rectangle 3"/>
          <p:cNvSpPr>
            <a:spLocks noGrp="1" noChangeArrowheads="1"/>
          </p:cNvSpPr>
          <p:nvPr>
            <p:ph type="body" idx="1"/>
          </p:nvPr>
        </p:nvSpPr>
        <p:spPr/>
        <p:txBody>
          <a:bodyPr/>
          <a:lstStyle/>
          <a:p>
            <a:pPr eaLnBrk="1" hangingPunct="1"/>
            <a:r>
              <a:rPr lang="en-US" dirty="0">
                <a:latin typeface="Lucida Sans Unicode" charset="0"/>
                <a:cs typeface="Lucida Sans Unicode" charset="0"/>
              </a:rPr>
              <a:t>Should all binding of messages to methods be dynamic?</a:t>
            </a:r>
          </a:p>
          <a:p>
            <a:pPr lvl="1" eaLnBrk="1" hangingPunct="1"/>
            <a:r>
              <a:rPr lang="en-US" dirty="0">
                <a:latin typeface="Lucida Sans Unicode" charset="0"/>
                <a:ea typeface="Lucida Sans Unicode" charset="0"/>
                <a:cs typeface="Lucida Sans Unicode" charset="0"/>
              </a:rPr>
              <a:t>If none are, you lose the advantages of dynamic binding</a:t>
            </a:r>
          </a:p>
          <a:p>
            <a:pPr lvl="1" eaLnBrk="1" hangingPunct="1"/>
            <a:r>
              <a:rPr lang="en-US" dirty="0">
                <a:latin typeface="Lucida Sans Unicode" charset="0"/>
                <a:ea typeface="Lucida Sans Unicode" charset="0"/>
                <a:cs typeface="Lucida Sans Unicode" charset="0"/>
              </a:rPr>
              <a:t>If all are, it is inefficient</a:t>
            </a:r>
          </a:p>
          <a:p>
            <a:pPr lvl="1" eaLnBrk="1" hangingPunct="1"/>
            <a:r>
              <a:rPr lang="en-US">
                <a:latin typeface="Lucida Sans Unicode" charset="0"/>
                <a:ea typeface="Lucida Sans Unicode" charset="0"/>
                <a:cs typeface="Lucida Sans Unicode" charset="0"/>
              </a:rPr>
              <a:t>Does this </a:t>
            </a:r>
            <a:r>
              <a:rPr lang="en-US" dirty="0">
                <a:latin typeface="Lucida Sans Unicode" charset="0"/>
                <a:ea typeface="Lucida Sans Unicode" charset="0"/>
                <a:cs typeface="Lucida Sans Unicode" charset="0"/>
              </a:rPr>
              <a:t>matter for interpreted languages?</a:t>
            </a:r>
          </a:p>
          <a:p>
            <a:pPr eaLnBrk="1" hangingPunct="1"/>
            <a:r>
              <a:rPr lang="en-US" dirty="0">
                <a:latin typeface="Lucida Sans Unicode" charset="0"/>
                <a:cs typeface="Lucida Sans Unicode" charset="0"/>
              </a:rPr>
              <a:t>Maybe the design should allow the user to specify</a:t>
            </a:r>
          </a:p>
        </p:txBody>
      </p:sp>
    </p:spTree>
    <p:extLst>
      <p:ext uri="{BB962C8B-B14F-4D97-AF65-F5344CB8AC3E}">
        <p14:creationId xmlns:p14="http://schemas.microsoft.com/office/powerpoint/2010/main" val="2522891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150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2D04A3B9-AF89-DF4A-AB26-42149BC49E15}" type="slidenum">
              <a:rPr lang="en-US" sz="1000">
                <a:latin typeface="Arial" charset="0"/>
              </a:rPr>
              <a:pPr/>
              <a:t>22</a:t>
            </a:fld>
            <a:endParaRPr lang="en-US" sz="1000">
              <a:latin typeface="Arial" charset="0"/>
            </a:endParaRPr>
          </a:p>
        </p:txBody>
      </p:sp>
      <p:sp>
        <p:nvSpPr>
          <p:cNvPr id="21508" name="Rectangle 2"/>
          <p:cNvSpPr>
            <a:spLocks noGrp="1" noChangeArrowheads="1"/>
          </p:cNvSpPr>
          <p:nvPr>
            <p:ph type="title"/>
          </p:nvPr>
        </p:nvSpPr>
        <p:spPr/>
        <p:txBody>
          <a:bodyPr/>
          <a:lstStyle/>
          <a:p>
            <a:pPr eaLnBrk="1" hangingPunct="1"/>
            <a:r>
              <a:rPr lang="en-US">
                <a:latin typeface="Lucida Sans Unicode" charset="0"/>
                <a:cs typeface="Lucida Sans Unicode" charset="0"/>
              </a:rPr>
              <a:t>Nested Classes</a:t>
            </a:r>
          </a:p>
        </p:txBody>
      </p:sp>
      <p:sp>
        <p:nvSpPr>
          <p:cNvPr id="21509" name="Rectangle 3"/>
          <p:cNvSpPr>
            <a:spLocks noGrp="1" noChangeArrowheads="1"/>
          </p:cNvSpPr>
          <p:nvPr>
            <p:ph type="body" idx="1"/>
          </p:nvPr>
        </p:nvSpPr>
        <p:spPr/>
        <p:txBody>
          <a:bodyPr/>
          <a:lstStyle/>
          <a:p>
            <a:pPr eaLnBrk="1" hangingPunct="1"/>
            <a:r>
              <a:rPr lang="en-US" dirty="0">
                <a:latin typeface="Lucida Sans Unicode" charset="0"/>
                <a:cs typeface="Lucida Sans Unicode" charset="0"/>
              </a:rPr>
              <a:t>If a new class is needed by only one class, there is no reason to define so it can be seen by other classes</a:t>
            </a:r>
          </a:p>
          <a:p>
            <a:pPr lvl="1" eaLnBrk="1" hangingPunct="1"/>
            <a:r>
              <a:rPr lang="en-US" dirty="0">
                <a:latin typeface="Lucida Sans Unicode" charset="0"/>
                <a:ea typeface="Lucida Sans Unicode" charset="0"/>
                <a:cs typeface="Lucida Sans Unicode" charset="0"/>
              </a:rPr>
              <a:t>Can the new class be nested inside the class that uses it?</a:t>
            </a:r>
          </a:p>
          <a:p>
            <a:pPr lvl="1" eaLnBrk="1" hangingPunct="1"/>
            <a:r>
              <a:rPr lang="en-US" dirty="0">
                <a:latin typeface="Lucida Sans Unicode" charset="0"/>
                <a:ea typeface="Lucida Sans Unicode" charset="0"/>
                <a:cs typeface="Lucida Sans Unicode" charset="0"/>
              </a:rPr>
              <a:t>In some cases, the new class is nested inside  a subprogram rather than directly in another class</a:t>
            </a:r>
          </a:p>
          <a:p>
            <a:pPr eaLnBrk="1" hangingPunct="1"/>
            <a:r>
              <a:rPr lang="en-US" dirty="0">
                <a:latin typeface="Lucida Sans Unicode" charset="0"/>
                <a:cs typeface="Lucida Sans Unicode" charset="0"/>
              </a:rPr>
              <a:t>Other issues:</a:t>
            </a:r>
          </a:p>
          <a:p>
            <a:pPr lvl="1" eaLnBrk="1" hangingPunct="1"/>
            <a:r>
              <a:rPr lang="en-US" dirty="0">
                <a:latin typeface="Lucida Sans Unicode" charset="0"/>
                <a:ea typeface="Lucida Sans Unicode" charset="0"/>
                <a:cs typeface="Lucida Sans Unicode" charset="0"/>
              </a:rPr>
              <a:t>Which facilities of the nesting class should be visible to the nested class and vice versa</a:t>
            </a:r>
          </a:p>
          <a:p>
            <a:pPr eaLnBrk="1" hangingPunct="1"/>
            <a:endParaRPr lang="en-US" dirty="0">
              <a:latin typeface="Lucida Sans Unicode" charset="0"/>
              <a:cs typeface="Lucida Sans Unicode" charset="0"/>
            </a:endParaRPr>
          </a:p>
        </p:txBody>
      </p:sp>
    </p:spTree>
    <p:extLst>
      <p:ext uri="{BB962C8B-B14F-4D97-AF65-F5344CB8AC3E}">
        <p14:creationId xmlns:p14="http://schemas.microsoft.com/office/powerpoint/2010/main" val="1738565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a:latin typeface="Lucida Sans Unicode" charset="0"/>
                <a:cs typeface="Lucida Sans Unicode" charset="0"/>
              </a:rPr>
              <a:t>Initialization of Objects</a:t>
            </a:r>
          </a:p>
        </p:txBody>
      </p:sp>
      <p:sp>
        <p:nvSpPr>
          <p:cNvPr id="22531" name="Content Placeholder 2"/>
          <p:cNvSpPr>
            <a:spLocks noGrp="1"/>
          </p:cNvSpPr>
          <p:nvPr>
            <p:ph idx="1"/>
          </p:nvPr>
        </p:nvSpPr>
        <p:spPr/>
        <p:txBody>
          <a:bodyPr/>
          <a:lstStyle/>
          <a:p>
            <a:pPr eaLnBrk="1" hangingPunct="1"/>
            <a:r>
              <a:rPr lang="en-US">
                <a:latin typeface="Lucida Sans Unicode" charset="0"/>
                <a:cs typeface="Lucida Sans Unicode" charset="0"/>
              </a:rPr>
              <a:t>Are objects initialized to values when they are created?</a:t>
            </a:r>
          </a:p>
          <a:p>
            <a:pPr lvl="1" eaLnBrk="1" hangingPunct="1"/>
            <a:r>
              <a:rPr lang="en-US">
                <a:latin typeface="Lucida Sans Unicode" charset="0"/>
                <a:ea typeface="Lucida Sans Unicode" charset="0"/>
                <a:cs typeface="Lucida Sans Unicode" charset="0"/>
              </a:rPr>
              <a:t>Implicit or explicit initialization</a:t>
            </a:r>
          </a:p>
          <a:p>
            <a:pPr lvl="1" eaLnBrk="1" hangingPunct="1">
              <a:buFontTx/>
              <a:buNone/>
            </a:pPr>
            <a:endParaRPr lang="en-US">
              <a:latin typeface="Lucida Sans Unicode" charset="0"/>
              <a:ea typeface="Lucida Sans Unicode" charset="0"/>
              <a:cs typeface="Lucida Sans Unicode" charset="0"/>
            </a:endParaRPr>
          </a:p>
          <a:p>
            <a:pPr eaLnBrk="1" hangingPunct="1"/>
            <a:r>
              <a:rPr lang="en-US">
                <a:latin typeface="Lucida Sans Unicode" charset="0"/>
                <a:cs typeface="Lucida Sans Unicode" charset="0"/>
              </a:rPr>
              <a:t>How are parent class members initialized when a subclass object is created?</a:t>
            </a:r>
          </a:p>
        </p:txBody>
      </p:sp>
      <p:sp>
        <p:nvSpPr>
          <p:cNvPr id="2253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253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3703851F-54F7-B740-A8DD-63A5111095AD}" type="slidenum">
              <a:rPr lang="en-US" sz="1000">
                <a:latin typeface="Arial" charset="0"/>
              </a:rPr>
              <a:pPr/>
              <a:t>23</a:t>
            </a:fld>
            <a:endParaRPr lang="en-US" sz="1000">
              <a:latin typeface="Arial" charset="0"/>
            </a:endParaRPr>
          </a:p>
        </p:txBody>
      </p:sp>
    </p:spTree>
    <p:extLst>
      <p:ext uri="{BB962C8B-B14F-4D97-AF65-F5344CB8AC3E}">
        <p14:creationId xmlns:p14="http://schemas.microsoft.com/office/powerpoint/2010/main" val="3313359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765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96EE11CA-661A-094F-B52D-F6BC11FA1727}" type="slidenum">
              <a:rPr lang="en-US" sz="1000">
                <a:latin typeface="Arial" charset="0"/>
              </a:rPr>
              <a:pPr/>
              <a:t>24</a:t>
            </a:fld>
            <a:endParaRPr lang="en-US" sz="1000">
              <a:latin typeface="Arial" charset="0"/>
            </a:endParaRPr>
          </a:p>
        </p:txBody>
      </p:sp>
      <p:sp>
        <p:nvSpPr>
          <p:cNvPr id="27652" name="Rectangle 2"/>
          <p:cNvSpPr>
            <a:spLocks noGrp="1" noChangeArrowheads="1"/>
          </p:cNvSpPr>
          <p:nvPr>
            <p:ph type="title"/>
          </p:nvPr>
        </p:nvSpPr>
        <p:spPr/>
        <p:txBody>
          <a:bodyPr/>
          <a:lstStyle/>
          <a:p>
            <a:pPr eaLnBrk="1" hangingPunct="1"/>
            <a:r>
              <a:rPr lang="en-US">
                <a:latin typeface="Lucida Sans Unicode" charset="0"/>
                <a:cs typeface="Lucida Sans Unicode" charset="0"/>
              </a:rPr>
              <a:t>Support for OOP in C++</a:t>
            </a:r>
          </a:p>
        </p:txBody>
      </p:sp>
      <p:sp>
        <p:nvSpPr>
          <p:cNvPr id="27653" name="Rectangle 3"/>
          <p:cNvSpPr>
            <a:spLocks noGrp="1" noChangeArrowheads="1"/>
          </p:cNvSpPr>
          <p:nvPr>
            <p:ph type="body" idx="1"/>
          </p:nvPr>
        </p:nvSpPr>
        <p:spPr>
          <a:xfrm>
            <a:off x="457200" y="1371600"/>
            <a:ext cx="8153400" cy="4572000"/>
          </a:xfrm>
        </p:spPr>
        <p:txBody>
          <a:bodyPr/>
          <a:lstStyle/>
          <a:p>
            <a:pPr eaLnBrk="1" hangingPunct="1"/>
            <a:r>
              <a:rPr lang="en-US">
                <a:latin typeface="Lucida Sans Unicode" charset="0"/>
                <a:cs typeface="Lucida Sans Unicode" charset="0"/>
              </a:rPr>
              <a:t>General Characteristics:</a:t>
            </a:r>
          </a:p>
          <a:p>
            <a:pPr lvl="1" eaLnBrk="1" hangingPunct="1"/>
            <a:r>
              <a:rPr lang="en-US">
                <a:latin typeface="Lucida Sans Unicode" charset="0"/>
                <a:ea typeface="Lucida Sans Unicode" charset="0"/>
                <a:cs typeface="Lucida Sans Unicode" charset="0"/>
              </a:rPr>
              <a:t>Evolved from C and SIMULA 67</a:t>
            </a:r>
          </a:p>
          <a:p>
            <a:pPr lvl="1" eaLnBrk="1" hangingPunct="1"/>
            <a:r>
              <a:rPr lang="en-US">
                <a:latin typeface="Lucida Sans Unicode" charset="0"/>
                <a:ea typeface="Lucida Sans Unicode" charset="0"/>
                <a:cs typeface="Lucida Sans Unicode" charset="0"/>
              </a:rPr>
              <a:t>Among the most widely used OOP languages</a:t>
            </a:r>
          </a:p>
          <a:p>
            <a:pPr lvl="1" eaLnBrk="1" hangingPunct="1"/>
            <a:r>
              <a:rPr lang="en-US">
                <a:latin typeface="Lucida Sans Unicode" charset="0"/>
                <a:ea typeface="Lucida Sans Unicode" charset="0"/>
                <a:cs typeface="Lucida Sans Unicode" charset="0"/>
              </a:rPr>
              <a:t>Mixed typing system</a:t>
            </a:r>
          </a:p>
          <a:p>
            <a:pPr lvl="1" eaLnBrk="1" hangingPunct="1"/>
            <a:r>
              <a:rPr lang="en-US">
                <a:latin typeface="Lucida Sans Unicode" charset="0"/>
                <a:ea typeface="Lucida Sans Unicode" charset="0"/>
                <a:cs typeface="Lucida Sans Unicode" charset="0"/>
              </a:rPr>
              <a:t>Constructors and destructors</a:t>
            </a:r>
          </a:p>
          <a:p>
            <a:pPr lvl="1" eaLnBrk="1" hangingPunct="1"/>
            <a:r>
              <a:rPr lang="en-US">
                <a:latin typeface="Lucida Sans Unicode" charset="0"/>
                <a:ea typeface="Lucida Sans Unicode" charset="0"/>
                <a:cs typeface="Lucida Sans Unicode" charset="0"/>
              </a:rPr>
              <a:t>Elaborate access controls to class entities</a:t>
            </a:r>
          </a:p>
        </p:txBody>
      </p:sp>
    </p:spTree>
    <p:extLst>
      <p:ext uri="{BB962C8B-B14F-4D97-AF65-F5344CB8AC3E}">
        <p14:creationId xmlns:p14="http://schemas.microsoft.com/office/powerpoint/2010/main" val="473255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867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5AA147AF-E46B-1A4A-B025-5F7102393FFB}" type="slidenum">
              <a:rPr lang="en-US" sz="1000">
                <a:latin typeface="Arial" charset="0"/>
              </a:rPr>
              <a:pPr/>
              <a:t>25</a:t>
            </a:fld>
            <a:endParaRPr lang="en-US" sz="1000">
              <a:latin typeface="Arial" charset="0"/>
            </a:endParaRPr>
          </a:p>
        </p:txBody>
      </p:sp>
      <p:sp>
        <p:nvSpPr>
          <p:cNvPr id="28676" name="Rectangle 2"/>
          <p:cNvSpPr>
            <a:spLocks noGrp="1" noChangeArrowheads="1"/>
          </p:cNvSpPr>
          <p:nvPr>
            <p:ph type="title"/>
          </p:nvPr>
        </p:nvSpPr>
        <p:spPr/>
        <p:txBody>
          <a:bodyPr/>
          <a:lstStyle/>
          <a:p>
            <a:pPr eaLnBrk="1" hangingPunct="1"/>
            <a:r>
              <a:rPr lang="en-US" sz="3200">
                <a:latin typeface="Lucida Sans Unicode" charset="0"/>
                <a:cs typeface="Lucida Sans Unicode" charset="0"/>
              </a:rPr>
              <a:t>Support for OOP in C++ (continued)</a:t>
            </a:r>
          </a:p>
        </p:txBody>
      </p:sp>
      <p:sp>
        <p:nvSpPr>
          <p:cNvPr id="28677" name="Rectangle 3"/>
          <p:cNvSpPr>
            <a:spLocks noGrp="1" noChangeArrowheads="1"/>
          </p:cNvSpPr>
          <p:nvPr>
            <p:ph type="body" idx="1"/>
          </p:nvPr>
        </p:nvSpPr>
        <p:spPr>
          <a:xfrm>
            <a:off x="457200" y="1447800"/>
            <a:ext cx="8153400" cy="4572000"/>
          </a:xfrm>
        </p:spPr>
        <p:txBody>
          <a:bodyPr/>
          <a:lstStyle/>
          <a:p>
            <a:pPr marL="533400" indent="-533400" eaLnBrk="1" hangingPunct="1"/>
            <a:r>
              <a:rPr lang="en-US">
                <a:latin typeface="Lucida Sans Unicode" charset="0"/>
                <a:cs typeface="Lucida Sans Unicode" charset="0"/>
              </a:rPr>
              <a:t>Inheritance</a:t>
            </a:r>
          </a:p>
          <a:p>
            <a:pPr marL="914400" lvl="1" indent="-457200" eaLnBrk="1" hangingPunct="1"/>
            <a:r>
              <a:rPr lang="en-US">
                <a:latin typeface="Lucida Sans Unicode" charset="0"/>
                <a:ea typeface="Lucida Sans Unicode" charset="0"/>
                <a:cs typeface="Lucida Sans Unicode" charset="0"/>
              </a:rPr>
              <a:t>A class need not be the subclass of any class</a:t>
            </a:r>
          </a:p>
          <a:p>
            <a:pPr marL="914400" lvl="1" indent="-457200" eaLnBrk="1" hangingPunct="1"/>
            <a:r>
              <a:rPr lang="en-US">
                <a:latin typeface="Lucida Sans Unicode" charset="0"/>
                <a:ea typeface="Lucida Sans Unicode" charset="0"/>
                <a:cs typeface="Lucida Sans Unicode" charset="0"/>
              </a:rPr>
              <a:t>Access controls for members are </a:t>
            </a:r>
          </a:p>
          <a:p>
            <a:pPr marL="1314450" lvl="2" indent="-400050" eaLnBrk="1" hangingPunct="1">
              <a:buFontTx/>
              <a:buChar char="–"/>
            </a:pPr>
            <a:r>
              <a:rPr lang="en-US">
                <a:latin typeface="Lucida Sans Unicode" charset="0"/>
                <a:ea typeface="Lucida Sans Unicode" charset="0"/>
                <a:cs typeface="Lucida Sans Unicode" charset="0"/>
              </a:rPr>
              <a:t>Private (visible only in the class and friends) (disallows subclasses from being subtypes)</a:t>
            </a:r>
          </a:p>
          <a:p>
            <a:pPr marL="1314450" lvl="2" indent="-400050" eaLnBrk="1" hangingPunct="1">
              <a:buFontTx/>
              <a:buChar char="–"/>
            </a:pPr>
            <a:r>
              <a:rPr lang="en-US">
                <a:latin typeface="Lucida Sans Unicode" charset="0"/>
                <a:ea typeface="Lucida Sans Unicode" charset="0"/>
                <a:cs typeface="Lucida Sans Unicode" charset="0"/>
              </a:rPr>
              <a:t>Public (visible in subclasses and clients)</a:t>
            </a:r>
          </a:p>
          <a:p>
            <a:pPr marL="1314450" lvl="2" indent="-400050" eaLnBrk="1" hangingPunct="1">
              <a:buFontTx/>
              <a:buChar char="–"/>
            </a:pPr>
            <a:r>
              <a:rPr lang="en-US">
                <a:latin typeface="Lucida Sans Unicode" charset="0"/>
                <a:ea typeface="Lucida Sans Unicode" charset="0"/>
                <a:cs typeface="Lucida Sans Unicode" charset="0"/>
              </a:rPr>
              <a:t>Protected (visible in the class and in subclasses, but not clients)</a:t>
            </a:r>
          </a:p>
        </p:txBody>
      </p:sp>
    </p:spTree>
    <p:extLst>
      <p:ext uri="{BB962C8B-B14F-4D97-AF65-F5344CB8AC3E}">
        <p14:creationId xmlns:p14="http://schemas.microsoft.com/office/powerpoint/2010/main" val="2927700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969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ADF51B6A-A71E-0048-9899-10BEFA94C09D}" type="slidenum">
              <a:rPr lang="en-US" sz="1000">
                <a:latin typeface="Arial" charset="0"/>
              </a:rPr>
              <a:pPr/>
              <a:t>26</a:t>
            </a:fld>
            <a:endParaRPr lang="en-US" sz="1000">
              <a:latin typeface="Arial" charset="0"/>
            </a:endParaRPr>
          </a:p>
        </p:txBody>
      </p:sp>
      <p:sp>
        <p:nvSpPr>
          <p:cNvPr id="29700" name="Rectangle 2"/>
          <p:cNvSpPr>
            <a:spLocks noGrp="1" noChangeArrowheads="1"/>
          </p:cNvSpPr>
          <p:nvPr>
            <p:ph type="title"/>
          </p:nvPr>
        </p:nvSpPr>
        <p:spPr/>
        <p:txBody>
          <a:bodyPr/>
          <a:lstStyle/>
          <a:p>
            <a:pPr eaLnBrk="1" hangingPunct="1"/>
            <a:r>
              <a:rPr lang="en-US" sz="3200">
                <a:latin typeface="Lucida Sans Unicode" charset="0"/>
                <a:cs typeface="Lucida Sans Unicode" charset="0"/>
              </a:rPr>
              <a:t>Support for OOP in C++ (continued)</a:t>
            </a:r>
          </a:p>
        </p:txBody>
      </p:sp>
      <p:sp>
        <p:nvSpPr>
          <p:cNvPr id="29701"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In addition, the subclassing process can be declared with access controls (private or public), which define potential changes in access by subclasses</a:t>
            </a:r>
          </a:p>
          <a:p>
            <a:pPr lvl="1" eaLnBrk="1" hangingPunct="1"/>
            <a:r>
              <a:rPr lang="en-US">
                <a:latin typeface="Lucida Sans Unicode" charset="0"/>
                <a:ea typeface="Lucida Sans Unicode" charset="0"/>
                <a:cs typeface="Lucida Sans Unicode" charset="0"/>
              </a:rPr>
              <a:t>Private derivation - inherited public and protected members are private in the subclasses</a:t>
            </a:r>
          </a:p>
          <a:p>
            <a:pPr lvl="1" eaLnBrk="1" hangingPunct="1"/>
            <a:r>
              <a:rPr lang="en-US">
                <a:latin typeface="Lucida Sans Unicode" charset="0"/>
                <a:ea typeface="Lucida Sans Unicode" charset="0"/>
                <a:cs typeface="Lucida Sans Unicode" charset="0"/>
              </a:rPr>
              <a:t>Public derivation public and protected members are also public and protected in subclasses</a:t>
            </a:r>
          </a:p>
        </p:txBody>
      </p:sp>
    </p:spTree>
    <p:extLst>
      <p:ext uri="{BB962C8B-B14F-4D97-AF65-F5344CB8AC3E}">
        <p14:creationId xmlns:p14="http://schemas.microsoft.com/office/powerpoint/2010/main" val="1114113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072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3A3143D2-F06C-7D4B-A925-AD1004606E85}" type="slidenum">
              <a:rPr lang="en-US" sz="1000">
                <a:latin typeface="Arial" charset="0"/>
              </a:rPr>
              <a:pPr/>
              <a:t>27</a:t>
            </a:fld>
            <a:endParaRPr lang="en-US" sz="1000">
              <a:latin typeface="Arial" charset="0"/>
            </a:endParaRPr>
          </a:p>
        </p:txBody>
      </p:sp>
      <p:sp>
        <p:nvSpPr>
          <p:cNvPr id="30724" name="Rectangle 2"/>
          <p:cNvSpPr>
            <a:spLocks noGrp="1" noChangeArrowheads="1"/>
          </p:cNvSpPr>
          <p:nvPr>
            <p:ph type="title"/>
          </p:nvPr>
        </p:nvSpPr>
        <p:spPr/>
        <p:txBody>
          <a:bodyPr/>
          <a:lstStyle/>
          <a:p>
            <a:pPr eaLnBrk="1" hangingPunct="1"/>
            <a:r>
              <a:rPr lang="en-US">
                <a:latin typeface="Lucida Sans Unicode" charset="0"/>
                <a:cs typeface="Lucida Sans Unicode" charset="0"/>
              </a:rPr>
              <a:t>Inheritance Example in C++</a:t>
            </a:r>
          </a:p>
        </p:txBody>
      </p:sp>
      <p:sp>
        <p:nvSpPr>
          <p:cNvPr id="30725" name="Rectangle 3"/>
          <p:cNvSpPr>
            <a:spLocks noGrp="1" noChangeArrowheads="1"/>
          </p:cNvSpPr>
          <p:nvPr>
            <p:ph type="body" idx="1"/>
          </p:nvPr>
        </p:nvSpPr>
        <p:spPr>
          <a:xfrm>
            <a:off x="762000" y="1371600"/>
            <a:ext cx="7315200" cy="4495800"/>
          </a:xfrm>
        </p:spPr>
        <p:txBody>
          <a:bodyPr/>
          <a:lstStyle/>
          <a:p>
            <a:pPr>
              <a:lnSpc>
                <a:spcPct val="90000"/>
              </a:lnSpc>
              <a:spcBef>
                <a:spcPct val="0"/>
              </a:spcBef>
              <a:buFontTx/>
              <a:buNone/>
            </a:pPr>
            <a:r>
              <a:rPr lang="en-US" sz="1600" b="1">
                <a:latin typeface="Courier New" charset="0"/>
                <a:cs typeface="Lucida Sans Unicode" charset="0"/>
              </a:rPr>
              <a:t>class</a:t>
            </a:r>
            <a:r>
              <a:rPr lang="en-US" sz="1600">
                <a:latin typeface="Courier New" charset="0"/>
                <a:cs typeface="Lucida Sans Unicode" charset="0"/>
              </a:rPr>
              <a:t> base_class {</a:t>
            </a:r>
          </a:p>
          <a:p>
            <a:pPr>
              <a:lnSpc>
                <a:spcPct val="90000"/>
              </a:lnSpc>
              <a:spcBef>
                <a:spcPct val="0"/>
              </a:spcBef>
              <a:buFontTx/>
              <a:buNone/>
            </a:pPr>
            <a:r>
              <a:rPr lang="en-US" sz="1600">
                <a:latin typeface="Courier New" charset="0"/>
                <a:cs typeface="Lucida Sans Unicode" charset="0"/>
              </a:rPr>
              <a:t>  </a:t>
            </a:r>
            <a:r>
              <a:rPr lang="en-US" sz="1600" b="1">
                <a:latin typeface="Courier New" charset="0"/>
                <a:cs typeface="Lucida Sans Unicode" charset="0"/>
              </a:rPr>
              <a:t>private</a:t>
            </a:r>
            <a:r>
              <a:rPr lang="en-US" sz="1600">
                <a:latin typeface="Courier New" charset="0"/>
                <a:cs typeface="Lucida Sans Unicode" charset="0"/>
              </a:rPr>
              <a:t>:</a:t>
            </a:r>
          </a:p>
          <a:p>
            <a:pPr>
              <a:lnSpc>
                <a:spcPct val="90000"/>
              </a:lnSpc>
              <a:spcBef>
                <a:spcPct val="0"/>
              </a:spcBef>
              <a:buFontTx/>
              <a:buNone/>
            </a:pPr>
            <a:r>
              <a:rPr lang="en-US" sz="1600">
                <a:latin typeface="Courier New" charset="0"/>
                <a:cs typeface="Lucida Sans Unicode" charset="0"/>
              </a:rPr>
              <a:t>    </a:t>
            </a:r>
            <a:r>
              <a:rPr lang="en-US" sz="1600" b="1">
                <a:latin typeface="Courier New" charset="0"/>
                <a:cs typeface="Lucida Sans Unicode" charset="0"/>
              </a:rPr>
              <a:t>int</a:t>
            </a:r>
            <a:r>
              <a:rPr lang="en-US" sz="1600">
                <a:latin typeface="Courier New" charset="0"/>
                <a:cs typeface="Lucida Sans Unicode" charset="0"/>
              </a:rPr>
              <a:t> a;</a:t>
            </a:r>
          </a:p>
          <a:p>
            <a:pPr>
              <a:lnSpc>
                <a:spcPct val="90000"/>
              </a:lnSpc>
              <a:spcBef>
                <a:spcPct val="0"/>
              </a:spcBef>
              <a:buFontTx/>
              <a:buNone/>
            </a:pPr>
            <a:r>
              <a:rPr lang="en-US" sz="1600">
                <a:latin typeface="Courier New" charset="0"/>
                <a:cs typeface="Lucida Sans Unicode" charset="0"/>
              </a:rPr>
              <a:t>    </a:t>
            </a:r>
            <a:r>
              <a:rPr lang="en-US" sz="1600" b="1">
                <a:latin typeface="Courier New" charset="0"/>
                <a:cs typeface="Lucida Sans Unicode" charset="0"/>
              </a:rPr>
              <a:t>float</a:t>
            </a:r>
            <a:r>
              <a:rPr lang="en-US" sz="1600">
                <a:latin typeface="Courier New" charset="0"/>
                <a:cs typeface="Lucida Sans Unicode" charset="0"/>
              </a:rPr>
              <a:t> x;</a:t>
            </a:r>
          </a:p>
          <a:p>
            <a:pPr>
              <a:lnSpc>
                <a:spcPct val="90000"/>
              </a:lnSpc>
              <a:spcBef>
                <a:spcPct val="0"/>
              </a:spcBef>
              <a:buFontTx/>
              <a:buNone/>
            </a:pPr>
            <a:r>
              <a:rPr lang="en-US" sz="1600">
                <a:latin typeface="Courier New" charset="0"/>
                <a:cs typeface="Lucida Sans Unicode" charset="0"/>
              </a:rPr>
              <a:t>  </a:t>
            </a:r>
            <a:r>
              <a:rPr lang="en-US" sz="1600" b="1">
                <a:latin typeface="Courier New" charset="0"/>
                <a:cs typeface="Lucida Sans Unicode" charset="0"/>
              </a:rPr>
              <a:t>protected</a:t>
            </a:r>
            <a:r>
              <a:rPr lang="en-US" sz="1600">
                <a:latin typeface="Courier New" charset="0"/>
                <a:cs typeface="Lucida Sans Unicode" charset="0"/>
              </a:rPr>
              <a:t>:</a:t>
            </a:r>
          </a:p>
          <a:p>
            <a:pPr>
              <a:lnSpc>
                <a:spcPct val="90000"/>
              </a:lnSpc>
              <a:spcBef>
                <a:spcPct val="0"/>
              </a:spcBef>
              <a:buFontTx/>
              <a:buNone/>
            </a:pPr>
            <a:r>
              <a:rPr lang="en-US" sz="1600">
                <a:latin typeface="Courier New" charset="0"/>
                <a:cs typeface="Lucida Sans Unicode" charset="0"/>
              </a:rPr>
              <a:t>    </a:t>
            </a:r>
            <a:r>
              <a:rPr lang="en-US" sz="1600" b="1">
                <a:latin typeface="Courier New" charset="0"/>
                <a:cs typeface="Lucida Sans Unicode" charset="0"/>
              </a:rPr>
              <a:t>int</a:t>
            </a:r>
            <a:r>
              <a:rPr lang="en-US" sz="1600">
                <a:latin typeface="Courier New" charset="0"/>
                <a:cs typeface="Lucida Sans Unicode" charset="0"/>
              </a:rPr>
              <a:t> b;</a:t>
            </a:r>
          </a:p>
          <a:p>
            <a:pPr>
              <a:lnSpc>
                <a:spcPct val="90000"/>
              </a:lnSpc>
              <a:spcBef>
                <a:spcPct val="0"/>
              </a:spcBef>
              <a:buFontTx/>
              <a:buNone/>
            </a:pPr>
            <a:r>
              <a:rPr lang="en-US" sz="1600">
                <a:latin typeface="Courier New" charset="0"/>
                <a:cs typeface="Lucida Sans Unicode" charset="0"/>
              </a:rPr>
              <a:t>    </a:t>
            </a:r>
            <a:r>
              <a:rPr lang="en-US" sz="1600" b="1">
                <a:latin typeface="Courier New" charset="0"/>
                <a:cs typeface="Lucida Sans Unicode" charset="0"/>
              </a:rPr>
              <a:t>float</a:t>
            </a:r>
            <a:r>
              <a:rPr lang="en-US" sz="1600">
                <a:latin typeface="Courier New" charset="0"/>
                <a:cs typeface="Lucida Sans Unicode" charset="0"/>
              </a:rPr>
              <a:t> y;</a:t>
            </a:r>
          </a:p>
          <a:p>
            <a:pPr>
              <a:lnSpc>
                <a:spcPct val="90000"/>
              </a:lnSpc>
              <a:spcBef>
                <a:spcPct val="0"/>
              </a:spcBef>
              <a:buFontTx/>
              <a:buNone/>
            </a:pPr>
            <a:r>
              <a:rPr lang="en-US" sz="1600">
                <a:latin typeface="Courier New" charset="0"/>
                <a:cs typeface="Lucida Sans Unicode" charset="0"/>
              </a:rPr>
              <a:t>  </a:t>
            </a:r>
            <a:r>
              <a:rPr lang="en-US" sz="1600" b="1">
                <a:latin typeface="Courier New" charset="0"/>
                <a:cs typeface="Lucida Sans Unicode" charset="0"/>
              </a:rPr>
              <a:t>public</a:t>
            </a:r>
            <a:r>
              <a:rPr lang="en-US" sz="1600">
                <a:latin typeface="Courier New" charset="0"/>
                <a:cs typeface="Lucida Sans Unicode" charset="0"/>
              </a:rPr>
              <a:t>:</a:t>
            </a:r>
          </a:p>
          <a:p>
            <a:pPr>
              <a:lnSpc>
                <a:spcPct val="90000"/>
              </a:lnSpc>
              <a:spcBef>
                <a:spcPct val="0"/>
              </a:spcBef>
              <a:buFontTx/>
              <a:buNone/>
            </a:pPr>
            <a:r>
              <a:rPr lang="en-US" sz="1600">
                <a:latin typeface="Courier New" charset="0"/>
                <a:cs typeface="Lucida Sans Unicode" charset="0"/>
              </a:rPr>
              <a:t>    </a:t>
            </a:r>
            <a:r>
              <a:rPr lang="en-US" sz="1600" b="1">
                <a:latin typeface="Courier New" charset="0"/>
                <a:cs typeface="Lucida Sans Unicode" charset="0"/>
              </a:rPr>
              <a:t>int</a:t>
            </a:r>
            <a:r>
              <a:rPr lang="en-US" sz="1600">
                <a:latin typeface="Courier New" charset="0"/>
                <a:cs typeface="Lucida Sans Unicode" charset="0"/>
              </a:rPr>
              <a:t> c;</a:t>
            </a:r>
          </a:p>
          <a:p>
            <a:pPr>
              <a:lnSpc>
                <a:spcPct val="90000"/>
              </a:lnSpc>
              <a:spcBef>
                <a:spcPct val="0"/>
              </a:spcBef>
              <a:buFontTx/>
              <a:buNone/>
            </a:pPr>
            <a:r>
              <a:rPr lang="en-US" sz="1600">
                <a:latin typeface="Courier New" charset="0"/>
                <a:cs typeface="Lucida Sans Unicode" charset="0"/>
              </a:rPr>
              <a:t>    </a:t>
            </a:r>
            <a:r>
              <a:rPr lang="en-US" sz="1600" b="1">
                <a:latin typeface="Courier New" charset="0"/>
                <a:cs typeface="Lucida Sans Unicode" charset="0"/>
              </a:rPr>
              <a:t>float</a:t>
            </a:r>
            <a:r>
              <a:rPr lang="en-US" sz="1600">
                <a:latin typeface="Courier New" charset="0"/>
                <a:cs typeface="Lucida Sans Unicode" charset="0"/>
              </a:rPr>
              <a:t> z;</a:t>
            </a:r>
          </a:p>
          <a:p>
            <a:pPr>
              <a:lnSpc>
                <a:spcPct val="90000"/>
              </a:lnSpc>
              <a:spcBef>
                <a:spcPct val="0"/>
              </a:spcBef>
              <a:buFontTx/>
              <a:buNone/>
            </a:pPr>
            <a:r>
              <a:rPr lang="en-US" sz="1600">
                <a:latin typeface="Courier New" charset="0"/>
                <a:cs typeface="Lucida Sans Unicode" charset="0"/>
              </a:rPr>
              <a:t>};</a:t>
            </a:r>
          </a:p>
          <a:p>
            <a:pPr>
              <a:lnSpc>
                <a:spcPct val="90000"/>
              </a:lnSpc>
              <a:spcBef>
                <a:spcPct val="0"/>
              </a:spcBef>
              <a:buFontTx/>
              <a:buNone/>
            </a:pPr>
            <a:endParaRPr lang="en-US" sz="1600">
              <a:latin typeface="Courier New" charset="0"/>
              <a:cs typeface="Lucida Sans Unicode" charset="0"/>
            </a:endParaRPr>
          </a:p>
          <a:p>
            <a:pPr>
              <a:lnSpc>
                <a:spcPct val="90000"/>
              </a:lnSpc>
              <a:spcBef>
                <a:spcPct val="0"/>
              </a:spcBef>
              <a:buFontTx/>
              <a:buNone/>
            </a:pPr>
            <a:r>
              <a:rPr lang="en-US" sz="1600" b="1">
                <a:latin typeface="Courier New" charset="0"/>
                <a:cs typeface="Lucida Sans Unicode" charset="0"/>
              </a:rPr>
              <a:t>class</a:t>
            </a:r>
            <a:r>
              <a:rPr lang="en-US" sz="1600">
                <a:latin typeface="Courier New" charset="0"/>
                <a:cs typeface="Lucida Sans Unicode" charset="0"/>
              </a:rPr>
              <a:t> subclass_1 : </a:t>
            </a:r>
            <a:r>
              <a:rPr lang="en-US" sz="1600" b="1">
                <a:latin typeface="Courier New" charset="0"/>
                <a:cs typeface="Lucida Sans Unicode" charset="0"/>
              </a:rPr>
              <a:t>public</a:t>
            </a:r>
            <a:r>
              <a:rPr lang="en-US" sz="1600">
                <a:latin typeface="Courier New" charset="0"/>
                <a:cs typeface="Lucida Sans Unicode" charset="0"/>
              </a:rPr>
              <a:t> base_class { </a:t>
            </a:r>
            <a:r>
              <a:rPr lang="en-US" sz="1600">
                <a:latin typeface="Lucida Sans Unicode" charset="0"/>
                <a:cs typeface="Lucida Sans Unicode" charset="0"/>
              </a:rPr>
              <a:t>…</a:t>
            </a:r>
            <a:r>
              <a:rPr lang="en-US" sz="1600">
                <a:latin typeface="Courier New" charset="0"/>
                <a:cs typeface="Lucida Sans Unicode" charset="0"/>
              </a:rPr>
              <a:t> };</a:t>
            </a:r>
          </a:p>
          <a:p>
            <a:pPr>
              <a:lnSpc>
                <a:spcPct val="90000"/>
              </a:lnSpc>
              <a:spcBef>
                <a:spcPct val="0"/>
              </a:spcBef>
              <a:buFontTx/>
              <a:buNone/>
            </a:pPr>
            <a:r>
              <a:rPr lang="en-US" sz="1600">
                <a:latin typeface="Courier New" charset="0"/>
                <a:cs typeface="Lucida Sans Unicode" charset="0"/>
              </a:rPr>
              <a:t>//     In this one, b and y are protected and</a:t>
            </a:r>
          </a:p>
          <a:p>
            <a:pPr>
              <a:lnSpc>
                <a:spcPct val="90000"/>
              </a:lnSpc>
              <a:spcBef>
                <a:spcPct val="0"/>
              </a:spcBef>
              <a:buFontTx/>
              <a:buNone/>
            </a:pPr>
            <a:r>
              <a:rPr lang="en-US" sz="1600">
                <a:latin typeface="Courier New" charset="0"/>
                <a:cs typeface="Lucida Sans Unicode" charset="0"/>
              </a:rPr>
              <a:t>//     c and z are public</a:t>
            </a:r>
          </a:p>
          <a:p>
            <a:pPr>
              <a:lnSpc>
                <a:spcPct val="90000"/>
              </a:lnSpc>
              <a:spcBef>
                <a:spcPct val="0"/>
              </a:spcBef>
              <a:buFontTx/>
              <a:buNone/>
            </a:pPr>
            <a:endParaRPr lang="en-US" sz="1600">
              <a:latin typeface="Courier New" charset="0"/>
              <a:cs typeface="Lucida Sans Unicode" charset="0"/>
            </a:endParaRPr>
          </a:p>
          <a:p>
            <a:pPr>
              <a:lnSpc>
                <a:spcPct val="90000"/>
              </a:lnSpc>
              <a:spcBef>
                <a:spcPct val="0"/>
              </a:spcBef>
              <a:buFontTx/>
              <a:buNone/>
            </a:pPr>
            <a:r>
              <a:rPr lang="en-US" sz="1600" b="1">
                <a:latin typeface="Courier New" charset="0"/>
                <a:cs typeface="Lucida Sans Unicode" charset="0"/>
              </a:rPr>
              <a:t>class</a:t>
            </a:r>
            <a:r>
              <a:rPr lang="en-US" sz="1600">
                <a:latin typeface="Courier New" charset="0"/>
                <a:cs typeface="Lucida Sans Unicode" charset="0"/>
              </a:rPr>
              <a:t> subclass_2 : </a:t>
            </a:r>
            <a:r>
              <a:rPr lang="en-US" sz="1600" b="1">
                <a:latin typeface="Courier New" charset="0"/>
                <a:cs typeface="Lucida Sans Unicode" charset="0"/>
              </a:rPr>
              <a:t>private</a:t>
            </a:r>
            <a:r>
              <a:rPr lang="en-US" sz="1600">
                <a:latin typeface="Courier New" charset="0"/>
                <a:cs typeface="Lucida Sans Unicode" charset="0"/>
              </a:rPr>
              <a:t> base_class { </a:t>
            </a:r>
            <a:r>
              <a:rPr lang="en-US" sz="1600">
                <a:latin typeface="Lucida Sans Unicode" charset="0"/>
                <a:cs typeface="Lucida Sans Unicode" charset="0"/>
              </a:rPr>
              <a:t>…</a:t>
            </a:r>
            <a:r>
              <a:rPr lang="en-US" sz="1600">
                <a:latin typeface="Courier New" charset="0"/>
                <a:cs typeface="Lucida Sans Unicode" charset="0"/>
              </a:rPr>
              <a:t> };</a:t>
            </a:r>
          </a:p>
          <a:p>
            <a:pPr>
              <a:lnSpc>
                <a:spcPct val="90000"/>
              </a:lnSpc>
              <a:spcBef>
                <a:spcPct val="0"/>
              </a:spcBef>
              <a:buFontTx/>
              <a:buNone/>
            </a:pPr>
            <a:r>
              <a:rPr lang="en-US" sz="1600">
                <a:latin typeface="Courier New" charset="0"/>
                <a:cs typeface="Lucida Sans Unicode" charset="0"/>
              </a:rPr>
              <a:t>//    In this one, b, y, c, and z are private,</a:t>
            </a:r>
          </a:p>
          <a:p>
            <a:pPr>
              <a:lnSpc>
                <a:spcPct val="90000"/>
              </a:lnSpc>
              <a:spcBef>
                <a:spcPct val="0"/>
              </a:spcBef>
              <a:buFontTx/>
              <a:buNone/>
            </a:pPr>
            <a:r>
              <a:rPr lang="en-US" sz="1600">
                <a:latin typeface="Courier New" charset="0"/>
                <a:cs typeface="Lucida Sans Unicode" charset="0"/>
              </a:rPr>
              <a:t>//    and no derived class has access to any</a:t>
            </a:r>
          </a:p>
          <a:p>
            <a:pPr>
              <a:lnSpc>
                <a:spcPct val="90000"/>
              </a:lnSpc>
              <a:spcBef>
                <a:spcPct val="0"/>
              </a:spcBef>
              <a:buFontTx/>
              <a:buNone/>
            </a:pPr>
            <a:r>
              <a:rPr lang="en-US" sz="1600">
                <a:latin typeface="Courier New" charset="0"/>
                <a:cs typeface="Lucida Sans Unicode" charset="0"/>
              </a:rPr>
              <a:t>//    member of base_class</a:t>
            </a:r>
            <a:endParaRPr lang="en-US" sz="3200">
              <a:latin typeface="Courier New" charset="0"/>
              <a:cs typeface="Lucida Sans Unicode" charset="0"/>
            </a:endParaRPr>
          </a:p>
        </p:txBody>
      </p:sp>
    </p:spTree>
    <p:extLst>
      <p:ext uri="{BB962C8B-B14F-4D97-AF65-F5344CB8AC3E}">
        <p14:creationId xmlns:p14="http://schemas.microsoft.com/office/powerpoint/2010/main" val="1712771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174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F608A12C-0A29-1F41-B6BC-C96FB4A442ED}" type="slidenum">
              <a:rPr lang="en-US" sz="1000">
                <a:latin typeface="Arial" charset="0"/>
              </a:rPr>
              <a:pPr/>
              <a:t>28</a:t>
            </a:fld>
            <a:endParaRPr lang="en-US" sz="1000">
              <a:latin typeface="Arial" charset="0"/>
            </a:endParaRPr>
          </a:p>
        </p:txBody>
      </p:sp>
      <p:sp>
        <p:nvSpPr>
          <p:cNvPr id="31748" name="Rectangle 2"/>
          <p:cNvSpPr>
            <a:spLocks noGrp="1" noChangeArrowheads="1"/>
          </p:cNvSpPr>
          <p:nvPr>
            <p:ph type="title"/>
          </p:nvPr>
        </p:nvSpPr>
        <p:spPr/>
        <p:txBody>
          <a:bodyPr/>
          <a:lstStyle/>
          <a:p>
            <a:pPr eaLnBrk="1" hangingPunct="1"/>
            <a:r>
              <a:rPr lang="en-US">
                <a:latin typeface="Lucida Sans Unicode" charset="0"/>
                <a:cs typeface="Lucida Sans Unicode" charset="0"/>
              </a:rPr>
              <a:t>Reexportation in C++</a:t>
            </a:r>
          </a:p>
        </p:txBody>
      </p:sp>
      <p:sp>
        <p:nvSpPr>
          <p:cNvPr id="31749" name="Rectangle 3"/>
          <p:cNvSpPr>
            <a:spLocks noGrp="1" noChangeArrowheads="1"/>
          </p:cNvSpPr>
          <p:nvPr>
            <p:ph type="body" idx="1"/>
          </p:nvPr>
        </p:nvSpPr>
        <p:spPr/>
        <p:txBody>
          <a:bodyPr/>
          <a:lstStyle/>
          <a:p>
            <a:pPr eaLnBrk="1" hangingPunct="1"/>
            <a:r>
              <a:rPr lang="en-US" dirty="0">
                <a:latin typeface="Lucida Sans Unicode" charset="0"/>
                <a:cs typeface="Lucida Sans Unicode" charset="0"/>
              </a:rPr>
              <a:t>A member that is not accessible in a subclass (because of private derivation) can be declared to be visible there using the scope resolution operator (</a:t>
            </a:r>
            <a:r>
              <a:rPr lang="en-US" b="1" dirty="0">
                <a:latin typeface="Courier New" charset="0"/>
                <a:cs typeface="Lucida Sans Unicode" charset="0"/>
              </a:rPr>
              <a:t>::</a:t>
            </a:r>
            <a:r>
              <a:rPr lang="en-US" dirty="0">
                <a:latin typeface="Lucida Sans Unicode" charset="0"/>
                <a:cs typeface="Lucida Sans Unicode" charset="0"/>
              </a:rPr>
              <a:t>), e.g.,</a:t>
            </a:r>
          </a:p>
          <a:p>
            <a:pPr>
              <a:lnSpc>
                <a:spcPct val="90000"/>
              </a:lnSpc>
              <a:spcBef>
                <a:spcPct val="0"/>
              </a:spcBef>
              <a:buFontTx/>
              <a:buNone/>
            </a:pPr>
            <a:endParaRPr lang="en-US" sz="1400" b="1" dirty="0">
              <a:latin typeface="Courier New" charset="0"/>
              <a:cs typeface="Lucida Sans Unicode" charset="0"/>
            </a:endParaRPr>
          </a:p>
          <a:p>
            <a:pPr lvl="1">
              <a:lnSpc>
                <a:spcPct val="90000"/>
              </a:lnSpc>
              <a:spcBef>
                <a:spcPct val="0"/>
              </a:spcBef>
              <a:buFontTx/>
              <a:buNone/>
            </a:pPr>
            <a:r>
              <a:rPr lang="en-US" sz="1800" b="1" dirty="0">
                <a:latin typeface="Courier New" charset="0"/>
                <a:ea typeface="Lucida Sans Unicode" charset="0"/>
                <a:cs typeface="Lucida Sans Unicode" charset="0"/>
              </a:rPr>
              <a:t>class</a:t>
            </a:r>
            <a:r>
              <a:rPr lang="en-US" sz="1800" dirty="0">
                <a:latin typeface="Courier New" charset="0"/>
                <a:ea typeface="Lucida Sans Unicode" charset="0"/>
                <a:cs typeface="Lucida Sans Unicode" charset="0"/>
              </a:rPr>
              <a:t> subclass_3 : </a:t>
            </a:r>
            <a:r>
              <a:rPr lang="en-US" sz="1800" b="1" dirty="0">
                <a:latin typeface="Courier New" charset="0"/>
                <a:ea typeface="Lucida Sans Unicode" charset="0"/>
                <a:cs typeface="Lucida Sans Unicode" charset="0"/>
              </a:rPr>
              <a:t>private</a:t>
            </a:r>
            <a:r>
              <a:rPr lang="en-US" sz="1800" dirty="0">
                <a:latin typeface="Courier New" charset="0"/>
                <a:ea typeface="Lucida Sans Unicode" charset="0"/>
                <a:cs typeface="Lucida Sans Unicode" charset="0"/>
              </a:rPr>
              <a:t> </a:t>
            </a:r>
            <a:r>
              <a:rPr lang="en-US" sz="1800" dirty="0" err="1">
                <a:latin typeface="Courier New" charset="0"/>
                <a:ea typeface="Lucida Sans Unicode" charset="0"/>
                <a:cs typeface="Lucida Sans Unicode" charset="0"/>
              </a:rPr>
              <a:t>base_class</a:t>
            </a:r>
            <a:r>
              <a:rPr lang="en-US" sz="1800" dirty="0">
                <a:latin typeface="Courier New" charset="0"/>
                <a:ea typeface="Lucida Sans Unicode" charset="0"/>
                <a:cs typeface="Lucida Sans Unicode" charset="0"/>
              </a:rPr>
              <a:t> {</a:t>
            </a:r>
          </a:p>
          <a:p>
            <a:pPr lvl="1">
              <a:lnSpc>
                <a:spcPct val="90000"/>
              </a:lnSpc>
              <a:spcBef>
                <a:spcPct val="0"/>
              </a:spcBef>
              <a:buFontTx/>
              <a:buNone/>
            </a:pPr>
            <a:r>
              <a:rPr lang="en-US" sz="1800" dirty="0">
                <a:latin typeface="Courier New" charset="0"/>
                <a:ea typeface="Lucida Sans Unicode" charset="0"/>
                <a:cs typeface="Lucida Sans Unicode" charset="0"/>
              </a:rPr>
              <a:t>        </a:t>
            </a:r>
            <a:r>
              <a:rPr lang="en-US" sz="1800" dirty="0" err="1">
                <a:latin typeface="Courier New" charset="0"/>
                <a:ea typeface="Lucida Sans Unicode" charset="0"/>
                <a:cs typeface="Lucida Sans Unicode" charset="0"/>
              </a:rPr>
              <a:t>base_class</a:t>
            </a:r>
            <a:r>
              <a:rPr lang="en-US" sz="1800" dirty="0">
                <a:latin typeface="Courier New" charset="0"/>
                <a:ea typeface="Lucida Sans Unicode" charset="0"/>
                <a:cs typeface="Lucida Sans Unicode" charset="0"/>
              </a:rPr>
              <a:t> :: c;</a:t>
            </a:r>
          </a:p>
          <a:p>
            <a:pPr lvl="1">
              <a:lnSpc>
                <a:spcPct val="90000"/>
              </a:lnSpc>
              <a:spcBef>
                <a:spcPct val="0"/>
              </a:spcBef>
              <a:buFontTx/>
              <a:buNone/>
            </a:pPr>
            <a:r>
              <a:rPr lang="en-US" sz="1800" dirty="0">
                <a:latin typeface="Courier New" charset="0"/>
                <a:ea typeface="Lucida Sans Unicode" charset="0"/>
                <a:cs typeface="Lucida Sans Unicode" charset="0"/>
              </a:rPr>
              <a:t> 	      </a:t>
            </a:r>
            <a:r>
              <a:rPr lang="en-US" sz="1800" dirty="0">
                <a:latin typeface="Lucida Sans Unicode" charset="0"/>
                <a:ea typeface="Lucida Sans Unicode" charset="0"/>
                <a:cs typeface="Lucida Sans Unicode" charset="0"/>
              </a:rPr>
              <a:t>…</a:t>
            </a:r>
            <a:endParaRPr lang="en-US" sz="1800" dirty="0">
              <a:latin typeface="Courier New" charset="0"/>
              <a:ea typeface="Lucida Sans Unicode" charset="0"/>
              <a:cs typeface="Lucida Sans Unicode" charset="0"/>
            </a:endParaRPr>
          </a:p>
          <a:p>
            <a:pPr lvl="1">
              <a:lnSpc>
                <a:spcPct val="90000"/>
              </a:lnSpc>
              <a:spcBef>
                <a:spcPct val="0"/>
              </a:spcBef>
              <a:buFontTx/>
              <a:buNone/>
            </a:pPr>
            <a:r>
              <a:rPr lang="en-US" sz="1800" dirty="0">
                <a:latin typeface="Courier New" charset="0"/>
                <a:ea typeface="Lucida Sans Unicode" charset="0"/>
                <a:cs typeface="Lucida Sans Unicode" charset="0"/>
              </a:rPr>
              <a:t>}</a:t>
            </a:r>
            <a:endParaRPr lang="en-US" sz="3600" dirty="0">
              <a:latin typeface="Lucida Sans Unicode" charset="0"/>
              <a:ea typeface="Lucida Sans Unicode" charset="0"/>
              <a:cs typeface="Lucida Sans Unicode" charset="0"/>
            </a:endParaRPr>
          </a:p>
        </p:txBody>
      </p:sp>
    </p:spTree>
    <p:extLst>
      <p:ext uri="{BB962C8B-B14F-4D97-AF65-F5344CB8AC3E}">
        <p14:creationId xmlns:p14="http://schemas.microsoft.com/office/powerpoint/2010/main" val="26440328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277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CADE83E2-2A9D-6C42-AFE8-2CCC665A799C}" type="slidenum">
              <a:rPr lang="en-US" sz="1000">
                <a:latin typeface="Arial" charset="0"/>
              </a:rPr>
              <a:pPr/>
              <a:t>29</a:t>
            </a:fld>
            <a:endParaRPr lang="en-US" sz="1000">
              <a:latin typeface="Arial" charset="0"/>
            </a:endParaRPr>
          </a:p>
        </p:txBody>
      </p:sp>
      <p:sp>
        <p:nvSpPr>
          <p:cNvPr id="32772" name="Rectangle 2"/>
          <p:cNvSpPr>
            <a:spLocks noGrp="1" noChangeArrowheads="1"/>
          </p:cNvSpPr>
          <p:nvPr>
            <p:ph type="title"/>
          </p:nvPr>
        </p:nvSpPr>
        <p:spPr/>
        <p:txBody>
          <a:bodyPr/>
          <a:lstStyle/>
          <a:p>
            <a:pPr eaLnBrk="1" hangingPunct="1"/>
            <a:r>
              <a:rPr lang="en-US">
                <a:latin typeface="Lucida Sans Unicode" charset="0"/>
                <a:cs typeface="Lucida Sans Unicode" charset="0"/>
              </a:rPr>
              <a:t>Reexportation (continued)</a:t>
            </a:r>
          </a:p>
        </p:txBody>
      </p:sp>
      <p:sp>
        <p:nvSpPr>
          <p:cNvPr id="32773" name="Rectangle 3"/>
          <p:cNvSpPr>
            <a:spLocks noGrp="1" noChangeArrowheads="1"/>
          </p:cNvSpPr>
          <p:nvPr>
            <p:ph type="body" idx="1"/>
          </p:nvPr>
        </p:nvSpPr>
        <p:spPr>
          <a:xfrm>
            <a:off x="457200" y="1447800"/>
            <a:ext cx="8153400" cy="4572000"/>
          </a:xfrm>
        </p:spPr>
        <p:txBody>
          <a:bodyPr/>
          <a:lstStyle/>
          <a:p>
            <a:pPr eaLnBrk="1" hangingPunct="1"/>
            <a:r>
              <a:rPr lang="en-US">
                <a:latin typeface="Lucida Sans Unicode" charset="0"/>
                <a:cs typeface="Lucida Sans Unicode" charset="0"/>
              </a:rPr>
              <a:t>One motivation for using private derivation</a:t>
            </a:r>
          </a:p>
          <a:p>
            <a:pPr lvl="1" eaLnBrk="1" hangingPunct="1"/>
            <a:r>
              <a:rPr lang="en-US">
                <a:latin typeface="Lucida Sans Unicode" charset="0"/>
                <a:ea typeface="Lucida Sans Unicode" charset="0"/>
                <a:cs typeface="Lucida Sans Unicode" charset="0"/>
              </a:rPr>
              <a:t>A class provides members that must be visible, so they are defined to be public members; a derived class adds some new members, but does not want its clients to see the members of the parent class, even though they had to be public in the parent class definition</a:t>
            </a:r>
          </a:p>
        </p:txBody>
      </p:sp>
    </p:spTree>
    <p:extLst>
      <p:ext uri="{BB962C8B-B14F-4D97-AF65-F5344CB8AC3E}">
        <p14:creationId xmlns:p14="http://schemas.microsoft.com/office/powerpoint/2010/main" val="6519842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379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2BF24875-E9FD-9349-B155-608D4E7D33EF}" type="slidenum">
              <a:rPr lang="en-US" sz="1000">
                <a:latin typeface="Arial" charset="0"/>
              </a:rPr>
              <a:pPr/>
              <a:t>30</a:t>
            </a:fld>
            <a:endParaRPr lang="en-US" sz="1000">
              <a:latin typeface="Arial" charset="0"/>
            </a:endParaRPr>
          </a:p>
        </p:txBody>
      </p:sp>
      <p:sp>
        <p:nvSpPr>
          <p:cNvPr id="33796" name="Rectangle 2"/>
          <p:cNvSpPr>
            <a:spLocks noGrp="1" noChangeArrowheads="1"/>
          </p:cNvSpPr>
          <p:nvPr>
            <p:ph type="title"/>
          </p:nvPr>
        </p:nvSpPr>
        <p:spPr/>
        <p:txBody>
          <a:bodyPr/>
          <a:lstStyle/>
          <a:p>
            <a:pPr eaLnBrk="1" hangingPunct="1"/>
            <a:r>
              <a:rPr lang="en-US" sz="3200">
                <a:latin typeface="Lucida Sans Unicode" charset="0"/>
                <a:cs typeface="Lucida Sans Unicode" charset="0"/>
              </a:rPr>
              <a:t>Support for OOP in C++ (continued)</a:t>
            </a:r>
          </a:p>
        </p:txBody>
      </p:sp>
      <p:sp>
        <p:nvSpPr>
          <p:cNvPr id="33797"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Multiple inheritance is supported</a:t>
            </a:r>
          </a:p>
          <a:p>
            <a:pPr lvl="1" eaLnBrk="1" hangingPunct="1"/>
            <a:r>
              <a:rPr lang="en-US">
                <a:latin typeface="Lucida Sans Unicode" charset="0"/>
                <a:ea typeface="Lucida Sans Unicode" charset="0"/>
                <a:cs typeface="Lucida Sans Unicode" charset="0"/>
              </a:rPr>
              <a:t>If there are two inherited members with the same name, they can both be referenced using the scope resolution operator (</a:t>
            </a:r>
            <a:r>
              <a:rPr lang="en-US" sz="2000">
                <a:latin typeface="Courier New" charset="0"/>
                <a:ea typeface="ＭＳ Ｐゴシック" charset="0"/>
                <a:cs typeface="Courier New" charset="0"/>
              </a:rPr>
              <a:t>::</a:t>
            </a:r>
            <a:r>
              <a:rPr lang="en-US">
                <a:latin typeface="Lucida Sans Unicode" charset="0"/>
                <a:ea typeface="Lucida Sans Unicode" charset="0"/>
                <a:cs typeface="Lucida Sans Unicode" charset="0"/>
              </a:rPr>
              <a:t>)</a:t>
            </a:r>
          </a:p>
          <a:p>
            <a:pPr lvl="1" eaLnBrk="1" hangingPunct="1">
              <a:buFontTx/>
              <a:buNone/>
            </a:pPr>
            <a:r>
              <a:rPr lang="en-US" sz="2000" b="1">
                <a:latin typeface="Courier New" charset="0"/>
                <a:ea typeface="ＭＳ Ｐゴシック" charset="0"/>
                <a:cs typeface="Courier New" charset="0"/>
              </a:rPr>
              <a:t>class</a:t>
            </a:r>
            <a:r>
              <a:rPr lang="en-US" sz="2000">
                <a:latin typeface="Courier New" charset="0"/>
                <a:ea typeface="ＭＳ Ｐゴシック" charset="0"/>
                <a:cs typeface="Courier New" charset="0"/>
              </a:rPr>
              <a:t> Thread { ... }</a:t>
            </a:r>
          </a:p>
          <a:p>
            <a:pPr lvl="1" eaLnBrk="1" hangingPunct="1">
              <a:buFontTx/>
              <a:buNone/>
            </a:pPr>
            <a:r>
              <a:rPr lang="en-US" sz="2000" b="1">
                <a:latin typeface="Courier New" charset="0"/>
                <a:ea typeface="ＭＳ Ｐゴシック" charset="0"/>
                <a:cs typeface="Courier New" charset="0"/>
              </a:rPr>
              <a:t>class</a:t>
            </a:r>
            <a:r>
              <a:rPr lang="en-US" sz="2000">
                <a:latin typeface="Courier New" charset="0"/>
                <a:ea typeface="ＭＳ Ｐゴシック" charset="0"/>
                <a:cs typeface="Courier New" charset="0"/>
              </a:rPr>
              <a:t> Drawing { ... }</a:t>
            </a:r>
          </a:p>
          <a:p>
            <a:pPr lvl="1" eaLnBrk="1" hangingPunct="1">
              <a:buFontTx/>
              <a:buNone/>
            </a:pPr>
            <a:r>
              <a:rPr lang="en-US" sz="2000" b="1">
                <a:latin typeface="Courier New" charset="0"/>
                <a:ea typeface="ＭＳ Ｐゴシック" charset="0"/>
                <a:cs typeface="Courier New" charset="0"/>
              </a:rPr>
              <a:t>class</a:t>
            </a:r>
            <a:r>
              <a:rPr lang="en-US" sz="2000">
                <a:latin typeface="Courier New" charset="0"/>
                <a:ea typeface="ＭＳ Ｐゴシック" charset="0"/>
                <a:cs typeface="Courier New" charset="0"/>
              </a:rPr>
              <a:t> DrawThread : </a:t>
            </a:r>
            <a:r>
              <a:rPr lang="en-US" sz="2000" b="1">
                <a:latin typeface="Courier New" charset="0"/>
                <a:ea typeface="ＭＳ Ｐゴシック" charset="0"/>
                <a:cs typeface="Courier New" charset="0"/>
              </a:rPr>
              <a:t>public</a:t>
            </a:r>
            <a:r>
              <a:rPr lang="en-US" sz="2000">
                <a:latin typeface="Courier New" charset="0"/>
                <a:ea typeface="ＭＳ Ｐゴシック" charset="0"/>
                <a:cs typeface="Courier New" charset="0"/>
              </a:rPr>
              <a:t> Thread, </a:t>
            </a:r>
            <a:r>
              <a:rPr lang="en-US" sz="2000" b="1">
                <a:latin typeface="Courier New" charset="0"/>
                <a:ea typeface="ＭＳ Ｐゴシック" charset="0"/>
                <a:cs typeface="Courier New" charset="0"/>
              </a:rPr>
              <a:t>public</a:t>
            </a:r>
            <a:r>
              <a:rPr lang="en-US" sz="2000">
                <a:latin typeface="Courier New" charset="0"/>
                <a:ea typeface="ＭＳ Ｐゴシック" charset="0"/>
                <a:cs typeface="Courier New" charset="0"/>
              </a:rPr>
              <a:t> Drawing { … }</a:t>
            </a:r>
          </a:p>
        </p:txBody>
      </p:sp>
    </p:spTree>
    <p:extLst>
      <p:ext uri="{BB962C8B-B14F-4D97-AF65-F5344CB8AC3E}">
        <p14:creationId xmlns:p14="http://schemas.microsoft.com/office/powerpoint/2010/main" val="2704290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481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9A99C07F-B689-7A4A-B33A-D29A678E6481}" type="slidenum">
              <a:rPr lang="en-US" sz="1000">
                <a:latin typeface="Arial" charset="0"/>
              </a:rPr>
              <a:pPr/>
              <a:t>31</a:t>
            </a:fld>
            <a:endParaRPr lang="en-US" sz="1000">
              <a:latin typeface="Arial" charset="0"/>
            </a:endParaRPr>
          </a:p>
        </p:txBody>
      </p:sp>
      <p:sp>
        <p:nvSpPr>
          <p:cNvPr id="34820" name="Rectangle 2"/>
          <p:cNvSpPr>
            <a:spLocks noGrp="1" noChangeArrowheads="1"/>
          </p:cNvSpPr>
          <p:nvPr>
            <p:ph type="title"/>
          </p:nvPr>
        </p:nvSpPr>
        <p:spPr/>
        <p:txBody>
          <a:bodyPr/>
          <a:lstStyle/>
          <a:p>
            <a:pPr eaLnBrk="1" hangingPunct="1"/>
            <a:r>
              <a:rPr lang="en-US" sz="3200">
                <a:latin typeface="Lucida Sans Unicode" charset="0"/>
                <a:cs typeface="Lucida Sans Unicode" charset="0"/>
              </a:rPr>
              <a:t>Support for OOP in C++ (continued)</a:t>
            </a:r>
          </a:p>
        </p:txBody>
      </p:sp>
      <p:sp>
        <p:nvSpPr>
          <p:cNvPr id="34821"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Dynamic Binding</a:t>
            </a:r>
          </a:p>
          <a:p>
            <a:pPr lvl="1" eaLnBrk="1" hangingPunct="1"/>
            <a:r>
              <a:rPr lang="en-US">
                <a:latin typeface="Lucida Sans Unicode" charset="0"/>
                <a:ea typeface="Lucida Sans Unicode" charset="0"/>
                <a:cs typeface="Lucida Sans Unicode" charset="0"/>
              </a:rPr>
              <a:t>A method can be defined to be </a:t>
            </a:r>
            <a:r>
              <a:rPr lang="en-US" sz="2000" b="1">
                <a:latin typeface="Courier New" charset="0"/>
                <a:ea typeface="Lucida Sans Unicode" charset="0"/>
                <a:cs typeface="Lucida Sans Unicode" charset="0"/>
              </a:rPr>
              <a:t>virtual</a:t>
            </a:r>
            <a:r>
              <a:rPr lang="en-US">
                <a:latin typeface="Lucida Sans Unicode" charset="0"/>
                <a:ea typeface="Lucida Sans Unicode" charset="0"/>
                <a:cs typeface="Lucida Sans Unicode" charset="0"/>
              </a:rPr>
              <a:t>, which means that they can be called through polymorphic variables and dynamically bound to messages</a:t>
            </a:r>
          </a:p>
          <a:p>
            <a:pPr lvl="1" eaLnBrk="1" hangingPunct="1"/>
            <a:r>
              <a:rPr lang="en-US">
                <a:latin typeface="Lucida Sans Unicode" charset="0"/>
                <a:ea typeface="Lucida Sans Unicode" charset="0"/>
                <a:cs typeface="Lucida Sans Unicode" charset="0"/>
              </a:rPr>
              <a:t>A pure virtual function has no definition at all</a:t>
            </a:r>
          </a:p>
          <a:p>
            <a:pPr lvl="1" eaLnBrk="1" hangingPunct="1"/>
            <a:r>
              <a:rPr lang="en-US">
                <a:latin typeface="Lucida Sans Unicode" charset="0"/>
                <a:ea typeface="Lucida Sans Unicode" charset="0"/>
                <a:cs typeface="Lucida Sans Unicode" charset="0"/>
              </a:rPr>
              <a:t>A class that has at least one pure virtual function is an </a:t>
            </a:r>
            <a:r>
              <a:rPr lang="en-US" i="1">
                <a:latin typeface="Lucida Sans Unicode" charset="0"/>
                <a:ea typeface="Lucida Sans Unicode" charset="0"/>
                <a:cs typeface="Lucida Sans Unicode" charset="0"/>
              </a:rPr>
              <a:t>abstract class</a:t>
            </a:r>
          </a:p>
        </p:txBody>
      </p:sp>
    </p:spTree>
    <p:extLst>
      <p:ext uri="{BB962C8B-B14F-4D97-AF65-F5344CB8AC3E}">
        <p14:creationId xmlns:p14="http://schemas.microsoft.com/office/powerpoint/2010/main" val="32421428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sz="3200">
                <a:latin typeface="Lucida Sans Unicode" charset="0"/>
                <a:cs typeface="Lucida Sans Unicode" charset="0"/>
              </a:rPr>
              <a:t>Support for OOP in C++ (continued)</a:t>
            </a:r>
            <a:endParaRPr lang="en-US">
              <a:latin typeface="Lucida Sans Unicode" charset="0"/>
              <a:cs typeface="Lucida Sans Unicode" charset="0"/>
            </a:endParaRPr>
          </a:p>
        </p:txBody>
      </p:sp>
      <p:sp>
        <p:nvSpPr>
          <p:cNvPr id="35843" name="Content Placeholder 2"/>
          <p:cNvSpPr>
            <a:spLocks noGrp="1"/>
          </p:cNvSpPr>
          <p:nvPr>
            <p:ph idx="1"/>
          </p:nvPr>
        </p:nvSpPr>
        <p:spPr>
          <a:xfrm>
            <a:off x="609600" y="1371600"/>
            <a:ext cx="3886200" cy="4724400"/>
          </a:xfrm>
        </p:spPr>
        <p:txBody>
          <a:bodyPr/>
          <a:lstStyle/>
          <a:p>
            <a:pPr>
              <a:buFontTx/>
              <a:buNone/>
            </a:pPr>
            <a:r>
              <a:rPr lang="en-US">
                <a:latin typeface="Lucida Sans Unicode" charset="0"/>
                <a:cs typeface="Lucida Sans Unicode" charset="0"/>
              </a:rPr>
              <a:t>  </a:t>
            </a:r>
            <a:r>
              <a:rPr lang="en-US" sz="1200" b="1">
                <a:latin typeface="Courier New" charset="0"/>
                <a:cs typeface="Courier New" charset="0"/>
              </a:rPr>
              <a:t>class</a:t>
            </a:r>
            <a:r>
              <a:rPr lang="en-US" sz="1200">
                <a:latin typeface="Courier New" charset="0"/>
                <a:cs typeface="Courier New" charset="0"/>
              </a:rPr>
              <a:t> Shape {</a:t>
            </a:r>
          </a:p>
          <a:p>
            <a:pPr>
              <a:buFontTx/>
              <a:buNone/>
            </a:pPr>
            <a:r>
              <a:rPr lang="en-US" sz="1200">
                <a:latin typeface="Courier New" charset="0"/>
                <a:cs typeface="Courier New" charset="0"/>
              </a:rPr>
              <a:t>    </a:t>
            </a:r>
            <a:r>
              <a:rPr lang="en-US" sz="1200" b="1">
                <a:latin typeface="Courier New" charset="0"/>
                <a:cs typeface="Courier New" charset="0"/>
              </a:rPr>
              <a:t>public</a:t>
            </a:r>
            <a:r>
              <a:rPr lang="en-US" sz="1200">
                <a:latin typeface="Courier New" charset="0"/>
                <a:cs typeface="Courier New" charset="0"/>
              </a:rPr>
              <a:t>:</a:t>
            </a:r>
          </a:p>
          <a:p>
            <a:pPr>
              <a:buFontTx/>
              <a:buNone/>
            </a:pPr>
            <a:r>
              <a:rPr lang="en-US" sz="1200">
                <a:latin typeface="Courier New" charset="0"/>
                <a:cs typeface="Courier New" charset="0"/>
              </a:rPr>
              <a:t>      </a:t>
            </a:r>
            <a:r>
              <a:rPr lang="en-US" sz="1200" b="1">
                <a:latin typeface="Courier New" charset="0"/>
                <a:cs typeface="Courier New" charset="0"/>
              </a:rPr>
              <a:t>virtual void </a:t>
            </a:r>
            <a:r>
              <a:rPr lang="en-US" sz="1200">
                <a:latin typeface="Courier New" charset="0"/>
                <a:cs typeface="Courier New" charset="0"/>
              </a:rPr>
              <a:t>draw() = 0;</a:t>
            </a:r>
          </a:p>
          <a:p>
            <a:pPr>
              <a:buFontTx/>
              <a:buNone/>
            </a:pPr>
            <a:r>
              <a:rPr lang="en-US" sz="1200">
                <a:latin typeface="Courier New" charset="0"/>
                <a:cs typeface="Courier New" charset="0"/>
              </a:rPr>
              <a:t>      ...</a:t>
            </a:r>
          </a:p>
          <a:p>
            <a:pPr>
              <a:buFontTx/>
              <a:buNone/>
            </a:pPr>
            <a:r>
              <a:rPr lang="en-US" sz="1200">
                <a:latin typeface="Courier New" charset="0"/>
                <a:cs typeface="Courier New" charset="0"/>
              </a:rPr>
              <a:t>  };</a:t>
            </a:r>
          </a:p>
          <a:p>
            <a:pPr>
              <a:buFontTx/>
              <a:buNone/>
            </a:pPr>
            <a:r>
              <a:rPr lang="en-US" sz="1200">
                <a:latin typeface="Courier New" charset="0"/>
                <a:cs typeface="Courier New" charset="0"/>
              </a:rPr>
              <a:t>  </a:t>
            </a:r>
            <a:r>
              <a:rPr lang="en-US" sz="1200" b="1">
                <a:latin typeface="Courier New" charset="0"/>
                <a:cs typeface="Courier New" charset="0"/>
              </a:rPr>
              <a:t>class</a:t>
            </a:r>
            <a:r>
              <a:rPr lang="en-US" sz="1200">
                <a:latin typeface="Courier New" charset="0"/>
                <a:cs typeface="Courier New" charset="0"/>
              </a:rPr>
              <a:t> Circle : </a:t>
            </a:r>
            <a:r>
              <a:rPr lang="en-US" sz="1200" b="1">
                <a:latin typeface="Courier New" charset="0"/>
                <a:cs typeface="Courier New" charset="0"/>
              </a:rPr>
              <a:t>public</a:t>
            </a:r>
            <a:r>
              <a:rPr lang="en-US" sz="1200">
                <a:latin typeface="Courier New" charset="0"/>
                <a:cs typeface="Courier New" charset="0"/>
              </a:rPr>
              <a:t> Shape {</a:t>
            </a:r>
          </a:p>
          <a:p>
            <a:pPr>
              <a:buFontTx/>
              <a:buNone/>
            </a:pPr>
            <a:r>
              <a:rPr lang="en-US" sz="1200">
                <a:latin typeface="Courier New" charset="0"/>
                <a:cs typeface="Courier New" charset="0"/>
              </a:rPr>
              <a:t>    </a:t>
            </a:r>
            <a:r>
              <a:rPr lang="en-US" sz="1200" b="1">
                <a:latin typeface="Courier New" charset="0"/>
                <a:cs typeface="Courier New" charset="0"/>
              </a:rPr>
              <a:t>public</a:t>
            </a:r>
            <a:r>
              <a:rPr lang="en-US" sz="1200">
                <a:latin typeface="Courier New" charset="0"/>
                <a:cs typeface="Courier New" charset="0"/>
              </a:rPr>
              <a:t>:</a:t>
            </a:r>
          </a:p>
          <a:p>
            <a:pPr>
              <a:buFontTx/>
              <a:buNone/>
            </a:pPr>
            <a:r>
              <a:rPr lang="en-US" sz="1200">
                <a:latin typeface="Courier New" charset="0"/>
                <a:cs typeface="Courier New" charset="0"/>
              </a:rPr>
              <a:t>      </a:t>
            </a:r>
            <a:r>
              <a:rPr lang="en-US" sz="1200" b="1">
                <a:latin typeface="Courier New" charset="0"/>
                <a:cs typeface="Courier New" charset="0"/>
              </a:rPr>
              <a:t>void</a:t>
            </a:r>
            <a:r>
              <a:rPr lang="en-US" sz="1200">
                <a:latin typeface="Courier New" charset="0"/>
                <a:cs typeface="Courier New" charset="0"/>
              </a:rPr>
              <a:t> draw() { ... }</a:t>
            </a:r>
          </a:p>
          <a:p>
            <a:pPr>
              <a:buFontTx/>
              <a:buNone/>
            </a:pPr>
            <a:r>
              <a:rPr lang="en-US" sz="1200">
                <a:latin typeface="Courier New" charset="0"/>
                <a:cs typeface="Courier New" charset="0"/>
              </a:rPr>
              <a:t>    ...</a:t>
            </a:r>
          </a:p>
          <a:p>
            <a:pPr>
              <a:buFontTx/>
              <a:buNone/>
            </a:pPr>
            <a:r>
              <a:rPr lang="en-US" sz="1200">
                <a:latin typeface="Courier New" charset="0"/>
                <a:cs typeface="Courier New" charset="0"/>
              </a:rPr>
              <a:t>  };</a:t>
            </a:r>
          </a:p>
          <a:p>
            <a:pPr>
              <a:buFontTx/>
              <a:buNone/>
            </a:pPr>
            <a:r>
              <a:rPr lang="en-US" sz="1200">
                <a:latin typeface="Courier New" charset="0"/>
                <a:cs typeface="Courier New" charset="0"/>
              </a:rPr>
              <a:t>  </a:t>
            </a:r>
            <a:r>
              <a:rPr lang="en-US" sz="1200" b="1">
                <a:latin typeface="Courier New" charset="0"/>
                <a:cs typeface="Courier New" charset="0"/>
              </a:rPr>
              <a:t>class</a:t>
            </a:r>
            <a:r>
              <a:rPr lang="en-US" sz="1200">
                <a:latin typeface="Courier New" charset="0"/>
                <a:cs typeface="Courier New" charset="0"/>
              </a:rPr>
              <a:t> Rectangle : </a:t>
            </a:r>
            <a:r>
              <a:rPr lang="en-US" sz="1200" b="1">
                <a:latin typeface="Courier New" charset="0"/>
                <a:cs typeface="Courier New" charset="0"/>
              </a:rPr>
              <a:t>public</a:t>
            </a:r>
            <a:r>
              <a:rPr lang="en-US" sz="1200">
                <a:latin typeface="Courier New" charset="0"/>
                <a:cs typeface="Courier New" charset="0"/>
              </a:rPr>
              <a:t> Shape {</a:t>
            </a:r>
          </a:p>
          <a:p>
            <a:pPr>
              <a:buFontTx/>
              <a:buNone/>
            </a:pPr>
            <a:r>
              <a:rPr lang="en-US" sz="1200">
                <a:latin typeface="Courier New" charset="0"/>
                <a:cs typeface="Courier New" charset="0"/>
              </a:rPr>
              <a:t>    </a:t>
            </a:r>
            <a:r>
              <a:rPr lang="en-US" sz="1200" b="1">
                <a:latin typeface="Courier New" charset="0"/>
                <a:cs typeface="Courier New" charset="0"/>
              </a:rPr>
              <a:t>public</a:t>
            </a:r>
            <a:r>
              <a:rPr lang="en-US" sz="1200">
                <a:latin typeface="Courier New" charset="0"/>
                <a:cs typeface="Courier New" charset="0"/>
              </a:rPr>
              <a:t>:</a:t>
            </a:r>
          </a:p>
          <a:p>
            <a:pPr>
              <a:buFontTx/>
              <a:buNone/>
            </a:pPr>
            <a:r>
              <a:rPr lang="en-US" sz="1200">
                <a:latin typeface="Courier New" charset="0"/>
                <a:cs typeface="Courier New" charset="0"/>
              </a:rPr>
              <a:t>      </a:t>
            </a:r>
            <a:r>
              <a:rPr lang="en-US" sz="1200" b="1">
                <a:latin typeface="Courier New" charset="0"/>
                <a:cs typeface="Courier New" charset="0"/>
              </a:rPr>
              <a:t>void</a:t>
            </a:r>
            <a:r>
              <a:rPr lang="en-US" sz="1200">
                <a:latin typeface="Courier New" charset="0"/>
                <a:cs typeface="Courier New" charset="0"/>
              </a:rPr>
              <a:t> draw() { ... }</a:t>
            </a:r>
          </a:p>
          <a:p>
            <a:pPr>
              <a:buFontTx/>
              <a:buNone/>
            </a:pPr>
            <a:r>
              <a:rPr lang="en-US" sz="1200">
                <a:latin typeface="Courier New" charset="0"/>
                <a:cs typeface="Courier New" charset="0"/>
              </a:rPr>
              <a:t>    ...</a:t>
            </a:r>
          </a:p>
          <a:p>
            <a:pPr>
              <a:buFontTx/>
              <a:buNone/>
            </a:pPr>
            <a:r>
              <a:rPr lang="en-US" sz="1200">
                <a:latin typeface="Courier New" charset="0"/>
                <a:cs typeface="Courier New" charset="0"/>
              </a:rPr>
              <a:t>  };</a:t>
            </a:r>
          </a:p>
          <a:p>
            <a:pPr>
              <a:buFontTx/>
              <a:buNone/>
            </a:pPr>
            <a:r>
              <a:rPr lang="en-US" sz="1200">
                <a:latin typeface="Courier New" charset="0"/>
                <a:cs typeface="Courier New" charset="0"/>
              </a:rPr>
              <a:t>  </a:t>
            </a:r>
            <a:r>
              <a:rPr lang="en-US" sz="1200" b="1">
                <a:latin typeface="Courier New" charset="0"/>
                <a:cs typeface="Courier New" charset="0"/>
              </a:rPr>
              <a:t>class</a:t>
            </a:r>
            <a:r>
              <a:rPr lang="en-US" sz="1200">
                <a:latin typeface="Courier New" charset="0"/>
                <a:cs typeface="Courier New" charset="0"/>
              </a:rPr>
              <a:t> Square : </a:t>
            </a:r>
            <a:r>
              <a:rPr lang="en-US" sz="1200" b="1">
                <a:latin typeface="Courier New" charset="0"/>
                <a:cs typeface="Courier New" charset="0"/>
              </a:rPr>
              <a:t>public</a:t>
            </a:r>
            <a:r>
              <a:rPr lang="en-US" sz="1200">
                <a:latin typeface="Courier New" charset="0"/>
                <a:cs typeface="Courier New" charset="0"/>
              </a:rPr>
              <a:t> Rectangle {</a:t>
            </a:r>
          </a:p>
          <a:p>
            <a:pPr>
              <a:buFontTx/>
              <a:buNone/>
            </a:pPr>
            <a:r>
              <a:rPr lang="en-US" sz="1200">
                <a:latin typeface="Courier New" charset="0"/>
                <a:cs typeface="Courier New" charset="0"/>
              </a:rPr>
              <a:t>    </a:t>
            </a:r>
            <a:r>
              <a:rPr lang="en-US" sz="1200" b="1">
                <a:latin typeface="Courier New" charset="0"/>
                <a:cs typeface="Courier New" charset="0"/>
              </a:rPr>
              <a:t>public</a:t>
            </a:r>
            <a:r>
              <a:rPr lang="en-US" sz="1200">
                <a:latin typeface="Courier New" charset="0"/>
                <a:cs typeface="Courier New" charset="0"/>
              </a:rPr>
              <a:t>:</a:t>
            </a:r>
          </a:p>
          <a:p>
            <a:pPr>
              <a:buFontTx/>
              <a:buNone/>
            </a:pPr>
            <a:r>
              <a:rPr lang="en-US" sz="1200">
                <a:latin typeface="Courier New" charset="0"/>
                <a:cs typeface="Courier New" charset="0"/>
              </a:rPr>
              <a:t>      </a:t>
            </a:r>
            <a:r>
              <a:rPr lang="en-US" sz="1200" b="1">
                <a:latin typeface="Courier New" charset="0"/>
                <a:cs typeface="Courier New" charset="0"/>
              </a:rPr>
              <a:t>void</a:t>
            </a:r>
            <a:r>
              <a:rPr lang="en-US" sz="1200">
                <a:latin typeface="Courier New" charset="0"/>
                <a:cs typeface="Courier New" charset="0"/>
              </a:rPr>
              <a:t> draw() { ... }</a:t>
            </a:r>
          </a:p>
          <a:p>
            <a:pPr>
              <a:buFontTx/>
              <a:buNone/>
            </a:pPr>
            <a:r>
              <a:rPr lang="en-US" sz="1200">
                <a:latin typeface="Courier New" charset="0"/>
                <a:cs typeface="Courier New" charset="0"/>
              </a:rPr>
              <a:t>    ...</a:t>
            </a:r>
          </a:p>
          <a:p>
            <a:pPr>
              <a:buFontTx/>
              <a:buNone/>
            </a:pPr>
            <a:r>
              <a:rPr lang="en-US" sz="1200">
                <a:latin typeface="Courier New" charset="0"/>
                <a:cs typeface="Courier New" charset="0"/>
              </a:rPr>
              <a:t>  };</a:t>
            </a:r>
          </a:p>
        </p:txBody>
      </p:sp>
      <p:sp>
        <p:nvSpPr>
          <p:cNvPr id="3584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584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7A9A5863-12AF-4F43-8409-A1689C66040C}" type="slidenum">
              <a:rPr lang="en-US" sz="1000">
                <a:latin typeface="Arial" charset="0"/>
              </a:rPr>
              <a:pPr/>
              <a:t>32</a:t>
            </a:fld>
            <a:endParaRPr lang="en-US" sz="1000">
              <a:latin typeface="Arial" charset="0"/>
            </a:endParaRPr>
          </a:p>
        </p:txBody>
      </p:sp>
      <p:sp>
        <p:nvSpPr>
          <p:cNvPr id="35846" name="TextBox 5"/>
          <p:cNvSpPr txBox="1">
            <a:spLocks noChangeArrowheads="1"/>
          </p:cNvSpPr>
          <p:nvPr/>
        </p:nvSpPr>
        <p:spPr bwMode="auto">
          <a:xfrm>
            <a:off x="4495800" y="1447800"/>
            <a:ext cx="4495800" cy="1816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400">
                <a:latin typeface="Courier New" charset="0"/>
                <a:cs typeface="Courier New" charset="0"/>
              </a:rPr>
              <a:t>Square* sq = </a:t>
            </a:r>
            <a:r>
              <a:rPr lang="en-US" sz="1400" b="1">
                <a:latin typeface="Courier New" charset="0"/>
                <a:cs typeface="Courier New" charset="0"/>
              </a:rPr>
              <a:t>new</a:t>
            </a:r>
            <a:r>
              <a:rPr lang="en-US" sz="1400">
                <a:latin typeface="Courier New" charset="0"/>
                <a:cs typeface="Courier New" charset="0"/>
              </a:rPr>
              <a:t> Square;</a:t>
            </a:r>
          </a:p>
          <a:p>
            <a:r>
              <a:rPr lang="en-US" sz="1400">
                <a:latin typeface="Courier New" charset="0"/>
                <a:cs typeface="Courier New" charset="0"/>
              </a:rPr>
              <a:t>Rectangle* rect = </a:t>
            </a:r>
            <a:r>
              <a:rPr lang="en-US" sz="1400" b="1">
                <a:latin typeface="Courier New" charset="0"/>
                <a:cs typeface="Courier New" charset="0"/>
              </a:rPr>
              <a:t>new</a:t>
            </a:r>
            <a:r>
              <a:rPr lang="en-US" sz="1400">
                <a:latin typeface="Courier New" charset="0"/>
                <a:cs typeface="Courier New" charset="0"/>
              </a:rPr>
              <a:t> Rectangle;</a:t>
            </a:r>
          </a:p>
          <a:p>
            <a:r>
              <a:rPr lang="en-US" sz="1400">
                <a:latin typeface="Courier New" charset="0"/>
                <a:cs typeface="Courier New" charset="0"/>
              </a:rPr>
              <a:t>Shape* ptr_shape;</a:t>
            </a:r>
          </a:p>
          <a:p>
            <a:r>
              <a:rPr lang="en-US" sz="1400">
                <a:latin typeface="Courier New" charset="0"/>
                <a:cs typeface="Courier New" charset="0"/>
              </a:rPr>
              <a:t>ptr_shape = sq;  // points to a Square</a:t>
            </a:r>
          </a:p>
          <a:p>
            <a:r>
              <a:rPr lang="en-US" sz="1400">
                <a:latin typeface="Courier New" charset="0"/>
                <a:cs typeface="Courier New" charset="0"/>
              </a:rPr>
              <a:t>ptr_shape -&gt;draw();  // Dynamically</a:t>
            </a:r>
          </a:p>
          <a:p>
            <a:r>
              <a:rPr lang="en-US" sz="1400">
                <a:latin typeface="Courier New" charset="0"/>
                <a:cs typeface="Courier New" charset="0"/>
              </a:rPr>
              <a:t>              // bound to draw in Square</a:t>
            </a:r>
          </a:p>
          <a:p>
            <a:r>
              <a:rPr lang="en-US" sz="1400">
                <a:latin typeface="Courier New" charset="0"/>
                <a:cs typeface="Courier New" charset="0"/>
              </a:rPr>
              <a:t>rect-&gt;draw();  // Statically bound to </a:t>
            </a:r>
          </a:p>
          <a:p>
            <a:r>
              <a:rPr lang="en-US" sz="1400">
                <a:latin typeface="Courier New" charset="0"/>
                <a:cs typeface="Courier New" charset="0"/>
              </a:rPr>
              <a:t>              // draw in Rectangle</a:t>
            </a:r>
          </a:p>
        </p:txBody>
      </p:sp>
    </p:spTree>
    <p:extLst>
      <p:ext uri="{BB962C8B-B14F-4D97-AF65-F5344CB8AC3E}">
        <p14:creationId xmlns:p14="http://schemas.microsoft.com/office/powerpoint/2010/main" val="3308216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sz="3200">
                <a:latin typeface="Lucida Sans Unicode" charset="0"/>
                <a:cs typeface="Lucida Sans Unicode" charset="0"/>
              </a:rPr>
              <a:t>Support for OOP in C++ (continued)</a:t>
            </a:r>
            <a:endParaRPr lang="en-US">
              <a:latin typeface="Lucida Sans Unicode" charset="0"/>
              <a:cs typeface="Lucida Sans Unicode" charset="0"/>
            </a:endParaRPr>
          </a:p>
        </p:txBody>
      </p:sp>
      <p:sp>
        <p:nvSpPr>
          <p:cNvPr id="36867" name="Content Placeholder 2"/>
          <p:cNvSpPr>
            <a:spLocks noGrp="1"/>
          </p:cNvSpPr>
          <p:nvPr>
            <p:ph idx="1"/>
          </p:nvPr>
        </p:nvSpPr>
        <p:spPr/>
        <p:txBody>
          <a:bodyPr/>
          <a:lstStyle/>
          <a:p>
            <a:r>
              <a:rPr lang="en-US">
                <a:latin typeface="Lucida Sans Unicode" charset="0"/>
                <a:cs typeface="Lucida Sans Unicode" charset="0"/>
              </a:rPr>
              <a:t>If objects are allocated from the stack, it is quite different</a:t>
            </a:r>
          </a:p>
          <a:p>
            <a:pPr>
              <a:buFontTx/>
              <a:buNone/>
            </a:pPr>
            <a:endParaRPr lang="en-US">
              <a:latin typeface="Lucida Sans Unicode" charset="0"/>
              <a:cs typeface="Lucida Sans Unicode" charset="0"/>
            </a:endParaRPr>
          </a:p>
          <a:p>
            <a:pPr>
              <a:buFontTx/>
              <a:buNone/>
            </a:pPr>
            <a:r>
              <a:rPr lang="en-US" sz="1600">
                <a:latin typeface="Courier New" charset="0"/>
                <a:cs typeface="Courier New" charset="0"/>
              </a:rPr>
              <a:t>  Square sq;    // Allocates a Square object from the stack</a:t>
            </a:r>
          </a:p>
          <a:p>
            <a:pPr>
              <a:buFontTx/>
              <a:buNone/>
            </a:pPr>
            <a:r>
              <a:rPr lang="en-US" sz="1600">
                <a:latin typeface="Courier New" charset="0"/>
                <a:cs typeface="Courier New" charset="0"/>
              </a:rPr>
              <a:t>  Rectangle rect;  // Allocates a Rectangle object from the stack</a:t>
            </a:r>
          </a:p>
          <a:p>
            <a:pPr>
              <a:buFontTx/>
              <a:buNone/>
            </a:pPr>
            <a:r>
              <a:rPr lang="en-US" sz="1600">
                <a:latin typeface="Courier New" charset="0"/>
                <a:cs typeface="Courier New" charset="0"/>
              </a:rPr>
              <a:t>  rect = sq;   // Copies the data member values from sq object</a:t>
            </a:r>
          </a:p>
          <a:p>
            <a:pPr>
              <a:buFontTx/>
              <a:buNone/>
            </a:pPr>
            <a:r>
              <a:rPr lang="en-US" sz="1600">
                <a:latin typeface="Courier New" charset="0"/>
                <a:cs typeface="Courier New" charset="0"/>
              </a:rPr>
              <a:t>  rect.draw();  // Calls the draw from Rectangle</a:t>
            </a:r>
          </a:p>
        </p:txBody>
      </p:sp>
      <p:sp>
        <p:nvSpPr>
          <p:cNvPr id="3686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686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E99DA9DC-8F1A-1E4F-A69E-F4FAC1C3A574}" type="slidenum">
              <a:rPr lang="en-US" sz="1000">
                <a:latin typeface="Arial" charset="0"/>
              </a:rPr>
              <a:pPr/>
              <a:t>33</a:t>
            </a:fld>
            <a:endParaRPr lang="en-US" sz="1000">
              <a:latin typeface="Arial" charset="0"/>
            </a:endParaRPr>
          </a:p>
        </p:txBody>
      </p:sp>
    </p:spTree>
    <p:extLst>
      <p:ext uri="{BB962C8B-B14F-4D97-AF65-F5344CB8AC3E}">
        <p14:creationId xmlns:p14="http://schemas.microsoft.com/office/powerpoint/2010/main" val="5334002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789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7B672601-3B31-8A48-9D99-03CA57A10964}" type="slidenum">
              <a:rPr lang="en-US" sz="1000">
                <a:latin typeface="Arial" charset="0"/>
              </a:rPr>
              <a:pPr/>
              <a:t>34</a:t>
            </a:fld>
            <a:endParaRPr lang="en-US" sz="1000">
              <a:latin typeface="Arial" charset="0"/>
            </a:endParaRPr>
          </a:p>
        </p:txBody>
      </p:sp>
      <p:sp>
        <p:nvSpPr>
          <p:cNvPr id="37892" name="Rectangle 2"/>
          <p:cNvSpPr>
            <a:spLocks noGrp="1" noChangeArrowheads="1"/>
          </p:cNvSpPr>
          <p:nvPr>
            <p:ph type="title"/>
          </p:nvPr>
        </p:nvSpPr>
        <p:spPr/>
        <p:txBody>
          <a:bodyPr/>
          <a:lstStyle/>
          <a:p>
            <a:pPr eaLnBrk="1" hangingPunct="1"/>
            <a:r>
              <a:rPr lang="en-US" sz="3200">
                <a:latin typeface="Lucida Sans Unicode" charset="0"/>
                <a:cs typeface="Lucida Sans Unicode" charset="0"/>
              </a:rPr>
              <a:t>Support for OOP in C++ (continued)</a:t>
            </a:r>
          </a:p>
        </p:txBody>
      </p:sp>
      <p:sp>
        <p:nvSpPr>
          <p:cNvPr id="37893" name="Rectangle 3"/>
          <p:cNvSpPr>
            <a:spLocks noGrp="1" noChangeArrowheads="1"/>
          </p:cNvSpPr>
          <p:nvPr>
            <p:ph type="body" idx="1"/>
          </p:nvPr>
        </p:nvSpPr>
        <p:spPr>
          <a:xfrm>
            <a:off x="533400" y="1447800"/>
            <a:ext cx="8153400" cy="4572000"/>
          </a:xfrm>
        </p:spPr>
        <p:txBody>
          <a:bodyPr/>
          <a:lstStyle/>
          <a:p>
            <a:pPr eaLnBrk="1" hangingPunct="1">
              <a:lnSpc>
                <a:spcPct val="90000"/>
              </a:lnSpc>
            </a:pPr>
            <a:r>
              <a:rPr lang="en-US" dirty="0">
                <a:latin typeface="Lucida Sans Unicode" charset="0"/>
                <a:cs typeface="Lucida Sans Unicode" charset="0"/>
              </a:rPr>
              <a:t>Evaluation</a:t>
            </a:r>
          </a:p>
          <a:p>
            <a:pPr lvl="1" eaLnBrk="1" hangingPunct="1">
              <a:lnSpc>
                <a:spcPct val="90000"/>
              </a:lnSpc>
            </a:pPr>
            <a:r>
              <a:rPr lang="en-US" dirty="0">
                <a:latin typeface="Lucida Sans Unicode" charset="0"/>
                <a:ea typeface="Lucida Sans Unicode" charset="0"/>
                <a:cs typeface="Lucida Sans Unicode" charset="0"/>
              </a:rPr>
              <a:t>C++ provides extensive access controls</a:t>
            </a:r>
          </a:p>
          <a:p>
            <a:pPr lvl="1" eaLnBrk="1" hangingPunct="1">
              <a:lnSpc>
                <a:spcPct val="90000"/>
              </a:lnSpc>
            </a:pPr>
            <a:r>
              <a:rPr lang="en-US" dirty="0">
                <a:latin typeface="Lucida Sans Unicode" charset="0"/>
                <a:ea typeface="Lucida Sans Unicode" charset="0"/>
                <a:cs typeface="Lucida Sans Unicode" charset="0"/>
              </a:rPr>
              <a:t>C++ provides multiple inheritance</a:t>
            </a:r>
          </a:p>
          <a:p>
            <a:pPr lvl="1" eaLnBrk="1" hangingPunct="1">
              <a:lnSpc>
                <a:spcPct val="90000"/>
              </a:lnSpc>
            </a:pPr>
            <a:r>
              <a:rPr lang="en-US" dirty="0">
                <a:latin typeface="Lucida Sans Unicode" charset="0"/>
                <a:ea typeface="Lucida Sans Unicode" charset="0"/>
                <a:cs typeface="Lucida Sans Unicode" charset="0"/>
              </a:rPr>
              <a:t>In C++, the programmer must decide at design time which methods will be statically bound and which must be dynamically bound</a:t>
            </a:r>
          </a:p>
          <a:p>
            <a:pPr lvl="2" eaLnBrk="1" hangingPunct="1">
              <a:lnSpc>
                <a:spcPct val="90000"/>
              </a:lnSpc>
            </a:pPr>
            <a:r>
              <a:rPr lang="en-US" dirty="0">
                <a:latin typeface="Lucida Sans Unicode" charset="0"/>
                <a:ea typeface="Lucida Sans Unicode" charset="0"/>
                <a:cs typeface="Lucida Sans Unicode" charset="0"/>
              </a:rPr>
              <a:t>Static binding is faster!</a:t>
            </a:r>
          </a:p>
          <a:p>
            <a:pPr lvl="1" eaLnBrk="1" hangingPunct="1">
              <a:lnSpc>
                <a:spcPct val="90000"/>
              </a:lnSpc>
            </a:pPr>
            <a:r>
              <a:rPr lang="en-US" dirty="0">
                <a:latin typeface="Lucida Sans Unicode" charset="0"/>
                <a:ea typeface="Lucida Sans Unicode" charset="0"/>
                <a:cs typeface="Lucida Sans Unicode" charset="0"/>
              </a:rPr>
              <a:t>Smalltalk type checking is dynamic (flexible, but somewhat unsafe)</a:t>
            </a:r>
          </a:p>
          <a:p>
            <a:pPr lvl="1" eaLnBrk="1" hangingPunct="1">
              <a:lnSpc>
                <a:spcPct val="90000"/>
              </a:lnSpc>
            </a:pPr>
            <a:r>
              <a:rPr lang="en-US" dirty="0">
                <a:latin typeface="Lucida Sans Unicode" charset="0"/>
                <a:ea typeface="Lucida Sans Unicode" charset="0"/>
                <a:cs typeface="Lucida Sans Unicode" charset="0"/>
              </a:rPr>
              <a:t>Because of interpretation and dynamic binding, Smalltalk is ~10 times slower than C++</a:t>
            </a:r>
          </a:p>
        </p:txBody>
      </p:sp>
    </p:spTree>
    <p:extLst>
      <p:ext uri="{BB962C8B-B14F-4D97-AF65-F5344CB8AC3E}">
        <p14:creationId xmlns:p14="http://schemas.microsoft.com/office/powerpoint/2010/main" val="20101647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latin typeface="Lucida Sans Unicode" charset="0"/>
                <a:cs typeface="Lucida Sans Unicode" charset="0"/>
              </a:rPr>
              <a:t>Support for OOP in Objective-C</a:t>
            </a:r>
          </a:p>
        </p:txBody>
      </p:sp>
      <p:sp>
        <p:nvSpPr>
          <p:cNvPr id="38915" name="Content Placeholder 2"/>
          <p:cNvSpPr>
            <a:spLocks noGrp="1"/>
          </p:cNvSpPr>
          <p:nvPr>
            <p:ph idx="1"/>
          </p:nvPr>
        </p:nvSpPr>
        <p:spPr>
          <a:xfrm>
            <a:off x="685800" y="1524000"/>
            <a:ext cx="8153400" cy="4724400"/>
          </a:xfrm>
        </p:spPr>
        <p:txBody>
          <a:bodyPr/>
          <a:lstStyle/>
          <a:p>
            <a:r>
              <a:rPr lang="en-US">
                <a:latin typeface="Lucida Sans Unicode" charset="0"/>
                <a:cs typeface="Lucida Sans Unicode" charset="0"/>
              </a:rPr>
              <a:t>Like C++, Objective-C adds support for OOP to C</a:t>
            </a:r>
          </a:p>
          <a:p>
            <a:r>
              <a:rPr lang="en-US">
                <a:latin typeface="Lucida Sans Unicode" charset="0"/>
                <a:cs typeface="Lucida Sans Unicode" charset="0"/>
              </a:rPr>
              <a:t>Design was at about the same time as that of C++</a:t>
            </a:r>
          </a:p>
          <a:p>
            <a:r>
              <a:rPr lang="en-US">
                <a:latin typeface="Lucida Sans Unicode" charset="0"/>
                <a:cs typeface="Lucida Sans Unicode" charset="0"/>
              </a:rPr>
              <a:t>Largest syntactic difference: method calls</a:t>
            </a:r>
          </a:p>
          <a:p>
            <a:r>
              <a:rPr lang="en-US">
                <a:latin typeface="Lucida Sans Unicode" charset="0"/>
                <a:cs typeface="Lucida Sans Unicode" charset="0"/>
              </a:rPr>
              <a:t>Interface section of a class declares the instance variables and the methods</a:t>
            </a:r>
          </a:p>
          <a:p>
            <a:r>
              <a:rPr lang="en-US">
                <a:latin typeface="Lucida Sans Unicode" charset="0"/>
                <a:cs typeface="Lucida Sans Unicode" charset="0"/>
              </a:rPr>
              <a:t>Implementation section of a class defines the methods</a:t>
            </a:r>
          </a:p>
          <a:p>
            <a:r>
              <a:rPr lang="en-US">
                <a:latin typeface="Lucida Sans Unicode" charset="0"/>
                <a:cs typeface="Lucida Sans Unicode" charset="0"/>
              </a:rPr>
              <a:t>Classes cannot be nested</a:t>
            </a:r>
          </a:p>
        </p:txBody>
      </p:sp>
      <p:sp>
        <p:nvSpPr>
          <p:cNvPr id="3891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891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1CD00832-1277-C343-B36D-0A70107028A3}" type="slidenum">
              <a:rPr lang="en-US" sz="1000">
                <a:latin typeface="Arial" charset="0"/>
              </a:rPr>
              <a:pPr/>
              <a:t>35</a:t>
            </a:fld>
            <a:endParaRPr lang="en-US" sz="1000">
              <a:latin typeface="Arial" charset="0"/>
            </a:endParaRPr>
          </a:p>
        </p:txBody>
      </p:sp>
    </p:spTree>
    <p:extLst>
      <p:ext uri="{BB962C8B-B14F-4D97-AF65-F5344CB8AC3E}">
        <p14:creationId xmlns:p14="http://schemas.microsoft.com/office/powerpoint/2010/main" val="4722950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609600" y="228600"/>
            <a:ext cx="8153400" cy="1143000"/>
          </a:xfrm>
        </p:spPr>
        <p:txBody>
          <a:bodyPr/>
          <a:lstStyle/>
          <a:p>
            <a:r>
              <a:rPr lang="en-US">
                <a:latin typeface="Lucida Sans Unicode" charset="0"/>
                <a:cs typeface="Lucida Sans Unicode" charset="0"/>
              </a:rPr>
              <a:t>Support for OOP in Objective-C </a:t>
            </a:r>
            <a:r>
              <a:rPr lang="en-US" sz="2800">
                <a:latin typeface="Lucida Sans Unicode" charset="0"/>
                <a:cs typeface="Lucida Sans Unicode" charset="0"/>
              </a:rPr>
              <a:t>(continued)</a:t>
            </a:r>
          </a:p>
        </p:txBody>
      </p:sp>
      <p:sp>
        <p:nvSpPr>
          <p:cNvPr id="39939" name="Content Placeholder 2"/>
          <p:cNvSpPr>
            <a:spLocks noGrp="1"/>
          </p:cNvSpPr>
          <p:nvPr>
            <p:ph idx="1"/>
          </p:nvPr>
        </p:nvSpPr>
        <p:spPr>
          <a:xfrm>
            <a:off x="609600" y="1295400"/>
            <a:ext cx="8153400" cy="5181600"/>
          </a:xfrm>
        </p:spPr>
        <p:txBody>
          <a:bodyPr/>
          <a:lstStyle/>
          <a:p>
            <a:r>
              <a:rPr lang="en-US">
                <a:latin typeface="Lucida Sans Unicode" charset="0"/>
                <a:cs typeface="Lucida Sans Unicode" charset="0"/>
              </a:rPr>
              <a:t>Inheritance</a:t>
            </a:r>
          </a:p>
          <a:p>
            <a:pPr lvl="1"/>
            <a:r>
              <a:rPr lang="en-US" sz="2000">
                <a:latin typeface="Lucida Sans Unicode" charset="0"/>
                <a:ea typeface="Lucida Sans Unicode" charset="0"/>
                <a:cs typeface="Lucida Sans Unicode" charset="0"/>
              </a:rPr>
              <a:t>Single inheritance only</a:t>
            </a:r>
          </a:p>
          <a:p>
            <a:pPr lvl="1"/>
            <a:r>
              <a:rPr lang="en-US" sz="2000">
                <a:latin typeface="Lucida Sans Unicode" charset="0"/>
                <a:ea typeface="Lucida Sans Unicode" charset="0"/>
                <a:cs typeface="Lucida Sans Unicode" charset="0"/>
              </a:rPr>
              <a:t>Every class must have a parent</a:t>
            </a:r>
          </a:p>
          <a:p>
            <a:pPr lvl="1"/>
            <a:r>
              <a:rPr lang="en-US" sz="2000">
                <a:latin typeface="Lucida Sans Unicode" charset="0"/>
                <a:ea typeface="Lucida Sans Unicode" charset="0"/>
                <a:cs typeface="Lucida Sans Unicode" charset="0"/>
              </a:rPr>
              <a:t>NSObject is the base class</a:t>
            </a:r>
          </a:p>
          <a:p>
            <a:pPr lvl="1">
              <a:buFontTx/>
              <a:buNone/>
            </a:pPr>
            <a:r>
              <a:rPr lang="en-US" sz="2000">
                <a:latin typeface="Lucida Sans Unicode" charset="0"/>
                <a:ea typeface="Lucida Sans Unicode" charset="0"/>
                <a:cs typeface="Lucida Sans Unicode" charset="0"/>
              </a:rPr>
              <a:t>   </a:t>
            </a:r>
            <a:r>
              <a:rPr lang="en-US" sz="1800">
                <a:latin typeface="Courier New" charset="0"/>
                <a:ea typeface="ＭＳ Ｐゴシック" charset="0"/>
                <a:cs typeface="Courier New" charset="0"/>
              </a:rPr>
              <a:t>@interface myNewClass: NSObject { … }</a:t>
            </a:r>
          </a:p>
          <a:p>
            <a:pPr lvl="1">
              <a:buFontTx/>
              <a:buNone/>
            </a:pPr>
            <a:r>
              <a:rPr lang="en-US" sz="1800">
                <a:latin typeface="Courier New" charset="0"/>
                <a:ea typeface="ＭＳ Ｐゴシック" charset="0"/>
                <a:cs typeface="Courier New" charset="0"/>
              </a:rPr>
              <a:t>     …</a:t>
            </a:r>
            <a:br>
              <a:rPr lang="en-US" sz="1800">
                <a:latin typeface="Courier New" charset="0"/>
                <a:ea typeface="ＭＳ Ｐゴシック" charset="0"/>
                <a:cs typeface="Courier New" charset="0"/>
              </a:rPr>
            </a:br>
            <a:r>
              <a:rPr lang="en-US" sz="1800">
                <a:latin typeface="Courier New" charset="0"/>
                <a:ea typeface="ＭＳ Ｐゴシック" charset="0"/>
                <a:cs typeface="Courier New" charset="0"/>
              </a:rPr>
              <a:t>@end</a:t>
            </a:r>
          </a:p>
          <a:p>
            <a:pPr lvl="1"/>
            <a:r>
              <a:rPr lang="en-US" sz="2000">
                <a:latin typeface="Lucida Sans Unicode" charset="0"/>
                <a:ea typeface="Lucida Sans Unicode" charset="0"/>
                <a:cs typeface="Lucida Sans Unicode" charset="0"/>
              </a:rPr>
              <a:t>Because base class data members can be declared to be private, subclasses are not necessarily subtypes</a:t>
            </a:r>
          </a:p>
          <a:p>
            <a:pPr lvl="1"/>
            <a:r>
              <a:rPr lang="en-US" sz="2000">
                <a:latin typeface="Lucida Sans Unicode" charset="0"/>
                <a:ea typeface="Lucida Sans Unicode" charset="0"/>
                <a:cs typeface="Lucida Sans Unicode" charset="0"/>
              </a:rPr>
              <a:t>Any method that has the same name, same return type, and same number and types of parameters as an inherited method overrides the inherited method</a:t>
            </a:r>
          </a:p>
          <a:p>
            <a:pPr lvl="1"/>
            <a:r>
              <a:rPr lang="en-US" sz="2000">
                <a:latin typeface="Lucida Sans Unicode" charset="0"/>
                <a:ea typeface="Lucida Sans Unicode" charset="0"/>
                <a:cs typeface="Lucida Sans Unicode" charset="0"/>
              </a:rPr>
              <a:t>An overriden method can be called through </a:t>
            </a:r>
            <a:r>
              <a:rPr lang="en-US" sz="1800" b="1">
                <a:latin typeface="Courier New" charset="0"/>
                <a:ea typeface="ＭＳ Ｐゴシック" charset="0"/>
                <a:cs typeface="Courier New" charset="0"/>
              </a:rPr>
              <a:t>super</a:t>
            </a:r>
          </a:p>
          <a:p>
            <a:pPr lvl="1"/>
            <a:r>
              <a:rPr lang="en-US" sz="2000">
                <a:latin typeface="Lucida Sans Unicode" charset="0"/>
                <a:ea typeface="Lucida Sans Unicode" charset="0"/>
                <a:cs typeface="Lucida Sans Unicode" charset="0"/>
              </a:rPr>
              <a:t>All inheritance is public (unlike C++)</a:t>
            </a:r>
          </a:p>
        </p:txBody>
      </p:sp>
      <p:sp>
        <p:nvSpPr>
          <p:cNvPr id="3994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994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B75D291A-80A0-EE41-A0C2-A59EEA9FE21D}" type="slidenum">
              <a:rPr lang="en-US" sz="1000">
                <a:latin typeface="Arial" charset="0"/>
              </a:rPr>
              <a:pPr/>
              <a:t>36</a:t>
            </a:fld>
            <a:endParaRPr lang="en-US" sz="1000">
              <a:latin typeface="Arial" charset="0"/>
            </a:endParaRPr>
          </a:p>
        </p:txBody>
      </p:sp>
    </p:spTree>
    <p:extLst>
      <p:ext uri="{BB962C8B-B14F-4D97-AF65-F5344CB8AC3E}">
        <p14:creationId xmlns:p14="http://schemas.microsoft.com/office/powerpoint/2010/main" val="19279256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609600" y="228600"/>
            <a:ext cx="8153400" cy="1143000"/>
          </a:xfrm>
        </p:spPr>
        <p:txBody>
          <a:bodyPr/>
          <a:lstStyle/>
          <a:p>
            <a:r>
              <a:rPr lang="en-US">
                <a:latin typeface="Lucida Sans Unicode" charset="0"/>
                <a:cs typeface="Lucida Sans Unicode" charset="0"/>
              </a:rPr>
              <a:t>Support for OOP in Objective-C </a:t>
            </a:r>
            <a:r>
              <a:rPr lang="en-US" sz="2800">
                <a:latin typeface="Lucida Sans Unicode" charset="0"/>
                <a:cs typeface="Lucida Sans Unicode" charset="0"/>
              </a:rPr>
              <a:t>(continued)</a:t>
            </a:r>
            <a:endParaRPr lang="en-US">
              <a:latin typeface="Lucida Sans Unicode" charset="0"/>
              <a:cs typeface="Lucida Sans Unicode" charset="0"/>
            </a:endParaRPr>
          </a:p>
        </p:txBody>
      </p:sp>
      <p:sp>
        <p:nvSpPr>
          <p:cNvPr id="40963" name="Content Placeholder 2"/>
          <p:cNvSpPr>
            <a:spLocks noGrp="1"/>
          </p:cNvSpPr>
          <p:nvPr>
            <p:ph idx="1"/>
          </p:nvPr>
        </p:nvSpPr>
        <p:spPr>
          <a:xfrm>
            <a:off x="609600" y="1219200"/>
            <a:ext cx="8153400" cy="5181600"/>
          </a:xfrm>
        </p:spPr>
        <p:txBody>
          <a:bodyPr/>
          <a:lstStyle/>
          <a:p>
            <a:r>
              <a:rPr lang="en-US">
                <a:latin typeface="Lucida Sans Unicode" charset="0"/>
                <a:cs typeface="Lucida Sans Unicode" charset="0"/>
              </a:rPr>
              <a:t>Inheritance </a:t>
            </a:r>
            <a:r>
              <a:rPr lang="en-US" sz="2400">
                <a:latin typeface="Lucida Sans Unicode" charset="0"/>
                <a:cs typeface="Lucida Sans Unicode" charset="0"/>
              </a:rPr>
              <a:t>(continued)</a:t>
            </a:r>
          </a:p>
          <a:p>
            <a:r>
              <a:rPr lang="en-US" sz="2400">
                <a:latin typeface="Lucida Sans Unicode" charset="0"/>
                <a:cs typeface="Lucida Sans Unicode" charset="0"/>
              </a:rPr>
              <a:t>Objective-C has two approaches besides subclassing to extend a class</a:t>
            </a:r>
          </a:p>
          <a:p>
            <a:pPr lvl="1"/>
            <a:r>
              <a:rPr lang="en-US" sz="2000">
                <a:latin typeface="Lucida Sans Unicode" charset="0"/>
                <a:ea typeface="Lucida Sans Unicode" charset="0"/>
                <a:cs typeface="Lucida Sans Unicode" charset="0"/>
              </a:rPr>
              <a:t>A </a:t>
            </a:r>
            <a:r>
              <a:rPr lang="en-US" sz="2000" i="1">
                <a:latin typeface="Lucida Sans Unicode" charset="0"/>
                <a:ea typeface="Lucida Sans Unicode" charset="0"/>
                <a:cs typeface="Lucida Sans Unicode" charset="0"/>
              </a:rPr>
              <a:t>category</a:t>
            </a:r>
            <a:r>
              <a:rPr lang="en-US" sz="2000">
                <a:latin typeface="Lucida Sans Unicode" charset="0"/>
                <a:ea typeface="Lucida Sans Unicode" charset="0"/>
                <a:cs typeface="Lucida Sans Unicode" charset="0"/>
              </a:rPr>
              <a:t> is a secondary interface of a class that contains declarations of methods (no instance variables</a:t>
            </a:r>
          </a:p>
          <a:p>
            <a:pPr lvl="1">
              <a:buFontTx/>
              <a:buNone/>
            </a:pPr>
            <a:r>
              <a:rPr lang="en-US" sz="1800">
                <a:latin typeface="Courier New" charset="0"/>
                <a:ea typeface="ＭＳ Ｐゴシック" charset="0"/>
                <a:cs typeface="Courier New" charset="0"/>
              </a:rPr>
              <a:t>   #import ″Stack.h″</a:t>
            </a:r>
          </a:p>
          <a:p>
            <a:pPr lvl="1">
              <a:buFontTx/>
              <a:buNone/>
            </a:pPr>
            <a:r>
              <a:rPr lang="en-US" sz="1800">
                <a:latin typeface="Courier New" charset="0"/>
                <a:ea typeface="ＭＳ Ｐゴシック" charset="0"/>
                <a:cs typeface="Courier New" charset="0"/>
              </a:rPr>
              <a:t>   @interface Stack (StackExtend)</a:t>
            </a:r>
          </a:p>
          <a:p>
            <a:pPr lvl="1">
              <a:buFontTx/>
              <a:buNone/>
            </a:pPr>
            <a:r>
              <a:rPr lang="en-US" sz="1800">
                <a:latin typeface="Courier New" charset="0"/>
                <a:ea typeface="ＭＳ Ｐゴシック" charset="0"/>
                <a:cs typeface="Courier New" charset="0"/>
              </a:rPr>
              <a:t>     -(int) secondFromTop;</a:t>
            </a:r>
          </a:p>
          <a:p>
            <a:pPr lvl="1">
              <a:buFontTx/>
              <a:buNone/>
            </a:pPr>
            <a:r>
              <a:rPr lang="en-US" sz="1800">
                <a:latin typeface="Courier New" charset="0"/>
                <a:ea typeface="ＭＳ Ｐゴシック" charset="0"/>
                <a:cs typeface="Courier New" charset="0"/>
              </a:rPr>
              <a:t>     -(void) full;</a:t>
            </a:r>
          </a:p>
          <a:p>
            <a:pPr lvl="1">
              <a:buFontTx/>
              <a:buNone/>
            </a:pPr>
            <a:r>
              <a:rPr lang="en-US" sz="1800">
                <a:latin typeface="Courier New" charset="0"/>
                <a:ea typeface="ＭＳ Ｐゴシック" charset="0"/>
                <a:cs typeface="Courier New" charset="0"/>
              </a:rPr>
              <a:t>   @end</a:t>
            </a:r>
          </a:p>
          <a:p>
            <a:pPr lvl="1"/>
            <a:r>
              <a:rPr lang="en-US" sz="2000">
                <a:latin typeface="Lucida Sans Unicode" charset="0"/>
                <a:ea typeface="Lucida Sans Unicode" charset="0"/>
                <a:cs typeface="Lucida Sans Unicode" charset="0"/>
              </a:rPr>
              <a:t>A category is a </a:t>
            </a:r>
            <a:r>
              <a:rPr lang="en-US" sz="2000" i="1">
                <a:latin typeface="Lucida Sans Unicode" charset="0"/>
                <a:ea typeface="Lucida Sans Unicode" charset="0"/>
                <a:cs typeface="Lucida Sans Unicode" charset="0"/>
              </a:rPr>
              <a:t>mixin</a:t>
            </a:r>
            <a:r>
              <a:rPr lang="en-US" sz="2000">
                <a:latin typeface="Lucida Sans Unicode" charset="0"/>
                <a:ea typeface="Lucida Sans Unicode" charset="0"/>
                <a:cs typeface="Lucida Sans Unicode" charset="0"/>
              </a:rPr>
              <a:t> – its methods are added to the parent class</a:t>
            </a:r>
          </a:p>
          <a:p>
            <a:pPr lvl="1"/>
            <a:r>
              <a:rPr lang="en-US" sz="2000">
                <a:latin typeface="Lucida Sans Unicode" charset="0"/>
                <a:ea typeface="Lucida Sans Unicode" charset="0"/>
                <a:cs typeface="Lucida Sans Unicode" charset="0"/>
              </a:rPr>
              <a:t>The implementation of a category is in a separate implementation: </a:t>
            </a:r>
            <a:r>
              <a:rPr lang="en-US" sz="1800">
                <a:latin typeface="Courier New" charset="0"/>
                <a:ea typeface="ＭＳ Ｐゴシック" charset="0"/>
                <a:cs typeface="Courier New" charset="0"/>
              </a:rPr>
              <a:t>@implementation Stack (StackExtend) </a:t>
            </a:r>
          </a:p>
          <a:p>
            <a:endParaRPr lang="en-US">
              <a:latin typeface="Lucida Sans Unicode" charset="0"/>
              <a:cs typeface="Lucida Sans Unicode" charset="0"/>
            </a:endParaRPr>
          </a:p>
        </p:txBody>
      </p:sp>
      <p:sp>
        <p:nvSpPr>
          <p:cNvPr id="4096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4096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69AF08A3-EAD2-BB48-95D1-EFBC97312F11}" type="slidenum">
              <a:rPr lang="en-US" sz="1000">
                <a:latin typeface="Arial" charset="0"/>
              </a:rPr>
              <a:pPr/>
              <a:t>37</a:t>
            </a:fld>
            <a:endParaRPr lang="en-US" sz="1000">
              <a:latin typeface="Arial" charset="0"/>
            </a:endParaRPr>
          </a:p>
        </p:txBody>
      </p:sp>
    </p:spTree>
    <p:extLst>
      <p:ext uri="{BB962C8B-B14F-4D97-AF65-F5344CB8AC3E}">
        <p14:creationId xmlns:p14="http://schemas.microsoft.com/office/powerpoint/2010/main" val="17346032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609600" y="228600"/>
            <a:ext cx="8153400" cy="1143000"/>
          </a:xfrm>
        </p:spPr>
        <p:txBody>
          <a:bodyPr/>
          <a:lstStyle/>
          <a:p>
            <a:r>
              <a:rPr lang="en-US">
                <a:latin typeface="Lucida Sans Unicode" charset="0"/>
                <a:cs typeface="Lucida Sans Unicode" charset="0"/>
              </a:rPr>
              <a:t>Support for OOP in Objective-C </a:t>
            </a:r>
            <a:r>
              <a:rPr lang="en-US" sz="2800">
                <a:latin typeface="Lucida Sans Unicode" charset="0"/>
                <a:cs typeface="Lucida Sans Unicode" charset="0"/>
              </a:rPr>
              <a:t>(continued)</a:t>
            </a:r>
            <a:endParaRPr lang="en-US">
              <a:latin typeface="Lucida Sans Unicode" charset="0"/>
              <a:cs typeface="Lucida Sans Unicode" charset="0"/>
            </a:endParaRPr>
          </a:p>
        </p:txBody>
      </p:sp>
      <p:sp>
        <p:nvSpPr>
          <p:cNvPr id="41987" name="Content Placeholder 2"/>
          <p:cNvSpPr>
            <a:spLocks noGrp="1"/>
          </p:cNvSpPr>
          <p:nvPr>
            <p:ph idx="1"/>
          </p:nvPr>
        </p:nvSpPr>
        <p:spPr>
          <a:xfrm>
            <a:off x="609600" y="1295400"/>
            <a:ext cx="8153400" cy="5105400"/>
          </a:xfrm>
        </p:spPr>
        <p:txBody>
          <a:bodyPr/>
          <a:lstStyle/>
          <a:p>
            <a:r>
              <a:rPr lang="en-US">
                <a:latin typeface="Lucida Sans Unicode" charset="0"/>
                <a:cs typeface="Lucida Sans Unicode" charset="0"/>
              </a:rPr>
              <a:t>Inheritance </a:t>
            </a:r>
            <a:r>
              <a:rPr lang="en-US" sz="2400">
                <a:latin typeface="Lucida Sans Unicode" charset="0"/>
                <a:cs typeface="Lucida Sans Unicode" charset="0"/>
              </a:rPr>
              <a:t>(continued)</a:t>
            </a:r>
          </a:p>
          <a:p>
            <a:pPr lvl="1"/>
            <a:r>
              <a:rPr lang="en-US" sz="2000">
                <a:latin typeface="Lucida Sans Unicode" charset="0"/>
                <a:ea typeface="Lucida Sans Unicode" charset="0"/>
                <a:cs typeface="Lucida Sans Unicode" charset="0"/>
              </a:rPr>
              <a:t>The other way to extend a class: protocols</a:t>
            </a:r>
          </a:p>
          <a:p>
            <a:pPr lvl="1"/>
            <a:r>
              <a:rPr lang="en-US" sz="2000">
                <a:latin typeface="Lucida Sans Unicode" charset="0"/>
                <a:ea typeface="Lucida Sans Unicode" charset="0"/>
                <a:cs typeface="Lucida Sans Unicode" charset="0"/>
              </a:rPr>
              <a:t>A protocol is a list of method declarations</a:t>
            </a:r>
          </a:p>
          <a:p>
            <a:pPr>
              <a:buFontTx/>
              <a:buNone/>
            </a:pPr>
            <a:r>
              <a:rPr lang="en-US" sz="1800">
                <a:latin typeface="Courier New" charset="0"/>
                <a:cs typeface="Courier New" charset="0"/>
              </a:rPr>
              <a:t>  @protocol MatrixOps</a:t>
            </a:r>
          </a:p>
          <a:p>
            <a:pPr>
              <a:buFontTx/>
              <a:buNone/>
            </a:pPr>
            <a:r>
              <a:rPr lang="en-US" sz="1800">
                <a:latin typeface="Courier New" charset="0"/>
                <a:cs typeface="Courier New" charset="0"/>
              </a:rPr>
              <a:t>    -(Matrix *) add: (Matrix *) mat;</a:t>
            </a:r>
          </a:p>
          <a:p>
            <a:pPr>
              <a:buFontTx/>
              <a:buNone/>
            </a:pPr>
            <a:r>
              <a:rPr lang="en-US" sz="1800">
                <a:latin typeface="Courier New" charset="0"/>
                <a:cs typeface="Courier New" charset="0"/>
              </a:rPr>
              <a:t>    -(Matrix *) subtract: (Matrix *) mat;</a:t>
            </a:r>
          </a:p>
          <a:p>
            <a:pPr>
              <a:buFontTx/>
              <a:buNone/>
            </a:pPr>
            <a:r>
              <a:rPr lang="en-US" sz="1800">
                <a:latin typeface="Courier New" charset="0"/>
                <a:cs typeface="Courier New" charset="0"/>
              </a:rPr>
              <a:t>  @optional</a:t>
            </a:r>
          </a:p>
          <a:p>
            <a:pPr>
              <a:buFontTx/>
              <a:buNone/>
            </a:pPr>
            <a:r>
              <a:rPr lang="en-US" sz="1800">
                <a:latin typeface="Courier New" charset="0"/>
                <a:cs typeface="Courier New" charset="0"/>
              </a:rPr>
              <a:t>    -(Matrix *) multiply: (Matrix *) mat;</a:t>
            </a:r>
          </a:p>
          <a:p>
            <a:pPr>
              <a:buFontTx/>
              <a:buNone/>
            </a:pPr>
            <a:r>
              <a:rPr lang="en-US" sz="1800">
                <a:latin typeface="Courier New" charset="0"/>
                <a:cs typeface="Courier New" charset="0"/>
              </a:rPr>
              <a:t>  @end</a:t>
            </a:r>
          </a:p>
          <a:p>
            <a:pPr lvl="1"/>
            <a:r>
              <a:rPr lang="en-US" sz="1800">
                <a:latin typeface="Courier New" charset="0"/>
                <a:ea typeface="ＭＳ Ｐゴシック" charset="0"/>
                <a:cs typeface="Courier New" charset="0"/>
              </a:rPr>
              <a:t>MatrixOps</a:t>
            </a:r>
            <a:r>
              <a:rPr lang="en-US">
                <a:latin typeface="Lucida Sans Unicode" charset="0"/>
                <a:ea typeface="Lucida Sans Unicode" charset="0"/>
                <a:cs typeface="Lucida Sans Unicode" charset="0"/>
              </a:rPr>
              <a:t> </a:t>
            </a:r>
            <a:r>
              <a:rPr lang="en-US" sz="2000">
                <a:latin typeface="Lucida Sans Unicode" charset="0"/>
                <a:ea typeface="Lucida Sans Unicode" charset="0"/>
                <a:cs typeface="Lucida Sans Unicode" charset="0"/>
              </a:rPr>
              <a:t>is the name of the protocol</a:t>
            </a:r>
          </a:p>
          <a:p>
            <a:pPr lvl="1"/>
            <a:r>
              <a:rPr lang="en-US" sz="2000">
                <a:latin typeface="Lucida Sans Unicode" charset="0"/>
                <a:ea typeface="Lucida Sans Unicode" charset="0"/>
                <a:cs typeface="Lucida Sans Unicode" charset="0"/>
              </a:rPr>
              <a:t>The </a:t>
            </a:r>
            <a:r>
              <a:rPr lang="en-US" sz="1800">
                <a:latin typeface="Courier New" charset="0"/>
                <a:ea typeface="ＭＳ Ｐゴシック" charset="0"/>
                <a:cs typeface="Courier New" charset="0"/>
              </a:rPr>
              <a:t>add</a:t>
            </a:r>
            <a:r>
              <a:rPr lang="en-US" sz="2000">
                <a:latin typeface="Lucida Sans Unicode" charset="0"/>
                <a:ea typeface="Lucida Sans Unicode" charset="0"/>
                <a:cs typeface="Lucida Sans Unicode" charset="0"/>
              </a:rPr>
              <a:t> and </a:t>
            </a:r>
            <a:r>
              <a:rPr lang="en-US" sz="1800">
                <a:latin typeface="Courier New" charset="0"/>
                <a:ea typeface="ＭＳ Ｐゴシック" charset="0"/>
                <a:cs typeface="Courier New" charset="0"/>
              </a:rPr>
              <a:t>subtract</a:t>
            </a:r>
            <a:r>
              <a:rPr lang="en-US" sz="2000">
                <a:latin typeface="Lucida Sans Unicode" charset="0"/>
                <a:ea typeface="Lucida Sans Unicode" charset="0"/>
                <a:cs typeface="Lucida Sans Unicode" charset="0"/>
              </a:rPr>
              <a:t> methods must be implemented by  class that uses the protocol</a:t>
            </a:r>
          </a:p>
          <a:p>
            <a:pPr lvl="1"/>
            <a:r>
              <a:rPr lang="en-US" sz="2000">
                <a:latin typeface="Lucida Sans Unicode" charset="0"/>
                <a:ea typeface="Lucida Sans Unicode" charset="0"/>
                <a:cs typeface="Lucida Sans Unicode" charset="0"/>
              </a:rPr>
              <a:t>A class that adopts a protocol must specify it</a:t>
            </a:r>
          </a:p>
          <a:p>
            <a:pPr lvl="1">
              <a:buFontTx/>
              <a:buNone/>
            </a:pPr>
            <a:r>
              <a:rPr lang="en-US" sz="2000">
                <a:latin typeface="Lucida Sans Unicode" charset="0"/>
                <a:ea typeface="Lucida Sans Unicode" charset="0"/>
                <a:cs typeface="Lucida Sans Unicode" charset="0"/>
              </a:rPr>
              <a:t>      </a:t>
            </a:r>
            <a:r>
              <a:rPr lang="en-US" sz="1800">
                <a:latin typeface="Courier New" charset="0"/>
                <a:ea typeface="ＭＳ Ｐゴシック" charset="0"/>
                <a:cs typeface="Courier New" charset="0"/>
              </a:rPr>
              <a:t>@interface MyClass: NSObject &lt;YourProtocol&gt;</a:t>
            </a:r>
          </a:p>
        </p:txBody>
      </p:sp>
      <p:sp>
        <p:nvSpPr>
          <p:cNvPr id="4198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4198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44403E53-820A-E74B-878A-801D6734A5B5}" type="slidenum">
              <a:rPr lang="en-US" sz="1000">
                <a:latin typeface="Arial" charset="0"/>
              </a:rPr>
              <a:pPr/>
              <a:t>38</a:t>
            </a:fld>
            <a:endParaRPr lang="en-US" sz="1000">
              <a:latin typeface="Arial" charset="0"/>
            </a:endParaRPr>
          </a:p>
        </p:txBody>
      </p:sp>
    </p:spTree>
    <p:extLst>
      <p:ext uri="{BB962C8B-B14F-4D97-AF65-F5344CB8AC3E}">
        <p14:creationId xmlns:p14="http://schemas.microsoft.com/office/powerpoint/2010/main" val="1342465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609600" y="228600"/>
            <a:ext cx="8153400" cy="1143000"/>
          </a:xfrm>
        </p:spPr>
        <p:txBody>
          <a:bodyPr/>
          <a:lstStyle/>
          <a:p>
            <a:r>
              <a:rPr lang="en-US">
                <a:latin typeface="Lucida Sans Unicode" charset="0"/>
                <a:cs typeface="Lucida Sans Unicode" charset="0"/>
              </a:rPr>
              <a:t>Support for OOP in Objective-C </a:t>
            </a:r>
            <a:r>
              <a:rPr lang="en-US" sz="2800">
                <a:latin typeface="Lucida Sans Unicode" charset="0"/>
                <a:cs typeface="Lucida Sans Unicode" charset="0"/>
              </a:rPr>
              <a:t>(continued)</a:t>
            </a:r>
            <a:endParaRPr lang="en-US">
              <a:latin typeface="Lucida Sans Unicode" charset="0"/>
              <a:cs typeface="Lucida Sans Unicode" charset="0"/>
            </a:endParaRPr>
          </a:p>
        </p:txBody>
      </p:sp>
      <p:sp>
        <p:nvSpPr>
          <p:cNvPr id="43011" name="Content Placeholder 2"/>
          <p:cNvSpPr>
            <a:spLocks noGrp="1"/>
          </p:cNvSpPr>
          <p:nvPr>
            <p:ph idx="1"/>
          </p:nvPr>
        </p:nvSpPr>
        <p:spPr/>
        <p:txBody>
          <a:bodyPr/>
          <a:lstStyle/>
          <a:p>
            <a:r>
              <a:rPr lang="en-US">
                <a:latin typeface="Lucida Sans Unicode" charset="0"/>
                <a:cs typeface="Lucida Sans Unicode" charset="0"/>
              </a:rPr>
              <a:t>Dynamic Binding</a:t>
            </a:r>
          </a:p>
          <a:p>
            <a:pPr lvl="1"/>
            <a:r>
              <a:rPr lang="en-US">
                <a:latin typeface="Lucida Sans Unicode" charset="0"/>
                <a:ea typeface="Lucida Sans Unicode" charset="0"/>
                <a:cs typeface="Lucida Sans Unicode" charset="0"/>
              </a:rPr>
              <a:t>Different from other OOP languages – a polymorphic variable is of type </a:t>
            </a:r>
            <a:r>
              <a:rPr lang="en-US" sz="2000">
                <a:latin typeface="Courier New" charset="0"/>
                <a:ea typeface="ＭＳ Ｐゴシック" charset="0"/>
                <a:cs typeface="Courier New" charset="0"/>
              </a:rPr>
              <a:t>id</a:t>
            </a:r>
          </a:p>
          <a:p>
            <a:pPr lvl="1"/>
            <a:r>
              <a:rPr lang="en-US">
                <a:latin typeface="Lucida Sans Unicode" charset="0"/>
                <a:ea typeface="Lucida Sans Unicode" charset="0"/>
                <a:cs typeface="Lucida Sans Unicode" charset="0"/>
              </a:rPr>
              <a:t>An </a:t>
            </a:r>
            <a:r>
              <a:rPr lang="en-US" sz="2000">
                <a:latin typeface="Courier New" charset="0"/>
                <a:ea typeface="ＭＳ Ｐゴシック" charset="0"/>
                <a:cs typeface="Courier New" charset="0"/>
              </a:rPr>
              <a:t>id</a:t>
            </a:r>
            <a:r>
              <a:rPr lang="en-US">
                <a:latin typeface="Lucida Sans Unicode" charset="0"/>
                <a:ea typeface="Lucida Sans Unicode" charset="0"/>
                <a:cs typeface="Lucida Sans Unicode" charset="0"/>
              </a:rPr>
              <a:t> type variable can reference any object</a:t>
            </a:r>
          </a:p>
          <a:p>
            <a:pPr lvl="1"/>
            <a:r>
              <a:rPr lang="en-US">
                <a:latin typeface="Lucida Sans Unicode" charset="0"/>
                <a:ea typeface="Lucida Sans Unicode" charset="0"/>
                <a:cs typeface="Lucida Sans Unicode" charset="0"/>
              </a:rPr>
              <a:t>The run-time system keeps track of the type of the object that an </a:t>
            </a:r>
            <a:r>
              <a:rPr lang="en-US" sz="2000">
                <a:latin typeface="Courier New" charset="0"/>
                <a:ea typeface="ＭＳ Ｐゴシック" charset="0"/>
                <a:cs typeface="Courier New" charset="0"/>
              </a:rPr>
              <a:t>id</a:t>
            </a:r>
            <a:r>
              <a:rPr lang="en-US">
                <a:latin typeface="Lucida Sans Unicode" charset="0"/>
                <a:ea typeface="Lucida Sans Unicode" charset="0"/>
                <a:cs typeface="Lucida Sans Unicode" charset="0"/>
              </a:rPr>
              <a:t> type variable references</a:t>
            </a:r>
          </a:p>
          <a:p>
            <a:pPr lvl="1"/>
            <a:r>
              <a:rPr lang="en-US">
                <a:latin typeface="Lucida Sans Unicode" charset="0"/>
                <a:ea typeface="Lucida Sans Unicode" charset="0"/>
                <a:cs typeface="Lucida Sans Unicode" charset="0"/>
              </a:rPr>
              <a:t>If a call to a method is made through an </a:t>
            </a:r>
            <a:r>
              <a:rPr lang="en-US" sz="2000">
                <a:latin typeface="Courier New" charset="0"/>
                <a:ea typeface="ＭＳ Ｐゴシック" charset="0"/>
                <a:cs typeface="Courier New" charset="0"/>
              </a:rPr>
              <a:t>id</a:t>
            </a:r>
            <a:r>
              <a:rPr lang="en-US">
                <a:latin typeface="Lucida Sans Unicode" charset="0"/>
                <a:ea typeface="Lucida Sans Unicode" charset="0"/>
                <a:cs typeface="Lucida Sans Unicode" charset="0"/>
              </a:rPr>
              <a:t> type variable, the binding to the method is dynamic</a:t>
            </a:r>
          </a:p>
          <a:p>
            <a:pPr lvl="1"/>
            <a:endParaRPr lang="en-US">
              <a:latin typeface="Lucida Sans Unicode" charset="0"/>
              <a:ea typeface="Lucida Sans Unicode" charset="0"/>
              <a:cs typeface="Lucida Sans Unicode" charset="0"/>
            </a:endParaRPr>
          </a:p>
          <a:p>
            <a:pPr>
              <a:buFontTx/>
              <a:buNone/>
            </a:pPr>
            <a:endParaRPr lang="en-US">
              <a:latin typeface="Lucida Sans Unicode" charset="0"/>
              <a:cs typeface="Lucida Sans Unicode" charset="0"/>
            </a:endParaRPr>
          </a:p>
        </p:txBody>
      </p:sp>
      <p:sp>
        <p:nvSpPr>
          <p:cNvPr id="4301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4301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80176AF5-5B9B-EE4B-BC23-71B4DCCFA5E1}" type="slidenum">
              <a:rPr lang="en-US" sz="1000">
                <a:latin typeface="Arial" charset="0"/>
              </a:rPr>
              <a:pPr/>
              <a:t>39</a:t>
            </a:fld>
            <a:endParaRPr lang="en-US" sz="1000">
              <a:latin typeface="Arial" charset="0"/>
            </a:endParaRPr>
          </a:p>
        </p:txBody>
      </p:sp>
    </p:spTree>
    <p:extLst>
      <p:ext uri="{BB962C8B-B14F-4D97-AF65-F5344CB8AC3E}">
        <p14:creationId xmlns:p14="http://schemas.microsoft.com/office/powerpoint/2010/main" val="1595265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609600" y="228600"/>
            <a:ext cx="8153400" cy="1143000"/>
          </a:xfrm>
        </p:spPr>
        <p:txBody>
          <a:bodyPr/>
          <a:lstStyle/>
          <a:p>
            <a:r>
              <a:rPr lang="en-US">
                <a:latin typeface="Lucida Sans Unicode" charset="0"/>
                <a:cs typeface="Lucida Sans Unicode" charset="0"/>
              </a:rPr>
              <a:t>Support for OOP in Objective-C </a:t>
            </a:r>
            <a:r>
              <a:rPr lang="en-US" sz="2800">
                <a:latin typeface="Lucida Sans Unicode" charset="0"/>
                <a:cs typeface="Lucida Sans Unicode" charset="0"/>
              </a:rPr>
              <a:t>(continued)</a:t>
            </a:r>
            <a:endParaRPr lang="en-US">
              <a:latin typeface="Lucida Sans Unicode" charset="0"/>
              <a:cs typeface="Lucida Sans Unicode" charset="0"/>
            </a:endParaRPr>
          </a:p>
        </p:txBody>
      </p:sp>
      <p:sp>
        <p:nvSpPr>
          <p:cNvPr id="44035" name="Content Placeholder 2"/>
          <p:cNvSpPr>
            <a:spLocks noGrp="1"/>
          </p:cNvSpPr>
          <p:nvPr>
            <p:ph idx="1"/>
          </p:nvPr>
        </p:nvSpPr>
        <p:spPr/>
        <p:txBody>
          <a:bodyPr/>
          <a:lstStyle/>
          <a:p>
            <a:r>
              <a:rPr lang="en-US">
                <a:latin typeface="Lucida Sans Unicode" charset="0"/>
                <a:cs typeface="Lucida Sans Unicode" charset="0"/>
              </a:rPr>
              <a:t>Evaluation</a:t>
            </a:r>
          </a:p>
          <a:p>
            <a:pPr lvl="1"/>
            <a:r>
              <a:rPr lang="en-US">
                <a:latin typeface="Lucida Sans Unicode" charset="0"/>
                <a:ea typeface="Lucida Sans Unicode" charset="0"/>
                <a:cs typeface="Lucida Sans Unicode" charset="0"/>
              </a:rPr>
              <a:t>Support is adequate, with the following deficiencies:</a:t>
            </a:r>
          </a:p>
          <a:p>
            <a:pPr lvl="1"/>
            <a:r>
              <a:rPr lang="en-US">
                <a:latin typeface="Lucida Sans Unicode" charset="0"/>
                <a:ea typeface="Lucida Sans Unicode" charset="0"/>
                <a:cs typeface="Lucida Sans Unicode" charset="0"/>
              </a:rPr>
              <a:t>There is no way to prevent overriding an inherited method</a:t>
            </a:r>
          </a:p>
          <a:p>
            <a:pPr lvl="1"/>
            <a:r>
              <a:rPr lang="en-US">
                <a:latin typeface="Lucida Sans Unicode" charset="0"/>
                <a:ea typeface="Lucida Sans Unicode" charset="0"/>
                <a:cs typeface="Lucida Sans Unicode" charset="0"/>
              </a:rPr>
              <a:t>The use of </a:t>
            </a:r>
            <a:r>
              <a:rPr lang="en-US" sz="2000">
                <a:latin typeface="Courier New" charset="0"/>
                <a:ea typeface="ＭＳ Ｐゴシック" charset="0"/>
                <a:cs typeface="Courier New" charset="0"/>
              </a:rPr>
              <a:t>id</a:t>
            </a:r>
            <a:r>
              <a:rPr lang="en-US">
                <a:latin typeface="Lucida Sans Unicode" charset="0"/>
                <a:ea typeface="Lucida Sans Unicode" charset="0"/>
                <a:cs typeface="Lucida Sans Unicode" charset="0"/>
              </a:rPr>
              <a:t> type variables for dynamic binding is overkill – these variables could be misused</a:t>
            </a:r>
          </a:p>
          <a:p>
            <a:pPr lvl="1"/>
            <a:r>
              <a:rPr lang="en-US">
                <a:latin typeface="Lucida Sans Unicode" charset="0"/>
                <a:ea typeface="Lucida Sans Unicode" charset="0"/>
                <a:cs typeface="Lucida Sans Unicode" charset="0"/>
              </a:rPr>
              <a:t>Categories and protocols are useful additions</a:t>
            </a:r>
          </a:p>
          <a:p>
            <a:endParaRPr lang="en-US">
              <a:latin typeface="Lucida Sans Unicode" charset="0"/>
              <a:cs typeface="Lucida Sans Unicode" charset="0"/>
            </a:endParaRPr>
          </a:p>
        </p:txBody>
      </p:sp>
      <p:sp>
        <p:nvSpPr>
          <p:cNvPr id="4403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4403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1E5E0787-8012-9D4B-A08B-4268D4009977}" type="slidenum">
              <a:rPr lang="en-US" sz="1000">
                <a:latin typeface="Arial" charset="0"/>
              </a:rPr>
              <a:pPr/>
              <a:t>40</a:t>
            </a:fld>
            <a:endParaRPr lang="en-US" sz="1000">
              <a:latin typeface="Arial" charset="0"/>
            </a:endParaRPr>
          </a:p>
        </p:txBody>
      </p:sp>
    </p:spTree>
    <p:extLst>
      <p:ext uri="{BB962C8B-B14F-4D97-AF65-F5344CB8AC3E}">
        <p14:creationId xmlns:p14="http://schemas.microsoft.com/office/powerpoint/2010/main" val="17122714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4505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A5D49809-E4E0-3A4D-B113-D4D22A67FEAC}" type="slidenum">
              <a:rPr lang="en-US" sz="1000">
                <a:latin typeface="Arial" charset="0"/>
              </a:rPr>
              <a:pPr/>
              <a:t>41</a:t>
            </a:fld>
            <a:endParaRPr lang="en-US" sz="1000">
              <a:latin typeface="Arial" charset="0"/>
            </a:endParaRPr>
          </a:p>
        </p:txBody>
      </p:sp>
      <p:sp>
        <p:nvSpPr>
          <p:cNvPr id="45060" name="Rectangle 2"/>
          <p:cNvSpPr>
            <a:spLocks noGrp="1" noChangeArrowheads="1"/>
          </p:cNvSpPr>
          <p:nvPr>
            <p:ph type="title"/>
          </p:nvPr>
        </p:nvSpPr>
        <p:spPr/>
        <p:txBody>
          <a:bodyPr/>
          <a:lstStyle/>
          <a:p>
            <a:pPr eaLnBrk="1" hangingPunct="1"/>
            <a:r>
              <a:rPr lang="en-US">
                <a:latin typeface="Lucida Sans Unicode" charset="0"/>
                <a:cs typeface="Lucida Sans Unicode" charset="0"/>
              </a:rPr>
              <a:t>Support for OOP in Java</a:t>
            </a:r>
          </a:p>
        </p:txBody>
      </p:sp>
      <p:sp>
        <p:nvSpPr>
          <p:cNvPr id="45061" name="Rectangle 3"/>
          <p:cNvSpPr>
            <a:spLocks noGrp="1" noChangeArrowheads="1"/>
          </p:cNvSpPr>
          <p:nvPr>
            <p:ph type="body" idx="1"/>
          </p:nvPr>
        </p:nvSpPr>
        <p:spPr>
          <a:xfrm>
            <a:off x="381000" y="1371600"/>
            <a:ext cx="8153400" cy="4572000"/>
          </a:xfrm>
        </p:spPr>
        <p:txBody>
          <a:bodyPr/>
          <a:lstStyle/>
          <a:p>
            <a:pPr eaLnBrk="1" hangingPunct="1"/>
            <a:r>
              <a:rPr lang="en-US" sz="2400">
                <a:latin typeface="Lucida Sans Unicode" charset="0"/>
                <a:cs typeface="Lucida Sans Unicode" charset="0"/>
              </a:rPr>
              <a:t>Because of its close relationship to C++, focus is on the differences from that language</a:t>
            </a:r>
          </a:p>
          <a:p>
            <a:pPr eaLnBrk="1" hangingPunct="1"/>
            <a:r>
              <a:rPr lang="en-US" sz="2400">
                <a:latin typeface="Lucida Sans Unicode" charset="0"/>
                <a:cs typeface="Lucida Sans Unicode" charset="0"/>
              </a:rPr>
              <a:t>General Characteristics</a:t>
            </a:r>
          </a:p>
          <a:p>
            <a:pPr lvl="1" eaLnBrk="1" hangingPunct="1"/>
            <a:r>
              <a:rPr lang="en-US" sz="2000">
                <a:latin typeface="Lucida Sans Unicode" charset="0"/>
                <a:ea typeface="Lucida Sans Unicode" charset="0"/>
                <a:cs typeface="Lucida Sans Unicode" charset="0"/>
              </a:rPr>
              <a:t>All data are objects except the primitive types</a:t>
            </a:r>
          </a:p>
          <a:p>
            <a:pPr lvl="1" eaLnBrk="1" hangingPunct="1"/>
            <a:r>
              <a:rPr lang="en-US" sz="2000">
                <a:latin typeface="Lucida Sans Unicode" charset="0"/>
                <a:ea typeface="Lucida Sans Unicode" charset="0"/>
                <a:cs typeface="Lucida Sans Unicode" charset="0"/>
              </a:rPr>
              <a:t>All primitive types have wrapper classes that store one data value</a:t>
            </a:r>
          </a:p>
          <a:p>
            <a:pPr lvl="1" eaLnBrk="1" hangingPunct="1"/>
            <a:r>
              <a:rPr lang="en-US" sz="2000">
                <a:latin typeface="Lucida Sans Unicode" charset="0"/>
                <a:ea typeface="Lucida Sans Unicode" charset="0"/>
                <a:cs typeface="Lucida Sans Unicode" charset="0"/>
              </a:rPr>
              <a:t>All objects are heap-dynamic, are referenced through reference variables, and most are allocated with </a:t>
            </a:r>
            <a:r>
              <a:rPr lang="en-US" sz="2000" b="1">
                <a:latin typeface="Courier New" charset="0"/>
                <a:ea typeface="Lucida Sans Unicode" charset="0"/>
                <a:cs typeface="Lucida Sans Unicode" charset="0"/>
              </a:rPr>
              <a:t>new</a:t>
            </a:r>
          </a:p>
          <a:p>
            <a:pPr lvl="1" eaLnBrk="1" hangingPunct="1"/>
            <a:r>
              <a:rPr lang="en-US" sz="2000">
                <a:latin typeface="Lucida Sans Unicode" charset="0"/>
                <a:ea typeface="Lucida Sans Unicode" charset="0"/>
                <a:cs typeface="Lucida Sans Unicode" charset="0"/>
              </a:rPr>
              <a:t>A </a:t>
            </a:r>
            <a:r>
              <a:rPr lang="en-US" sz="2000" b="1">
                <a:latin typeface="Courier New" charset="0"/>
                <a:ea typeface="ＭＳ Ｐゴシック" charset="0"/>
                <a:cs typeface="Courier New" charset="0"/>
              </a:rPr>
              <a:t>finalize</a:t>
            </a:r>
            <a:r>
              <a:rPr lang="en-US" sz="2000">
                <a:latin typeface="Lucida Sans Unicode" charset="0"/>
                <a:ea typeface="Lucida Sans Unicode" charset="0"/>
                <a:cs typeface="Lucida Sans Unicode" charset="0"/>
              </a:rPr>
              <a:t> method is implicitly called when the garbage collector is about to reclaim the storage occupied by the object</a:t>
            </a:r>
          </a:p>
        </p:txBody>
      </p:sp>
    </p:spTree>
    <p:extLst>
      <p:ext uri="{BB962C8B-B14F-4D97-AF65-F5344CB8AC3E}">
        <p14:creationId xmlns:p14="http://schemas.microsoft.com/office/powerpoint/2010/main" val="9947504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4608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E699AF35-998F-2C43-A3C3-2D947DC6A258}" type="slidenum">
              <a:rPr lang="en-US" sz="1000">
                <a:latin typeface="Arial" charset="0"/>
              </a:rPr>
              <a:pPr/>
              <a:t>42</a:t>
            </a:fld>
            <a:endParaRPr lang="en-US" sz="1000">
              <a:latin typeface="Arial" charset="0"/>
            </a:endParaRPr>
          </a:p>
        </p:txBody>
      </p:sp>
      <p:sp>
        <p:nvSpPr>
          <p:cNvPr id="46084" name="Rectangle 2"/>
          <p:cNvSpPr>
            <a:spLocks noGrp="1" noChangeArrowheads="1"/>
          </p:cNvSpPr>
          <p:nvPr>
            <p:ph type="title"/>
          </p:nvPr>
        </p:nvSpPr>
        <p:spPr/>
        <p:txBody>
          <a:bodyPr/>
          <a:lstStyle/>
          <a:p>
            <a:pPr eaLnBrk="1" hangingPunct="1"/>
            <a:r>
              <a:rPr lang="en-US">
                <a:latin typeface="Lucida Sans Unicode" charset="0"/>
                <a:cs typeface="Lucida Sans Unicode" charset="0"/>
              </a:rPr>
              <a:t>Support for OOP in Java (continued)</a:t>
            </a:r>
          </a:p>
        </p:txBody>
      </p:sp>
      <p:sp>
        <p:nvSpPr>
          <p:cNvPr id="46085" name="Rectangle 3"/>
          <p:cNvSpPr>
            <a:spLocks noGrp="1" noChangeArrowheads="1"/>
          </p:cNvSpPr>
          <p:nvPr>
            <p:ph type="body" idx="1"/>
          </p:nvPr>
        </p:nvSpPr>
        <p:spPr>
          <a:xfrm>
            <a:off x="533400" y="1371600"/>
            <a:ext cx="8153400" cy="4572000"/>
          </a:xfrm>
        </p:spPr>
        <p:txBody>
          <a:bodyPr/>
          <a:lstStyle/>
          <a:p>
            <a:pPr eaLnBrk="1" hangingPunct="1"/>
            <a:r>
              <a:rPr lang="en-US">
                <a:latin typeface="Lucida Sans Unicode" charset="0"/>
                <a:cs typeface="Lucida Sans Unicode" charset="0"/>
              </a:rPr>
              <a:t>Inheritance</a:t>
            </a:r>
          </a:p>
          <a:p>
            <a:pPr lvl="1" eaLnBrk="1" hangingPunct="1"/>
            <a:r>
              <a:rPr lang="en-US">
                <a:latin typeface="Lucida Sans Unicode" charset="0"/>
                <a:ea typeface="Lucida Sans Unicode" charset="0"/>
                <a:cs typeface="Lucida Sans Unicode" charset="0"/>
              </a:rPr>
              <a:t>Single inheritance supported only, but there is an abstract class category that provides some of the benefits of multiple inheritance (</a:t>
            </a:r>
            <a:r>
              <a:rPr lang="en-US" b="1">
                <a:latin typeface="Courier New" charset="0"/>
                <a:ea typeface="Lucida Sans Unicode" charset="0"/>
                <a:cs typeface="Lucida Sans Unicode" charset="0"/>
              </a:rPr>
              <a:t>interface</a:t>
            </a:r>
            <a:r>
              <a:rPr lang="en-US">
                <a:latin typeface="Lucida Sans Unicode" charset="0"/>
                <a:ea typeface="Lucida Sans Unicode" charset="0"/>
                <a:cs typeface="Lucida Sans Unicode" charset="0"/>
              </a:rPr>
              <a:t>)</a:t>
            </a:r>
          </a:p>
          <a:p>
            <a:pPr lvl="1" eaLnBrk="1" hangingPunct="1"/>
            <a:r>
              <a:rPr lang="en-US">
                <a:latin typeface="Lucida Sans Unicode" charset="0"/>
                <a:ea typeface="Lucida Sans Unicode" charset="0"/>
                <a:cs typeface="Lucida Sans Unicode" charset="0"/>
              </a:rPr>
              <a:t>An interface can include only method declarations and named constants, e.g., </a:t>
            </a:r>
          </a:p>
          <a:p>
            <a:pPr lvl="1" eaLnBrk="1" hangingPunct="1">
              <a:buFontTx/>
              <a:buNone/>
            </a:pPr>
            <a:r>
              <a:rPr lang="en-US">
                <a:latin typeface="Courier New" charset="0"/>
                <a:ea typeface="ＭＳ Ｐゴシック" charset="0"/>
                <a:cs typeface="Courier New" charset="0"/>
              </a:rPr>
              <a:t>	</a:t>
            </a:r>
            <a:r>
              <a:rPr lang="en-US" sz="2000" b="1">
                <a:latin typeface="Courier New" charset="0"/>
                <a:ea typeface="ＭＳ Ｐゴシック" charset="0"/>
                <a:cs typeface="Courier New" charset="0"/>
              </a:rPr>
              <a:t>public interface </a:t>
            </a:r>
            <a:r>
              <a:rPr lang="en-US" sz="2000">
                <a:latin typeface="Courier New" charset="0"/>
                <a:ea typeface="ＭＳ Ｐゴシック" charset="0"/>
                <a:cs typeface="Courier New" charset="0"/>
              </a:rPr>
              <a:t>Comparable &lt;T&gt; {</a:t>
            </a:r>
          </a:p>
          <a:p>
            <a:pPr lvl="1" eaLnBrk="1" hangingPunct="1">
              <a:buFontTx/>
              <a:buNone/>
            </a:pPr>
            <a:r>
              <a:rPr lang="en-US" sz="2000">
                <a:latin typeface="Courier New" charset="0"/>
                <a:ea typeface="ＭＳ Ｐゴシック" charset="0"/>
                <a:cs typeface="Courier New" charset="0"/>
              </a:rPr>
              <a:t>		     </a:t>
            </a:r>
            <a:r>
              <a:rPr lang="en-US" sz="2000" b="1">
                <a:latin typeface="Courier New" charset="0"/>
                <a:ea typeface="ＭＳ Ｐゴシック" charset="0"/>
                <a:cs typeface="Courier New" charset="0"/>
              </a:rPr>
              <a:t>public int </a:t>
            </a:r>
            <a:r>
              <a:rPr lang="en-US" sz="2000">
                <a:latin typeface="Courier New" charset="0"/>
                <a:ea typeface="ＭＳ Ｐゴシック" charset="0"/>
                <a:cs typeface="Courier New" charset="0"/>
              </a:rPr>
              <a:t>comparedTo (T b);</a:t>
            </a:r>
          </a:p>
          <a:p>
            <a:pPr lvl="1" eaLnBrk="1" hangingPunct="1">
              <a:buFontTx/>
              <a:buNone/>
            </a:pPr>
            <a:r>
              <a:rPr lang="en-US" sz="2000">
                <a:latin typeface="Courier New" charset="0"/>
                <a:ea typeface="ＭＳ Ｐゴシック" charset="0"/>
                <a:cs typeface="Courier New" charset="0"/>
              </a:rPr>
              <a:t>	}</a:t>
            </a:r>
          </a:p>
          <a:p>
            <a:pPr lvl="1" eaLnBrk="1" hangingPunct="1"/>
            <a:r>
              <a:rPr lang="en-US">
                <a:latin typeface="Lucida Sans Unicode" charset="0"/>
                <a:ea typeface="Lucida Sans Unicode" charset="0"/>
                <a:cs typeface="Lucida Sans Unicode" charset="0"/>
              </a:rPr>
              <a:t>Methods can be </a:t>
            </a:r>
            <a:r>
              <a:rPr lang="en-US" sz="2000" b="1">
                <a:latin typeface="Courier New" charset="0"/>
                <a:ea typeface="Lucida Sans Unicode" charset="0"/>
                <a:cs typeface="Lucida Sans Unicode" charset="0"/>
              </a:rPr>
              <a:t>final</a:t>
            </a:r>
            <a:r>
              <a:rPr lang="en-US">
                <a:latin typeface="Lucida Sans Unicode" charset="0"/>
                <a:ea typeface="Lucida Sans Unicode" charset="0"/>
                <a:cs typeface="Lucida Sans Unicode" charset="0"/>
              </a:rPr>
              <a:t> (cannot be overriden)</a:t>
            </a:r>
          </a:p>
        </p:txBody>
      </p:sp>
    </p:spTree>
    <p:extLst>
      <p:ext uri="{BB962C8B-B14F-4D97-AF65-F5344CB8AC3E}">
        <p14:creationId xmlns:p14="http://schemas.microsoft.com/office/powerpoint/2010/main" val="3656546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4710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897C2FC0-E475-6349-8163-B8268691B044}" type="slidenum">
              <a:rPr lang="en-US" sz="1000">
                <a:latin typeface="Arial" charset="0"/>
              </a:rPr>
              <a:pPr/>
              <a:t>43</a:t>
            </a:fld>
            <a:endParaRPr lang="en-US" sz="1000">
              <a:latin typeface="Arial" charset="0"/>
            </a:endParaRPr>
          </a:p>
        </p:txBody>
      </p:sp>
      <p:sp>
        <p:nvSpPr>
          <p:cNvPr id="47108" name="Rectangle 2"/>
          <p:cNvSpPr>
            <a:spLocks noGrp="1" noChangeArrowheads="1"/>
          </p:cNvSpPr>
          <p:nvPr>
            <p:ph type="title"/>
          </p:nvPr>
        </p:nvSpPr>
        <p:spPr/>
        <p:txBody>
          <a:bodyPr/>
          <a:lstStyle/>
          <a:p>
            <a:pPr eaLnBrk="1" hangingPunct="1"/>
            <a:r>
              <a:rPr lang="en-US">
                <a:latin typeface="Lucida Sans Unicode" charset="0"/>
                <a:cs typeface="Lucida Sans Unicode" charset="0"/>
              </a:rPr>
              <a:t>Support for OOP in Java (continued)</a:t>
            </a:r>
          </a:p>
        </p:txBody>
      </p:sp>
      <p:sp>
        <p:nvSpPr>
          <p:cNvPr id="47109" name="Rectangle 3"/>
          <p:cNvSpPr>
            <a:spLocks noGrp="1" noChangeArrowheads="1"/>
          </p:cNvSpPr>
          <p:nvPr>
            <p:ph type="body" idx="1"/>
          </p:nvPr>
        </p:nvSpPr>
        <p:spPr>
          <a:xfrm>
            <a:off x="533400" y="1447800"/>
            <a:ext cx="8153400" cy="4572000"/>
          </a:xfrm>
        </p:spPr>
        <p:txBody>
          <a:bodyPr/>
          <a:lstStyle/>
          <a:p>
            <a:pPr eaLnBrk="1" hangingPunct="1"/>
            <a:r>
              <a:rPr lang="en-US">
                <a:latin typeface="Lucida Sans Unicode" charset="0"/>
                <a:cs typeface="Lucida Sans Unicode" charset="0"/>
              </a:rPr>
              <a:t>Dynamic Binding</a:t>
            </a:r>
          </a:p>
          <a:p>
            <a:pPr lvl="1" eaLnBrk="1" hangingPunct="1"/>
            <a:r>
              <a:rPr lang="en-US">
                <a:latin typeface="Lucida Sans Unicode" charset="0"/>
                <a:ea typeface="Lucida Sans Unicode" charset="0"/>
                <a:cs typeface="Lucida Sans Unicode" charset="0"/>
              </a:rPr>
              <a:t>In Java, all messages are dynamically bound to methods, unless the method is </a:t>
            </a:r>
            <a:r>
              <a:rPr lang="en-US" sz="2000" b="1">
                <a:latin typeface="Courier New" charset="0"/>
                <a:ea typeface="Lucida Sans Unicode" charset="0"/>
                <a:cs typeface="Lucida Sans Unicode" charset="0"/>
              </a:rPr>
              <a:t>final</a:t>
            </a:r>
            <a:r>
              <a:rPr lang="en-US">
                <a:latin typeface="Lucida Sans Unicode" charset="0"/>
                <a:ea typeface="Lucida Sans Unicode" charset="0"/>
                <a:cs typeface="Lucida Sans Unicode" charset="0"/>
              </a:rPr>
              <a:t> (i.e., it cannot be overriden, therefore dynamic binding serves no purpose)</a:t>
            </a:r>
          </a:p>
          <a:p>
            <a:pPr lvl="1" eaLnBrk="1" hangingPunct="1"/>
            <a:r>
              <a:rPr lang="en-US">
                <a:latin typeface="Lucida Sans Unicode" charset="0"/>
                <a:ea typeface="Lucida Sans Unicode" charset="0"/>
                <a:cs typeface="Lucida Sans Unicode" charset="0"/>
              </a:rPr>
              <a:t>Static binding is also used if the methods is </a:t>
            </a:r>
            <a:r>
              <a:rPr lang="en-US" sz="2000" b="1">
                <a:latin typeface="Courier New" charset="0"/>
                <a:ea typeface="ＭＳ Ｐゴシック" charset="0"/>
                <a:cs typeface="Courier New" charset="0"/>
              </a:rPr>
              <a:t>static</a:t>
            </a:r>
            <a:r>
              <a:rPr lang="en-US">
                <a:latin typeface="Lucida Sans Unicode" charset="0"/>
                <a:ea typeface="Lucida Sans Unicode" charset="0"/>
                <a:cs typeface="Lucida Sans Unicode" charset="0"/>
              </a:rPr>
              <a:t> or </a:t>
            </a:r>
            <a:r>
              <a:rPr lang="en-US" sz="2000" b="1">
                <a:latin typeface="Courier New" charset="0"/>
                <a:ea typeface="ＭＳ Ｐゴシック" charset="0"/>
                <a:cs typeface="Courier New" charset="0"/>
              </a:rPr>
              <a:t>private</a:t>
            </a:r>
            <a:r>
              <a:rPr lang="en-US">
                <a:latin typeface="Lucida Sans Unicode" charset="0"/>
                <a:ea typeface="Lucida Sans Unicode" charset="0"/>
                <a:cs typeface="Lucida Sans Unicode" charset="0"/>
              </a:rPr>
              <a:t> both of which disallow overriding</a:t>
            </a:r>
          </a:p>
        </p:txBody>
      </p:sp>
    </p:spTree>
    <p:extLst>
      <p:ext uri="{BB962C8B-B14F-4D97-AF65-F5344CB8AC3E}">
        <p14:creationId xmlns:p14="http://schemas.microsoft.com/office/powerpoint/2010/main" val="29223357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4813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F6168AB8-6048-3046-8E79-EF8D3B96B008}" type="slidenum">
              <a:rPr lang="en-US" sz="1000">
                <a:latin typeface="Arial" charset="0"/>
              </a:rPr>
              <a:pPr/>
              <a:t>44</a:t>
            </a:fld>
            <a:endParaRPr lang="en-US" sz="1000">
              <a:latin typeface="Arial" charset="0"/>
            </a:endParaRPr>
          </a:p>
        </p:txBody>
      </p:sp>
      <p:sp>
        <p:nvSpPr>
          <p:cNvPr id="48132" name="Rectangle 2"/>
          <p:cNvSpPr>
            <a:spLocks noGrp="1" noChangeArrowheads="1"/>
          </p:cNvSpPr>
          <p:nvPr>
            <p:ph type="title"/>
          </p:nvPr>
        </p:nvSpPr>
        <p:spPr/>
        <p:txBody>
          <a:bodyPr/>
          <a:lstStyle/>
          <a:p>
            <a:pPr eaLnBrk="1" hangingPunct="1"/>
            <a:r>
              <a:rPr lang="en-US">
                <a:latin typeface="Lucida Sans Unicode" charset="0"/>
                <a:cs typeface="Lucida Sans Unicode" charset="0"/>
              </a:rPr>
              <a:t>Support for OOP in Java (continued)</a:t>
            </a:r>
          </a:p>
        </p:txBody>
      </p:sp>
      <p:sp>
        <p:nvSpPr>
          <p:cNvPr id="48133" name="Rectangle 3"/>
          <p:cNvSpPr>
            <a:spLocks noGrp="1" noChangeArrowheads="1"/>
          </p:cNvSpPr>
          <p:nvPr>
            <p:ph type="body" idx="1"/>
          </p:nvPr>
        </p:nvSpPr>
        <p:spPr>
          <a:xfrm>
            <a:off x="609600" y="1524000"/>
            <a:ext cx="8153400" cy="4800600"/>
          </a:xfrm>
        </p:spPr>
        <p:txBody>
          <a:bodyPr/>
          <a:lstStyle/>
          <a:p>
            <a:pPr eaLnBrk="1" hangingPunct="1"/>
            <a:r>
              <a:rPr lang="en-US" sz="2400">
                <a:latin typeface="Lucida Sans Unicode" charset="0"/>
                <a:cs typeface="Lucida Sans Unicode" charset="0"/>
              </a:rPr>
              <a:t>Nested Classes</a:t>
            </a:r>
          </a:p>
          <a:p>
            <a:pPr lvl="1" eaLnBrk="1" hangingPunct="1"/>
            <a:r>
              <a:rPr lang="en-US" sz="2000">
                <a:latin typeface="Lucida Sans Unicode" charset="0"/>
                <a:ea typeface="Lucida Sans Unicode" charset="0"/>
                <a:cs typeface="Lucida Sans Unicode" charset="0"/>
              </a:rPr>
              <a:t>All are hidden from all classes in their package, except for the nesting class</a:t>
            </a:r>
          </a:p>
          <a:p>
            <a:pPr lvl="1" eaLnBrk="1" hangingPunct="1"/>
            <a:r>
              <a:rPr lang="en-US" sz="2000">
                <a:latin typeface="Lucida Sans Unicode" charset="0"/>
                <a:ea typeface="Lucida Sans Unicode" charset="0"/>
                <a:cs typeface="Lucida Sans Unicode" charset="0"/>
              </a:rPr>
              <a:t>Nonstatic classes nested directly are called </a:t>
            </a:r>
            <a:r>
              <a:rPr lang="en-US" sz="2000" i="1">
                <a:solidFill>
                  <a:srgbClr val="002060"/>
                </a:solidFill>
                <a:latin typeface="Lucida Sans Unicode" charset="0"/>
                <a:ea typeface="Lucida Sans Unicode" charset="0"/>
                <a:cs typeface="Lucida Sans Unicode" charset="0"/>
              </a:rPr>
              <a:t>innerclasses</a:t>
            </a:r>
          </a:p>
          <a:p>
            <a:pPr lvl="2" eaLnBrk="1" hangingPunct="1"/>
            <a:r>
              <a:rPr lang="en-US" sz="1700">
                <a:latin typeface="Lucida Sans Unicode" charset="0"/>
                <a:ea typeface="Lucida Sans Unicode" charset="0"/>
                <a:cs typeface="Lucida Sans Unicode" charset="0"/>
              </a:rPr>
              <a:t>An innerclass can access members of its nesting class</a:t>
            </a:r>
          </a:p>
          <a:p>
            <a:pPr lvl="2" eaLnBrk="1" hangingPunct="1"/>
            <a:r>
              <a:rPr lang="en-US" sz="1700">
                <a:latin typeface="Lucida Sans Unicode" charset="0"/>
                <a:ea typeface="Lucida Sans Unicode" charset="0"/>
                <a:cs typeface="Lucida Sans Unicode" charset="0"/>
              </a:rPr>
              <a:t>A static nested class cannot access members of its nesting class</a:t>
            </a:r>
          </a:p>
          <a:p>
            <a:pPr lvl="1" eaLnBrk="1" hangingPunct="1"/>
            <a:r>
              <a:rPr lang="en-US" sz="2000">
                <a:latin typeface="Lucida Sans Unicode" charset="0"/>
                <a:ea typeface="Lucida Sans Unicode" charset="0"/>
                <a:cs typeface="Lucida Sans Unicode" charset="0"/>
              </a:rPr>
              <a:t>Nested classes can be anonymous</a:t>
            </a:r>
          </a:p>
          <a:p>
            <a:pPr lvl="1" eaLnBrk="1" hangingPunct="1"/>
            <a:r>
              <a:rPr lang="en-US" sz="2000">
                <a:latin typeface="Lucida Sans Unicode" charset="0"/>
                <a:ea typeface="Lucida Sans Unicode" charset="0"/>
                <a:cs typeface="Lucida Sans Unicode" charset="0"/>
              </a:rPr>
              <a:t>A </a:t>
            </a:r>
            <a:r>
              <a:rPr lang="en-US" sz="2000" i="1">
                <a:latin typeface="Lucida Sans Unicode" charset="0"/>
                <a:ea typeface="Lucida Sans Unicode" charset="0"/>
                <a:cs typeface="Lucida Sans Unicode" charset="0"/>
              </a:rPr>
              <a:t>local nested class </a:t>
            </a:r>
            <a:r>
              <a:rPr lang="en-US" sz="2000">
                <a:latin typeface="Lucida Sans Unicode" charset="0"/>
                <a:ea typeface="Lucida Sans Unicode" charset="0"/>
                <a:cs typeface="Lucida Sans Unicode" charset="0"/>
              </a:rPr>
              <a:t>is defined in a method of its nesting class</a:t>
            </a:r>
          </a:p>
          <a:p>
            <a:pPr lvl="2" eaLnBrk="1" hangingPunct="1"/>
            <a:r>
              <a:rPr lang="en-US" sz="1700">
                <a:latin typeface="Lucida Sans Unicode" charset="0"/>
                <a:ea typeface="Lucida Sans Unicode" charset="0"/>
                <a:cs typeface="Lucida Sans Unicode" charset="0"/>
              </a:rPr>
              <a:t>No access specifier is used</a:t>
            </a:r>
          </a:p>
          <a:p>
            <a:pPr lvl="1" eaLnBrk="1" hangingPunct="1">
              <a:buFontTx/>
              <a:buNone/>
            </a:pPr>
            <a:endParaRPr lang="en-US">
              <a:latin typeface="Lucida Sans Unicode" charset="0"/>
              <a:ea typeface="Lucida Sans Unicode" charset="0"/>
              <a:cs typeface="Lucida Sans Unicode" charset="0"/>
            </a:endParaRPr>
          </a:p>
        </p:txBody>
      </p:sp>
    </p:spTree>
    <p:extLst>
      <p:ext uri="{BB962C8B-B14F-4D97-AF65-F5344CB8AC3E}">
        <p14:creationId xmlns:p14="http://schemas.microsoft.com/office/powerpoint/2010/main" val="1348003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4915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1360F0CA-95C9-6E44-B355-253679953289}" type="slidenum">
              <a:rPr lang="en-US" sz="1000">
                <a:latin typeface="Arial" charset="0"/>
              </a:rPr>
              <a:pPr/>
              <a:t>45</a:t>
            </a:fld>
            <a:endParaRPr lang="en-US" sz="1000">
              <a:latin typeface="Arial" charset="0"/>
            </a:endParaRPr>
          </a:p>
        </p:txBody>
      </p:sp>
      <p:sp>
        <p:nvSpPr>
          <p:cNvPr id="49156" name="Rectangle 2"/>
          <p:cNvSpPr>
            <a:spLocks noGrp="1" noChangeArrowheads="1"/>
          </p:cNvSpPr>
          <p:nvPr>
            <p:ph type="title"/>
          </p:nvPr>
        </p:nvSpPr>
        <p:spPr/>
        <p:txBody>
          <a:bodyPr/>
          <a:lstStyle/>
          <a:p>
            <a:pPr eaLnBrk="1" hangingPunct="1"/>
            <a:r>
              <a:rPr lang="en-US">
                <a:latin typeface="Lucida Sans Unicode" charset="0"/>
                <a:cs typeface="Lucida Sans Unicode" charset="0"/>
              </a:rPr>
              <a:t>Support for OOP in Java (continued)</a:t>
            </a:r>
          </a:p>
        </p:txBody>
      </p:sp>
      <p:sp>
        <p:nvSpPr>
          <p:cNvPr id="49157"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Evaluation</a:t>
            </a:r>
          </a:p>
          <a:p>
            <a:pPr lvl="1" eaLnBrk="1" hangingPunct="1"/>
            <a:r>
              <a:rPr lang="en-US">
                <a:latin typeface="Lucida Sans Unicode" charset="0"/>
                <a:ea typeface="Lucida Sans Unicode" charset="0"/>
                <a:cs typeface="Lucida Sans Unicode" charset="0"/>
              </a:rPr>
              <a:t>Design decisions to support OOP are similar to C++</a:t>
            </a:r>
          </a:p>
          <a:p>
            <a:pPr lvl="1" eaLnBrk="1" hangingPunct="1"/>
            <a:r>
              <a:rPr lang="en-US">
                <a:latin typeface="Lucida Sans Unicode" charset="0"/>
                <a:ea typeface="Lucida Sans Unicode" charset="0"/>
                <a:cs typeface="Lucida Sans Unicode" charset="0"/>
              </a:rPr>
              <a:t>No support for procedural programming</a:t>
            </a:r>
          </a:p>
          <a:p>
            <a:pPr lvl="1" eaLnBrk="1" hangingPunct="1"/>
            <a:r>
              <a:rPr lang="en-US">
                <a:latin typeface="Lucida Sans Unicode" charset="0"/>
                <a:ea typeface="Lucida Sans Unicode" charset="0"/>
                <a:cs typeface="Lucida Sans Unicode" charset="0"/>
              </a:rPr>
              <a:t>No parentless classes</a:t>
            </a:r>
          </a:p>
          <a:p>
            <a:pPr lvl="1" eaLnBrk="1" hangingPunct="1"/>
            <a:r>
              <a:rPr lang="en-US">
                <a:latin typeface="Lucida Sans Unicode" charset="0"/>
                <a:ea typeface="Lucida Sans Unicode" charset="0"/>
                <a:cs typeface="Lucida Sans Unicode" charset="0"/>
              </a:rPr>
              <a:t>Dynamic binding is used as </a:t>
            </a:r>
            <a:r>
              <a:rPr lang="ja-JP" altLang="en-US">
                <a:latin typeface="Lucida Sans Unicode" charset="0"/>
                <a:ea typeface="Lucida Sans Unicode" charset="0"/>
                <a:cs typeface="Lucida Sans Unicode" charset="0"/>
              </a:rPr>
              <a:t>“</a:t>
            </a:r>
            <a:r>
              <a:rPr lang="en-US">
                <a:latin typeface="Lucida Sans Unicode" charset="0"/>
                <a:ea typeface="Lucida Sans Unicode" charset="0"/>
                <a:cs typeface="Lucida Sans Unicode" charset="0"/>
              </a:rPr>
              <a:t>normal</a:t>
            </a:r>
            <a:r>
              <a:rPr lang="ja-JP" altLang="en-US">
                <a:latin typeface="Lucida Sans Unicode" charset="0"/>
                <a:ea typeface="Lucida Sans Unicode" charset="0"/>
                <a:cs typeface="Lucida Sans Unicode" charset="0"/>
              </a:rPr>
              <a:t>”</a:t>
            </a:r>
            <a:r>
              <a:rPr lang="en-US">
                <a:latin typeface="Lucida Sans Unicode" charset="0"/>
                <a:ea typeface="Lucida Sans Unicode" charset="0"/>
                <a:cs typeface="Lucida Sans Unicode" charset="0"/>
              </a:rPr>
              <a:t> way to bind method calls to method definitions</a:t>
            </a:r>
          </a:p>
          <a:p>
            <a:pPr lvl="1" eaLnBrk="1" hangingPunct="1"/>
            <a:r>
              <a:rPr lang="en-US">
                <a:latin typeface="Lucida Sans Unicode" charset="0"/>
                <a:ea typeface="Lucida Sans Unicode" charset="0"/>
                <a:cs typeface="Lucida Sans Unicode" charset="0"/>
              </a:rPr>
              <a:t>Uses interfaces to provide a simple form of support for multiple inheritance</a:t>
            </a:r>
          </a:p>
        </p:txBody>
      </p:sp>
    </p:spTree>
    <p:extLst>
      <p:ext uri="{BB962C8B-B14F-4D97-AF65-F5344CB8AC3E}">
        <p14:creationId xmlns:p14="http://schemas.microsoft.com/office/powerpoint/2010/main" val="13854993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5017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DE2982CB-DA02-5244-A912-2D1BB8E5B37C}" type="slidenum">
              <a:rPr lang="en-US" sz="1000">
                <a:latin typeface="Arial" charset="0"/>
              </a:rPr>
              <a:pPr/>
              <a:t>46</a:t>
            </a:fld>
            <a:endParaRPr lang="en-US" sz="1000">
              <a:latin typeface="Arial" charset="0"/>
            </a:endParaRPr>
          </a:p>
        </p:txBody>
      </p:sp>
      <p:sp>
        <p:nvSpPr>
          <p:cNvPr id="50180" name="Rectangle 2"/>
          <p:cNvSpPr>
            <a:spLocks noGrp="1" noChangeArrowheads="1"/>
          </p:cNvSpPr>
          <p:nvPr>
            <p:ph type="title"/>
          </p:nvPr>
        </p:nvSpPr>
        <p:spPr/>
        <p:txBody>
          <a:bodyPr/>
          <a:lstStyle/>
          <a:p>
            <a:pPr eaLnBrk="1" hangingPunct="1"/>
            <a:r>
              <a:rPr lang="en-US">
                <a:latin typeface="Lucida Sans Unicode" charset="0"/>
                <a:cs typeface="Lucida Sans Unicode" charset="0"/>
              </a:rPr>
              <a:t>Support for OOP in C#</a:t>
            </a:r>
          </a:p>
        </p:txBody>
      </p:sp>
      <p:sp>
        <p:nvSpPr>
          <p:cNvPr id="50181"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General characteristics</a:t>
            </a:r>
          </a:p>
          <a:p>
            <a:pPr lvl="1" eaLnBrk="1" hangingPunct="1"/>
            <a:r>
              <a:rPr lang="en-US">
                <a:latin typeface="Lucida Sans Unicode" charset="0"/>
                <a:ea typeface="Lucida Sans Unicode" charset="0"/>
                <a:cs typeface="Lucida Sans Unicode" charset="0"/>
              </a:rPr>
              <a:t>Support for OOP similar to Java</a:t>
            </a:r>
          </a:p>
          <a:p>
            <a:pPr lvl="1" eaLnBrk="1" hangingPunct="1"/>
            <a:r>
              <a:rPr lang="en-US">
                <a:latin typeface="Lucida Sans Unicode" charset="0"/>
                <a:ea typeface="Lucida Sans Unicode" charset="0"/>
                <a:cs typeface="Lucida Sans Unicode" charset="0"/>
              </a:rPr>
              <a:t>Includes both classes and </a:t>
            </a:r>
            <a:r>
              <a:rPr lang="en-US" sz="2000" b="1">
                <a:latin typeface="Courier New" charset="0"/>
                <a:ea typeface="ＭＳ Ｐゴシック" charset="0"/>
                <a:cs typeface="Courier New" charset="0"/>
              </a:rPr>
              <a:t>struct</a:t>
            </a:r>
            <a:r>
              <a:rPr lang="en-US">
                <a:latin typeface="Lucida Sans Unicode" charset="0"/>
                <a:ea typeface="Lucida Sans Unicode" charset="0"/>
                <a:cs typeface="Lucida Sans Unicode" charset="0"/>
              </a:rPr>
              <a:t>s</a:t>
            </a:r>
          </a:p>
          <a:p>
            <a:pPr lvl="1" eaLnBrk="1" hangingPunct="1"/>
            <a:r>
              <a:rPr lang="en-US">
                <a:latin typeface="Lucida Sans Unicode" charset="0"/>
                <a:ea typeface="Lucida Sans Unicode" charset="0"/>
                <a:cs typeface="Lucida Sans Unicode" charset="0"/>
              </a:rPr>
              <a:t>Classes are similar to Java</a:t>
            </a:r>
            <a:r>
              <a:rPr lang="ja-JP" altLang="en-US">
                <a:latin typeface="Lucida Sans Unicode" charset="0"/>
                <a:ea typeface="Lucida Sans Unicode" charset="0"/>
                <a:cs typeface="Lucida Sans Unicode" charset="0"/>
              </a:rPr>
              <a:t>’</a:t>
            </a:r>
            <a:r>
              <a:rPr lang="en-US">
                <a:latin typeface="Lucida Sans Unicode" charset="0"/>
                <a:ea typeface="Lucida Sans Unicode" charset="0"/>
                <a:cs typeface="Lucida Sans Unicode" charset="0"/>
              </a:rPr>
              <a:t>s classes</a:t>
            </a:r>
          </a:p>
          <a:p>
            <a:pPr lvl="1" eaLnBrk="1" hangingPunct="1"/>
            <a:r>
              <a:rPr lang="en-US" sz="2000" b="1">
                <a:latin typeface="Courier New" charset="0"/>
                <a:ea typeface="ＭＳ Ｐゴシック" charset="0"/>
                <a:cs typeface="Courier New" charset="0"/>
              </a:rPr>
              <a:t>struct</a:t>
            </a:r>
            <a:r>
              <a:rPr lang="en-US">
                <a:latin typeface="Lucida Sans Unicode" charset="0"/>
                <a:ea typeface="Lucida Sans Unicode" charset="0"/>
                <a:cs typeface="Lucida Sans Unicode" charset="0"/>
              </a:rPr>
              <a:t>s are less powerful stack-dynamic constructs (e.g., no inheritance)</a:t>
            </a:r>
          </a:p>
        </p:txBody>
      </p:sp>
    </p:spTree>
    <p:extLst>
      <p:ext uri="{BB962C8B-B14F-4D97-AF65-F5344CB8AC3E}">
        <p14:creationId xmlns:p14="http://schemas.microsoft.com/office/powerpoint/2010/main" val="41943564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5120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6A06163D-BD07-9A4F-A2C3-F7BD923CC068}" type="slidenum">
              <a:rPr lang="en-US" sz="1000">
                <a:latin typeface="Arial" charset="0"/>
              </a:rPr>
              <a:pPr/>
              <a:t>47</a:t>
            </a:fld>
            <a:endParaRPr lang="en-US" sz="1000">
              <a:latin typeface="Arial" charset="0"/>
            </a:endParaRPr>
          </a:p>
        </p:txBody>
      </p:sp>
      <p:sp>
        <p:nvSpPr>
          <p:cNvPr id="51204" name="Rectangle 2"/>
          <p:cNvSpPr>
            <a:spLocks noGrp="1" noChangeArrowheads="1"/>
          </p:cNvSpPr>
          <p:nvPr>
            <p:ph type="title"/>
          </p:nvPr>
        </p:nvSpPr>
        <p:spPr/>
        <p:txBody>
          <a:bodyPr/>
          <a:lstStyle/>
          <a:p>
            <a:pPr eaLnBrk="1" hangingPunct="1"/>
            <a:r>
              <a:rPr lang="en-US">
                <a:latin typeface="Lucida Sans Unicode" charset="0"/>
                <a:cs typeface="Lucida Sans Unicode" charset="0"/>
              </a:rPr>
              <a:t>Support for OOP in C# (continued)</a:t>
            </a:r>
          </a:p>
        </p:txBody>
      </p:sp>
      <p:sp>
        <p:nvSpPr>
          <p:cNvPr id="51205"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Inheritance</a:t>
            </a:r>
          </a:p>
          <a:p>
            <a:pPr lvl="1" eaLnBrk="1" hangingPunct="1"/>
            <a:r>
              <a:rPr lang="en-US">
                <a:latin typeface="Lucida Sans Unicode" charset="0"/>
                <a:ea typeface="Lucida Sans Unicode" charset="0"/>
                <a:cs typeface="Lucida Sans Unicode" charset="0"/>
              </a:rPr>
              <a:t>Uses the syntax of C++ for defining classes</a:t>
            </a:r>
          </a:p>
          <a:p>
            <a:pPr lvl="1" eaLnBrk="1" hangingPunct="1"/>
            <a:r>
              <a:rPr lang="en-US">
                <a:latin typeface="Lucida Sans Unicode" charset="0"/>
                <a:ea typeface="Lucida Sans Unicode" charset="0"/>
                <a:cs typeface="Lucida Sans Unicode" charset="0"/>
              </a:rPr>
              <a:t>A method inherited from parent class can be replaced in the derived class by marking its definition with </a:t>
            </a:r>
            <a:r>
              <a:rPr lang="en-US" sz="2000" b="1">
                <a:latin typeface="Courier New" charset="0"/>
                <a:ea typeface="Lucida Sans Unicode" charset="0"/>
                <a:cs typeface="Lucida Sans Unicode" charset="0"/>
              </a:rPr>
              <a:t>new</a:t>
            </a:r>
          </a:p>
          <a:p>
            <a:pPr lvl="1" eaLnBrk="1" hangingPunct="1"/>
            <a:r>
              <a:rPr lang="en-US">
                <a:latin typeface="Lucida Sans Unicode" charset="0"/>
                <a:ea typeface="Lucida Sans Unicode" charset="0"/>
                <a:cs typeface="Lucida Sans Unicode" charset="0"/>
              </a:rPr>
              <a:t>The parent class version can still be called explicitly with the prefix </a:t>
            </a:r>
            <a:r>
              <a:rPr lang="en-US" sz="2000" b="1">
                <a:latin typeface="Courier New" charset="0"/>
                <a:ea typeface="Lucida Sans Unicode" charset="0"/>
                <a:cs typeface="Lucida Sans Unicode" charset="0"/>
              </a:rPr>
              <a:t>base</a:t>
            </a:r>
            <a:r>
              <a:rPr lang="en-US">
                <a:latin typeface="Courier New" charset="0"/>
                <a:ea typeface="Lucida Sans Unicode" charset="0"/>
                <a:cs typeface="Lucida Sans Unicode" charset="0"/>
              </a:rPr>
              <a:t>:</a:t>
            </a:r>
          </a:p>
          <a:p>
            <a:pPr lvl="3" eaLnBrk="1" hangingPunct="1">
              <a:buFontTx/>
              <a:buNone/>
            </a:pPr>
            <a:r>
              <a:rPr lang="en-US" sz="2000" b="1">
                <a:latin typeface="Courier New" charset="0"/>
                <a:ea typeface="Lucida Sans Unicode" charset="0"/>
                <a:cs typeface="Lucida Sans Unicode" charset="0"/>
              </a:rPr>
              <a:t>base</a:t>
            </a:r>
            <a:r>
              <a:rPr lang="en-US" sz="2000">
                <a:latin typeface="Courier New" charset="0"/>
                <a:ea typeface="Lucida Sans Unicode" charset="0"/>
                <a:cs typeface="Lucida Sans Unicode" charset="0"/>
              </a:rPr>
              <a:t>.Draw()</a:t>
            </a:r>
          </a:p>
          <a:p>
            <a:pPr lvl="1" eaLnBrk="1" hangingPunct="1"/>
            <a:endParaRPr lang="en-US">
              <a:latin typeface="Lucida Sans Unicode" charset="0"/>
              <a:ea typeface="Lucida Sans Unicode" charset="0"/>
              <a:cs typeface="Lucida Sans Unicode" charset="0"/>
            </a:endParaRPr>
          </a:p>
        </p:txBody>
      </p:sp>
    </p:spTree>
    <p:extLst>
      <p:ext uri="{BB962C8B-B14F-4D97-AF65-F5344CB8AC3E}">
        <p14:creationId xmlns:p14="http://schemas.microsoft.com/office/powerpoint/2010/main" val="81463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5222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7CDF6ECD-8D4D-D14C-A167-F90C8898AB85}" type="slidenum">
              <a:rPr lang="en-US" sz="1000">
                <a:latin typeface="Arial" charset="0"/>
              </a:rPr>
              <a:pPr/>
              <a:t>48</a:t>
            </a:fld>
            <a:endParaRPr lang="en-US" sz="1000">
              <a:latin typeface="Arial" charset="0"/>
            </a:endParaRPr>
          </a:p>
        </p:txBody>
      </p:sp>
      <p:sp>
        <p:nvSpPr>
          <p:cNvPr id="52228" name="Rectangle 2"/>
          <p:cNvSpPr>
            <a:spLocks noGrp="1" noChangeArrowheads="1"/>
          </p:cNvSpPr>
          <p:nvPr>
            <p:ph type="title"/>
          </p:nvPr>
        </p:nvSpPr>
        <p:spPr/>
        <p:txBody>
          <a:bodyPr/>
          <a:lstStyle/>
          <a:p>
            <a:pPr eaLnBrk="1" hangingPunct="1"/>
            <a:r>
              <a:rPr lang="en-US">
                <a:latin typeface="Lucida Sans Unicode" charset="0"/>
                <a:cs typeface="Lucida Sans Unicode" charset="0"/>
              </a:rPr>
              <a:t>Support for OOP in C#</a:t>
            </a:r>
          </a:p>
        </p:txBody>
      </p:sp>
      <p:sp>
        <p:nvSpPr>
          <p:cNvPr id="52229" name="Rectangle 3"/>
          <p:cNvSpPr>
            <a:spLocks noGrp="1" noChangeArrowheads="1"/>
          </p:cNvSpPr>
          <p:nvPr>
            <p:ph type="body" idx="1"/>
          </p:nvPr>
        </p:nvSpPr>
        <p:spPr>
          <a:xfrm>
            <a:off x="533400" y="1447800"/>
            <a:ext cx="8153400" cy="4572000"/>
          </a:xfrm>
        </p:spPr>
        <p:txBody>
          <a:bodyPr/>
          <a:lstStyle/>
          <a:p>
            <a:pPr eaLnBrk="1" hangingPunct="1"/>
            <a:r>
              <a:rPr lang="en-US">
                <a:latin typeface="Lucida Sans Unicode" charset="0"/>
                <a:cs typeface="Lucida Sans Unicode" charset="0"/>
              </a:rPr>
              <a:t>Dynamic binding</a:t>
            </a:r>
          </a:p>
          <a:p>
            <a:pPr lvl="1" eaLnBrk="1" hangingPunct="1"/>
            <a:r>
              <a:rPr lang="en-US">
                <a:latin typeface="Lucida Sans Unicode" charset="0"/>
                <a:ea typeface="Lucida Sans Unicode" charset="0"/>
                <a:cs typeface="Lucida Sans Unicode" charset="0"/>
              </a:rPr>
              <a:t>To allow dynamic binding of method calls to methods:</a:t>
            </a:r>
          </a:p>
          <a:p>
            <a:pPr lvl="2" eaLnBrk="1" hangingPunct="1"/>
            <a:r>
              <a:rPr lang="en-US">
                <a:latin typeface="Lucida Sans Unicode" charset="0"/>
                <a:ea typeface="Lucida Sans Unicode" charset="0"/>
                <a:cs typeface="Lucida Sans Unicode" charset="0"/>
              </a:rPr>
              <a:t>The base class method is marked </a:t>
            </a:r>
            <a:r>
              <a:rPr lang="en-US" sz="2000" b="1">
                <a:latin typeface="Courier New" charset="0"/>
                <a:ea typeface="Lucida Sans Unicode" charset="0"/>
                <a:cs typeface="Lucida Sans Unicode" charset="0"/>
              </a:rPr>
              <a:t>virtual</a:t>
            </a:r>
          </a:p>
          <a:p>
            <a:pPr lvl="2" eaLnBrk="1" hangingPunct="1"/>
            <a:r>
              <a:rPr lang="en-US">
                <a:latin typeface="Lucida Sans Unicode" charset="0"/>
                <a:ea typeface="Lucida Sans Unicode" charset="0"/>
                <a:cs typeface="Lucida Sans Unicode" charset="0"/>
              </a:rPr>
              <a:t>The corresponding methods in derived classes are marked </a:t>
            </a:r>
            <a:r>
              <a:rPr lang="en-US" sz="2000" b="1">
                <a:latin typeface="Courier New" charset="0"/>
                <a:ea typeface="Lucida Sans Unicode" charset="0"/>
                <a:cs typeface="Lucida Sans Unicode" charset="0"/>
              </a:rPr>
              <a:t>override</a:t>
            </a:r>
          </a:p>
          <a:p>
            <a:pPr lvl="1" eaLnBrk="1" hangingPunct="1"/>
            <a:r>
              <a:rPr lang="en-US">
                <a:latin typeface="Lucida Sans Unicode" charset="0"/>
                <a:ea typeface="Lucida Sans Unicode" charset="0"/>
                <a:cs typeface="Lucida Sans Unicode" charset="0"/>
              </a:rPr>
              <a:t>Abstract methods are marked </a:t>
            </a:r>
            <a:r>
              <a:rPr lang="en-US" sz="2000" b="1">
                <a:latin typeface="Courier New" charset="0"/>
                <a:ea typeface="ＭＳ Ｐゴシック" charset="0"/>
                <a:cs typeface="Courier New" charset="0"/>
              </a:rPr>
              <a:t>abstract</a:t>
            </a:r>
            <a:r>
              <a:rPr lang="en-US">
                <a:latin typeface="Lucida Sans Unicode" charset="0"/>
                <a:ea typeface="Lucida Sans Unicode" charset="0"/>
                <a:cs typeface="Lucida Sans Unicode" charset="0"/>
              </a:rPr>
              <a:t> and must be implemented in all subclasses</a:t>
            </a:r>
          </a:p>
          <a:p>
            <a:pPr lvl="1" eaLnBrk="1" hangingPunct="1"/>
            <a:r>
              <a:rPr lang="en-US">
                <a:latin typeface="Lucida Sans Unicode" charset="0"/>
                <a:ea typeface="Lucida Sans Unicode" charset="0"/>
                <a:cs typeface="Lucida Sans Unicode" charset="0"/>
              </a:rPr>
              <a:t>All C# classes are ultimately derived from a single root class, </a:t>
            </a:r>
            <a:r>
              <a:rPr lang="en-US" sz="2000">
                <a:latin typeface="Courier New" charset="0"/>
                <a:ea typeface="ＭＳ Ｐゴシック" charset="0"/>
                <a:cs typeface="Courier New" charset="0"/>
              </a:rPr>
              <a:t>Object</a:t>
            </a:r>
          </a:p>
        </p:txBody>
      </p:sp>
    </p:spTree>
    <p:extLst>
      <p:ext uri="{BB962C8B-B14F-4D97-AF65-F5344CB8AC3E}">
        <p14:creationId xmlns:p14="http://schemas.microsoft.com/office/powerpoint/2010/main" val="9408803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5325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B7F49671-9A14-4742-AF26-BE83C0234FDF}" type="slidenum">
              <a:rPr lang="en-US" sz="1000">
                <a:latin typeface="Arial" charset="0"/>
              </a:rPr>
              <a:pPr/>
              <a:t>49</a:t>
            </a:fld>
            <a:endParaRPr lang="en-US" sz="1000">
              <a:latin typeface="Arial" charset="0"/>
            </a:endParaRPr>
          </a:p>
        </p:txBody>
      </p:sp>
      <p:sp>
        <p:nvSpPr>
          <p:cNvPr id="53252" name="Rectangle 2"/>
          <p:cNvSpPr>
            <a:spLocks noGrp="1" noChangeArrowheads="1"/>
          </p:cNvSpPr>
          <p:nvPr>
            <p:ph type="title"/>
          </p:nvPr>
        </p:nvSpPr>
        <p:spPr/>
        <p:txBody>
          <a:bodyPr/>
          <a:lstStyle/>
          <a:p>
            <a:pPr eaLnBrk="1" hangingPunct="1"/>
            <a:r>
              <a:rPr lang="en-US">
                <a:latin typeface="Lucida Sans Unicode" charset="0"/>
                <a:cs typeface="Lucida Sans Unicode" charset="0"/>
              </a:rPr>
              <a:t>Support for OOP in C# (continued)</a:t>
            </a:r>
          </a:p>
        </p:txBody>
      </p:sp>
      <p:sp>
        <p:nvSpPr>
          <p:cNvPr id="53253"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Nested Classes</a:t>
            </a:r>
          </a:p>
          <a:p>
            <a:pPr lvl="1" eaLnBrk="1" hangingPunct="1"/>
            <a:r>
              <a:rPr lang="en-US">
                <a:latin typeface="Lucida Sans Unicode" charset="0"/>
                <a:ea typeface="Lucida Sans Unicode" charset="0"/>
                <a:cs typeface="Lucida Sans Unicode" charset="0"/>
              </a:rPr>
              <a:t>A C# class that is directly nested in a nesting class behaves like a Java static nested class</a:t>
            </a:r>
          </a:p>
          <a:p>
            <a:pPr lvl="1" eaLnBrk="1" hangingPunct="1"/>
            <a:r>
              <a:rPr lang="en-US">
                <a:latin typeface="Lucida Sans Unicode" charset="0"/>
                <a:ea typeface="Lucida Sans Unicode" charset="0"/>
                <a:cs typeface="Lucida Sans Unicode" charset="0"/>
              </a:rPr>
              <a:t>C# does not support nested classes that behave like the non-static classes of Java</a:t>
            </a:r>
          </a:p>
        </p:txBody>
      </p:sp>
    </p:spTree>
    <p:extLst>
      <p:ext uri="{BB962C8B-B14F-4D97-AF65-F5344CB8AC3E}">
        <p14:creationId xmlns:p14="http://schemas.microsoft.com/office/powerpoint/2010/main" val="2400242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5427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7F058271-F008-6A45-ABEB-E6D9A3328436}" type="slidenum">
              <a:rPr lang="en-US" sz="1000">
                <a:latin typeface="Arial" charset="0"/>
              </a:rPr>
              <a:pPr/>
              <a:t>50</a:t>
            </a:fld>
            <a:endParaRPr lang="en-US" sz="1000">
              <a:latin typeface="Arial" charset="0"/>
            </a:endParaRPr>
          </a:p>
        </p:txBody>
      </p:sp>
      <p:sp>
        <p:nvSpPr>
          <p:cNvPr id="54276" name="Rectangle 2"/>
          <p:cNvSpPr>
            <a:spLocks noGrp="1" noChangeArrowheads="1"/>
          </p:cNvSpPr>
          <p:nvPr>
            <p:ph type="title"/>
          </p:nvPr>
        </p:nvSpPr>
        <p:spPr/>
        <p:txBody>
          <a:bodyPr/>
          <a:lstStyle/>
          <a:p>
            <a:pPr eaLnBrk="1" hangingPunct="1"/>
            <a:r>
              <a:rPr lang="en-US">
                <a:latin typeface="Lucida Sans Unicode" charset="0"/>
                <a:cs typeface="Lucida Sans Unicode" charset="0"/>
              </a:rPr>
              <a:t>Support for OOP in C#</a:t>
            </a:r>
          </a:p>
        </p:txBody>
      </p:sp>
      <p:sp>
        <p:nvSpPr>
          <p:cNvPr id="54277"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Evaluation</a:t>
            </a:r>
          </a:p>
          <a:p>
            <a:pPr lvl="1" eaLnBrk="1" hangingPunct="1"/>
            <a:r>
              <a:rPr lang="en-US">
                <a:latin typeface="Lucida Sans Unicode" charset="0"/>
                <a:ea typeface="Lucida Sans Unicode" charset="0"/>
                <a:cs typeface="Lucida Sans Unicode" charset="0"/>
              </a:rPr>
              <a:t>C# is a relatively recently designed C-based OO language</a:t>
            </a:r>
          </a:p>
          <a:p>
            <a:pPr lvl="1" eaLnBrk="1" hangingPunct="1"/>
            <a:r>
              <a:rPr lang="en-US">
                <a:latin typeface="Lucida Sans Unicode" charset="0"/>
                <a:ea typeface="Lucida Sans Unicode" charset="0"/>
                <a:cs typeface="Lucida Sans Unicode" charset="0"/>
              </a:rPr>
              <a:t>The differences between C#</a:t>
            </a:r>
            <a:r>
              <a:rPr lang="ja-JP" altLang="en-US">
                <a:latin typeface="Lucida Sans Unicode" charset="0"/>
                <a:ea typeface="Lucida Sans Unicode" charset="0"/>
                <a:cs typeface="Lucida Sans Unicode" charset="0"/>
              </a:rPr>
              <a:t>’</a:t>
            </a:r>
            <a:r>
              <a:rPr lang="en-US">
                <a:latin typeface="Lucida Sans Unicode" charset="0"/>
                <a:ea typeface="Lucida Sans Unicode" charset="0"/>
                <a:cs typeface="Lucida Sans Unicode" charset="0"/>
              </a:rPr>
              <a:t>s and Java</a:t>
            </a:r>
            <a:r>
              <a:rPr lang="ja-JP" altLang="en-US">
                <a:latin typeface="Lucida Sans Unicode" charset="0"/>
                <a:ea typeface="Lucida Sans Unicode" charset="0"/>
                <a:cs typeface="Lucida Sans Unicode" charset="0"/>
              </a:rPr>
              <a:t>’</a:t>
            </a:r>
            <a:r>
              <a:rPr lang="en-US">
                <a:latin typeface="Lucida Sans Unicode" charset="0"/>
                <a:ea typeface="Lucida Sans Unicode" charset="0"/>
                <a:cs typeface="Lucida Sans Unicode" charset="0"/>
              </a:rPr>
              <a:t>s support for OOP are relatively minor</a:t>
            </a:r>
          </a:p>
        </p:txBody>
      </p:sp>
    </p:spTree>
    <p:extLst>
      <p:ext uri="{BB962C8B-B14F-4D97-AF65-F5344CB8AC3E}">
        <p14:creationId xmlns:p14="http://schemas.microsoft.com/office/powerpoint/2010/main" val="28220804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246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5DA67A05-C9BC-9846-923F-7735786E6118}" type="slidenum">
              <a:rPr lang="en-US" sz="1000">
                <a:latin typeface="Arial" charset="0"/>
              </a:rPr>
              <a:pPr/>
              <a:t>51</a:t>
            </a:fld>
            <a:endParaRPr lang="en-US" sz="1000">
              <a:latin typeface="Arial" charset="0"/>
            </a:endParaRPr>
          </a:p>
        </p:txBody>
      </p:sp>
      <p:sp>
        <p:nvSpPr>
          <p:cNvPr id="62468" name="Rectangle 2"/>
          <p:cNvSpPr>
            <a:spLocks noGrp="1" noChangeArrowheads="1"/>
          </p:cNvSpPr>
          <p:nvPr>
            <p:ph type="title"/>
          </p:nvPr>
        </p:nvSpPr>
        <p:spPr/>
        <p:txBody>
          <a:bodyPr/>
          <a:lstStyle/>
          <a:p>
            <a:pPr eaLnBrk="1" hangingPunct="1"/>
            <a:r>
              <a:rPr lang="en-US">
                <a:latin typeface="Lucida Sans Unicode" charset="0"/>
                <a:cs typeface="Lucida Sans Unicode" charset="0"/>
              </a:rPr>
              <a:t>Support for OOP in Ruby</a:t>
            </a:r>
          </a:p>
        </p:txBody>
      </p:sp>
      <p:sp>
        <p:nvSpPr>
          <p:cNvPr id="62469" name="Rectangle 3"/>
          <p:cNvSpPr>
            <a:spLocks noGrp="1" noChangeArrowheads="1"/>
          </p:cNvSpPr>
          <p:nvPr>
            <p:ph type="body" idx="1"/>
          </p:nvPr>
        </p:nvSpPr>
        <p:spPr/>
        <p:txBody>
          <a:bodyPr/>
          <a:lstStyle/>
          <a:p>
            <a:pPr eaLnBrk="1" hangingPunct="1">
              <a:lnSpc>
                <a:spcPct val="80000"/>
              </a:lnSpc>
            </a:pPr>
            <a:r>
              <a:rPr lang="en-US">
                <a:latin typeface="Lucida Sans Unicode" charset="0"/>
                <a:cs typeface="Lucida Sans Unicode" charset="0"/>
              </a:rPr>
              <a:t>General Characteristics</a:t>
            </a:r>
            <a:endParaRPr lang="en-US" sz="2400">
              <a:latin typeface="Lucida Sans Unicode" charset="0"/>
              <a:cs typeface="Lucida Sans Unicode" charset="0"/>
            </a:endParaRPr>
          </a:p>
          <a:p>
            <a:pPr lvl="1" eaLnBrk="1" hangingPunct="1">
              <a:lnSpc>
                <a:spcPct val="80000"/>
              </a:lnSpc>
            </a:pPr>
            <a:r>
              <a:rPr lang="en-US" sz="2000">
                <a:latin typeface="Lucida Sans Unicode" charset="0"/>
                <a:ea typeface="Lucida Sans Unicode" charset="0"/>
                <a:cs typeface="Lucida Sans Unicode" charset="0"/>
              </a:rPr>
              <a:t>Everything is an object</a:t>
            </a:r>
          </a:p>
          <a:p>
            <a:pPr lvl="1" eaLnBrk="1" hangingPunct="1">
              <a:lnSpc>
                <a:spcPct val="80000"/>
              </a:lnSpc>
            </a:pPr>
            <a:r>
              <a:rPr lang="en-US" sz="2000">
                <a:latin typeface="Lucida Sans Unicode" charset="0"/>
                <a:ea typeface="Lucida Sans Unicode" charset="0"/>
                <a:cs typeface="Lucida Sans Unicode" charset="0"/>
              </a:rPr>
              <a:t>All computation is through message passing</a:t>
            </a:r>
          </a:p>
          <a:p>
            <a:pPr lvl="1" eaLnBrk="1" hangingPunct="1">
              <a:lnSpc>
                <a:spcPct val="80000"/>
              </a:lnSpc>
            </a:pPr>
            <a:r>
              <a:rPr lang="en-US" sz="2000">
                <a:latin typeface="Lucida Sans Unicode" charset="0"/>
                <a:ea typeface="Lucida Sans Unicode" charset="0"/>
                <a:cs typeface="Lucida Sans Unicode" charset="0"/>
              </a:rPr>
              <a:t>Class definitions are executable, allowing secondary definitions to add members to existing definitions</a:t>
            </a:r>
          </a:p>
          <a:p>
            <a:pPr lvl="1" eaLnBrk="1" hangingPunct="1">
              <a:lnSpc>
                <a:spcPct val="80000"/>
              </a:lnSpc>
            </a:pPr>
            <a:r>
              <a:rPr lang="en-US" sz="2000">
                <a:latin typeface="Lucida Sans Unicode" charset="0"/>
                <a:ea typeface="Lucida Sans Unicode" charset="0"/>
                <a:cs typeface="Lucida Sans Unicode" charset="0"/>
              </a:rPr>
              <a:t>Method definitions are also executable</a:t>
            </a:r>
          </a:p>
          <a:p>
            <a:pPr lvl="1" eaLnBrk="1" hangingPunct="1">
              <a:lnSpc>
                <a:spcPct val="80000"/>
              </a:lnSpc>
            </a:pPr>
            <a:r>
              <a:rPr lang="en-US" sz="2000">
                <a:latin typeface="Lucida Sans Unicode" charset="0"/>
                <a:ea typeface="Lucida Sans Unicode" charset="0"/>
                <a:cs typeface="Lucida Sans Unicode" charset="0"/>
              </a:rPr>
              <a:t>All variables are type-less references to objects</a:t>
            </a:r>
          </a:p>
          <a:p>
            <a:pPr lvl="1" eaLnBrk="1" hangingPunct="1">
              <a:lnSpc>
                <a:spcPct val="80000"/>
              </a:lnSpc>
            </a:pPr>
            <a:r>
              <a:rPr lang="en-US" sz="2000">
                <a:latin typeface="Lucida Sans Unicode" charset="0"/>
                <a:ea typeface="Lucida Sans Unicode" charset="0"/>
                <a:cs typeface="Lucida Sans Unicode" charset="0"/>
              </a:rPr>
              <a:t>Access control is different for data and methods</a:t>
            </a:r>
          </a:p>
          <a:p>
            <a:pPr lvl="2" eaLnBrk="1" hangingPunct="1">
              <a:lnSpc>
                <a:spcPct val="80000"/>
              </a:lnSpc>
            </a:pPr>
            <a:r>
              <a:rPr lang="en-US" sz="1700">
                <a:latin typeface="Lucida Sans Unicode" charset="0"/>
                <a:ea typeface="Lucida Sans Unicode" charset="0"/>
                <a:cs typeface="Lucida Sans Unicode" charset="0"/>
              </a:rPr>
              <a:t>It is private for all data and cannot be changed</a:t>
            </a:r>
          </a:p>
          <a:p>
            <a:pPr lvl="2" eaLnBrk="1" hangingPunct="1">
              <a:lnSpc>
                <a:spcPct val="80000"/>
              </a:lnSpc>
            </a:pPr>
            <a:r>
              <a:rPr lang="en-US" sz="1700">
                <a:latin typeface="Lucida Sans Unicode" charset="0"/>
                <a:ea typeface="Lucida Sans Unicode" charset="0"/>
                <a:cs typeface="Lucida Sans Unicode" charset="0"/>
              </a:rPr>
              <a:t>Methods can be either public, private, or</a:t>
            </a:r>
            <a:br>
              <a:rPr lang="en-US" sz="1700">
                <a:latin typeface="Lucida Sans Unicode" charset="0"/>
                <a:ea typeface="Lucida Sans Unicode" charset="0"/>
                <a:cs typeface="Lucida Sans Unicode" charset="0"/>
              </a:rPr>
            </a:br>
            <a:r>
              <a:rPr lang="en-US" sz="1700">
                <a:latin typeface="Lucida Sans Unicode" charset="0"/>
                <a:ea typeface="Lucida Sans Unicode" charset="0"/>
                <a:cs typeface="Lucida Sans Unicode" charset="0"/>
              </a:rPr>
              <a:t> protected</a:t>
            </a:r>
          </a:p>
          <a:p>
            <a:pPr lvl="2" eaLnBrk="1" hangingPunct="1">
              <a:lnSpc>
                <a:spcPct val="80000"/>
              </a:lnSpc>
            </a:pPr>
            <a:r>
              <a:rPr lang="en-US" sz="1700">
                <a:latin typeface="Lucida Sans Unicode" charset="0"/>
                <a:ea typeface="Lucida Sans Unicode" charset="0"/>
                <a:cs typeface="Lucida Sans Unicode" charset="0"/>
              </a:rPr>
              <a:t>Method access is checked at runtime</a:t>
            </a:r>
          </a:p>
          <a:p>
            <a:pPr lvl="1" eaLnBrk="1" hangingPunct="1">
              <a:lnSpc>
                <a:spcPct val="80000"/>
              </a:lnSpc>
            </a:pPr>
            <a:r>
              <a:rPr lang="en-US" sz="2000">
                <a:latin typeface="Lucida Sans Unicode" charset="0"/>
                <a:ea typeface="Lucida Sans Unicode" charset="0"/>
                <a:cs typeface="Lucida Sans Unicode" charset="0"/>
              </a:rPr>
              <a:t>Getters and setters can be defined by shortcuts</a:t>
            </a:r>
          </a:p>
        </p:txBody>
      </p:sp>
    </p:spTree>
    <p:extLst>
      <p:ext uri="{BB962C8B-B14F-4D97-AF65-F5344CB8AC3E}">
        <p14:creationId xmlns:p14="http://schemas.microsoft.com/office/powerpoint/2010/main" val="7248084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349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E298EF56-5A11-3542-8695-79AD81DAC89D}" type="slidenum">
              <a:rPr lang="en-US" sz="1000">
                <a:latin typeface="Arial" charset="0"/>
              </a:rPr>
              <a:pPr/>
              <a:t>52</a:t>
            </a:fld>
            <a:endParaRPr lang="en-US" sz="1000">
              <a:latin typeface="Arial" charset="0"/>
            </a:endParaRPr>
          </a:p>
        </p:txBody>
      </p:sp>
      <p:sp>
        <p:nvSpPr>
          <p:cNvPr id="63492" name="Rectangle 2"/>
          <p:cNvSpPr>
            <a:spLocks noGrp="1" noChangeArrowheads="1"/>
          </p:cNvSpPr>
          <p:nvPr>
            <p:ph type="title"/>
          </p:nvPr>
        </p:nvSpPr>
        <p:spPr/>
        <p:txBody>
          <a:bodyPr/>
          <a:lstStyle/>
          <a:p>
            <a:pPr eaLnBrk="1" hangingPunct="1"/>
            <a:r>
              <a:rPr lang="en-US">
                <a:latin typeface="Lucida Sans Unicode" charset="0"/>
                <a:cs typeface="Lucida Sans Unicode" charset="0"/>
              </a:rPr>
              <a:t>Support for OOP in Ruby </a:t>
            </a:r>
            <a:r>
              <a:rPr lang="en-US" sz="2400">
                <a:latin typeface="Lucida Sans Unicode" charset="0"/>
                <a:cs typeface="Lucida Sans Unicode" charset="0"/>
              </a:rPr>
              <a:t>(continued)</a:t>
            </a:r>
          </a:p>
        </p:txBody>
      </p:sp>
      <p:sp>
        <p:nvSpPr>
          <p:cNvPr id="63493" name="Rectangle 3"/>
          <p:cNvSpPr>
            <a:spLocks noGrp="1" noChangeArrowheads="1"/>
          </p:cNvSpPr>
          <p:nvPr>
            <p:ph type="body" idx="1"/>
          </p:nvPr>
        </p:nvSpPr>
        <p:spPr>
          <a:xfrm>
            <a:off x="609600" y="1447800"/>
            <a:ext cx="8153400" cy="4724400"/>
          </a:xfrm>
        </p:spPr>
        <p:txBody>
          <a:bodyPr/>
          <a:lstStyle/>
          <a:p>
            <a:pPr eaLnBrk="1" hangingPunct="1">
              <a:lnSpc>
                <a:spcPct val="80000"/>
              </a:lnSpc>
            </a:pPr>
            <a:r>
              <a:rPr lang="en-US">
                <a:latin typeface="Lucida Sans Unicode" charset="0"/>
                <a:cs typeface="Lucida Sans Unicode" charset="0"/>
              </a:rPr>
              <a:t>Inheritance</a:t>
            </a:r>
          </a:p>
          <a:p>
            <a:pPr lvl="1" eaLnBrk="1" hangingPunct="1">
              <a:lnSpc>
                <a:spcPct val="80000"/>
              </a:lnSpc>
            </a:pPr>
            <a:r>
              <a:rPr lang="en-US">
                <a:latin typeface="Lucida Sans Unicode" charset="0"/>
                <a:ea typeface="Lucida Sans Unicode" charset="0"/>
                <a:cs typeface="Lucida Sans Unicode" charset="0"/>
              </a:rPr>
              <a:t>Access control to inherited methods can be different than in the parent class</a:t>
            </a:r>
          </a:p>
          <a:p>
            <a:pPr lvl="1" eaLnBrk="1" hangingPunct="1">
              <a:lnSpc>
                <a:spcPct val="80000"/>
              </a:lnSpc>
            </a:pPr>
            <a:r>
              <a:rPr lang="en-US">
                <a:latin typeface="Lucida Sans Unicode" charset="0"/>
                <a:ea typeface="Lucida Sans Unicode" charset="0"/>
                <a:cs typeface="Lucida Sans Unicode" charset="0"/>
              </a:rPr>
              <a:t>Subclasses are not necessarily subtypes</a:t>
            </a:r>
          </a:p>
          <a:p>
            <a:pPr lvl="1" eaLnBrk="1" hangingPunct="1">
              <a:lnSpc>
                <a:spcPct val="80000"/>
              </a:lnSpc>
            </a:pPr>
            <a:r>
              <a:rPr lang="en-US">
                <a:latin typeface="Lucida Sans Unicode" charset="0"/>
                <a:ea typeface="Lucida Sans Unicode" charset="0"/>
                <a:cs typeface="Lucida Sans Unicode" charset="0"/>
              </a:rPr>
              <a:t>Mixins can be created with modules,</a:t>
            </a:r>
            <a:br>
              <a:rPr lang="en-US">
                <a:latin typeface="Lucida Sans Unicode" charset="0"/>
                <a:ea typeface="Lucida Sans Unicode" charset="0"/>
                <a:cs typeface="Lucida Sans Unicode" charset="0"/>
              </a:rPr>
            </a:br>
            <a:r>
              <a:rPr lang="en-US">
                <a:latin typeface="Lucida Sans Unicode" charset="0"/>
                <a:ea typeface="Lucida Sans Unicode" charset="0"/>
                <a:cs typeface="Lucida Sans Unicode" charset="0"/>
              </a:rPr>
              <a:t>providing a kind of multiple inheritance</a:t>
            </a:r>
          </a:p>
          <a:p>
            <a:pPr eaLnBrk="1" hangingPunct="1">
              <a:lnSpc>
                <a:spcPct val="80000"/>
              </a:lnSpc>
            </a:pPr>
            <a:r>
              <a:rPr lang="en-US">
                <a:latin typeface="Lucida Sans Unicode" charset="0"/>
                <a:cs typeface="Lucida Sans Unicode" charset="0"/>
              </a:rPr>
              <a:t>Dynamic Binding</a:t>
            </a:r>
            <a:endParaRPr lang="en-US" sz="2400">
              <a:latin typeface="Lucida Sans Unicode" charset="0"/>
              <a:cs typeface="Lucida Sans Unicode" charset="0"/>
            </a:endParaRPr>
          </a:p>
          <a:p>
            <a:pPr lvl="1" eaLnBrk="1" hangingPunct="1">
              <a:lnSpc>
                <a:spcPct val="80000"/>
              </a:lnSpc>
            </a:pPr>
            <a:r>
              <a:rPr lang="en-US">
                <a:latin typeface="Lucida Sans Unicode" charset="0"/>
                <a:ea typeface="Lucida Sans Unicode" charset="0"/>
                <a:cs typeface="Lucida Sans Unicode" charset="0"/>
              </a:rPr>
              <a:t>All variables are typeless and polymorphic</a:t>
            </a:r>
          </a:p>
          <a:p>
            <a:pPr eaLnBrk="1" hangingPunct="1">
              <a:lnSpc>
                <a:spcPct val="80000"/>
              </a:lnSpc>
            </a:pPr>
            <a:r>
              <a:rPr lang="en-US">
                <a:latin typeface="Lucida Sans Unicode" charset="0"/>
                <a:cs typeface="Lucida Sans Unicode" charset="0"/>
              </a:rPr>
              <a:t>Evaluation</a:t>
            </a:r>
            <a:endParaRPr lang="en-US" sz="2400">
              <a:latin typeface="Lucida Sans Unicode" charset="0"/>
              <a:cs typeface="Lucida Sans Unicode" charset="0"/>
            </a:endParaRPr>
          </a:p>
          <a:p>
            <a:pPr lvl="1" eaLnBrk="1" hangingPunct="1">
              <a:lnSpc>
                <a:spcPct val="80000"/>
              </a:lnSpc>
            </a:pPr>
            <a:r>
              <a:rPr lang="en-US">
                <a:latin typeface="Lucida Sans Unicode" charset="0"/>
                <a:ea typeface="Lucida Sans Unicode" charset="0"/>
                <a:cs typeface="Lucida Sans Unicode" charset="0"/>
              </a:rPr>
              <a:t>Does not support abstract classes</a:t>
            </a:r>
          </a:p>
          <a:p>
            <a:pPr lvl="1" eaLnBrk="1" hangingPunct="1">
              <a:lnSpc>
                <a:spcPct val="80000"/>
              </a:lnSpc>
            </a:pPr>
            <a:r>
              <a:rPr lang="en-US">
                <a:latin typeface="Lucida Sans Unicode" charset="0"/>
                <a:ea typeface="Lucida Sans Unicode" charset="0"/>
                <a:cs typeface="Lucida Sans Unicode" charset="0"/>
              </a:rPr>
              <a:t>Does not fully support multiple inheritance</a:t>
            </a:r>
          </a:p>
          <a:p>
            <a:pPr lvl="1" eaLnBrk="1" hangingPunct="1">
              <a:lnSpc>
                <a:spcPct val="80000"/>
              </a:lnSpc>
            </a:pPr>
            <a:r>
              <a:rPr lang="en-US">
                <a:latin typeface="Lucida Sans Unicode" charset="0"/>
                <a:ea typeface="Lucida Sans Unicode" charset="0"/>
                <a:cs typeface="Lucida Sans Unicode" charset="0"/>
              </a:rPr>
              <a:t>Access controls are weaker than those of other</a:t>
            </a:r>
            <a:br>
              <a:rPr lang="en-US">
                <a:latin typeface="Lucida Sans Unicode" charset="0"/>
                <a:ea typeface="Lucida Sans Unicode" charset="0"/>
                <a:cs typeface="Lucida Sans Unicode" charset="0"/>
              </a:rPr>
            </a:br>
            <a:r>
              <a:rPr lang="en-US">
                <a:latin typeface="Lucida Sans Unicode" charset="0"/>
                <a:ea typeface="Lucida Sans Unicode" charset="0"/>
                <a:cs typeface="Lucida Sans Unicode" charset="0"/>
              </a:rPr>
              <a:t>languages that support OOP</a:t>
            </a:r>
          </a:p>
        </p:txBody>
      </p:sp>
    </p:spTree>
    <p:extLst>
      <p:ext uri="{BB962C8B-B14F-4D97-AF65-F5344CB8AC3E}">
        <p14:creationId xmlns:p14="http://schemas.microsoft.com/office/powerpoint/2010/main" val="2315825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451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76C4B467-14E5-744C-A09F-C77F23A6705A}" type="slidenum">
              <a:rPr lang="en-US" sz="1000">
                <a:latin typeface="Arial" charset="0"/>
              </a:rPr>
              <a:pPr/>
              <a:t>53</a:t>
            </a:fld>
            <a:endParaRPr lang="en-US" sz="1000">
              <a:latin typeface="Arial" charset="0"/>
            </a:endParaRPr>
          </a:p>
        </p:txBody>
      </p:sp>
      <p:sp>
        <p:nvSpPr>
          <p:cNvPr id="64516" name="Rectangle 2"/>
          <p:cNvSpPr>
            <a:spLocks noGrp="1" noChangeArrowheads="1"/>
          </p:cNvSpPr>
          <p:nvPr>
            <p:ph type="title"/>
          </p:nvPr>
        </p:nvSpPr>
        <p:spPr/>
        <p:txBody>
          <a:bodyPr/>
          <a:lstStyle/>
          <a:p>
            <a:pPr eaLnBrk="1" hangingPunct="1"/>
            <a:r>
              <a:rPr lang="en-US">
                <a:latin typeface="Lucida Sans Unicode" charset="0"/>
                <a:cs typeface="Lucida Sans Unicode" charset="0"/>
              </a:rPr>
              <a:t>Implementing OO Constructs</a:t>
            </a:r>
          </a:p>
        </p:txBody>
      </p:sp>
      <p:sp>
        <p:nvSpPr>
          <p:cNvPr id="64517"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Two interesting and challenging parts</a:t>
            </a:r>
          </a:p>
          <a:p>
            <a:pPr lvl="1" eaLnBrk="1" hangingPunct="1"/>
            <a:r>
              <a:rPr lang="en-US">
                <a:latin typeface="Lucida Sans Unicode" charset="0"/>
                <a:ea typeface="Lucida Sans Unicode" charset="0"/>
                <a:cs typeface="Lucida Sans Unicode" charset="0"/>
              </a:rPr>
              <a:t>Storage structures for instance variables</a:t>
            </a:r>
          </a:p>
          <a:p>
            <a:pPr lvl="1" eaLnBrk="1" hangingPunct="1"/>
            <a:r>
              <a:rPr lang="en-US">
                <a:latin typeface="Lucida Sans Unicode" charset="0"/>
                <a:ea typeface="Lucida Sans Unicode" charset="0"/>
                <a:cs typeface="Lucida Sans Unicode" charset="0"/>
              </a:rPr>
              <a:t>Dynamic binding of messages to methods</a:t>
            </a:r>
          </a:p>
        </p:txBody>
      </p:sp>
    </p:spTree>
    <p:extLst>
      <p:ext uri="{BB962C8B-B14F-4D97-AF65-F5344CB8AC3E}">
        <p14:creationId xmlns:p14="http://schemas.microsoft.com/office/powerpoint/2010/main" val="18152895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553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770C1DF9-AD4B-EA43-B68D-3C3CC26AF0A0}" type="slidenum">
              <a:rPr lang="en-US" sz="1000">
                <a:latin typeface="Arial" charset="0"/>
              </a:rPr>
              <a:pPr/>
              <a:t>54</a:t>
            </a:fld>
            <a:endParaRPr lang="en-US" sz="1000">
              <a:latin typeface="Arial" charset="0"/>
            </a:endParaRPr>
          </a:p>
        </p:txBody>
      </p:sp>
      <p:sp>
        <p:nvSpPr>
          <p:cNvPr id="65540" name="Rectangle 2"/>
          <p:cNvSpPr>
            <a:spLocks noGrp="1" noChangeArrowheads="1"/>
          </p:cNvSpPr>
          <p:nvPr>
            <p:ph type="title"/>
          </p:nvPr>
        </p:nvSpPr>
        <p:spPr/>
        <p:txBody>
          <a:bodyPr/>
          <a:lstStyle/>
          <a:p>
            <a:pPr eaLnBrk="1" hangingPunct="1"/>
            <a:r>
              <a:rPr lang="en-US">
                <a:latin typeface="Lucida Sans Unicode" charset="0"/>
                <a:cs typeface="Lucida Sans Unicode" charset="0"/>
              </a:rPr>
              <a:t>Instance Data Storage</a:t>
            </a:r>
          </a:p>
        </p:txBody>
      </p:sp>
      <p:sp>
        <p:nvSpPr>
          <p:cNvPr id="65541"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Class instance records (CIRs) store the state of an object</a:t>
            </a:r>
          </a:p>
          <a:p>
            <a:pPr lvl="1" eaLnBrk="1" hangingPunct="1"/>
            <a:r>
              <a:rPr lang="en-US">
                <a:latin typeface="Lucida Sans Unicode" charset="0"/>
                <a:ea typeface="Lucida Sans Unicode" charset="0"/>
                <a:cs typeface="Lucida Sans Unicode" charset="0"/>
              </a:rPr>
              <a:t>Static (built at compile time)</a:t>
            </a:r>
          </a:p>
          <a:p>
            <a:pPr eaLnBrk="1" hangingPunct="1"/>
            <a:r>
              <a:rPr lang="en-US">
                <a:latin typeface="Lucida Sans Unicode" charset="0"/>
                <a:cs typeface="Lucida Sans Unicode" charset="0"/>
              </a:rPr>
              <a:t>If a class has a parent, the subclass instance variables are added to the parent CIR</a:t>
            </a:r>
          </a:p>
          <a:p>
            <a:pPr eaLnBrk="1" hangingPunct="1"/>
            <a:r>
              <a:rPr lang="en-US">
                <a:latin typeface="Lucida Sans Unicode" charset="0"/>
                <a:cs typeface="Lucida Sans Unicode" charset="0"/>
              </a:rPr>
              <a:t>Because CIR is static, access to all instance variables is done as it is in records</a:t>
            </a:r>
          </a:p>
          <a:p>
            <a:pPr lvl="1" eaLnBrk="1" hangingPunct="1"/>
            <a:r>
              <a:rPr lang="en-US">
                <a:latin typeface="Lucida Sans Unicode" charset="0"/>
                <a:ea typeface="Lucida Sans Unicode" charset="0"/>
                <a:cs typeface="Lucida Sans Unicode" charset="0"/>
              </a:rPr>
              <a:t>Efficient</a:t>
            </a:r>
          </a:p>
          <a:p>
            <a:pPr eaLnBrk="1" hangingPunct="1"/>
            <a:endParaRPr lang="en-US">
              <a:latin typeface="Lucida Sans Unicode" charset="0"/>
              <a:cs typeface="Lucida Sans Unicode" charset="0"/>
            </a:endParaRPr>
          </a:p>
        </p:txBody>
      </p:sp>
    </p:spTree>
    <p:extLst>
      <p:ext uri="{BB962C8B-B14F-4D97-AF65-F5344CB8AC3E}">
        <p14:creationId xmlns:p14="http://schemas.microsoft.com/office/powerpoint/2010/main" val="7179485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656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445DE23D-A1CD-2B4C-9B6C-450A71A450B2}" type="slidenum">
              <a:rPr lang="en-US" sz="1000">
                <a:latin typeface="Arial" charset="0"/>
              </a:rPr>
              <a:pPr/>
              <a:t>55</a:t>
            </a:fld>
            <a:endParaRPr lang="en-US" sz="1000">
              <a:latin typeface="Arial" charset="0"/>
            </a:endParaRPr>
          </a:p>
        </p:txBody>
      </p:sp>
      <p:sp>
        <p:nvSpPr>
          <p:cNvPr id="66564" name="Rectangle 2"/>
          <p:cNvSpPr>
            <a:spLocks noGrp="1" noChangeArrowheads="1"/>
          </p:cNvSpPr>
          <p:nvPr>
            <p:ph type="title"/>
          </p:nvPr>
        </p:nvSpPr>
        <p:spPr/>
        <p:txBody>
          <a:bodyPr/>
          <a:lstStyle/>
          <a:p>
            <a:pPr eaLnBrk="1" hangingPunct="1"/>
            <a:r>
              <a:rPr lang="en-US">
                <a:latin typeface="Lucida Sans Unicode" charset="0"/>
                <a:cs typeface="Lucida Sans Unicode" charset="0"/>
              </a:rPr>
              <a:t>Dynamic Binding of Methods Calls</a:t>
            </a:r>
          </a:p>
        </p:txBody>
      </p:sp>
      <p:sp>
        <p:nvSpPr>
          <p:cNvPr id="66565" name="Rectangle 3"/>
          <p:cNvSpPr>
            <a:spLocks noGrp="1" noChangeArrowheads="1"/>
          </p:cNvSpPr>
          <p:nvPr>
            <p:ph type="body" idx="1"/>
          </p:nvPr>
        </p:nvSpPr>
        <p:spPr/>
        <p:txBody>
          <a:bodyPr/>
          <a:lstStyle/>
          <a:p>
            <a:pPr eaLnBrk="1" hangingPunct="1">
              <a:lnSpc>
                <a:spcPct val="90000"/>
              </a:lnSpc>
            </a:pPr>
            <a:r>
              <a:rPr lang="en-US">
                <a:latin typeface="Lucida Sans Unicode" charset="0"/>
                <a:cs typeface="Lucida Sans Unicode" charset="0"/>
              </a:rPr>
              <a:t>Methods in a class that are statically bound need not be involved in the CIR; methods that will be dynamically bound must have entries in the CIR</a:t>
            </a:r>
          </a:p>
          <a:p>
            <a:pPr lvl="1" eaLnBrk="1" hangingPunct="1">
              <a:lnSpc>
                <a:spcPct val="90000"/>
              </a:lnSpc>
            </a:pPr>
            <a:r>
              <a:rPr lang="en-US">
                <a:latin typeface="Lucida Sans Unicode" charset="0"/>
                <a:ea typeface="Lucida Sans Unicode" charset="0"/>
                <a:cs typeface="Lucida Sans Unicode" charset="0"/>
              </a:rPr>
              <a:t>Calls to dynamically bound methods can be connected to the corresponding code thru a pointer in the CIR</a:t>
            </a:r>
          </a:p>
          <a:p>
            <a:pPr lvl="1" eaLnBrk="1" hangingPunct="1">
              <a:lnSpc>
                <a:spcPct val="90000"/>
              </a:lnSpc>
            </a:pPr>
            <a:r>
              <a:rPr lang="en-US">
                <a:latin typeface="Lucida Sans Unicode" charset="0"/>
                <a:ea typeface="Lucida Sans Unicode" charset="0"/>
                <a:cs typeface="Lucida Sans Unicode" charset="0"/>
              </a:rPr>
              <a:t>The storage structure is sometimes called </a:t>
            </a:r>
            <a:r>
              <a:rPr lang="en-US" i="1">
                <a:latin typeface="Lucida Sans Unicode" charset="0"/>
                <a:ea typeface="Lucida Sans Unicode" charset="0"/>
                <a:cs typeface="Lucida Sans Unicode" charset="0"/>
              </a:rPr>
              <a:t>virtual method tables</a:t>
            </a:r>
            <a:r>
              <a:rPr lang="en-US">
                <a:latin typeface="Lucida Sans Unicode" charset="0"/>
                <a:ea typeface="Lucida Sans Unicode" charset="0"/>
                <a:cs typeface="Lucida Sans Unicode" charset="0"/>
              </a:rPr>
              <a:t>  (vtable)</a:t>
            </a:r>
          </a:p>
          <a:p>
            <a:pPr lvl="1" eaLnBrk="1" hangingPunct="1">
              <a:lnSpc>
                <a:spcPct val="90000"/>
              </a:lnSpc>
            </a:pPr>
            <a:r>
              <a:rPr lang="en-US">
                <a:latin typeface="Lucida Sans Unicode" charset="0"/>
                <a:ea typeface="Lucida Sans Unicode" charset="0"/>
                <a:cs typeface="Lucida Sans Unicode" charset="0"/>
              </a:rPr>
              <a:t>Method calls can be represented as offsets from the beginning of the vtable</a:t>
            </a:r>
          </a:p>
        </p:txBody>
      </p:sp>
    </p:spTree>
    <p:extLst>
      <p:ext uri="{BB962C8B-B14F-4D97-AF65-F5344CB8AC3E}">
        <p14:creationId xmlns:p14="http://schemas.microsoft.com/office/powerpoint/2010/main" val="13320582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758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ACB25E44-BE0C-6946-8D8C-E69EC416D9E5}" type="slidenum">
              <a:rPr lang="en-US" sz="1000">
                <a:latin typeface="Arial" charset="0"/>
              </a:rPr>
              <a:pPr/>
              <a:t>56</a:t>
            </a:fld>
            <a:endParaRPr lang="en-US" sz="1000">
              <a:latin typeface="Arial" charset="0"/>
            </a:endParaRPr>
          </a:p>
        </p:txBody>
      </p:sp>
      <p:sp>
        <p:nvSpPr>
          <p:cNvPr id="67588" name="Rectangle 2"/>
          <p:cNvSpPr>
            <a:spLocks noGrp="1" noChangeArrowheads="1"/>
          </p:cNvSpPr>
          <p:nvPr>
            <p:ph type="title"/>
          </p:nvPr>
        </p:nvSpPr>
        <p:spPr/>
        <p:txBody>
          <a:bodyPr/>
          <a:lstStyle/>
          <a:p>
            <a:pPr eaLnBrk="1" hangingPunct="1"/>
            <a:r>
              <a:rPr lang="en-US">
                <a:latin typeface="Lucida Sans Unicode" charset="0"/>
                <a:cs typeface="Lucida Sans Unicode" charset="0"/>
              </a:rPr>
              <a:t>Summary</a:t>
            </a:r>
          </a:p>
        </p:txBody>
      </p:sp>
      <p:sp>
        <p:nvSpPr>
          <p:cNvPr id="67589" name="Rectangle 3"/>
          <p:cNvSpPr>
            <a:spLocks noGrp="1" noChangeArrowheads="1"/>
          </p:cNvSpPr>
          <p:nvPr>
            <p:ph type="body" idx="1"/>
          </p:nvPr>
        </p:nvSpPr>
        <p:spPr/>
        <p:txBody>
          <a:bodyPr/>
          <a:lstStyle/>
          <a:p>
            <a:pPr eaLnBrk="1" hangingPunct="1">
              <a:lnSpc>
                <a:spcPct val="80000"/>
              </a:lnSpc>
            </a:pPr>
            <a:r>
              <a:rPr lang="en-US" sz="2000">
                <a:latin typeface="Lucida Sans Unicode" charset="0"/>
                <a:cs typeface="Lucida Sans Unicode" charset="0"/>
              </a:rPr>
              <a:t>OO programming involves three fundamental concepts: ADTs, inheritance, dynamic binding</a:t>
            </a:r>
          </a:p>
          <a:p>
            <a:pPr eaLnBrk="1" hangingPunct="1">
              <a:lnSpc>
                <a:spcPct val="80000"/>
              </a:lnSpc>
            </a:pPr>
            <a:r>
              <a:rPr lang="en-US" sz="2000">
                <a:latin typeface="Lucida Sans Unicode" charset="0"/>
                <a:cs typeface="Lucida Sans Unicode" charset="0"/>
              </a:rPr>
              <a:t>Major design issues: exclusivity of objects, subclasses and subtypes, type checking and polymorphism, single and multiple inheritance, dynamic binding, explicit and implicit de-allocation of objects, and nested classes</a:t>
            </a:r>
          </a:p>
          <a:p>
            <a:pPr eaLnBrk="1" hangingPunct="1">
              <a:lnSpc>
                <a:spcPct val="80000"/>
              </a:lnSpc>
            </a:pPr>
            <a:r>
              <a:rPr lang="en-US" sz="2000">
                <a:latin typeface="Lucida Sans Unicode" charset="0"/>
                <a:cs typeface="Lucida Sans Unicode" charset="0"/>
              </a:rPr>
              <a:t>Smalltalk is a pure OOL</a:t>
            </a:r>
          </a:p>
          <a:p>
            <a:pPr eaLnBrk="1" hangingPunct="1">
              <a:lnSpc>
                <a:spcPct val="80000"/>
              </a:lnSpc>
            </a:pPr>
            <a:r>
              <a:rPr lang="en-US" sz="2000">
                <a:latin typeface="Lucida Sans Unicode" charset="0"/>
                <a:cs typeface="Lucida Sans Unicode" charset="0"/>
              </a:rPr>
              <a:t>C++ has two distinct type systems (hybrid)</a:t>
            </a:r>
          </a:p>
          <a:p>
            <a:pPr eaLnBrk="1" hangingPunct="1">
              <a:lnSpc>
                <a:spcPct val="80000"/>
              </a:lnSpc>
            </a:pPr>
            <a:r>
              <a:rPr lang="en-US" sz="2000">
                <a:latin typeface="Lucida Sans Unicode" charset="0"/>
                <a:cs typeface="Lucida Sans Unicode" charset="0"/>
              </a:rPr>
              <a:t>Java is not a hybrid language like C++; it supports only OOP</a:t>
            </a:r>
          </a:p>
          <a:p>
            <a:pPr eaLnBrk="1" hangingPunct="1">
              <a:lnSpc>
                <a:spcPct val="80000"/>
              </a:lnSpc>
            </a:pPr>
            <a:r>
              <a:rPr lang="en-US" sz="2000">
                <a:latin typeface="Lucida Sans Unicode" charset="0"/>
                <a:cs typeface="Lucida Sans Unicode" charset="0"/>
              </a:rPr>
              <a:t>C# is based on C++ and Java</a:t>
            </a:r>
          </a:p>
          <a:p>
            <a:pPr eaLnBrk="1" hangingPunct="1">
              <a:lnSpc>
                <a:spcPct val="80000"/>
              </a:lnSpc>
            </a:pPr>
            <a:r>
              <a:rPr lang="en-US" sz="2000">
                <a:latin typeface="Lucida Sans Unicode" charset="0"/>
                <a:cs typeface="Lucida Sans Unicode" charset="0"/>
              </a:rPr>
              <a:t>Ruby is a relatively recent pure OOP language; provides some new ideas in support for OOP</a:t>
            </a:r>
          </a:p>
          <a:p>
            <a:pPr eaLnBrk="1" hangingPunct="1">
              <a:lnSpc>
                <a:spcPct val="80000"/>
              </a:lnSpc>
            </a:pPr>
            <a:r>
              <a:rPr lang="en-US" sz="2000">
                <a:latin typeface="Lucida Sans Unicode" charset="0"/>
                <a:cs typeface="Lucida Sans Unicode" charset="0"/>
              </a:rPr>
              <a:t>Implementing OOP involves some new data structures</a:t>
            </a:r>
          </a:p>
        </p:txBody>
      </p:sp>
    </p:spTree>
    <p:extLst>
      <p:ext uri="{BB962C8B-B14F-4D97-AF65-F5344CB8AC3E}">
        <p14:creationId xmlns:p14="http://schemas.microsoft.com/office/powerpoint/2010/main" val="3978388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p:txBody>
          <a:bodyPr/>
          <a:lstStyle/>
          <a:p>
            <a:pPr eaLnBrk="1" hangingPunct="1"/>
            <a:r>
              <a:rPr lang="en-US">
                <a:latin typeface="Lucida Sans Unicode" charset="0"/>
                <a:cs typeface="Lucida Sans Unicode" charset="0"/>
              </a:rPr>
              <a:t>Chapter 13</a:t>
            </a:r>
          </a:p>
        </p:txBody>
      </p:sp>
      <p:sp>
        <p:nvSpPr>
          <p:cNvPr id="3075" name="Rectangle 5"/>
          <p:cNvSpPr>
            <a:spLocks noGrp="1" noChangeArrowheads="1"/>
          </p:cNvSpPr>
          <p:nvPr>
            <p:ph type="subTitle" idx="1"/>
          </p:nvPr>
        </p:nvSpPr>
        <p:spPr/>
        <p:txBody>
          <a:bodyPr/>
          <a:lstStyle/>
          <a:p>
            <a:pPr eaLnBrk="1" hangingPunct="1"/>
            <a:r>
              <a:rPr lang="en-US">
                <a:latin typeface="Lucida Sans Unicode" charset="0"/>
                <a:cs typeface="Lucida Sans Unicode" charset="0"/>
              </a:rPr>
              <a:t>Concurrency</a:t>
            </a:r>
          </a:p>
        </p:txBody>
      </p:sp>
    </p:spTree>
    <p:extLst>
      <p:ext uri="{BB962C8B-B14F-4D97-AF65-F5344CB8AC3E}">
        <p14:creationId xmlns:p14="http://schemas.microsoft.com/office/powerpoint/2010/main" val="5564029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p:cNvSpPr>
            <a:spLocks noGrp="1"/>
          </p:cNvSpPr>
          <p:nvPr>
            <p:ph type="sldNum" sz="quarter" idx="4"/>
          </p:nvPr>
        </p:nvSpPr>
        <p:spPr/>
        <p:txBody>
          <a:bodyPr/>
          <a:lstStyle/>
          <a:p>
            <a:fld id="{1DAD25AC-3D36-459B-92CD-44DA3A629171}" type="slidenum">
              <a:rPr lang="nl-NL" smtClean="0"/>
              <a:pPr/>
              <a:t>58</a:t>
            </a:fld>
            <a:endParaRPr lang="nl-NL" dirty="0"/>
          </a:p>
        </p:txBody>
      </p:sp>
      <p:pic>
        <p:nvPicPr>
          <p:cNvPr id="6" name="Tijdelijke aanduiding voor inhoud 5"/>
          <p:cNvPicPr>
            <a:picLocks noGrp="1" noChangeAspect="1"/>
          </p:cNvPicPr>
          <p:nvPr>
            <p:ph idx="1"/>
          </p:nvPr>
        </p:nvPicPr>
        <p:blipFill>
          <a:blip r:embed="rId2"/>
          <a:srcRect l="-26701" r="-26701"/>
          <a:stretch>
            <a:fillRect/>
          </a:stretch>
        </p:blipFill>
        <p:spPr>
          <a:xfrm>
            <a:off x="590550" y="1279525"/>
            <a:ext cx="8229600" cy="4310063"/>
          </a:xfrm>
        </p:spPr>
      </p:pic>
      <p:sp>
        <p:nvSpPr>
          <p:cNvPr id="4" name="Tijdelijke aanduiding voor voettekst 3"/>
          <p:cNvSpPr>
            <a:spLocks noGrp="1"/>
          </p:cNvSpPr>
          <p:nvPr>
            <p:ph type="ftr" sz="quarter" idx="11"/>
          </p:nvPr>
        </p:nvSpPr>
        <p:spPr/>
        <p:txBody>
          <a:bodyPr/>
          <a:lstStyle/>
          <a:p>
            <a:endParaRPr lang="nl-NL" dirty="0"/>
          </a:p>
        </p:txBody>
      </p:sp>
      <p:sp>
        <p:nvSpPr>
          <p:cNvPr id="5" name="Titel 4"/>
          <p:cNvSpPr>
            <a:spLocks noGrp="1"/>
          </p:cNvSpPr>
          <p:nvPr>
            <p:ph type="title"/>
          </p:nvPr>
        </p:nvSpPr>
        <p:spPr/>
        <p:txBody>
          <a:bodyPr/>
          <a:lstStyle/>
          <a:p>
            <a:r>
              <a:rPr lang="nl-NL" dirty="0"/>
              <a:t>CPU </a:t>
            </a:r>
            <a:r>
              <a:rPr lang="nl-NL" dirty="0" err="1"/>
              <a:t>and</a:t>
            </a:r>
            <a:r>
              <a:rPr lang="nl-NL" dirty="0"/>
              <a:t> </a:t>
            </a:r>
            <a:r>
              <a:rPr lang="nl-NL" dirty="0" err="1"/>
              <a:t>Fetch-execute</a:t>
            </a:r>
            <a:r>
              <a:rPr lang="nl-NL" dirty="0"/>
              <a:t> </a:t>
            </a:r>
            <a:r>
              <a:rPr lang="nl-NL" dirty="0" err="1"/>
              <a:t>cycle</a:t>
            </a:r>
            <a:endParaRPr lang="nl-NL" dirty="0"/>
          </a:p>
        </p:txBody>
      </p:sp>
    </p:spTree>
    <p:extLst>
      <p:ext uri="{BB962C8B-B14F-4D97-AF65-F5344CB8AC3E}">
        <p14:creationId xmlns:p14="http://schemas.microsoft.com/office/powerpoint/2010/main" val="42850018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409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88DB8739-0F6C-474A-B011-7902B428771F}" type="slidenum">
              <a:rPr lang="en-US" sz="1000">
                <a:latin typeface="Arial" charset="0"/>
              </a:rPr>
              <a:pPr/>
              <a:t>59</a:t>
            </a:fld>
            <a:endParaRPr lang="en-US" sz="1000">
              <a:latin typeface="Arial" charset="0"/>
            </a:endParaRPr>
          </a:p>
        </p:txBody>
      </p:sp>
      <p:sp>
        <p:nvSpPr>
          <p:cNvPr id="4100" name="Rectangle 2"/>
          <p:cNvSpPr>
            <a:spLocks noGrp="1" noChangeArrowheads="1"/>
          </p:cNvSpPr>
          <p:nvPr>
            <p:ph type="title"/>
          </p:nvPr>
        </p:nvSpPr>
        <p:spPr/>
        <p:txBody>
          <a:bodyPr/>
          <a:lstStyle/>
          <a:p>
            <a:pPr eaLnBrk="1" hangingPunct="1"/>
            <a:r>
              <a:rPr lang="en-US">
                <a:latin typeface="Lucida Sans Unicode" charset="0"/>
                <a:cs typeface="Lucida Sans Unicode" charset="0"/>
              </a:rPr>
              <a:t>Chapter 13 Topics</a:t>
            </a:r>
          </a:p>
        </p:txBody>
      </p:sp>
      <p:sp>
        <p:nvSpPr>
          <p:cNvPr id="4101" name="Rectangle 3"/>
          <p:cNvSpPr>
            <a:spLocks noGrp="1" noChangeArrowheads="1"/>
          </p:cNvSpPr>
          <p:nvPr>
            <p:ph type="body" idx="1"/>
          </p:nvPr>
        </p:nvSpPr>
        <p:spPr>
          <a:xfrm>
            <a:off x="533400" y="1371600"/>
            <a:ext cx="8305800" cy="4572000"/>
          </a:xfrm>
        </p:spPr>
        <p:txBody>
          <a:bodyPr/>
          <a:lstStyle/>
          <a:p>
            <a:pPr eaLnBrk="1" hangingPunct="1"/>
            <a:r>
              <a:rPr lang="en-US" sz="2400">
                <a:latin typeface="Lucida Sans Unicode" charset="0"/>
                <a:cs typeface="Lucida Sans Unicode" charset="0"/>
              </a:rPr>
              <a:t>Introduction</a:t>
            </a:r>
          </a:p>
          <a:p>
            <a:pPr eaLnBrk="1" hangingPunct="1"/>
            <a:r>
              <a:rPr lang="en-US" sz="2400">
                <a:latin typeface="Lucida Sans Unicode" charset="0"/>
                <a:cs typeface="Lucida Sans Unicode" charset="0"/>
              </a:rPr>
              <a:t>Introduction to Subprogram-Level Concurrency</a:t>
            </a:r>
          </a:p>
          <a:p>
            <a:pPr eaLnBrk="1" hangingPunct="1"/>
            <a:r>
              <a:rPr lang="en-US" sz="2400">
                <a:latin typeface="Lucida Sans Unicode" charset="0"/>
                <a:cs typeface="Lucida Sans Unicode" charset="0"/>
              </a:rPr>
              <a:t>Semaphores</a:t>
            </a:r>
          </a:p>
          <a:p>
            <a:pPr eaLnBrk="1" hangingPunct="1"/>
            <a:r>
              <a:rPr lang="en-US" sz="2400">
                <a:latin typeface="Lucida Sans Unicode" charset="0"/>
                <a:cs typeface="Lucida Sans Unicode" charset="0"/>
              </a:rPr>
              <a:t>Monitors</a:t>
            </a:r>
          </a:p>
          <a:p>
            <a:pPr eaLnBrk="1" hangingPunct="1"/>
            <a:r>
              <a:rPr lang="en-US" sz="2400">
                <a:latin typeface="Lucida Sans Unicode" charset="0"/>
                <a:cs typeface="Lucida Sans Unicode" charset="0"/>
              </a:rPr>
              <a:t>Message Passing</a:t>
            </a:r>
          </a:p>
          <a:p>
            <a:pPr eaLnBrk="1" hangingPunct="1"/>
            <a:r>
              <a:rPr lang="en-US" sz="2400">
                <a:latin typeface="Lucida Sans Unicode" charset="0"/>
                <a:cs typeface="Lucida Sans Unicode" charset="0"/>
              </a:rPr>
              <a:t>Ada Support for Concurrency</a:t>
            </a:r>
          </a:p>
          <a:p>
            <a:pPr eaLnBrk="1" hangingPunct="1"/>
            <a:r>
              <a:rPr lang="en-US" sz="2400">
                <a:latin typeface="Lucida Sans Unicode" charset="0"/>
                <a:cs typeface="Lucida Sans Unicode" charset="0"/>
              </a:rPr>
              <a:t>Java Threads</a:t>
            </a:r>
          </a:p>
          <a:p>
            <a:pPr eaLnBrk="1" hangingPunct="1"/>
            <a:r>
              <a:rPr lang="en-US" sz="2400">
                <a:latin typeface="Lucida Sans Unicode" charset="0"/>
                <a:cs typeface="Lucida Sans Unicode" charset="0"/>
              </a:rPr>
              <a:t>C# Threads</a:t>
            </a:r>
          </a:p>
          <a:p>
            <a:pPr eaLnBrk="1" hangingPunct="1"/>
            <a:r>
              <a:rPr lang="en-US" sz="2400">
                <a:latin typeface="Lucida Sans Unicode" charset="0"/>
                <a:cs typeface="Lucida Sans Unicode" charset="0"/>
              </a:rPr>
              <a:t>Concurrency in Functional Languages</a:t>
            </a:r>
          </a:p>
          <a:p>
            <a:pPr eaLnBrk="1" hangingPunct="1"/>
            <a:r>
              <a:rPr lang="en-US" sz="2400">
                <a:latin typeface="Lucida Sans Unicode" charset="0"/>
                <a:cs typeface="Lucida Sans Unicode" charset="0"/>
              </a:rPr>
              <a:t>Statement-Level Concurrency</a:t>
            </a:r>
          </a:p>
        </p:txBody>
      </p:sp>
    </p:spTree>
    <p:extLst>
      <p:ext uri="{BB962C8B-B14F-4D97-AF65-F5344CB8AC3E}">
        <p14:creationId xmlns:p14="http://schemas.microsoft.com/office/powerpoint/2010/main" val="15998958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512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57B00BAD-09BC-9747-925F-AF680643676F}" type="slidenum">
              <a:rPr lang="en-US" sz="1000">
                <a:latin typeface="Arial" charset="0"/>
              </a:rPr>
              <a:pPr/>
              <a:t>60</a:t>
            </a:fld>
            <a:endParaRPr lang="en-US" sz="1000">
              <a:latin typeface="Arial" charset="0"/>
            </a:endParaRPr>
          </a:p>
        </p:txBody>
      </p:sp>
      <p:sp>
        <p:nvSpPr>
          <p:cNvPr id="5124" name="Rectangle 2"/>
          <p:cNvSpPr>
            <a:spLocks noGrp="1" noChangeArrowheads="1"/>
          </p:cNvSpPr>
          <p:nvPr>
            <p:ph type="title"/>
          </p:nvPr>
        </p:nvSpPr>
        <p:spPr/>
        <p:txBody>
          <a:bodyPr/>
          <a:lstStyle/>
          <a:p>
            <a:pPr eaLnBrk="1" hangingPunct="1"/>
            <a:r>
              <a:rPr lang="en-US">
                <a:latin typeface="Lucida Sans Unicode" charset="0"/>
                <a:cs typeface="Lucida Sans Unicode" charset="0"/>
              </a:rPr>
              <a:t>Introduction</a:t>
            </a:r>
          </a:p>
        </p:txBody>
      </p:sp>
      <p:sp>
        <p:nvSpPr>
          <p:cNvPr id="5125" name="Rectangle 3"/>
          <p:cNvSpPr>
            <a:spLocks noGrp="1" noChangeArrowheads="1"/>
          </p:cNvSpPr>
          <p:nvPr>
            <p:ph type="body" idx="1"/>
          </p:nvPr>
        </p:nvSpPr>
        <p:spPr>
          <a:xfrm>
            <a:off x="533400" y="1447800"/>
            <a:ext cx="8153400" cy="4572000"/>
          </a:xfrm>
        </p:spPr>
        <p:txBody>
          <a:bodyPr/>
          <a:lstStyle/>
          <a:p>
            <a:pPr eaLnBrk="1" hangingPunct="1"/>
            <a:r>
              <a:rPr lang="en-US">
                <a:latin typeface="Lucida Sans Unicode" charset="0"/>
                <a:cs typeface="Lucida Sans Unicode" charset="0"/>
              </a:rPr>
              <a:t>Concurrency can occur at four levels:</a:t>
            </a:r>
          </a:p>
          <a:p>
            <a:pPr lvl="1" eaLnBrk="1" hangingPunct="1"/>
            <a:r>
              <a:rPr lang="en-US">
                <a:latin typeface="Lucida Sans Unicode" charset="0"/>
                <a:ea typeface="Lucida Sans Unicode" charset="0"/>
                <a:cs typeface="Lucida Sans Unicode" charset="0"/>
              </a:rPr>
              <a:t>Machine instruction level</a:t>
            </a:r>
          </a:p>
          <a:p>
            <a:pPr lvl="1" eaLnBrk="1" hangingPunct="1"/>
            <a:r>
              <a:rPr lang="en-US">
                <a:latin typeface="Lucida Sans Unicode" charset="0"/>
                <a:ea typeface="Lucida Sans Unicode" charset="0"/>
                <a:cs typeface="Lucida Sans Unicode" charset="0"/>
              </a:rPr>
              <a:t>High-level language statement level</a:t>
            </a:r>
          </a:p>
          <a:p>
            <a:pPr lvl="1" eaLnBrk="1" hangingPunct="1"/>
            <a:r>
              <a:rPr lang="en-US">
                <a:latin typeface="Lucida Sans Unicode" charset="0"/>
                <a:ea typeface="Lucida Sans Unicode" charset="0"/>
                <a:cs typeface="Lucida Sans Unicode" charset="0"/>
              </a:rPr>
              <a:t>Unit level</a:t>
            </a:r>
          </a:p>
          <a:p>
            <a:pPr lvl="1" eaLnBrk="1" hangingPunct="1"/>
            <a:r>
              <a:rPr lang="en-US">
                <a:latin typeface="Lucida Sans Unicode" charset="0"/>
                <a:ea typeface="Lucida Sans Unicode" charset="0"/>
                <a:cs typeface="Lucida Sans Unicode" charset="0"/>
              </a:rPr>
              <a:t>Program level</a:t>
            </a:r>
          </a:p>
          <a:p>
            <a:pPr eaLnBrk="1" hangingPunct="1"/>
            <a:r>
              <a:rPr lang="en-US">
                <a:latin typeface="Lucida Sans Unicode" charset="0"/>
                <a:cs typeface="Lucida Sans Unicode" charset="0"/>
              </a:rPr>
              <a:t>Because there are no language issues in instruction- and program-level concurrency, they are not addressed here</a:t>
            </a:r>
          </a:p>
        </p:txBody>
      </p:sp>
    </p:spTree>
    <p:extLst>
      <p:ext uri="{BB962C8B-B14F-4D97-AF65-F5344CB8AC3E}">
        <p14:creationId xmlns:p14="http://schemas.microsoft.com/office/powerpoint/2010/main" val="39916873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14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8E36008B-55BC-6549-90D2-0084AECE586B}" type="slidenum">
              <a:rPr lang="en-US" sz="1000">
                <a:latin typeface="Arial" charset="0"/>
              </a:rPr>
              <a:pPr/>
              <a:t>61</a:t>
            </a:fld>
            <a:endParaRPr lang="en-US" sz="1000">
              <a:latin typeface="Arial" charset="0"/>
            </a:endParaRPr>
          </a:p>
        </p:txBody>
      </p:sp>
      <p:sp>
        <p:nvSpPr>
          <p:cNvPr id="6148" name="Rectangle 2"/>
          <p:cNvSpPr>
            <a:spLocks noGrp="1" noChangeArrowheads="1"/>
          </p:cNvSpPr>
          <p:nvPr>
            <p:ph type="title"/>
          </p:nvPr>
        </p:nvSpPr>
        <p:spPr/>
        <p:txBody>
          <a:bodyPr/>
          <a:lstStyle/>
          <a:p>
            <a:pPr eaLnBrk="1" hangingPunct="1"/>
            <a:r>
              <a:rPr lang="en-US">
                <a:latin typeface="Lucida Sans Unicode" charset="0"/>
                <a:cs typeface="Lucida Sans Unicode" charset="0"/>
              </a:rPr>
              <a:t>Multiprocessor Architectures</a:t>
            </a:r>
          </a:p>
        </p:txBody>
      </p:sp>
      <p:sp>
        <p:nvSpPr>
          <p:cNvPr id="6149" name="Rectangle 3"/>
          <p:cNvSpPr>
            <a:spLocks noGrp="1" noChangeArrowheads="1"/>
          </p:cNvSpPr>
          <p:nvPr>
            <p:ph type="body" idx="1"/>
          </p:nvPr>
        </p:nvSpPr>
        <p:spPr>
          <a:xfrm>
            <a:off x="609600" y="1371600"/>
            <a:ext cx="8153400" cy="4800600"/>
          </a:xfrm>
        </p:spPr>
        <p:txBody>
          <a:bodyPr>
            <a:normAutofit lnSpcReduction="10000"/>
          </a:bodyPr>
          <a:lstStyle/>
          <a:p>
            <a:pPr eaLnBrk="1" hangingPunct="1"/>
            <a:r>
              <a:rPr lang="en-US" sz="2400">
                <a:latin typeface="Lucida Sans Unicode" charset="0"/>
                <a:cs typeface="Lucida Sans Unicode" charset="0"/>
              </a:rPr>
              <a:t>Late 1950s - one general-purpose processor and one or more special-purpose processors for input and output operations</a:t>
            </a:r>
          </a:p>
          <a:p>
            <a:pPr eaLnBrk="1" hangingPunct="1"/>
            <a:r>
              <a:rPr lang="en-US" sz="2400">
                <a:latin typeface="Lucida Sans Unicode" charset="0"/>
                <a:cs typeface="Lucida Sans Unicode" charset="0"/>
              </a:rPr>
              <a:t>Early 1960s - multiple complete processors, used for program-level concurrency</a:t>
            </a:r>
          </a:p>
          <a:p>
            <a:pPr eaLnBrk="1" hangingPunct="1"/>
            <a:r>
              <a:rPr lang="en-US" sz="2400">
                <a:latin typeface="Lucida Sans Unicode" charset="0"/>
                <a:cs typeface="Lucida Sans Unicode" charset="0"/>
              </a:rPr>
              <a:t>Mid-1960s - multiple partial processors, used for instruction-level concurrency</a:t>
            </a:r>
          </a:p>
          <a:p>
            <a:pPr eaLnBrk="1" hangingPunct="1"/>
            <a:r>
              <a:rPr lang="en-US" sz="2400">
                <a:latin typeface="Lucida Sans Unicode" charset="0"/>
                <a:cs typeface="Lucida Sans Unicode" charset="0"/>
              </a:rPr>
              <a:t>Single-Instruction Multiple-Data (SIMD) machines</a:t>
            </a:r>
          </a:p>
          <a:p>
            <a:pPr eaLnBrk="1" hangingPunct="1"/>
            <a:r>
              <a:rPr lang="en-US" sz="2400">
                <a:latin typeface="Lucida Sans Unicode" charset="0"/>
                <a:cs typeface="Lucida Sans Unicode" charset="0"/>
              </a:rPr>
              <a:t>Multiple-Instruction Multiple-Data (MIMD) machines </a:t>
            </a:r>
          </a:p>
          <a:p>
            <a:pPr eaLnBrk="1" hangingPunct="1"/>
            <a:r>
              <a:rPr lang="en-US" sz="2400">
                <a:latin typeface="Lucida Sans Unicode" charset="0"/>
                <a:cs typeface="Lucida Sans Unicode" charset="0"/>
              </a:rPr>
              <a:t>A primary focus of this chapter is shared memory MIMD machines (multiprocessors)</a:t>
            </a:r>
          </a:p>
        </p:txBody>
      </p:sp>
    </p:spTree>
    <p:extLst>
      <p:ext uri="{BB962C8B-B14F-4D97-AF65-F5344CB8AC3E}">
        <p14:creationId xmlns:p14="http://schemas.microsoft.com/office/powerpoint/2010/main" val="9886748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717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5B2515BD-1E29-B440-8C4F-37E772DEE08A}" type="slidenum">
              <a:rPr lang="en-US" sz="1000">
                <a:latin typeface="Arial" charset="0"/>
              </a:rPr>
              <a:pPr/>
              <a:t>62</a:t>
            </a:fld>
            <a:endParaRPr lang="en-US" sz="1000">
              <a:latin typeface="Arial" charset="0"/>
            </a:endParaRPr>
          </a:p>
        </p:txBody>
      </p:sp>
      <p:sp>
        <p:nvSpPr>
          <p:cNvPr id="7172" name="Rectangle 2"/>
          <p:cNvSpPr>
            <a:spLocks noGrp="1" noChangeArrowheads="1"/>
          </p:cNvSpPr>
          <p:nvPr>
            <p:ph type="title"/>
          </p:nvPr>
        </p:nvSpPr>
        <p:spPr/>
        <p:txBody>
          <a:bodyPr/>
          <a:lstStyle/>
          <a:p>
            <a:pPr eaLnBrk="1" hangingPunct="1"/>
            <a:r>
              <a:rPr lang="en-US">
                <a:latin typeface="Lucida Sans Unicode" charset="0"/>
                <a:cs typeface="Lucida Sans Unicode" charset="0"/>
              </a:rPr>
              <a:t>Categories of Concurrency</a:t>
            </a:r>
          </a:p>
        </p:txBody>
      </p:sp>
      <p:sp>
        <p:nvSpPr>
          <p:cNvPr id="7173" name="Rectangle 3"/>
          <p:cNvSpPr>
            <a:spLocks noGrp="1" noChangeArrowheads="1"/>
          </p:cNvSpPr>
          <p:nvPr>
            <p:ph type="body" idx="1"/>
          </p:nvPr>
        </p:nvSpPr>
        <p:spPr>
          <a:xfrm>
            <a:off x="609600" y="1295400"/>
            <a:ext cx="8153400" cy="4953000"/>
          </a:xfrm>
        </p:spPr>
        <p:txBody>
          <a:bodyPr/>
          <a:lstStyle/>
          <a:p>
            <a:pPr eaLnBrk="1" hangingPunct="1">
              <a:lnSpc>
                <a:spcPct val="90000"/>
              </a:lnSpc>
            </a:pPr>
            <a:r>
              <a:rPr lang="en-US">
                <a:latin typeface="Lucida Sans Unicode" charset="0"/>
                <a:cs typeface="Lucida Sans Unicode" charset="0"/>
              </a:rPr>
              <a:t>Categories of Concurrency:</a:t>
            </a:r>
          </a:p>
          <a:p>
            <a:pPr lvl="1" eaLnBrk="1" hangingPunct="1">
              <a:lnSpc>
                <a:spcPct val="90000"/>
              </a:lnSpc>
            </a:pPr>
            <a:r>
              <a:rPr lang="en-US" i="1">
                <a:latin typeface="Lucida Sans Unicode" charset="0"/>
                <a:ea typeface="Lucida Sans Unicode" charset="0"/>
                <a:cs typeface="Lucida Sans Unicode" charset="0"/>
              </a:rPr>
              <a:t>Physical concurrency</a:t>
            </a:r>
            <a:r>
              <a:rPr lang="en-US">
                <a:latin typeface="Lucida Sans Unicode" charset="0"/>
                <a:ea typeface="Lucida Sans Unicode" charset="0"/>
                <a:cs typeface="Lucida Sans Unicode" charset="0"/>
              </a:rPr>
              <a:t> - Multiple independent processors ( multiple threads of control)</a:t>
            </a:r>
          </a:p>
          <a:p>
            <a:pPr lvl="1" eaLnBrk="1" hangingPunct="1">
              <a:lnSpc>
                <a:spcPct val="90000"/>
              </a:lnSpc>
            </a:pPr>
            <a:r>
              <a:rPr lang="en-US" i="1">
                <a:latin typeface="Lucida Sans Unicode" charset="0"/>
                <a:ea typeface="Lucida Sans Unicode" charset="0"/>
                <a:cs typeface="Lucida Sans Unicode" charset="0"/>
              </a:rPr>
              <a:t>Logical concurrency</a:t>
            </a:r>
            <a:r>
              <a:rPr lang="en-US">
                <a:latin typeface="Lucida Sans Unicode" charset="0"/>
                <a:ea typeface="Lucida Sans Unicode" charset="0"/>
                <a:cs typeface="Lucida Sans Unicode" charset="0"/>
              </a:rPr>
              <a:t> - The appearance of physical concurrency is presented by time-sharing one processor (software can be designed as if there were multiple threads of control) </a:t>
            </a:r>
          </a:p>
          <a:p>
            <a:pPr eaLnBrk="1" hangingPunct="1">
              <a:lnSpc>
                <a:spcPct val="90000"/>
              </a:lnSpc>
            </a:pPr>
            <a:r>
              <a:rPr lang="en-US">
                <a:latin typeface="Lucida Sans Unicode" charset="0"/>
                <a:cs typeface="Lucida Sans Unicode" charset="0"/>
              </a:rPr>
              <a:t>Coroutines (</a:t>
            </a:r>
            <a:r>
              <a:rPr lang="en-US" i="1">
                <a:latin typeface="Lucida Sans Unicode" charset="0"/>
                <a:cs typeface="Lucida Sans Unicode" charset="0"/>
              </a:rPr>
              <a:t>quasi-concurrency) have a single thread of control</a:t>
            </a:r>
          </a:p>
          <a:p>
            <a:pPr eaLnBrk="1" hangingPunct="1">
              <a:lnSpc>
                <a:spcPct val="90000"/>
              </a:lnSpc>
            </a:pPr>
            <a:r>
              <a:rPr lang="en-US">
                <a:latin typeface="Lucida Sans Unicode" charset="0"/>
                <a:cs typeface="Lucida Sans Unicode" charset="0"/>
              </a:rPr>
              <a:t>A </a:t>
            </a:r>
            <a:r>
              <a:rPr lang="en-US" i="1">
                <a:latin typeface="Lucida Sans Unicode" charset="0"/>
                <a:cs typeface="Lucida Sans Unicode" charset="0"/>
              </a:rPr>
              <a:t>thread of control</a:t>
            </a:r>
            <a:r>
              <a:rPr lang="en-US">
                <a:latin typeface="Lucida Sans Unicode" charset="0"/>
                <a:cs typeface="Lucida Sans Unicode" charset="0"/>
              </a:rPr>
              <a:t> in a program is the sequence of program points reached as control flows through the program</a:t>
            </a:r>
          </a:p>
          <a:p>
            <a:pPr eaLnBrk="1" hangingPunct="1">
              <a:lnSpc>
                <a:spcPct val="90000"/>
              </a:lnSpc>
            </a:pPr>
            <a:endParaRPr lang="en-US" i="1">
              <a:latin typeface="Lucida Sans Unicode" charset="0"/>
              <a:cs typeface="Lucida Sans Unicode" charset="0"/>
            </a:endParaRPr>
          </a:p>
        </p:txBody>
      </p:sp>
    </p:spTree>
    <p:extLst>
      <p:ext uri="{BB962C8B-B14F-4D97-AF65-F5344CB8AC3E}">
        <p14:creationId xmlns:p14="http://schemas.microsoft.com/office/powerpoint/2010/main" val="10340903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819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5FA42DB7-C96D-F04C-9EFF-526B31ACD27D}" type="slidenum">
              <a:rPr lang="en-US" sz="1000">
                <a:latin typeface="Arial" charset="0"/>
              </a:rPr>
              <a:pPr/>
              <a:t>63</a:t>
            </a:fld>
            <a:endParaRPr lang="en-US" sz="1000">
              <a:latin typeface="Arial" charset="0"/>
            </a:endParaRPr>
          </a:p>
        </p:txBody>
      </p:sp>
      <p:sp>
        <p:nvSpPr>
          <p:cNvPr id="8196" name="Rectangle 2"/>
          <p:cNvSpPr>
            <a:spLocks noGrp="1" noChangeArrowheads="1"/>
          </p:cNvSpPr>
          <p:nvPr>
            <p:ph type="title"/>
          </p:nvPr>
        </p:nvSpPr>
        <p:spPr/>
        <p:txBody>
          <a:bodyPr/>
          <a:lstStyle/>
          <a:p>
            <a:pPr eaLnBrk="1" hangingPunct="1"/>
            <a:r>
              <a:rPr lang="en-US" sz="3200">
                <a:latin typeface="Lucida Sans Unicode" charset="0"/>
                <a:cs typeface="Lucida Sans Unicode" charset="0"/>
              </a:rPr>
              <a:t>Motivations for the Use of Concurrency</a:t>
            </a:r>
          </a:p>
        </p:txBody>
      </p:sp>
      <p:sp>
        <p:nvSpPr>
          <p:cNvPr id="8197" name="Rectangle 3"/>
          <p:cNvSpPr>
            <a:spLocks noGrp="1" noChangeArrowheads="1"/>
          </p:cNvSpPr>
          <p:nvPr>
            <p:ph type="body" idx="1"/>
          </p:nvPr>
        </p:nvSpPr>
        <p:spPr/>
        <p:txBody>
          <a:bodyPr>
            <a:normAutofit lnSpcReduction="10000"/>
          </a:bodyPr>
          <a:lstStyle/>
          <a:p>
            <a:pPr eaLnBrk="1" hangingPunct="1"/>
            <a:r>
              <a:rPr lang="en-US" sz="2400">
                <a:latin typeface="Lucida Sans Unicode" charset="0"/>
                <a:cs typeface="Lucida Sans Unicode" charset="0"/>
              </a:rPr>
              <a:t>Multiprocessor computers capable of physical concurrency are now widely used</a:t>
            </a:r>
          </a:p>
          <a:p>
            <a:pPr eaLnBrk="1" hangingPunct="1"/>
            <a:r>
              <a:rPr lang="en-US" sz="2400">
                <a:latin typeface="Lucida Sans Unicode" charset="0"/>
                <a:cs typeface="Lucida Sans Unicode" charset="0"/>
              </a:rPr>
              <a:t>Even if a machine has just one processor, a program written to use concurrent execution can be faster than the same program written for nonconcurrent execution</a:t>
            </a:r>
          </a:p>
          <a:p>
            <a:pPr eaLnBrk="1" hangingPunct="1"/>
            <a:r>
              <a:rPr lang="en-US" sz="2400">
                <a:latin typeface="Lucida Sans Unicode" charset="0"/>
                <a:cs typeface="Lucida Sans Unicode" charset="0"/>
              </a:rPr>
              <a:t>Involves a different way of designing software that can be very useful—many real-world situations involve concurrency</a:t>
            </a:r>
          </a:p>
          <a:p>
            <a:pPr eaLnBrk="1" hangingPunct="1"/>
            <a:r>
              <a:rPr lang="en-US" sz="2400">
                <a:latin typeface="Lucida Sans Unicode" charset="0"/>
                <a:cs typeface="Lucida Sans Unicode" charset="0"/>
              </a:rPr>
              <a:t>Many program applications are now spread over multiple machines, either locally or over a network</a:t>
            </a:r>
          </a:p>
          <a:p>
            <a:pPr eaLnBrk="1" hangingPunct="1"/>
            <a:endParaRPr lang="en-US">
              <a:latin typeface="Lucida Sans Unicode" charset="0"/>
              <a:cs typeface="Lucida Sans Unicode" charset="0"/>
            </a:endParaRPr>
          </a:p>
        </p:txBody>
      </p:sp>
    </p:spTree>
    <p:extLst>
      <p:ext uri="{BB962C8B-B14F-4D97-AF65-F5344CB8AC3E}">
        <p14:creationId xmlns:p14="http://schemas.microsoft.com/office/powerpoint/2010/main" val="31102139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921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E5972D97-2371-A341-8E47-471F4FD028CD}" type="slidenum">
              <a:rPr lang="en-US" sz="1000">
                <a:latin typeface="Arial" charset="0"/>
              </a:rPr>
              <a:pPr/>
              <a:t>64</a:t>
            </a:fld>
            <a:endParaRPr lang="en-US" sz="1000">
              <a:latin typeface="Arial" charset="0"/>
            </a:endParaRPr>
          </a:p>
        </p:txBody>
      </p:sp>
      <p:sp>
        <p:nvSpPr>
          <p:cNvPr id="9220" name="Rectangle 4"/>
          <p:cNvSpPr>
            <a:spLocks noGrp="1" noChangeArrowheads="1"/>
          </p:cNvSpPr>
          <p:nvPr>
            <p:ph type="title"/>
          </p:nvPr>
        </p:nvSpPr>
        <p:spPr>
          <a:xfrm>
            <a:off x="609600" y="152400"/>
            <a:ext cx="8153400" cy="1143000"/>
          </a:xfrm>
        </p:spPr>
        <p:txBody>
          <a:bodyPr/>
          <a:lstStyle/>
          <a:p>
            <a:pPr eaLnBrk="1" hangingPunct="1"/>
            <a:r>
              <a:rPr lang="en-US">
                <a:latin typeface="Lucida Sans Unicode" charset="0"/>
                <a:cs typeface="Lucida Sans Unicode" charset="0"/>
              </a:rPr>
              <a:t>Introduction to Subprogram-Level Concurrency</a:t>
            </a:r>
          </a:p>
        </p:txBody>
      </p:sp>
      <p:sp>
        <p:nvSpPr>
          <p:cNvPr id="9221" name="Rectangle 5"/>
          <p:cNvSpPr>
            <a:spLocks noGrp="1" noChangeArrowheads="1"/>
          </p:cNvSpPr>
          <p:nvPr>
            <p:ph type="body" idx="1"/>
          </p:nvPr>
        </p:nvSpPr>
        <p:spPr>
          <a:xfrm>
            <a:off x="609600" y="1371600"/>
            <a:ext cx="8153400" cy="4572000"/>
          </a:xfrm>
        </p:spPr>
        <p:txBody>
          <a:bodyPr/>
          <a:lstStyle/>
          <a:p>
            <a:pPr eaLnBrk="1" hangingPunct="1">
              <a:lnSpc>
                <a:spcPct val="90000"/>
              </a:lnSpc>
            </a:pPr>
            <a:r>
              <a:rPr lang="en-US">
                <a:latin typeface="Lucida Sans Unicode" charset="0"/>
                <a:cs typeface="Lucida Sans Unicode" charset="0"/>
              </a:rPr>
              <a:t>A </a:t>
            </a:r>
            <a:r>
              <a:rPr lang="en-US" i="1">
                <a:latin typeface="Lucida Sans Unicode" charset="0"/>
                <a:cs typeface="Lucida Sans Unicode" charset="0"/>
              </a:rPr>
              <a:t>task</a:t>
            </a:r>
            <a:r>
              <a:rPr lang="en-US">
                <a:latin typeface="Lucida Sans Unicode" charset="0"/>
                <a:cs typeface="Lucida Sans Unicode" charset="0"/>
              </a:rPr>
              <a:t> or </a:t>
            </a:r>
            <a:r>
              <a:rPr lang="en-US" i="1">
                <a:latin typeface="Lucida Sans Unicode" charset="0"/>
                <a:cs typeface="Lucida Sans Unicode" charset="0"/>
              </a:rPr>
              <a:t>process</a:t>
            </a:r>
            <a:r>
              <a:rPr lang="en-US">
                <a:latin typeface="Lucida Sans Unicode" charset="0"/>
                <a:cs typeface="Lucida Sans Unicode" charset="0"/>
              </a:rPr>
              <a:t> or </a:t>
            </a:r>
            <a:r>
              <a:rPr lang="en-US" i="1">
                <a:latin typeface="Lucida Sans Unicode" charset="0"/>
                <a:cs typeface="Lucida Sans Unicode" charset="0"/>
              </a:rPr>
              <a:t>thread</a:t>
            </a:r>
            <a:r>
              <a:rPr lang="en-US">
                <a:latin typeface="Lucida Sans Unicode" charset="0"/>
                <a:cs typeface="Lucida Sans Unicode" charset="0"/>
              </a:rPr>
              <a:t> is a program unit that can be in concurrent execution with other program units</a:t>
            </a:r>
          </a:p>
          <a:p>
            <a:pPr eaLnBrk="1" hangingPunct="1">
              <a:lnSpc>
                <a:spcPct val="90000"/>
              </a:lnSpc>
            </a:pPr>
            <a:r>
              <a:rPr lang="en-US">
                <a:latin typeface="Lucida Sans Unicode" charset="0"/>
                <a:cs typeface="Lucida Sans Unicode" charset="0"/>
              </a:rPr>
              <a:t>Tasks differ from ordinary subprograms in that:</a:t>
            </a:r>
          </a:p>
          <a:p>
            <a:pPr lvl="1" eaLnBrk="1" hangingPunct="1">
              <a:lnSpc>
                <a:spcPct val="90000"/>
              </a:lnSpc>
            </a:pPr>
            <a:r>
              <a:rPr lang="en-US">
                <a:latin typeface="Lucida Sans Unicode" charset="0"/>
                <a:ea typeface="Lucida Sans Unicode" charset="0"/>
                <a:cs typeface="Lucida Sans Unicode" charset="0"/>
              </a:rPr>
              <a:t>A task may be implicitly started</a:t>
            </a:r>
          </a:p>
          <a:p>
            <a:pPr lvl="1" eaLnBrk="1" hangingPunct="1">
              <a:lnSpc>
                <a:spcPct val="90000"/>
              </a:lnSpc>
            </a:pPr>
            <a:r>
              <a:rPr lang="en-US">
                <a:latin typeface="Lucida Sans Unicode" charset="0"/>
                <a:ea typeface="Lucida Sans Unicode" charset="0"/>
                <a:cs typeface="Lucida Sans Unicode" charset="0"/>
              </a:rPr>
              <a:t>When a program unit starts the execution of a task, it is not necessarily suspended</a:t>
            </a:r>
          </a:p>
          <a:p>
            <a:pPr lvl="1" eaLnBrk="1" hangingPunct="1">
              <a:lnSpc>
                <a:spcPct val="90000"/>
              </a:lnSpc>
            </a:pPr>
            <a:r>
              <a:rPr lang="en-US">
                <a:latin typeface="Lucida Sans Unicode" charset="0"/>
                <a:ea typeface="Lucida Sans Unicode" charset="0"/>
                <a:cs typeface="Lucida Sans Unicode" charset="0"/>
              </a:rPr>
              <a:t>When a task</a:t>
            </a:r>
            <a:r>
              <a:rPr lang="ja-JP" altLang="en-US">
                <a:latin typeface="Lucida Sans Unicode" charset="0"/>
                <a:ea typeface="Lucida Sans Unicode" charset="0"/>
                <a:cs typeface="Lucida Sans Unicode" charset="0"/>
              </a:rPr>
              <a:t>’</a:t>
            </a:r>
            <a:r>
              <a:rPr lang="en-US">
                <a:latin typeface="Lucida Sans Unicode" charset="0"/>
                <a:ea typeface="Lucida Sans Unicode" charset="0"/>
                <a:cs typeface="Lucida Sans Unicode" charset="0"/>
              </a:rPr>
              <a:t>s execution is completed, control may not return to the caller</a:t>
            </a:r>
          </a:p>
          <a:p>
            <a:pPr eaLnBrk="1" hangingPunct="1">
              <a:lnSpc>
                <a:spcPct val="90000"/>
              </a:lnSpc>
            </a:pPr>
            <a:r>
              <a:rPr lang="en-US">
                <a:latin typeface="Lucida Sans Unicode" charset="0"/>
                <a:cs typeface="Lucida Sans Unicode" charset="0"/>
              </a:rPr>
              <a:t>Tasks usually work together</a:t>
            </a:r>
          </a:p>
        </p:txBody>
      </p:sp>
    </p:spTree>
    <p:extLst>
      <p:ext uri="{BB962C8B-B14F-4D97-AF65-F5344CB8AC3E}">
        <p14:creationId xmlns:p14="http://schemas.microsoft.com/office/powerpoint/2010/main" val="18605306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024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8E0E5379-683C-4D47-8B02-7CB3577D44CE}" type="slidenum">
              <a:rPr lang="en-US" sz="1000">
                <a:latin typeface="Arial" charset="0"/>
              </a:rPr>
              <a:pPr/>
              <a:t>65</a:t>
            </a:fld>
            <a:endParaRPr lang="en-US" sz="1000">
              <a:latin typeface="Arial" charset="0"/>
            </a:endParaRPr>
          </a:p>
        </p:txBody>
      </p:sp>
      <p:sp>
        <p:nvSpPr>
          <p:cNvPr id="10244" name="Rectangle 4"/>
          <p:cNvSpPr>
            <a:spLocks noGrp="1" noChangeArrowheads="1"/>
          </p:cNvSpPr>
          <p:nvPr>
            <p:ph type="title"/>
          </p:nvPr>
        </p:nvSpPr>
        <p:spPr/>
        <p:txBody>
          <a:bodyPr/>
          <a:lstStyle/>
          <a:p>
            <a:pPr eaLnBrk="1" hangingPunct="1"/>
            <a:r>
              <a:rPr lang="en-US">
                <a:latin typeface="Lucida Sans Unicode" charset="0"/>
                <a:cs typeface="Lucida Sans Unicode" charset="0"/>
              </a:rPr>
              <a:t>Two General Categories of Tasks</a:t>
            </a:r>
          </a:p>
        </p:txBody>
      </p:sp>
      <p:sp>
        <p:nvSpPr>
          <p:cNvPr id="10245" name="Rectangle 5"/>
          <p:cNvSpPr>
            <a:spLocks noGrp="1" noChangeArrowheads="1"/>
          </p:cNvSpPr>
          <p:nvPr>
            <p:ph type="body" idx="1"/>
          </p:nvPr>
        </p:nvSpPr>
        <p:spPr/>
        <p:txBody>
          <a:bodyPr/>
          <a:lstStyle/>
          <a:p>
            <a:pPr eaLnBrk="1" hangingPunct="1"/>
            <a:r>
              <a:rPr lang="en-US" i="1">
                <a:latin typeface="Lucida Sans Unicode" charset="0"/>
                <a:cs typeface="Lucida Sans Unicode" charset="0"/>
              </a:rPr>
              <a:t>Heavyweight tasks</a:t>
            </a:r>
            <a:r>
              <a:rPr lang="en-US">
                <a:latin typeface="Lucida Sans Unicode" charset="0"/>
                <a:cs typeface="Lucida Sans Unicode" charset="0"/>
              </a:rPr>
              <a:t> execute in their own address space </a:t>
            </a:r>
          </a:p>
          <a:p>
            <a:pPr eaLnBrk="1" hangingPunct="1"/>
            <a:r>
              <a:rPr lang="en-US" i="1">
                <a:latin typeface="Lucida Sans Unicode" charset="0"/>
                <a:cs typeface="Lucida Sans Unicode" charset="0"/>
              </a:rPr>
              <a:t>Lightweight tasks</a:t>
            </a:r>
            <a:r>
              <a:rPr lang="en-US">
                <a:latin typeface="Lucida Sans Unicode" charset="0"/>
                <a:cs typeface="Lucida Sans Unicode" charset="0"/>
              </a:rPr>
              <a:t> all run in the same address space – more efficient</a:t>
            </a:r>
          </a:p>
          <a:p>
            <a:pPr eaLnBrk="1" hangingPunct="1"/>
            <a:r>
              <a:rPr lang="en-US">
                <a:latin typeface="Lucida Sans Unicode" charset="0"/>
                <a:cs typeface="Lucida Sans Unicode" charset="0"/>
              </a:rPr>
              <a:t>A task is </a:t>
            </a:r>
            <a:r>
              <a:rPr lang="en-US" i="1">
                <a:latin typeface="Lucida Sans Unicode" charset="0"/>
                <a:cs typeface="Lucida Sans Unicode" charset="0"/>
              </a:rPr>
              <a:t>disjoint</a:t>
            </a:r>
            <a:r>
              <a:rPr lang="en-US">
                <a:latin typeface="Lucida Sans Unicode" charset="0"/>
                <a:cs typeface="Lucida Sans Unicode" charset="0"/>
              </a:rPr>
              <a:t> if it does not communicate with or affect the execution of any other task in the program in any way </a:t>
            </a:r>
          </a:p>
          <a:p>
            <a:pPr eaLnBrk="1" hangingPunct="1"/>
            <a:endParaRPr lang="en-US">
              <a:latin typeface="Lucida Sans Unicode" charset="0"/>
              <a:cs typeface="Lucida Sans Unicode" charset="0"/>
            </a:endParaRPr>
          </a:p>
        </p:txBody>
      </p:sp>
    </p:spTree>
    <p:extLst>
      <p:ext uri="{BB962C8B-B14F-4D97-AF65-F5344CB8AC3E}">
        <p14:creationId xmlns:p14="http://schemas.microsoft.com/office/powerpoint/2010/main" val="35200635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126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80CCBAE0-34E6-6D48-970D-5C15CA7E08B4}" type="slidenum">
              <a:rPr lang="en-US" sz="1000">
                <a:latin typeface="Arial" charset="0"/>
              </a:rPr>
              <a:pPr/>
              <a:t>66</a:t>
            </a:fld>
            <a:endParaRPr lang="en-US" sz="1000">
              <a:latin typeface="Arial" charset="0"/>
            </a:endParaRPr>
          </a:p>
        </p:txBody>
      </p:sp>
      <p:sp>
        <p:nvSpPr>
          <p:cNvPr id="11268" name="Rectangle 2"/>
          <p:cNvSpPr>
            <a:spLocks noGrp="1" noChangeArrowheads="1"/>
          </p:cNvSpPr>
          <p:nvPr>
            <p:ph type="title"/>
          </p:nvPr>
        </p:nvSpPr>
        <p:spPr/>
        <p:txBody>
          <a:bodyPr/>
          <a:lstStyle/>
          <a:p>
            <a:pPr eaLnBrk="1" hangingPunct="1"/>
            <a:r>
              <a:rPr lang="en-US">
                <a:latin typeface="Lucida Sans Unicode" charset="0"/>
                <a:cs typeface="Lucida Sans Unicode" charset="0"/>
              </a:rPr>
              <a:t>Task Synchronization</a:t>
            </a:r>
          </a:p>
        </p:txBody>
      </p:sp>
      <p:sp>
        <p:nvSpPr>
          <p:cNvPr id="11269" name="Rectangle 3"/>
          <p:cNvSpPr>
            <a:spLocks noGrp="1" noChangeArrowheads="1"/>
          </p:cNvSpPr>
          <p:nvPr>
            <p:ph type="body" idx="1"/>
          </p:nvPr>
        </p:nvSpPr>
        <p:spPr>
          <a:xfrm>
            <a:off x="457200" y="1447800"/>
            <a:ext cx="7391400" cy="4267200"/>
          </a:xfrm>
        </p:spPr>
        <p:txBody>
          <a:bodyPr/>
          <a:lstStyle/>
          <a:p>
            <a:pPr eaLnBrk="1" hangingPunct="1">
              <a:lnSpc>
                <a:spcPct val="90000"/>
              </a:lnSpc>
            </a:pPr>
            <a:r>
              <a:rPr lang="en-US">
                <a:latin typeface="Lucida Sans Unicode" charset="0"/>
                <a:cs typeface="Lucida Sans Unicode" charset="0"/>
              </a:rPr>
              <a:t>A mechanism that controls the order in which tasks execute</a:t>
            </a:r>
          </a:p>
          <a:p>
            <a:pPr eaLnBrk="1" hangingPunct="1">
              <a:lnSpc>
                <a:spcPct val="90000"/>
              </a:lnSpc>
            </a:pPr>
            <a:r>
              <a:rPr lang="en-US">
                <a:latin typeface="Lucida Sans Unicode" charset="0"/>
                <a:cs typeface="Lucida Sans Unicode" charset="0"/>
              </a:rPr>
              <a:t>Two kinds of synchronization</a:t>
            </a:r>
          </a:p>
          <a:p>
            <a:pPr lvl="1" eaLnBrk="1" hangingPunct="1">
              <a:lnSpc>
                <a:spcPct val="90000"/>
              </a:lnSpc>
            </a:pPr>
            <a:r>
              <a:rPr lang="en-US" i="1">
                <a:latin typeface="Lucida Sans Unicode" charset="0"/>
                <a:ea typeface="Lucida Sans Unicode" charset="0"/>
                <a:cs typeface="Lucida Sans Unicode" charset="0"/>
              </a:rPr>
              <a:t>Cooperation</a:t>
            </a:r>
            <a:r>
              <a:rPr lang="en-US">
                <a:latin typeface="Lucida Sans Unicode" charset="0"/>
                <a:ea typeface="Lucida Sans Unicode" charset="0"/>
                <a:cs typeface="Lucida Sans Unicode" charset="0"/>
              </a:rPr>
              <a:t> synchronization</a:t>
            </a:r>
          </a:p>
          <a:p>
            <a:pPr lvl="1" eaLnBrk="1" hangingPunct="1">
              <a:lnSpc>
                <a:spcPct val="90000"/>
              </a:lnSpc>
            </a:pPr>
            <a:r>
              <a:rPr lang="en-US" i="1">
                <a:latin typeface="Lucida Sans Unicode" charset="0"/>
                <a:ea typeface="Lucida Sans Unicode" charset="0"/>
                <a:cs typeface="Lucida Sans Unicode" charset="0"/>
              </a:rPr>
              <a:t>Competition</a:t>
            </a:r>
            <a:r>
              <a:rPr lang="en-US">
                <a:latin typeface="Lucida Sans Unicode" charset="0"/>
                <a:ea typeface="Lucida Sans Unicode" charset="0"/>
                <a:cs typeface="Lucida Sans Unicode" charset="0"/>
              </a:rPr>
              <a:t> synchronization</a:t>
            </a:r>
          </a:p>
          <a:p>
            <a:pPr eaLnBrk="1" hangingPunct="1">
              <a:lnSpc>
                <a:spcPct val="90000"/>
              </a:lnSpc>
            </a:pPr>
            <a:r>
              <a:rPr lang="en-US">
                <a:latin typeface="Lucida Sans Unicode" charset="0"/>
                <a:cs typeface="Lucida Sans Unicode" charset="0"/>
              </a:rPr>
              <a:t>Task communication is necessary for synchronization, provided by:</a:t>
            </a:r>
            <a:br>
              <a:rPr lang="en-US">
                <a:latin typeface="Lucida Sans Unicode" charset="0"/>
                <a:cs typeface="Lucida Sans Unicode" charset="0"/>
              </a:rPr>
            </a:br>
            <a:r>
              <a:rPr lang="en-US" sz="2400">
                <a:latin typeface="Lucida Sans Unicode" charset="0"/>
                <a:cs typeface="Lucida Sans Unicode" charset="0"/>
              </a:rPr>
              <a:t>- Shared nonlocal variables</a:t>
            </a:r>
            <a:br>
              <a:rPr lang="en-US" sz="2400">
                <a:latin typeface="Lucida Sans Unicode" charset="0"/>
                <a:cs typeface="Lucida Sans Unicode" charset="0"/>
              </a:rPr>
            </a:br>
            <a:r>
              <a:rPr lang="en-US" sz="2400">
                <a:latin typeface="Lucida Sans Unicode" charset="0"/>
                <a:cs typeface="Lucida Sans Unicode" charset="0"/>
              </a:rPr>
              <a:t>- Parameters</a:t>
            </a:r>
            <a:br>
              <a:rPr lang="en-US" sz="2400">
                <a:latin typeface="Lucida Sans Unicode" charset="0"/>
                <a:cs typeface="Lucida Sans Unicode" charset="0"/>
              </a:rPr>
            </a:br>
            <a:r>
              <a:rPr lang="en-US" sz="2400">
                <a:latin typeface="Lucida Sans Unicode" charset="0"/>
                <a:cs typeface="Lucida Sans Unicode" charset="0"/>
              </a:rPr>
              <a:t>- Message passing</a:t>
            </a:r>
          </a:p>
          <a:p>
            <a:pPr lvl="1" eaLnBrk="1" hangingPunct="1">
              <a:lnSpc>
                <a:spcPct val="90000"/>
              </a:lnSpc>
            </a:pPr>
            <a:endParaRPr lang="en-US">
              <a:latin typeface="Lucida Sans Unicode" charset="0"/>
              <a:ea typeface="Lucida Sans Unicode" charset="0"/>
              <a:cs typeface="Lucida Sans Unicode" charset="0"/>
            </a:endParaRPr>
          </a:p>
        </p:txBody>
      </p:sp>
    </p:spTree>
    <p:extLst>
      <p:ext uri="{BB962C8B-B14F-4D97-AF65-F5344CB8AC3E}">
        <p14:creationId xmlns:p14="http://schemas.microsoft.com/office/powerpoint/2010/main" val="5688490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229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FFD00612-D769-B14B-A8B1-2232D95F4012}" type="slidenum">
              <a:rPr lang="en-US" sz="1000">
                <a:latin typeface="Arial" charset="0"/>
              </a:rPr>
              <a:pPr/>
              <a:t>67</a:t>
            </a:fld>
            <a:endParaRPr lang="en-US" sz="1000">
              <a:latin typeface="Arial" charset="0"/>
            </a:endParaRPr>
          </a:p>
        </p:txBody>
      </p:sp>
      <p:sp>
        <p:nvSpPr>
          <p:cNvPr id="12292" name="Rectangle 2"/>
          <p:cNvSpPr>
            <a:spLocks noGrp="1" noChangeArrowheads="1"/>
          </p:cNvSpPr>
          <p:nvPr>
            <p:ph type="title"/>
          </p:nvPr>
        </p:nvSpPr>
        <p:spPr/>
        <p:txBody>
          <a:bodyPr/>
          <a:lstStyle/>
          <a:p>
            <a:pPr eaLnBrk="1" hangingPunct="1"/>
            <a:r>
              <a:rPr lang="en-US">
                <a:latin typeface="Lucida Sans Unicode" charset="0"/>
                <a:cs typeface="Lucida Sans Unicode" charset="0"/>
              </a:rPr>
              <a:t>Kinds of synchronization</a:t>
            </a:r>
          </a:p>
        </p:txBody>
      </p:sp>
      <p:sp>
        <p:nvSpPr>
          <p:cNvPr id="12293" name="Rectangle 3"/>
          <p:cNvSpPr>
            <a:spLocks noGrp="1" noChangeArrowheads="1"/>
          </p:cNvSpPr>
          <p:nvPr>
            <p:ph type="body" idx="1"/>
          </p:nvPr>
        </p:nvSpPr>
        <p:spPr>
          <a:xfrm>
            <a:off x="457200" y="1295400"/>
            <a:ext cx="8153400" cy="4495800"/>
          </a:xfrm>
        </p:spPr>
        <p:txBody>
          <a:bodyPr/>
          <a:lstStyle/>
          <a:p>
            <a:pPr eaLnBrk="1" hangingPunct="1"/>
            <a:r>
              <a:rPr lang="en-US" i="1">
                <a:latin typeface="Lucida Sans Unicode" charset="0"/>
                <a:cs typeface="Lucida Sans Unicode" charset="0"/>
              </a:rPr>
              <a:t>Cooperation</a:t>
            </a:r>
            <a:r>
              <a:rPr lang="en-US">
                <a:latin typeface="Lucida Sans Unicode" charset="0"/>
                <a:cs typeface="Lucida Sans Unicode" charset="0"/>
              </a:rPr>
              <a:t>: Task A must wait for task B to complete some specific activity before task A can continue its execution, e.g., the producer-consumer problem</a:t>
            </a:r>
          </a:p>
          <a:p>
            <a:pPr eaLnBrk="1" hangingPunct="1"/>
            <a:r>
              <a:rPr lang="en-US" i="1">
                <a:latin typeface="Lucida Sans Unicode" charset="0"/>
                <a:cs typeface="Lucida Sans Unicode" charset="0"/>
              </a:rPr>
              <a:t>Competition</a:t>
            </a:r>
            <a:r>
              <a:rPr lang="en-US">
                <a:latin typeface="Lucida Sans Unicode" charset="0"/>
                <a:cs typeface="Lucida Sans Unicode" charset="0"/>
              </a:rPr>
              <a:t>: Two or more tasks must use some resource that cannot be simultaneously used, e.g., a shared counter</a:t>
            </a:r>
          </a:p>
          <a:p>
            <a:pPr lvl="1" eaLnBrk="1" hangingPunct="1"/>
            <a:r>
              <a:rPr lang="en-US">
                <a:latin typeface="Lucida Sans Unicode" charset="0"/>
                <a:ea typeface="Lucida Sans Unicode" charset="0"/>
                <a:cs typeface="Lucida Sans Unicode" charset="0"/>
              </a:rPr>
              <a:t>Competition is usually provided by mutually exclusive access  (approaches are discussed later)           </a:t>
            </a:r>
          </a:p>
        </p:txBody>
      </p:sp>
    </p:spTree>
    <p:extLst>
      <p:ext uri="{BB962C8B-B14F-4D97-AF65-F5344CB8AC3E}">
        <p14:creationId xmlns:p14="http://schemas.microsoft.com/office/powerpoint/2010/main" val="42613039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2"/>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3315" name="Slide Number Placeholder 3"/>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B2910A1D-C689-FA44-8440-3D86BF913526}" type="slidenum">
              <a:rPr lang="en-US" sz="1000">
                <a:latin typeface="Arial" charset="0"/>
              </a:rPr>
              <a:pPr/>
              <a:t>68</a:t>
            </a:fld>
            <a:endParaRPr lang="en-US" sz="1000">
              <a:latin typeface="Arial" charset="0"/>
            </a:endParaRPr>
          </a:p>
        </p:txBody>
      </p:sp>
      <p:sp>
        <p:nvSpPr>
          <p:cNvPr id="13316" name="Rectangle 3"/>
          <p:cNvSpPr>
            <a:spLocks noGrp="1" noChangeArrowheads="1"/>
          </p:cNvSpPr>
          <p:nvPr>
            <p:ph type="title"/>
          </p:nvPr>
        </p:nvSpPr>
        <p:spPr>
          <a:xfrm>
            <a:off x="609600" y="228600"/>
            <a:ext cx="8534400" cy="1143000"/>
          </a:xfrm>
        </p:spPr>
        <p:txBody>
          <a:bodyPr/>
          <a:lstStyle/>
          <a:p>
            <a:pPr eaLnBrk="1" hangingPunct="1"/>
            <a:r>
              <a:rPr lang="en-US" sz="3200">
                <a:latin typeface="Lucida Sans Unicode" charset="0"/>
                <a:cs typeface="Lucida Sans Unicode" charset="0"/>
              </a:rPr>
              <a:t>Need for Competition Synchronization</a:t>
            </a:r>
          </a:p>
        </p:txBody>
      </p:sp>
      <p:pic>
        <p:nvPicPr>
          <p:cNvPr id="13317"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2590800"/>
            <a:ext cx="7239000" cy="2954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3318" name="TextBox 6"/>
          <p:cNvSpPr txBox="1">
            <a:spLocks noChangeArrowheads="1"/>
          </p:cNvSpPr>
          <p:nvPr/>
        </p:nvSpPr>
        <p:spPr bwMode="auto">
          <a:xfrm>
            <a:off x="685800" y="1600200"/>
            <a:ext cx="8305800" cy="830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a:solidFill>
                  <a:srgbClr val="666699"/>
                </a:solidFill>
              </a:rPr>
              <a:t>Task A: </a:t>
            </a:r>
            <a:r>
              <a:rPr lang="en-US" sz="2000">
                <a:solidFill>
                  <a:srgbClr val="666699"/>
                </a:solidFill>
                <a:latin typeface="Courier New" charset="0"/>
                <a:cs typeface="Courier New" charset="0"/>
              </a:rPr>
              <a:t>TOTAL = TOTAL + 1</a:t>
            </a:r>
          </a:p>
          <a:p>
            <a:r>
              <a:rPr lang="en-US">
                <a:solidFill>
                  <a:srgbClr val="666699"/>
                </a:solidFill>
              </a:rPr>
              <a:t>Task B: </a:t>
            </a:r>
            <a:r>
              <a:rPr lang="en-US" sz="2000">
                <a:solidFill>
                  <a:srgbClr val="666699"/>
                </a:solidFill>
                <a:latin typeface="Courier New" charset="0"/>
                <a:cs typeface="Courier New" charset="0"/>
              </a:rPr>
              <a:t>TOTAL = 2 * TOTAL</a:t>
            </a:r>
          </a:p>
        </p:txBody>
      </p:sp>
      <p:sp>
        <p:nvSpPr>
          <p:cNvPr id="13319" name="TextBox 7"/>
          <p:cNvSpPr txBox="1">
            <a:spLocks noChangeArrowheads="1"/>
          </p:cNvSpPr>
          <p:nvPr/>
        </p:nvSpPr>
        <p:spPr bwMode="auto">
          <a:xfrm>
            <a:off x="914400" y="5791200"/>
            <a:ext cx="7543800"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a:solidFill>
                  <a:srgbClr val="666699"/>
                </a:solidFill>
              </a:rPr>
              <a:t>- Depending on order, there could be four different results</a:t>
            </a:r>
          </a:p>
        </p:txBody>
      </p:sp>
    </p:spTree>
    <p:extLst>
      <p:ext uri="{BB962C8B-B14F-4D97-AF65-F5344CB8AC3E}">
        <p14:creationId xmlns:p14="http://schemas.microsoft.com/office/powerpoint/2010/main" val="42015901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433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976821FA-16AE-0D43-BA56-276AE03B8E72}" type="slidenum">
              <a:rPr lang="en-US" sz="1000">
                <a:latin typeface="Arial" charset="0"/>
              </a:rPr>
              <a:pPr/>
              <a:t>69</a:t>
            </a:fld>
            <a:endParaRPr lang="en-US" sz="1000">
              <a:latin typeface="Arial" charset="0"/>
            </a:endParaRPr>
          </a:p>
        </p:txBody>
      </p:sp>
      <p:sp>
        <p:nvSpPr>
          <p:cNvPr id="14340" name="Rectangle 4"/>
          <p:cNvSpPr>
            <a:spLocks noGrp="1" noChangeArrowheads="1"/>
          </p:cNvSpPr>
          <p:nvPr>
            <p:ph type="title"/>
          </p:nvPr>
        </p:nvSpPr>
        <p:spPr/>
        <p:txBody>
          <a:bodyPr/>
          <a:lstStyle/>
          <a:p>
            <a:pPr eaLnBrk="1" hangingPunct="1"/>
            <a:r>
              <a:rPr lang="en-US" sz="3200">
                <a:latin typeface="Lucida Sans Unicode" charset="0"/>
                <a:cs typeface="Lucida Sans Unicode" charset="0"/>
              </a:rPr>
              <a:t>Scheduler</a:t>
            </a:r>
          </a:p>
        </p:txBody>
      </p:sp>
      <p:sp>
        <p:nvSpPr>
          <p:cNvPr id="14341" name="Rectangle 5"/>
          <p:cNvSpPr>
            <a:spLocks noGrp="1" noChangeArrowheads="1"/>
          </p:cNvSpPr>
          <p:nvPr>
            <p:ph type="body" idx="1"/>
          </p:nvPr>
        </p:nvSpPr>
        <p:spPr>
          <a:xfrm>
            <a:off x="533400" y="1600200"/>
            <a:ext cx="8153400" cy="4267200"/>
          </a:xfrm>
        </p:spPr>
        <p:txBody>
          <a:bodyPr/>
          <a:lstStyle/>
          <a:p>
            <a:pPr eaLnBrk="1" hangingPunct="1"/>
            <a:r>
              <a:rPr lang="en-US">
                <a:latin typeface="Lucida Sans Unicode" charset="0"/>
                <a:cs typeface="Lucida Sans Unicode" charset="0"/>
              </a:rPr>
              <a:t>Providing synchronization requires a mechanism for delaying task execution</a:t>
            </a:r>
          </a:p>
          <a:p>
            <a:pPr eaLnBrk="1" hangingPunct="1"/>
            <a:r>
              <a:rPr lang="en-US">
                <a:latin typeface="Lucida Sans Unicode" charset="0"/>
                <a:cs typeface="Lucida Sans Unicode" charset="0"/>
              </a:rPr>
              <a:t>Task execution control is maintained by a program called the </a:t>
            </a:r>
            <a:r>
              <a:rPr lang="en-US" i="1">
                <a:latin typeface="Lucida Sans Unicode" charset="0"/>
                <a:cs typeface="Lucida Sans Unicode" charset="0"/>
              </a:rPr>
              <a:t>scheduler</a:t>
            </a:r>
            <a:r>
              <a:rPr lang="en-US">
                <a:latin typeface="Lucida Sans Unicode" charset="0"/>
                <a:cs typeface="Lucida Sans Unicode" charset="0"/>
              </a:rPr>
              <a:t>, which maps task execution onto available processors</a:t>
            </a:r>
          </a:p>
        </p:txBody>
      </p:sp>
    </p:spTree>
    <p:extLst>
      <p:ext uri="{BB962C8B-B14F-4D97-AF65-F5344CB8AC3E}">
        <p14:creationId xmlns:p14="http://schemas.microsoft.com/office/powerpoint/2010/main" val="37132451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536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8B06CA09-51F1-9E45-9CB4-78B54AF187D8}" type="slidenum">
              <a:rPr lang="en-US" sz="1000">
                <a:latin typeface="Arial" charset="0"/>
              </a:rPr>
              <a:pPr/>
              <a:t>70</a:t>
            </a:fld>
            <a:endParaRPr lang="en-US" sz="1000">
              <a:latin typeface="Arial" charset="0"/>
            </a:endParaRPr>
          </a:p>
        </p:txBody>
      </p:sp>
      <p:sp>
        <p:nvSpPr>
          <p:cNvPr id="15364" name="Rectangle 2"/>
          <p:cNvSpPr>
            <a:spLocks noGrp="1" noChangeArrowheads="1"/>
          </p:cNvSpPr>
          <p:nvPr>
            <p:ph type="title"/>
          </p:nvPr>
        </p:nvSpPr>
        <p:spPr/>
        <p:txBody>
          <a:bodyPr/>
          <a:lstStyle/>
          <a:p>
            <a:pPr eaLnBrk="1" hangingPunct="1"/>
            <a:r>
              <a:rPr lang="en-US">
                <a:latin typeface="Lucida Sans Unicode" charset="0"/>
                <a:cs typeface="Lucida Sans Unicode" charset="0"/>
              </a:rPr>
              <a:t>Task Execution States</a:t>
            </a:r>
          </a:p>
        </p:txBody>
      </p:sp>
      <p:sp>
        <p:nvSpPr>
          <p:cNvPr id="15365" name="Rectangle 3"/>
          <p:cNvSpPr>
            <a:spLocks noGrp="1" noChangeArrowheads="1"/>
          </p:cNvSpPr>
          <p:nvPr>
            <p:ph type="body" idx="1"/>
          </p:nvPr>
        </p:nvSpPr>
        <p:spPr>
          <a:xfrm>
            <a:off x="533400" y="1447800"/>
            <a:ext cx="7315200" cy="4495800"/>
          </a:xfrm>
        </p:spPr>
        <p:txBody>
          <a:bodyPr/>
          <a:lstStyle/>
          <a:p>
            <a:pPr eaLnBrk="1" hangingPunct="1"/>
            <a:r>
              <a:rPr lang="en-US" i="1">
                <a:solidFill>
                  <a:schemeClr val="tx2"/>
                </a:solidFill>
                <a:latin typeface="Lucida Sans Unicode" charset="0"/>
                <a:cs typeface="Lucida Sans Unicode" charset="0"/>
              </a:rPr>
              <a:t>New</a:t>
            </a:r>
            <a:r>
              <a:rPr lang="en-US">
                <a:latin typeface="Lucida Sans Unicode" charset="0"/>
                <a:cs typeface="Lucida Sans Unicode" charset="0"/>
              </a:rPr>
              <a:t> - created but not yet started</a:t>
            </a:r>
          </a:p>
          <a:p>
            <a:pPr eaLnBrk="1" hangingPunct="1"/>
            <a:r>
              <a:rPr lang="en-US" i="1">
                <a:solidFill>
                  <a:schemeClr val="tx2"/>
                </a:solidFill>
                <a:latin typeface="Lucida Sans Unicode" charset="0"/>
                <a:cs typeface="Lucida Sans Unicode" charset="0"/>
              </a:rPr>
              <a:t>R</a:t>
            </a:r>
            <a:r>
              <a:rPr lang="en-US">
                <a:solidFill>
                  <a:schemeClr val="tx2"/>
                </a:solidFill>
                <a:latin typeface="Lucida Sans Unicode" charset="0"/>
                <a:cs typeface="Lucida Sans Unicode" charset="0"/>
              </a:rPr>
              <a:t>eady</a:t>
            </a:r>
            <a:r>
              <a:rPr lang="en-US">
                <a:latin typeface="Lucida Sans Unicode" charset="0"/>
                <a:cs typeface="Lucida Sans Unicode" charset="0"/>
              </a:rPr>
              <a:t> - ready to run but not currently running (no available processor)</a:t>
            </a:r>
          </a:p>
          <a:p>
            <a:pPr eaLnBrk="1" hangingPunct="1"/>
            <a:r>
              <a:rPr lang="en-US" i="1">
                <a:solidFill>
                  <a:schemeClr val="tx2"/>
                </a:solidFill>
                <a:latin typeface="Lucida Sans Unicode" charset="0"/>
                <a:cs typeface="Lucida Sans Unicode" charset="0"/>
              </a:rPr>
              <a:t>Running</a:t>
            </a:r>
            <a:r>
              <a:rPr lang="en-US">
                <a:latin typeface="Lucida Sans Unicode" charset="0"/>
                <a:cs typeface="Lucida Sans Unicode" charset="0"/>
              </a:rPr>
              <a:t> </a:t>
            </a:r>
          </a:p>
          <a:p>
            <a:pPr eaLnBrk="1" hangingPunct="1"/>
            <a:r>
              <a:rPr lang="en-US" i="1">
                <a:solidFill>
                  <a:schemeClr val="tx2"/>
                </a:solidFill>
                <a:latin typeface="Lucida Sans Unicode" charset="0"/>
                <a:cs typeface="Lucida Sans Unicode" charset="0"/>
              </a:rPr>
              <a:t>Blocked</a:t>
            </a:r>
            <a:r>
              <a:rPr lang="en-US">
                <a:latin typeface="Lucida Sans Unicode" charset="0"/>
                <a:cs typeface="Lucida Sans Unicode" charset="0"/>
              </a:rPr>
              <a:t> - has been running, but cannot now continue (usually waiting for some event to occur)</a:t>
            </a:r>
          </a:p>
          <a:p>
            <a:pPr eaLnBrk="1" hangingPunct="1"/>
            <a:r>
              <a:rPr lang="en-US" i="1">
                <a:solidFill>
                  <a:schemeClr val="tx2"/>
                </a:solidFill>
                <a:latin typeface="Lucida Sans Unicode" charset="0"/>
                <a:cs typeface="Lucida Sans Unicode" charset="0"/>
              </a:rPr>
              <a:t>Dead</a:t>
            </a:r>
            <a:r>
              <a:rPr lang="en-US">
                <a:latin typeface="Lucida Sans Unicode" charset="0"/>
                <a:cs typeface="Lucida Sans Unicode" charset="0"/>
              </a:rPr>
              <a:t> - no longer active in any sense</a:t>
            </a:r>
          </a:p>
        </p:txBody>
      </p:sp>
    </p:spTree>
    <p:extLst>
      <p:ext uri="{BB962C8B-B14F-4D97-AF65-F5344CB8AC3E}">
        <p14:creationId xmlns:p14="http://schemas.microsoft.com/office/powerpoint/2010/main" val="29012240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atin typeface="Lucida Sans Unicode" charset="0"/>
                <a:cs typeface="Lucida Sans Unicode" charset="0"/>
              </a:rPr>
              <a:t>Task Execution States </a:t>
            </a:r>
            <a:r>
              <a:rPr lang="en-US" sz="2800">
                <a:latin typeface="Lucida Sans Unicode" charset="0"/>
                <a:cs typeface="Lucida Sans Unicode" charset="0"/>
              </a:rPr>
              <a:t>(continued)</a:t>
            </a:r>
          </a:p>
        </p:txBody>
      </p:sp>
      <p:sp>
        <p:nvSpPr>
          <p:cNvPr id="16387" name="Content Placeholder 2"/>
          <p:cNvSpPr>
            <a:spLocks noGrp="1"/>
          </p:cNvSpPr>
          <p:nvPr>
            <p:ph idx="1"/>
          </p:nvPr>
        </p:nvSpPr>
        <p:spPr/>
        <p:txBody>
          <a:bodyPr/>
          <a:lstStyle/>
          <a:p>
            <a:pPr>
              <a:buFontTx/>
              <a:buNone/>
            </a:pPr>
            <a:endParaRPr lang="nl-NL">
              <a:latin typeface="Lucida Sans Unicode" charset="0"/>
              <a:cs typeface="Lucida Sans Unicode" charset="0"/>
            </a:endParaRPr>
          </a:p>
        </p:txBody>
      </p:sp>
      <p:sp>
        <p:nvSpPr>
          <p:cNvPr id="1638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638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36D2F2D1-2203-A04B-8135-7CBF46D0C3E2}" type="slidenum">
              <a:rPr lang="en-US" sz="1000">
                <a:latin typeface="Arial" charset="0"/>
              </a:rPr>
              <a:pPr/>
              <a:t>71</a:t>
            </a:fld>
            <a:endParaRPr lang="en-US" sz="1000">
              <a:latin typeface="Arial" charset="0"/>
            </a:endParaRPr>
          </a:p>
        </p:txBody>
      </p:sp>
      <p:pic>
        <p:nvPicPr>
          <p:cNvPr id="112642" name="Picture 2" descr="https://www.andrew.cmu.edu/course/15-440-sp09/applications/ln/proc_state.jpg"/>
          <p:cNvPicPr>
            <a:picLocks noChangeAspect="1" noChangeArrowheads="1"/>
          </p:cNvPicPr>
          <p:nvPr/>
        </p:nvPicPr>
        <p:blipFill>
          <a:blip r:embed="rId2" cstate="print"/>
          <a:srcRect/>
          <a:stretch>
            <a:fillRect/>
          </a:stretch>
        </p:blipFill>
        <p:spPr bwMode="auto">
          <a:xfrm>
            <a:off x="899592" y="1628800"/>
            <a:ext cx="7369340" cy="3371081"/>
          </a:xfrm>
          <a:prstGeom prst="rect">
            <a:avLst/>
          </a:prstGeom>
          <a:noFill/>
        </p:spPr>
      </p:pic>
    </p:spTree>
    <p:extLst>
      <p:ext uri="{BB962C8B-B14F-4D97-AF65-F5344CB8AC3E}">
        <p14:creationId xmlns:p14="http://schemas.microsoft.com/office/powerpoint/2010/main" val="32397109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741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57AE7639-41F0-0844-B0E9-DCA720F0C315}" type="slidenum">
              <a:rPr lang="en-US" sz="1000">
                <a:latin typeface="Arial" charset="0"/>
              </a:rPr>
              <a:pPr/>
              <a:t>72</a:t>
            </a:fld>
            <a:endParaRPr lang="en-US" sz="1000">
              <a:latin typeface="Arial" charset="0"/>
            </a:endParaRPr>
          </a:p>
        </p:txBody>
      </p:sp>
      <p:sp>
        <p:nvSpPr>
          <p:cNvPr id="17412" name="Rectangle 4"/>
          <p:cNvSpPr>
            <a:spLocks noGrp="1" noChangeArrowheads="1"/>
          </p:cNvSpPr>
          <p:nvPr>
            <p:ph type="title"/>
          </p:nvPr>
        </p:nvSpPr>
        <p:spPr/>
        <p:txBody>
          <a:bodyPr/>
          <a:lstStyle/>
          <a:p>
            <a:pPr eaLnBrk="1" hangingPunct="1"/>
            <a:r>
              <a:rPr lang="en-US">
                <a:latin typeface="Lucida Sans Unicode" charset="0"/>
                <a:cs typeface="Lucida Sans Unicode" charset="0"/>
              </a:rPr>
              <a:t>Liveness and Deadlock</a:t>
            </a:r>
          </a:p>
        </p:txBody>
      </p:sp>
      <p:sp>
        <p:nvSpPr>
          <p:cNvPr id="17413" name="Rectangle 5"/>
          <p:cNvSpPr>
            <a:spLocks noGrp="1" noChangeArrowheads="1"/>
          </p:cNvSpPr>
          <p:nvPr>
            <p:ph type="body" idx="1"/>
          </p:nvPr>
        </p:nvSpPr>
        <p:spPr/>
        <p:txBody>
          <a:bodyPr/>
          <a:lstStyle/>
          <a:p>
            <a:pPr eaLnBrk="1" hangingPunct="1"/>
            <a:r>
              <a:rPr lang="en-US" i="1">
                <a:latin typeface="Lucida Sans Unicode" charset="0"/>
                <a:cs typeface="Lucida Sans Unicode" charset="0"/>
              </a:rPr>
              <a:t>Liveness</a:t>
            </a:r>
            <a:r>
              <a:rPr lang="en-US">
                <a:latin typeface="Lucida Sans Unicode" charset="0"/>
                <a:cs typeface="Lucida Sans Unicode" charset="0"/>
              </a:rPr>
              <a:t> is a characteristic that a program unit may or may not have</a:t>
            </a:r>
            <a:br>
              <a:rPr lang="en-US">
                <a:latin typeface="Lucida Sans Unicode" charset="0"/>
                <a:cs typeface="Lucida Sans Unicode" charset="0"/>
              </a:rPr>
            </a:br>
            <a:r>
              <a:rPr lang="en-US">
                <a:latin typeface="Lucida Sans Unicode" charset="0"/>
                <a:cs typeface="Lucida Sans Unicode" charset="0"/>
              </a:rPr>
              <a:t>- In sequential code, it means the unit will</a:t>
            </a:r>
            <a:br>
              <a:rPr lang="en-US">
                <a:latin typeface="Lucida Sans Unicode" charset="0"/>
                <a:cs typeface="Lucida Sans Unicode" charset="0"/>
              </a:rPr>
            </a:br>
            <a:r>
              <a:rPr lang="en-US">
                <a:latin typeface="Lucida Sans Unicode" charset="0"/>
                <a:cs typeface="Lucida Sans Unicode" charset="0"/>
              </a:rPr>
              <a:t>    eventually complete its execution</a:t>
            </a:r>
          </a:p>
          <a:p>
            <a:pPr eaLnBrk="1" hangingPunct="1"/>
            <a:r>
              <a:rPr lang="en-US">
                <a:latin typeface="Lucida Sans Unicode" charset="0"/>
                <a:cs typeface="Lucida Sans Unicode" charset="0"/>
              </a:rPr>
              <a:t>In a concurrent environment, a task can easily lose its liveness</a:t>
            </a:r>
          </a:p>
          <a:p>
            <a:pPr eaLnBrk="1" hangingPunct="1"/>
            <a:r>
              <a:rPr lang="en-US">
                <a:latin typeface="Lucida Sans Unicode" charset="0"/>
                <a:cs typeface="Lucida Sans Unicode" charset="0"/>
              </a:rPr>
              <a:t>If all tasks in a concurrent environment lose their liveness, it is called </a:t>
            </a:r>
            <a:r>
              <a:rPr lang="en-US" i="1">
                <a:latin typeface="Lucida Sans Unicode" charset="0"/>
                <a:cs typeface="Lucida Sans Unicode" charset="0"/>
              </a:rPr>
              <a:t>deadlock</a:t>
            </a:r>
          </a:p>
        </p:txBody>
      </p:sp>
    </p:spTree>
    <p:extLst>
      <p:ext uri="{BB962C8B-B14F-4D97-AF65-F5344CB8AC3E}">
        <p14:creationId xmlns:p14="http://schemas.microsoft.com/office/powerpoint/2010/main" val="30727511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err="1"/>
              <a:t>Starvation</a:t>
            </a:r>
            <a:endParaRPr lang="nl-NL" dirty="0"/>
          </a:p>
        </p:txBody>
      </p:sp>
      <p:pic>
        <p:nvPicPr>
          <p:cNvPr id="6" name="Tijdelijke aanduiding voor inhoud 5"/>
          <p:cNvPicPr>
            <a:picLocks noGrp="1" noChangeAspect="1"/>
          </p:cNvPicPr>
          <p:nvPr>
            <p:ph idx="1"/>
          </p:nvPr>
        </p:nvPicPr>
        <p:blipFill rotWithShape="1">
          <a:blip r:embed="rId2"/>
          <a:srcRect l="-3593" r="-52"/>
          <a:stretch/>
        </p:blipFill>
        <p:spPr>
          <a:xfrm>
            <a:off x="4369663" y="1279525"/>
            <a:ext cx="4162777" cy="4165699"/>
          </a:xfrm>
        </p:spPr>
      </p:pic>
      <p:sp>
        <p:nvSpPr>
          <p:cNvPr id="4" name="Tijdelijke aanduiding voor voettekst 3"/>
          <p:cNvSpPr>
            <a:spLocks noGrp="1"/>
          </p:cNvSpPr>
          <p:nvPr>
            <p:ph type="ftr" sz="quarter" idx="10"/>
          </p:nvPr>
        </p:nvSpPr>
        <p:spPr/>
        <p:txBody>
          <a:bodyPr/>
          <a:lstStyle/>
          <a:p>
            <a:r>
              <a:rPr lang="en-US" dirty="0"/>
              <a:t>Source: Dijkstra, </a:t>
            </a:r>
            <a:r>
              <a:rPr lang="en-US" dirty="0" err="1"/>
              <a:t>Edsger</a:t>
            </a:r>
            <a:r>
              <a:rPr lang="en-US" dirty="0"/>
              <a:t> W. EWD-1000. E.W. </a:t>
            </a:r>
            <a:r>
              <a:rPr lang="en-US" dirty="0" err="1"/>
              <a:t>Dijkstra</a:t>
            </a:r>
            <a:r>
              <a:rPr lang="en-US" dirty="0"/>
              <a:t> Archive. Center for American History, University of Texas at Austin.</a:t>
            </a:r>
          </a:p>
        </p:txBody>
      </p:sp>
      <p:sp>
        <p:nvSpPr>
          <p:cNvPr id="5" name="Tijdelijke aanduiding voor dianummer 4"/>
          <p:cNvSpPr>
            <a:spLocks noGrp="1"/>
          </p:cNvSpPr>
          <p:nvPr>
            <p:ph type="sldNum" sz="quarter" idx="11"/>
          </p:nvPr>
        </p:nvSpPr>
        <p:spPr/>
        <p:txBody>
          <a:bodyPr/>
          <a:lstStyle/>
          <a:p>
            <a:r>
              <a:rPr lang="en-US"/>
              <a:t>1-</a:t>
            </a:r>
            <a:fld id="{2AA2123A-1ADD-9148-80CF-542193183EC8}" type="slidenum">
              <a:rPr lang="en-US" smtClean="0"/>
              <a:pPr/>
              <a:t>73</a:t>
            </a:fld>
            <a:endParaRPr lang="en-US"/>
          </a:p>
        </p:txBody>
      </p:sp>
      <p:sp>
        <p:nvSpPr>
          <p:cNvPr id="8" name="Tekstvak 7"/>
          <p:cNvSpPr txBox="1"/>
          <p:nvPr/>
        </p:nvSpPr>
        <p:spPr>
          <a:xfrm>
            <a:off x="755576" y="1268760"/>
            <a:ext cx="3816424" cy="2862322"/>
          </a:xfrm>
          <a:prstGeom prst="rect">
            <a:avLst/>
          </a:prstGeom>
          <a:noFill/>
        </p:spPr>
        <p:txBody>
          <a:bodyPr wrap="square" rtlCol="0">
            <a:spAutoFit/>
          </a:bodyPr>
          <a:lstStyle/>
          <a:p>
            <a:pPr marL="285750" indent="-285750">
              <a:buFont typeface="Arial"/>
              <a:buChar char="•"/>
            </a:pPr>
            <a:r>
              <a:rPr lang="nl-NL" sz="2000" dirty="0" err="1"/>
              <a:t>think</a:t>
            </a:r>
            <a:r>
              <a:rPr lang="nl-NL" sz="2000" dirty="0"/>
              <a:t> </a:t>
            </a:r>
            <a:r>
              <a:rPr lang="nl-NL" sz="2000" dirty="0" err="1"/>
              <a:t>until</a:t>
            </a:r>
            <a:r>
              <a:rPr lang="nl-NL" sz="2000" dirty="0"/>
              <a:t> the </a:t>
            </a:r>
            <a:r>
              <a:rPr lang="nl-NL" sz="2000" dirty="0" err="1"/>
              <a:t>left</a:t>
            </a:r>
            <a:r>
              <a:rPr lang="nl-NL" sz="2000" dirty="0"/>
              <a:t> </a:t>
            </a:r>
            <a:r>
              <a:rPr lang="nl-NL" sz="2000" dirty="0" err="1"/>
              <a:t>fork</a:t>
            </a:r>
            <a:r>
              <a:rPr lang="nl-NL" sz="2000" dirty="0"/>
              <a:t> is </a:t>
            </a:r>
            <a:r>
              <a:rPr lang="nl-NL" sz="2000" dirty="0" err="1"/>
              <a:t>available</a:t>
            </a:r>
            <a:r>
              <a:rPr lang="nl-NL" sz="2000" dirty="0"/>
              <a:t>; </a:t>
            </a:r>
            <a:r>
              <a:rPr lang="nl-NL" sz="2000" dirty="0" err="1"/>
              <a:t>when</a:t>
            </a:r>
            <a:r>
              <a:rPr lang="nl-NL" sz="2000" dirty="0"/>
              <a:t> </a:t>
            </a:r>
            <a:r>
              <a:rPr lang="nl-NL" sz="2000" dirty="0" err="1"/>
              <a:t>it</a:t>
            </a:r>
            <a:r>
              <a:rPr lang="nl-NL" sz="2000" dirty="0"/>
              <a:t> is, </a:t>
            </a:r>
            <a:r>
              <a:rPr lang="nl-NL" sz="2000" dirty="0" err="1"/>
              <a:t>pick</a:t>
            </a:r>
            <a:r>
              <a:rPr lang="nl-NL" sz="2000" dirty="0"/>
              <a:t> </a:t>
            </a:r>
            <a:r>
              <a:rPr lang="nl-NL" sz="2000" dirty="0" err="1"/>
              <a:t>it</a:t>
            </a:r>
            <a:r>
              <a:rPr lang="nl-NL" sz="2000" dirty="0"/>
              <a:t> up;</a:t>
            </a:r>
          </a:p>
          <a:p>
            <a:pPr marL="285750" indent="-285750">
              <a:buFont typeface="Arial"/>
              <a:buChar char="•"/>
            </a:pPr>
            <a:r>
              <a:rPr lang="nl-NL" sz="2000" dirty="0" err="1"/>
              <a:t>think</a:t>
            </a:r>
            <a:r>
              <a:rPr lang="nl-NL" sz="2000" dirty="0"/>
              <a:t> </a:t>
            </a:r>
            <a:r>
              <a:rPr lang="nl-NL" sz="2000" dirty="0" err="1"/>
              <a:t>until</a:t>
            </a:r>
            <a:r>
              <a:rPr lang="nl-NL" sz="2000" dirty="0"/>
              <a:t> the right </a:t>
            </a:r>
            <a:r>
              <a:rPr lang="nl-NL" sz="2000" dirty="0" err="1"/>
              <a:t>fork</a:t>
            </a:r>
            <a:r>
              <a:rPr lang="nl-NL" sz="2000" dirty="0"/>
              <a:t> is </a:t>
            </a:r>
            <a:r>
              <a:rPr lang="nl-NL" sz="2000" dirty="0" err="1"/>
              <a:t>available</a:t>
            </a:r>
            <a:r>
              <a:rPr lang="nl-NL" sz="2000" dirty="0"/>
              <a:t>; </a:t>
            </a:r>
            <a:r>
              <a:rPr lang="nl-NL" sz="2000" dirty="0" err="1"/>
              <a:t>when</a:t>
            </a:r>
            <a:r>
              <a:rPr lang="nl-NL" sz="2000" dirty="0"/>
              <a:t> </a:t>
            </a:r>
            <a:r>
              <a:rPr lang="nl-NL" sz="2000" dirty="0" err="1"/>
              <a:t>it</a:t>
            </a:r>
            <a:r>
              <a:rPr lang="nl-NL" sz="2000" dirty="0"/>
              <a:t> is, </a:t>
            </a:r>
            <a:r>
              <a:rPr lang="nl-NL" sz="2000" dirty="0" err="1"/>
              <a:t>pick</a:t>
            </a:r>
            <a:r>
              <a:rPr lang="nl-NL" sz="2000" dirty="0"/>
              <a:t> </a:t>
            </a:r>
            <a:r>
              <a:rPr lang="nl-NL" sz="2000" dirty="0" err="1"/>
              <a:t>it</a:t>
            </a:r>
            <a:r>
              <a:rPr lang="nl-NL" sz="2000" dirty="0"/>
              <a:t> up;</a:t>
            </a:r>
          </a:p>
          <a:p>
            <a:pPr marL="285750" indent="-285750">
              <a:buFont typeface="Arial"/>
              <a:buChar char="•"/>
            </a:pPr>
            <a:r>
              <a:rPr lang="nl-NL" sz="2000" dirty="0" err="1"/>
              <a:t>when</a:t>
            </a:r>
            <a:r>
              <a:rPr lang="nl-NL" sz="2000" dirty="0"/>
              <a:t> </a:t>
            </a:r>
            <a:r>
              <a:rPr lang="nl-NL" sz="2000" dirty="0" err="1"/>
              <a:t>both</a:t>
            </a:r>
            <a:r>
              <a:rPr lang="nl-NL" sz="2000" dirty="0"/>
              <a:t> </a:t>
            </a:r>
            <a:r>
              <a:rPr lang="nl-NL" sz="2000" dirty="0" err="1"/>
              <a:t>forks</a:t>
            </a:r>
            <a:r>
              <a:rPr lang="nl-NL" sz="2000" dirty="0"/>
              <a:t> are held, </a:t>
            </a:r>
            <a:r>
              <a:rPr lang="nl-NL" sz="2000" dirty="0" err="1"/>
              <a:t>eat</a:t>
            </a:r>
            <a:r>
              <a:rPr lang="nl-NL" sz="2000" dirty="0"/>
              <a:t> </a:t>
            </a:r>
            <a:r>
              <a:rPr lang="nl-NL" sz="2000" dirty="0" err="1"/>
              <a:t>for</a:t>
            </a:r>
            <a:r>
              <a:rPr lang="nl-NL" sz="2000" dirty="0"/>
              <a:t> a </a:t>
            </a:r>
            <a:r>
              <a:rPr lang="nl-NL" sz="2000" dirty="0" err="1"/>
              <a:t>fixed</a:t>
            </a:r>
            <a:r>
              <a:rPr lang="nl-NL" sz="2000" dirty="0"/>
              <a:t> </a:t>
            </a:r>
            <a:r>
              <a:rPr lang="nl-NL" sz="2000" dirty="0" err="1"/>
              <a:t>amount</a:t>
            </a:r>
            <a:r>
              <a:rPr lang="nl-NL" sz="2000" dirty="0"/>
              <a:t> of time;</a:t>
            </a:r>
          </a:p>
          <a:p>
            <a:pPr marL="285750" indent="-285750">
              <a:buFont typeface="Arial"/>
              <a:buChar char="•"/>
            </a:pPr>
            <a:r>
              <a:rPr lang="nl-NL" sz="2000" dirty="0" err="1"/>
              <a:t>then</a:t>
            </a:r>
            <a:r>
              <a:rPr lang="nl-NL" sz="2000" dirty="0"/>
              <a:t>, put the right </a:t>
            </a:r>
            <a:r>
              <a:rPr lang="nl-NL" sz="2000" dirty="0" err="1"/>
              <a:t>fork</a:t>
            </a:r>
            <a:r>
              <a:rPr lang="nl-NL" sz="2000" dirty="0"/>
              <a:t> down;</a:t>
            </a:r>
          </a:p>
          <a:p>
            <a:pPr marL="285750" indent="-285750">
              <a:buFont typeface="Arial"/>
              <a:buChar char="•"/>
            </a:pPr>
            <a:r>
              <a:rPr lang="nl-NL" sz="2000" dirty="0" err="1"/>
              <a:t>then</a:t>
            </a:r>
            <a:r>
              <a:rPr lang="nl-NL" sz="2000" dirty="0"/>
              <a:t>, put the </a:t>
            </a:r>
            <a:r>
              <a:rPr lang="nl-NL" sz="2000" dirty="0" err="1"/>
              <a:t>left</a:t>
            </a:r>
            <a:r>
              <a:rPr lang="nl-NL" sz="2000" dirty="0"/>
              <a:t> </a:t>
            </a:r>
            <a:r>
              <a:rPr lang="nl-NL" sz="2000" dirty="0" err="1"/>
              <a:t>fork</a:t>
            </a:r>
            <a:r>
              <a:rPr lang="nl-NL" sz="2000" dirty="0"/>
              <a:t> down;</a:t>
            </a:r>
          </a:p>
          <a:p>
            <a:pPr marL="285750" indent="-285750">
              <a:buFont typeface="Arial"/>
              <a:buChar char="•"/>
            </a:pPr>
            <a:r>
              <a:rPr lang="nl-NL" sz="2000" dirty="0" err="1"/>
              <a:t>repeat</a:t>
            </a:r>
            <a:r>
              <a:rPr lang="nl-NL" sz="2000" dirty="0"/>
              <a:t> </a:t>
            </a:r>
            <a:r>
              <a:rPr lang="nl-NL" sz="2000" dirty="0" err="1"/>
              <a:t>from</a:t>
            </a:r>
            <a:r>
              <a:rPr lang="nl-NL" sz="2000" dirty="0"/>
              <a:t> the </a:t>
            </a:r>
            <a:r>
              <a:rPr lang="nl-NL" sz="2000" dirty="0" err="1"/>
              <a:t>beginning</a:t>
            </a:r>
            <a:r>
              <a:rPr lang="nl-NL" sz="2000" dirty="0"/>
              <a:t>.</a:t>
            </a:r>
          </a:p>
        </p:txBody>
      </p:sp>
    </p:spTree>
    <p:extLst>
      <p:ext uri="{BB962C8B-B14F-4D97-AF65-F5344CB8AC3E}">
        <p14:creationId xmlns:p14="http://schemas.microsoft.com/office/powerpoint/2010/main" val="22619913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843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3D2AC6A1-A5E5-8142-9EAD-5246AAE58A68}" type="slidenum">
              <a:rPr lang="en-US" sz="1000">
                <a:latin typeface="Arial" charset="0"/>
              </a:rPr>
              <a:pPr/>
              <a:t>74</a:t>
            </a:fld>
            <a:endParaRPr lang="en-US" sz="1000">
              <a:latin typeface="Arial" charset="0"/>
            </a:endParaRPr>
          </a:p>
        </p:txBody>
      </p:sp>
      <p:sp>
        <p:nvSpPr>
          <p:cNvPr id="18436" name="Rectangle 4"/>
          <p:cNvSpPr>
            <a:spLocks noGrp="1" noChangeArrowheads="1"/>
          </p:cNvSpPr>
          <p:nvPr>
            <p:ph type="title"/>
          </p:nvPr>
        </p:nvSpPr>
        <p:spPr/>
        <p:txBody>
          <a:bodyPr/>
          <a:lstStyle/>
          <a:p>
            <a:pPr eaLnBrk="1" hangingPunct="1"/>
            <a:r>
              <a:rPr lang="en-US">
                <a:latin typeface="Lucida Sans Unicode" charset="0"/>
                <a:cs typeface="Lucida Sans Unicode" charset="0"/>
              </a:rPr>
              <a:t>Design Issues for Concurrency</a:t>
            </a:r>
          </a:p>
        </p:txBody>
      </p:sp>
      <p:sp>
        <p:nvSpPr>
          <p:cNvPr id="18437" name="Rectangle 5"/>
          <p:cNvSpPr>
            <a:spLocks noGrp="1" noChangeArrowheads="1"/>
          </p:cNvSpPr>
          <p:nvPr>
            <p:ph type="body" idx="1"/>
          </p:nvPr>
        </p:nvSpPr>
        <p:spPr>
          <a:xfrm>
            <a:off x="457200" y="1371600"/>
            <a:ext cx="8153400" cy="4572000"/>
          </a:xfrm>
        </p:spPr>
        <p:txBody>
          <a:bodyPr/>
          <a:lstStyle/>
          <a:p>
            <a:pPr eaLnBrk="1" hangingPunct="1"/>
            <a:r>
              <a:rPr lang="en-US">
                <a:latin typeface="Lucida Sans Unicode" charset="0"/>
                <a:cs typeface="Lucida Sans Unicode" charset="0"/>
              </a:rPr>
              <a:t>Competition and cooperation synchronization*</a:t>
            </a:r>
          </a:p>
          <a:p>
            <a:pPr eaLnBrk="1" hangingPunct="1"/>
            <a:r>
              <a:rPr lang="en-US">
                <a:latin typeface="Lucida Sans Unicode" charset="0"/>
                <a:cs typeface="Lucida Sans Unicode" charset="0"/>
              </a:rPr>
              <a:t>Controlling task scheduling</a:t>
            </a:r>
          </a:p>
          <a:p>
            <a:pPr eaLnBrk="1" hangingPunct="1"/>
            <a:r>
              <a:rPr lang="en-US">
                <a:latin typeface="Lucida Sans Unicode" charset="0"/>
                <a:cs typeface="Lucida Sans Unicode" charset="0"/>
              </a:rPr>
              <a:t>How can an application influence task scheduling</a:t>
            </a:r>
          </a:p>
          <a:p>
            <a:pPr eaLnBrk="1" hangingPunct="1"/>
            <a:r>
              <a:rPr lang="en-US">
                <a:latin typeface="Lucida Sans Unicode" charset="0"/>
                <a:cs typeface="Lucida Sans Unicode" charset="0"/>
              </a:rPr>
              <a:t>How and when tasks start and end execution</a:t>
            </a:r>
          </a:p>
          <a:p>
            <a:pPr eaLnBrk="1" hangingPunct="1"/>
            <a:r>
              <a:rPr lang="en-US">
                <a:latin typeface="Lucida Sans Unicode" charset="0"/>
                <a:cs typeface="Lucida Sans Unicode" charset="0"/>
              </a:rPr>
              <a:t>How and when are tasks created</a:t>
            </a:r>
          </a:p>
          <a:p>
            <a:pPr eaLnBrk="1" hangingPunct="1">
              <a:buFontTx/>
              <a:buNone/>
            </a:pPr>
            <a:r>
              <a:rPr lang="en-US">
                <a:latin typeface="Lucida Sans Unicode" charset="0"/>
                <a:cs typeface="Lucida Sans Unicode" charset="0"/>
              </a:rPr>
              <a:t>     * The most important issue</a:t>
            </a:r>
          </a:p>
        </p:txBody>
      </p:sp>
    </p:spTree>
    <p:extLst>
      <p:ext uri="{BB962C8B-B14F-4D97-AF65-F5344CB8AC3E}">
        <p14:creationId xmlns:p14="http://schemas.microsoft.com/office/powerpoint/2010/main" val="26336507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1945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724D0325-2BCC-D641-AB38-46038A046AC2}" type="slidenum">
              <a:rPr lang="en-US" sz="1000">
                <a:latin typeface="Arial" charset="0"/>
              </a:rPr>
              <a:pPr/>
              <a:t>75</a:t>
            </a:fld>
            <a:endParaRPr lang="en-US" sz="1000">
              <a:latin typeface="Arial" charset="0"/>
            </a:endParaRPr>
          </a:p>
        </p:txBody>
      </p:sp>
      <p:sp>
        <p:nvSpPr>
          <p:cNvPr id="19460" name="Rectangle 4"/>
          <p:cNvSpPr>
            <a:spLocks noGrp="1" noChangeArrowheads="1"/>
          </p:cNvSpPr>
          <p:nvPr>
            <p:ph type="title"/>
          </p:nvPr>
        </p:nvSpPr>
        <p:spPr>
          <a:xfrm>
            <a:off x="609600" y="381000"/>
            <a:ext cx="8382000" cy="1143000"/>
          </a:xfrm>
        </p:spPr>
        <p:txBody>
          <a:bodyPr/>
          <a:lstStyle/>
          <a:p>
            <a:pPr eaLnBrk="1" hangingPunct="1"/>
            <a:r>
              <a:rPr lang="en-US" sz="3200">
                <a:latin typeface="Lucida Sans Unicode" charset="0"/>
                <a:cs typeface="Lucida Sans Unicode" charset="0"/>
              </a:rPr>
              <a:t>Methods of Providing Synchronization</a:t>
            </a:r>
          </a:p>
        </p:txBody>
      </p:sp>
      <p:sp>
        <p:nvSpPr>
          <p:cNvPr id="19461" name="Rectangle 5"/>
          <p:cNvSpPr>
            <a:spLocks noGrp="1" noChangeArrowheads="1"/>
          </p:cNvSpPr>
          <p:nvPr>
            <p:ph type="body" idx="1"/>
          </p:nvPr>
        </p:nvSpPr>
        <p:spPr/>
        <p:txBody>
          <a:bodyPr/>
          <a:lstStyle/>
          <a:p>
            <a:pPr eaLnBrk="1" hangingPunct="1"/>
            <a:r>
              <a:rPr lang="en-US">
                <a:latin typeface="Lucida Sans Unicode" charset="0"/>
                <a:cs typeface="Lucida Sans Unicode" charset="0"/>
              </a:rPr>
              <a:t>Semaphores</a:t>
            </a:r>
          </a:p>
          <a:p>
            <a:pPr eaLnBrk="1" hangingPunct="1"/>
            <a:r>
              <a:rPr lang="en-US">
                <a:latin typeface="Lucida Sans Unicode" charset="0"/>
                <a:cs typeface="Lucida Sans Unicode" charset="0"/>
              </a:rPr>
              <a:t>Monitors</a:t>
            </a:r>
          </a:p>
          <a:p>
            <a:pPr eaLnBrk="1" hangingPunct="1"/>
            <a:r>
              <a:rPr lang="en-US">
                <a:latin typeface="Lucida Sans Unicode" charset="0"/>
                <a:cs typeface="Lucida Sans Unicode" charset="0"/>
              </a:rPr>
              <a:t>Message Passing</a:t>
            </a:r>
          </a:p>
          <a:p>
            <a:pPr eaLnBrk="1" hangingPunct="1">
              <a:buFontTx/>
              <a:buNone/>
            </a:pPr>
            <a:endParaRPr lang="en-US">
              <a:latin typeface="Lucida Sans Unicode" charset="0"/>
              <a:cs typeface="Lucida Sans Unicode" charset="0"/>
            </a:endParaRPr>
          </a:p>
        </p:txBody>
      </p:sp>
    </p:spTree>
    <p:extLst>
      <p:ext uri="{BB962C8B-B14F-4D97-AF65-F5344CB8AC3E}">
        <p14:creationId xmlns:p14="http://schemas.microsoft.com/office/powerpoint/2010/main" val="395572580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048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2ADD0839-D57D-B644-B325-D3EBFF0C6C2E}" type="slidenum">
              <a:rPr lang="en-US" sz="1000">
                <a:latin typeface="Arial" charset="0"/>
              </a:rPr>
              <a:pPr/>
              <a:t>76</a:t>
            </a:fld>
            <a:endParaRPr lang="en-US" sz="1000">
              <a:latin typeface="Arial" charset="0"/>
            </a:endParaRPr>
          </a:p>
        </p:txBody>
      </p:sp>
      <p:sp>
        <p:nvSpPr>
          <p:cNvPr id="20484" name="Rectangle 2"/>
          <p:cNvSpPr>
            <a:spLocks noGrp="1" noChangeArrowheads="1"/>
          </p:cNvSpPr>
          <p:nvPr>
            <p:ph type="title"/>
          </p:nvPr>
        </p:nvSpPr>
        <p:spPr/>
        <p:txBody>
          <a:bodyPr/>
          <a:lstStyle/>
          <a:p>
            <a:pPr eaLnBrk="1" hangingPunct="1"/>
            <a:r>
              <a:rPr lang="en-US">
                <a:latin typeface="Lucida Sans Unicode" charset="0"/>
                <a:cs typeface="Lucida Sans Unicode" charset="0"/>
              </a:rPr>
              <a:t>Semaphores </a:t>
            </a:r>
          </a:p>
        </p:txBody>
      </p:sp>
      <p:sp>
        <p:nvSpPr>
          <p:cNvPr id="20485" name="Rectangle 3"/>
          <p:cNvSpPr>
            <a:spLocks noGrp="1" noChangeArrowheads="1"/>
          </p:cNvSpPr>
          <p:nvPr>
            <p:ph type="body" idx="1"/>
          </p:nvPr>
        </p:nvSpPr>
        <p:spPr>
          <a:xfrm>
            <a:off x="609600" y="1447800"/>
            <a:ext cx="8153400" cy="4572000"/>
          </a:xfrm>
        </p:spPr>
        <p:txBody>
          <a:bodyPr/>
          <a:lstStyle/>
          <a:p>
            <a:pPr eaLnBrk="1" hangingPunct="1"/>
            <a:r>
              <a:rPr lang="en-US" sz="2400">
                <a:latin typeface="Lucida Sans Unicode" charset="0"/>
                <a:cs typeface="Lucida Sans Unicode" charset="0"/>
              </a:rPr>
              <a:t>Dijkstra - 1965</a:t>
            </a:r>
          </a:p>
          <a:p>
            <a:pPr eaLnBrk="1" hangingPunct="1"/>
            <a:r>
              <a:rPr lang="en-US" sz="2400">
                <a:latin typeface="Lucida Sans Unicode" charset="0"/>
                <a:cs typeface="Lucida Sans Unicode" charset="0"/>
              </a:rPr>
              <a:t>A </a:t>
            </a:r>
            <a:r>
              <a:rPr lang="en-US" sz="2400" i="1">
                <a:latin typeface="Lucida Sans Unicode" charset="0"/>
                <a:cs typeface="Lucida Sans Unicode" charset="0"/>
              </a:rPr>
              <a:t>semaphore</a:t>
            </a:r>
            <a:r>
              <a:rPr lang="en-US" sz="2400">
                <a:latin typeface="Lucida Sans Unicode" charset="0"/>
                <a:cs typeface="Lucida Sans Unicode" charset="0"/>
              </a:rPr>
              <a:t> is a data structure consisting of a counter and a queue for storing task descriptors</a:t>
            </a:r>
          </a:p>
          <a:p>
            <a:pPr lvl="1" eaLnBrk="1" hangingPunct="1"/>
            <a:r>
              <a:rPr lang="en-US" sz="2000">
                <a:latin typeface="Lucida Sans Unicode" charset="0"/>
                <a:ea typeface="Lucida Sans Unicode" charset="0"/>
                <a:cs typeface="Lucida Sans Unicode" charset="0"/>
              </a:rPr>
              <a:t>A task descriptor is a data structure that stores all of the relevant information about the execution state of the task</a:t>
            </a:r>
          </a:p>
          <a:p>
            <a:pPr eaLnBrk="1" hangingPunct="1"/>
            <a:r>
              <a:rPr lang="en-US" sz="2400">
                <a:latin typeface="Lucida Sans Unicode" charset="0"/>
                <a:cs typeface="Lucida Sans Unicode" charset="0"/>
              </a:rPr>
              <a:t>Semaphores can be used to implement guards on the code that accesses shared data structures</a:t>
            </a:r>
          </a:p>
          <a:p>
            <a:pPr eaLnBrk="1" hangingPunct="1"/>
            <a:r>
              <a:rPr lang="en-US" sz="2400">
                <a:latin typeface="Lucida Sans Unicode" charset="0"/>
                <a:cs typeface="Lucida Sans Unicode" charset="0"/>
              </a:rPr>
              <a:t>Semaphores have only two operations, </a:t>
            </a:r>
            <a:r>
              <a:rPr lang="en-US" sz="2400" i="1">
                <a:latin typeface="Lucida Sans Unicode" charset="0"/>
                <a:cs typeface="Lucida Sans Unicode" charset="0"/>
              </a:rPr>
              <a:t>wait</a:t>
            </a:r>
            <a:r>
              <a:rPr lang="en-US" sz="2400">
                <a:latin typeface="Lucida Sans Unicode" charset="0"/>
                <a:cs typeface="Lucida Sans Unicode" charset="0"/>
              </a:rPr>
              <a:t> and </a:t>
            </a:r>
            <a:r>
              <a:rPr lang="en-US" sz="2400" i="1">
                <a:latin typeface="Lucida Sans Unicode" charset="0"/>
                <a:cs typeface="Lucida Sans Unicode" charset="0"/>
              </a:rPr>
              <a:t>release</a:t>
            </a:r>
            <a:r>
              <a:rPr lang="en-US" sz="2400">
                <a:latin typeface="Lucida Sans Unicode" charset="0"/>
                <a:cs typeface="Lucida Sans Unicode" charset="0"/>
              </a:rPr>
              <a:t> (originally called </a:t>
            </a:r>
            <a:r>
              <a:rPr lang="en-US" sz="2400" i="1">
                <a:latin typeface="Lucida Sans Unicode" charset="0"/>
                <a:cs typeface="Lucida Sans Unicode" charset="0"/>
              </a:rPr>
              <a:t>P</a:t>
            </a:r>
            <a:r>
              <a:rPr lang="en-US" sz="2400">
                <a:latin typeface="Lucida Sans Unicode" charset="0"/>
                <a:cs typeface="Lucida Sans Unicode" charset="0"/>
              </a:rPr>
              <a:t> and </a:t>
            </a:r>
            <a:r>
              <a:rPr lang="en-US" sz="2400" i="1">
                <a:latin typeface="Lucida Sans Unicode" charset="0"/>
                <a:cs typeface="Lucida Sans Unicode" charset="0"/>
              </a:rPr>
              <a:t>V</a:t>
            </a:r>
            <a:r>
              <a:rPr lang="en-US" sz="2400">
                <a:latin typeface="Lucida Sans Unicode" charset="0"/>
                <a:cs typeface="Lucida Sans Unicode" charset="0"/>
              </a:rPr>
              <a:t> by Dijkstra)</a:t>
            </a:r>
          </a:p>
          <a:p>
            <a:pPr eaLnBrk="1" hangingPunct="1"/>
            <a:r>
              <a:rPr lang="en-US" sz="2400">
                <a:latin typeface="Lucida Sans Unicode" charset="0"/>
                <a:cs typeface="Lucida Sans Unicode" charset="0"/>
              </a:rPr>
              <a:t>Semaphores can be used to provide both competition and cooperation synchronization</a:t>
            </a:r>
          </a:p>
        </p:txBody>
      </p:sp>
    </p:spTree>
    <p:extLst>
      <p:ext uri="{BB962C8B-B14F-4D97-AF65-F5344CB8AC3E}">
        <p14:creationId xmlns:p14="http://schemas.microsoft.com/office/powerpoint/2010/main" val="14027913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150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D87CF7D4-9FD2-704C-8027-C08B8AB1F958}" type="slidenum">
              <a:rPr lang="en-US" sz="1000">
                <a:latin typeface="Arial" charset="0"/>
              </a:rPr>
              <a:pPr/>
              <a:t>77</a:t>
            </a:fld>
            <a:endParaRPr lang="en-US" sz="1000">
              <a:latin typeface="Arial" charset="0"/>
            </a:endParaRPr>
          </a:p>
        </p:txBody>
      </p:sp>
      <p:sp>
        <p:nvSpPr>
          <p:cNvPr id="21508" name="Rectangle 2"/>
          <p:cNvSpPr>
            <a:spLocks noGrp="1" noChangeArrowheads="1"/>
          </p:cNvSpPr>
          <p:nvPr>
            <p:ph type="title"/>
          </p:nvPr>
        </p:nvSpPr>
        <p:spPr>
          <a:xfrm>
            <a:off x="609600" y="228600"/>
            <a:ext cx="8153400" cy="1143000"/>
          </a:xfrm>
        </p:spPr>
        <p:txBody>
          <a:bodyPr/>
          <a:lstStyle/>
          <a:p>
            <a:pPr eaLnBrk="1" hangingPunct="1"/>
            <a:r>
              <a:rPr lang="en-US" sz="3200">
                <a:latin typeface="Lucida Sans Unicode" charset="0"/>
                <a:cs typeface="Lucida Sans Unicode" charset="0"/>
              </a:rPr>
              <a:t>Cooperation Synchronization with Semaphores</a:t>
            </a:r>
          </a:p>
        </p:txBody>
      </p:sp>
      <p:sp>
        <p:nvSpPr>
          <p:cNvPr id="21509"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Example: A shared buffer</a:t>
            </a:r>
          </a:p>
          <a:p>
            <a:pPr eaLnBrk="1" hangingPunct="1"/>
            <a:r>
              <a:rPr lang="en-US">
                <a:latin typeface="Lucida Sans Unicode" charset="0"/>
                <a:cs typeface="Lucida Sans Unicode" charset="0"/>
              </a:rPr>
              <a:t>The buffer is implemented as an ADT with the operations </a:t>
            </a:r>
            <a:r>
              <a:rPr lang="en-US">
                <a:latin typeface="Courier New" charset="0"/>
                <a:cs typeface="Lucida Sans Unicode" charset="0"/>
              </a:rPr>
              <a:t>DEPOSIT</a:t>
            </a:r>
            <a:r>
              <a:rPr lang="en-US">
                <a:latin typeface="Lucida Sans Unicode" charset="0"/>
                <a:cs typeface="Lucida Sans Unicode" charset="0"/>
              </a:rPr>
              <a:t> and </a:t>
            </a:r>
            <a:r>
              <a:rPr lang="en-US">
                <a:latin typeface="Courier New" charset="0"/>
                <a:cs typeface="Lucida Sans Unicode" charset="0"/>
              </a:rPr>
              <a:t>FETCH</a:t>
            </a:r>
            <a:r>
              <a:rPr lang="en-US">
                <a:latin typeface="Lucida Sans Unicode" charset="0"/>
                <a:cs typeface="Lucida Sans Unicode" charset="0"/>
              </a:rPr>
              <a:t> as the only ways to access the buffer</a:t>
            </a:r>
          </a:p>
          <a:p>
            <a:pPr eaLnBrk="1" hangingPunct="1"/>
            <a:r>
              <a:rPr lang="en-US">
                <a:latin typeface="Lucida Sans Unicode" charset="0"/>
                <a:cs typeface="Lucida Sans Unicode" charset="0"/>
              </a:rPr>
              <a:t>Use two semaphores for cooperation: </a:t>
            </a:r>
            <a:r>
              <a:rPr lang="en-US">
                <a:latin typeface="Courier New" charset="0"/>
                <a:cs typeface="Lucida Sans Unicode" charset="0"/>
              </a:rPr>
              <a:t>emptyspots</a:t>
            </a:r>
            <a:r>
              <a:rPr lang="en-US">
                <a:latin typeface="Lucida Sans Unicode" charset="0"/>
                <a:cs typeface="Lucida Sans Unicode" charset="0"/>
              </a:rPr>
              <a:t> and </a:t>
            </a:r>
            <a:r>
              <a:rPr lang="en-US">
                <a:latin typeface="Courier New" charset="0"/>
                <a:cs typeface="Lucida Sans Unicode" charset="0"/>
              </a:rPr>
              <a:t>fullspots</a:t>
            </a:r>
          </a:p>
          <a:p>
            <a:pPr eaLnBrk="1" hangingPunct="1"/>
            <a:r>
              <a:rPr lang="en-US">
                <a:latin typeface="Lucida Sans Unicode" charset="0"/>
                <a:cs typeface="Lucida Sans Unicode" charset="0"/>
              </a:rPr>
              <a:t>The semaphore counters are used to store the numbers of empty spots and full spots in the buffer</a:t>
            </a:r>
          </a:p>
        </p:txBody>
      </p:sp>
    </p:spTree>
    <p:extLst>
      <p:ext uri="{BB962C8B-B14F-4D97-AF65-F5344CB8AC3E}">
        <p14:creationId xmlns:p14="http://schemas.microsoft.com/office/powerpoint/2010/main" val="49051331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253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2A12A5E3-A9D5-9C4B-8233-EBF6BBE25CE8}" type="slidenum">
              <a:rPr lang="en-US" sz="1000">
                <a:latin typeface="Arial" charset="0"/>
              </a:rPr>
              <a:pPr/>
              <a:t>78</a:t>
            </a:fld>
            <a:endParaRPr lang="en-US" sz="1000">
              <a:latin typeface="Arial" charset="0"/>
            </a:endParaRPr>
          </a:p>
        </p:txBody>
      </p:sp>
      <p:sp>
        <p:nvSpPr>
          <p:cNvPr id="22532" name="Rectangle 2"/>
          <p:cNvSpPr>
            <a:spLocks noGrp="1" noChangeArrowheads="1"/>
          </p:cNvSpPr>
          <p:nvPr>
            <p:ph type="title"/>
          </p:nvPr>
        </p:nvSpPr>
        <p:spPr>
          <a:xfrm>
            <a:off x="609600" y="152400"/>
            <a:ext cx="8153400" cy="1143000"/>
          </a:xfrm>
        </p:spPr>
        <p:txBody>
          <a:bodyPr/>
          <a:lstStyle/>
          <a:p>
            <a:pPr eaLnBrk="1" hangingPunct="1"/>
            <a:r>
              <a:rPr lang="en-US" sz="3200">
                <a:latin typeface="Lucida Sans Unicode" charset="0"/>
                <a:cs typeface="Lucida Sans Unicode" charset="0"/>
              </a:rPr>
              <a:t>Cooperation Synchronization with Semaphores (continued)</a:t>
            </a:r>
          </a:p>
        </p:txBody>
      </p:sp>
      <p:sp>
        <p:nvSpPr>
          <p:cNvPr id="22533" name="Rectangle 3"/>
          <p:cNvSpPr>
            <a:spLocks noGrp="1" noChangeArrowheads="1"/>
          </p:cNvSpPr>
          <p:nvPr>
            <p:ph type="body" idx="1"/>
          </p:nvPr>
        </p:nvSpPr>
        <p:spPr>
          <a:xfrm>
            <a:off x="381000" y="1447800"/>
            <a:ext cx="8153400" cy="4572000"/>
          </a:xfrm>
        </p:spPr>
        <p:txBody>
          <a:bodyPr/>
          <a:lstStyle/>
          <a:p>
            <a:pPr eaLnBrk="1" hangingPunct="1"/>
            <a:r>
              <a:rPr lang="en-US">
                <a:latin typeface="Courier New" charset="0"/>
                <a:cs typeface="Lucida Sans Unicode" charset="0"/>
              </a:rPr>
              <a:t>DEPOSIT</a:t>
            </a:r>
            <a:r>
              <a:rPr lang="en-US">
                <a:latin typeface="Lucida Sans Unicode" charset="0"/>
                <a:cs typeface="Lucida Sans Unicode" charset="0"/>
              </a:rPr>
              <a:t> must first check </a:t>
            </a:r>
            <a:r>
              <a:rPr lang="en-US">
                <a:latin typeface="Courier New" charset="0"/>
                <a:cs typeface="Lucida Sans Unicode" charset="0"/>
              </a:rPr>
              <a:t>emptyspots</a:t>
            </a:r>
            <a:r>
              <a:rPr lang="en-US">
                <a:latin typeface="Lucida Sans Unicode" charset="0"/>
                <a:cs typeface="Lucida Sans Unicode" charset="0"/>
              </a:rPr>
              <a:t> to see if there is room in the buffer</a:t>
            </a:r>
          </a:p>
          <a:p>
            <a:pPr eaLnBrk="1" hangingPunct="1"/>
            <a:r>
              <a:rPr lang="en-US">
                <a:latin typeface="Lucida Sans Unicode" charset="0"/>
                <a:cs typeface="Lucida Sans Unicode" charset="0"/>
              </a:rPr>
              <a:t>If there is room, the counter of </a:t>
            </a:r>
            <a:r>
              <a:rPr lang="en-US">
                <a:latin typeface="Courier New" charset="0"/>
                <a:cs typeface="Lucida Sans Unicode" charset="0"/>
              </a:rPr>
              <a:t>emptyspots</a:t>
            </a:r>
            <a:r>
              <a:rPr lang="en-US">
                <a:latin typeface="Lucida Sans Unicode" charset="0"/>
                <a:cs typeface="Lucida Sans Unicode" charset="0"/>
              </a:rPr>
              <a:t> is decremented and the value is inserted</a:t>
            </a:r>
          </a:p>
          <a:p>
            <a:pPr eaLnBrk="1" hangingPunct="1"/>
            <a:r>
              <a:rPr lang="en-US">
                <a:latin typeface="Lucida Sans Unicode" charset="0"/>
                <a:cs typeface="Lucida Sans Unicode" charset="0"/>
              </a:rPr>
              <a:t>If there is no room, the caller is stored in the queue of </a:t>
            </a:r>
            <a:r>
              <a:rPr lang="en-US">
                <a:latin typeface="Courier New" charset="0"/>
                <a:cs typeface="Lucida Sans Unicode" charset="0"/>
              </a:rPr>
              <a:t>emptyspots</a:t>
            </a:r>
            <a:r>
              <a:rPr lang="en-US">
                <a:latin typeface="Lucida Sans Unicode" charset="0"/>
                <a:cs typeface="Lucida Sans Unicode" charset="0"/>
              </a:rPr>
              <a:t> </a:t>
            </a:r>
          </a:p>
          <a:p>
            <a:pPr eaLnBrk="1" hangingPunct="1"/>
            <a:r>
              <a:rPr lang="en-US">
                <a:latin typeface="Lucida Sans Unicode" charset="0"/>
                <a:cs typeface="Lucida Sans Unicode" charset="0"/>
              </a:rPr>
              <a:t>When </a:t>
            </a:r>
            <a:r>
              <a:rPr lang="en-US">
                <a:latin typeface="Courier New" charset="0"/>
                <a:cs typeface="Lucida Sans Unicode" charset="0"/>
              </a:rPr>
              <a:t>DEPOSIT</a:t>
            </a:r>
            <a:r>
              <a:rPr lang="en-US">
                <a:latin typeface="Lucida Sans Unicode" charset="0"/>
                <a:cs typeface="Lucida Sans Unicode" charset="0"/>
              </a:rPr>
              <a:t> is finished, it must increment the counter of </a:t>
            </a:r>
            <a:r>
              <a:rPr lang="en-US">
                <a:latin typeface="Courier New" charset="0"/>
                <a:cs typeface="Lucida Sans Unicode" charset="0"/>
              </a:rPr>
              <a:t>fullspots</a:t>
            </a:r>
            <a:r>
              <a:rPr lang="en-US">
                <a:latin typeface="Lucida Sans Unicode" charset="0"/>
                <a:cs typeface="Lucida Sans Unicode" charset="0"/>
              </a:rPr>
              <a:t> </a:t>
            </a:r>
          </a:p>
        </p:txBody>
      </p:sp>
    </p:spTree>
    <p:extLst>
      <p:ext uri="{BB962C8B-B14F-4D97-AF65-F5344CB8AC3E}">
        <p14:creationId xmlns:p14="http://schemas.microsoft.com/office/powerpoint/2010/main" val="18370160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355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3E1C21AD-B7BC-554F-95E2-E5E80512BBCB}" type="slidenum">
              <a:rPr lang="en-US" sz="1000">
                <a:latin typeface="Arial" charset="0"/>
              </a:rPr>
              <a:pPr/>
              <a:t>79</a:t>
            </a:fld>
            <a:endParaRPr lang="en-US" sz="1000">
              <a:latin typeface="Arial" charset="0"/>
            </a:endParaRPr>
          </a:p>
        </p:txBody>
      </p:sp>
      <p:sp>
        <p:nvSpPr>
          <p:cNvPr id="23556" name="Rectangle 2"/>
          <p:cNvSpPr>
            <a:spLocks noGrp="1" noChangeArrowheads="1"/>
          </p:cNvSpPr>
          <p:nvPr>
            <p:ph type="title"/>
          </p:nvPr>
        </p:nvSpPr>
        <p:spPr>
          <a:xfrm>
            <a:off x="609600" y="152400"/>
            <a:ext cx="8153400" cy="1143000"/>
          </a:xfrm>
        </p:spPr>
        <p:txBody>
          <a:bodyPr/>
          <a:lstStyle/>
          <a:p>
            <a:pPr eaLnBrk="1" hangingPunct="1"/>
            <a:r>
              <a:rPr lang="en-US" sz="3200">
                <a:latin typeface="Lucida Sans Unicode" charset="0"/>
                <a:cs typeface="Lucida Sans Unicode" charset="0"/>
              </a:rPr>
              <a:t>Cooperation Synchronization with Semaphores (continued)</a:t>
            </a:r>
          </a:p>
        </p:txBody>
      </p:sp>
      <p:sp>
        <p:nvSpPr>
          <p:cNvPr id="23557" name="Rectangle 3"/>
          <p:cNvSpPr>
            <a:spLocks noGrp="1" noChangeArrowheads="1"/>
          </p:cNvSpPr>
          <p:nvPr>
            <p:ph type="body" idx="1"/>
          </p:nvPr>
        </p:nvSpPr>
        <p:spPr>
          <a:xfrm>
            <a:off x="457200" y="1371600"/>
            <a:ext cx="8153400" cy="4572000"/>
          </a:xfrm>
        </p:spPr>
        <p:txBody>
          <a:bodyPr/>
          <a:lstStyle/>
          <a:p>
            <a:pPr eaLnBrk="1" hangingPunct="1">
              <a:lnSpc>
                <a:spcPct val="90000"/>
              </a:lnSpc>
            </a:pPr>
            <a:r>
              <a:rPr lang="en-US">
                <a:latin typeface="Courier New" charset="0"/>
                <a:cs typeface="Lucida Sans Unicode" charset="0"/>
              </a:rPr>
              <a:t>FETCH</a:t>
            </a:r>
            <a:r>
              <a:rPr lang="en-US">
                <a:latin typeface="Lucida Sans Unicode" charset="0"/>
                <a:cs typeface="Lucida Sans Unicode" charset="0"/>
              </a:rPr>
              <a:t> must first check </a:t>
            </a:r>
            <a:r>
              <a:rPr lang="en-US">
                <a:latin typeface="Courier New" charset="0"/>
                <a:cs typeface="Lucida Sans Unicode" charset="0"/>
              </a:rPr>
              <a:t>fullspots</a:t>
            </a:r>
            <a:r>
              <a:rPr lang="en-US">
                <a:latin typeface="Lucida Sans Unicode" charset="0"/>
                <a:cs typeface="Lucida Sans Unicode" charset="0"/>
              </a:rPr>
              <a:t> to see if there is a value</a:t>
            </a:r>
          </a:p>
          <a:p>
            <a:pPr lvl="1" eaLnBrk="1" hangingPunct="1">
              <a:lnSpc>
                <a:spcPct val="90000"/>
              </a:lnSpc>
            </a:pPr>
            <a:r>
              <a:rPr lang="en-US">
                <a:latin typeface="Lucida Sans Unicode" charset="0"/>
                <a:ea typeface="Lucida Sans Unicode" charset="0"/>
                <a:cs typeface="Lucida Sans Unicode" charset="0"/>
              </a:rPr>
              <a:t>If there is a full spot, the counter of </a:t>
            </a:r>
            <a:r>
              <a:rPr lang="en-US">
                <a:latin typeface="Courier New" charset="0"/>
                <a:ea typeface="Lucida Sans Unicode" charset="0"/>
                <a:cs typeface="Lucida Sans Unicode" charset="0"/>
              </a:rPr>
              <a:t>fullspots</a:t>
            </a:r>
            <a:r>
              <a:rPr lang="en-US">
                <a:latin typeface="Lucida Sans Unicode" charset="0"/>
                <a:ea typeface="Lucida Sans Unicode" charset="0"/>
                <a:cs typeface="Lucida Sans Unicode" charset="0"/>
              </a:rPr>
              <a:t> is decremented and the value is removed</a:t>
            </a:r>
          </a:p>
          <a:p>
            <a:pPr lvl="1" eaLnBrk="1" hangingPunct="1">
              <a:lnSpc>
                <a:spcPct val="90000"/>
              </a:lnSpc>
            </a:pPr>
            <a:r>
              <a:rPr lang="en-US">
                <a:latin typeface="Lucida Sans Unicode" charset="0"/>
                <a:ea typeface="Lucida Sans Unicode" charset="0"/>
                <a:cs typeface="Lucida Sans Unicode" charset="0"/>
              </a:rPr>
              <a:t>If there are no values in the buffer, the caller must be placed in the queue of </a:t>
            </a:r>
            <a:r>
              <a:rPr lang="en-US">
                <a:latin typeface="Courier New" charset="0"/>
                <a:ea typeface="Lucida Sans Unicode" charset="0"/>
                <a:cs typeface="Lucida Sans Unicode" charset="0"/>
              </a:rPr>
              <a:t>fullspots</a:t>
            </a:r>
            <a:r>
              <a:rPr lang="en-US">
                <a:latin typeface="Lucida Sans Unicode" charset="0"/>
                <a:ea typeface="Lucida Sans Unicode" charset="0"/>
                <a:cs typeface="Lucida Sans Unicode" charset="0"/>
              </a:rPr>
              <a:t> </a:t>
            </a:r>
          </a:p>
          <a:p>
            <a:pPr lvl="1" eaLnBrk="1" hangingPunct="1">
              <a:lnSpc>
                <a:spcPct val="90000"/>
              </a:lnSpc>
            </a:pPr>
            <a:r>
              <a:rPr lang="en-US">
                <a:latin typeface="Lucida Sans Unicode" charset="0"/>
                <a:ea typeface="Lucida Sans Unicode" charset="0"/>
                <a:cs typeface="Lucida Sans Unicode" charset="0"/>
              </a:rPr>
              <a:t>When </a:t>
            </a:r>
            <a:r>
              <a:rPr lang="en-US">
                <a:latin typeface="Courier New" charset="0"/>
                <a:ea typeface="Lucida Sans Unicode" charset="0"/>
                <a:cs typeface="Lucida Sans Unicode" charset="0"/>
              </a:rPr>
              <a:t>FETCH</a:t>
            </a:r>
            <a:r>
              <a:rPr lang="en-US">
                <a:latin typeface="Lucida Sans Unicode" charset="0"/>
                <a:ea typeface="Lucida Sans Unicode" charset="0"/>
                <a:cs typeface="Lucida Sans Unicode" charset="0"/>
              </a:rPr>
              <a:t> is finished, it increments the counter of </a:t>
            </a:r>
            <a:r>
              <a:rPr lang="en-US">
                <a:latin typeface="Courier New" charset="0"/>
                <a:ea typeface="Lucida Sans Unicode" charset="0"/>
                <a:cs typeface="Lucida Sans Unicode" charset="0"/>
              </a:rPr>
              <a:t>emptyspots</a:t>
            </a:r>
          </a:p>
          <a:p>
            <a:pPr eaLnBrk="1" hangingPunct="1">
              <a:lnSpc>
                <a:spcPct val="90000"/>
              </a:lnSpc>
            </a:pPr>
            <a:r>
              <a:rPr lang="en-US">
                <a:latin typeface="Lucida Sans Unicode" charset="0"/>
                <a:cs typeface="Lucida Sans Unicode" charset="0"/>
              </a:rPr>
              <a:t>The operations of </a:t>
            </a:r>
            <a:r>
              <a:rPr lang="en-US">
                <a:latin typeface="Courier New" charset="0"/>
                <a:cs typeface="Lucida Sans Unicode" charset="0"/>
              </a:rPr>
              <a:t>FETCH</a:t>
            </a:r>
            <a:r>
              <a:rPr lang="en-US">
                <a:latin typeface="Lucida Sans Unicode" charset="0"/>
                <a:cs typeface="Lucida Sans Unicode" charset="0"/>
              </a:rPr>
              <a:t> and </a:t>
            </a:r>
            <a:r>
              <a:rPr lang="en-US">
                <a:latin typeface="Courier New" charset="0"/>
                <a:cs typeface="Lucida Sans Unicode" charset="0"/>
              </a:rPr>
              <a:t>DEPOSIT</a:t>
            </a:r>
            <a:r>
              <a:rPr lang="en-US">
                <a:latin typeface="Lucida Sans Unicode" charset="0"/>
                <a:cs typeface="Lucida Sans Unicode" charset="0"/>
              </a:rPr>
              <a:t> on the semaphores are accomplished through two semaphore operations named </a:t>
            </a:r>
            <a:r>
              <a:rPr lang="en-US" i="1">
                <a:latin typeface="Lucida Sans Unicode" charset="0"/>
                <a:cs typeface="Lucida Sans Unicode" charset="0"/>
              </a:rPr>
              <a:t>wait</a:t>
            </a:r>
            <a:r>
              <a:rPr lang="en-US">
                <a:latin typeface="Lucida Sans Unicode" charset="0"/>
                <a:cs typeface="Lucida Sans Unicode" charset="0"/>
              </a:rPr>
              <a:t> and </a:t>
            </a:r>
            <a:r>
              <a:rPr lang="en-US" i="1">
                <a:latin typeface="Lucida Sans Unicode" charset="0"/>
                <a:cs typeface="Lucida Sans Unicode" charset="0"/>
              </a:rPr>
              <a:t>release</a:t>
            </a:r>
          </a:p>
        </p:txBody>
      </p:sp>
    </p:spTree>
    <p:extLst>
      <p:ext uri="{BB962C8B-B14F-4D97-AF65-F5344CB8AC3E}">
        <p14:creationId xmlns:p14="http://schemas.microsoft.com/office/powerpoint/2010/main" val="18908029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457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A1185378-32DE-1049-849F-187B54B66DF9}" type="slidenum">
              <a:rPr lang="en-US" sz="1000">
                <a:latin typeface="Arial" charset="0"/>
              </a:rPr>
              <a:pPr/>
              <a:t>80</a:t>
            </a:fld>
            <a:endParaRPr lang="en-US" sz="1000">
              <a:latin typeface="Arial" charset="0"/>
            </a:endParaRPr>
          </a:p>
        </p:txBody>
      </p:sp>
      <p:sp>
        <p:nvSpPr>
          <p:cNvPr id="24580" name="Rectangle 2"/>
          <p:cNvSpPr>
            <a:spLocks noGrp="1" noChangeArrowheads="1"/>
          </p:cNvSpPr>
          <p:nvPr>
            <p:ph type="title"/>
          </p:nvPr>
        </p:nvSpPr>
        <p:spPr>
          <a:xfrm>
            <a:off x="609600" y="381000"/>
            <a:ext cx="8153400" cy="762000"/>
          </a:xfrm>
        </p:spPr>
        <p:txBody>
          <a:bodyPr/>
          <a:lstStyle/>
          <a:p>
            <a:pPr eaLnBrk="1" hangingPunct="1"/>
            <a:r>
              <a:rPr lang="en-US" sz="2800">
                <a:latin typeface="Lucida Sans Unicode" charset="0"/>
                <a:cs typeface="Lucida Sans Unicode" charset="0"/>
              </a:rPr>
              <a:t>Semaphores: Wait and Release Operations</a:t>
            </a:r>
          </a:p>
        </p:txBody>
      </p:sp>
      <p:sp>
        <p:nvSpPr>
          <p:cNvPr id="24581" name="Rectangle 3"/>
          <p:cNvSpPr>
            <a:spLocks noGrp="1" noChangeArrowheads="1"/>
          </p:cNvSpPr>
          <p:nvPr>
            <p:ph type="body" idx="1"/>
          </p:nvPr>
        </p:nvSpPr>
        <p:spPr>
          <a:xfrm>
            <a:off x="609600" y="1371600"/>
            <a:ext cx="8534400" cy="4876800"/>
          </a:xfrm>
        </p:spPr>
        <p:txBody>
          <a:bodyPr/>
          <a:lstStyle/>
          <a:p>
            <a:pPr>
              <a:lnSpc>
                <a:spcPct val="90000"/>
              </a:lnSpc>
              <a:spcBef>
                <a:spcPct val="0"/>
              </a:spcBef>
              <a:buFontTx/>
              <a:buNone/>
            </a:pPr>
            <a:r>
              <a:rPr lang="en-US" sz="2000">
                <a:latin typeface="Courier New" charset="0"/>
                <a:cs typeface="Courier New" charset="0"/>
              </a:rPr>
              <a:t>wait(aSemaphore)</a:t>
            </a:r>
          </a:p>
          <a:p>
            <a:pPr>
              <a:lnSpc>
                <a:spcPct val="90000"/>
              </a:lnSpc>
              <a:spcBef>
                <a:spcPct val="0"/>
              </a:spcBef>
              <a:buFontTx/>
              <a:buNone/>
            </a:pPr>
            <a:r>
              <a:rPr lang="en-US" sz="2000">
                <a:latin typeface="Courier New" charset="0"/>
                <a:cs typeface="Courier New" charset="0"/>
              </a:rPr>
              <a:t>if aSemaphore</a:t>
            </a:r>
            <a:r>
              <a:rPr lang="ja-JP" altLang="en-US" sz="2000">
                <a:latin typeface="Courier New" charset="0"/>
                <a:cs typeface="Courier New" charset="0"/>
              </a:rPr>
              <a:t>’</a:t>
            </a:r>
            <a:r>
              <a:rPr lang="en-US" sz="2000">
                <a:latin typeface="Courier New" charset="0"/>
                <a:cs typeface="Courier New" charset="0"/>
              </a:rPr>
              <a:t>s counter &gt; 0 then </a:t>
            </a:r>
          </a:p>
          <a:p>
            <a:pPr>
              <a:lnSpc>
                <a:spcPct val="90000"/>
              </a:lnSpc>
              <a:spcBef>
                <a:spcPct val="0"/>
              </a:spcBef>
              <a:buFontTx/>
              <a:buNone/>
            </a:pPr>
            <a:r>
              <a:rPr lang="en-US" sz="2000">
                <a:latin typeface="Courier New" charset="0"/>
                <a:cs typeface="Courier New" charset="0"/>
              </a:rPr>
              <a:t>   decrement aSemaphore</a:t>
            </a:r>
            <a:r>
              <a:rPr lang="ja-JP" altLang="en-US" sz="2000">
                <a:latin typeface="Courier New" charset="0"/>
                <a:cs typeface="Courier New" charset="0"/>
              </a:rPr>
              <a:t>’</a:t>
            </a:r>
            <a:r>
              <a:rPr lang="en-US" sz="2000">
                <a:latin typeface="Courier New" charset="0"/>
                <a:cs typeface="Courier New" charset="0"/>
              </a:rPr>
              <a:t>s counter</a:t>
            </a:r>
          </a:p>
          <a:p>
            <a:pPr>
              <a:lnSpc>
                <a:spcPct val="90000"/>
              </a:lnSpc>
              <a:spcBef>
                <a:spcPct val="0"/>
              </a:spcBef>
              <a:buFontTx/>
              <a:buNone/>
            </a:pPr>
            <a:r>
              <a:rPr lang="en-US" sz="2000">
                <a:latin typeface="Courier New" charset="0"/>
                <a:cs typeface="Courier New" charset="0"/>
              </a:rPr>
              <a:t>else </a:t>
            </a:r>
          </a:p>
          <a:p>
            <a:pPr>
              <a:lnSpc>
                <a:spcPct val="90000"/>
              </a:lnSpc>
              <a:spcBef>
                <a:spcPct val="0"/>
              </a:spcBef>
              <a:buFontTx/>
              <a:buNone/>
            </a:pPr>
            <a:r>
              <a:rPr lang="en-US" sz="2000">
                <a:latin typeface="Courier New" charset="0"/>
                <a:cs typeface="Courier New" charset="0"/>
              </a:rPr>
              <a:t>   put the caller in aSemaphore</a:t>
            </a:r>
            <a:r>
              <a:rPr lang="ja-JP" altLang="en-US" sz="2000">
                <a:latin typeface="Courier New" charset="0"/>
                <a:cs typeface="Courier New" charset="0"/>
              </a:rPr>
              <a:t>’</a:t>
            </a:r>
            <a:r>
              <a:rPr lang="en-US" sz="2000">
                <a:latin typeface="Courier New" charset="0"/>
                <a:cs typeface="Courier New" charset="0"/>
              </a:rPr>
              <a:t>s queue</a:t>
            </a:r>
          </a:p>
          <a:p>
            <a:pPr>
              <a:lnSpc>
                <a:spcPct val="90000"/>
              </a:lnSpc>
              <a:spcBef>
                <a:spcPct val="0"/>
              </a:spcBef>
              <a:buFontTx/>
              <a:buNone/>
            </a:pPr>
            <a:r>
              <a:rPr lang="en-US" sz="2000">
                <a:latin typeface="Courier New" charset="0"/>
                <a:cs typeface="Courier New" charset="0"/>
              </a:rPr>
              <a:t>   attempt to transfer control to a ready task </a:t>
            </a:r>
          </a:p>
          <a:p>
            <a:pPr>
              <a:lnSpc>
                <a:spcPct val="90000"/>
              </a:lnSpc>
              <a:spcBef>
                <a:spcPct val="0"/>
              </a:spcBef>
              <a:buFontTx/>
              <a:buNone/>
            </a:pPr>
            <a:r>
              <a:rPr lang="en-US" sz="2000">
                <a:latin typeface="Courier New" charset="0"/>
                <a:cs typeface="Courier New" charset="0"/>
              </a:rPr>
              <a:t>     -- if the task ready queue is empty, </a:t>
            </a:r>
          </a:p>
          <a:p>
            <a:pPr>
              <a:lnSpc>
                <a:spcPct val="90000"/>
              </a:lnSpc>
              <a:spcBef>
                <a:spcPct val="0"/>
              </a:spcBef>
              <a:buFontTx/>
              <a:buNone/>
            </a:pPr>
            <a:r>
              <a:rPr lang="en-US" sz="2000">
                <a:latin typeface="Courier New" charset="0"/>
                <a:cs typeface="Courier New" charset="0"/>
              </a:rPr>
              <a:t>     -- deadlock occurs </a:t>
            </a:r>
          </a:p>
          <a:p>
            <a:pPr>
              <a:lnSpc>
                <a:spcPct val="90000"/>
              </a:lnSpc>
              <a:spcBef>
                <a:spcPct val="0"/>
              </a:spcBef>
              <a:buFontTx/>
              <a:buNone/>
            </a:pPr>
            <a:r>
              <a:rPr lang="en-US" sz="2000">
                <a:latin typeface="Courier New" charset="0"/>
                <a:cs typeface="Courier New" charset="0"/>
              </a:rPr>
              <a:t>end</a:t>
            </a:r>
          </a:p>
          <a:p>
            <a:pPr>
              <a:lnSpc>
                <a:spcPct val="90000"/>
              </a:lnSpc>
              <a:spcBef>
                <a:spcPct val="0"/>
              </a:spcBef>
              <a:buFontTx/>
              <a:buNone/>
            </a:pPr>
            <a:endParaRPr lang="en-US" sz="2000">
              <a:latin typeface="Courier New" charset="0"/>
              <a:cs typeface="Courier New" charset="0"/>
            </a:endParaRPr>
          </a:p>
          <a:p>
            <a:pPr>
              <a:lnSpc>
                <a:spcPct val="90000"/>
              </a:lnSpc>
              <a:spcBef>
                <a:spcPct val="0"/>
              </a:spcBef>
              <a:buFontTx/>
              <a:buNone/>
            </a:pPr>
            <a:r>
              <a:rPr lang="en-US" sz="2000">
                <a:latin typeface="Courier New" charset="0"/>
                <a:cs typeface="Courier New" charset="0"/>
              </a:rPr>
              <a:t>release(aSemaphore)</a:t>
            </a:r>
          </a:p>
          <a:p>
            <a:pPr>
              <a:lnSpc>
                <a:spcPct val="90000"/>
              </a:lnSpc>
              <a:spcBef>
                <a:spcPct val="0"/>
              </a:spcBef>
              <a:buFontTx/>
              <a:buNone/>
            </a:pPr>
            <a:r>
              <a:rPr lang="en-US" sz="2000">
                <a:latin typeface="Courier New" charset="0"/>
                <a:cs typeface="Courier New" charset="0"/>
              </a:rPr>
              <a:t>if aSemaphore</a:t>
            </a:r>
            <a:r>
              <a:rPr lang="ja-JP" altLang="en-US" sz="2000">
                <a:latin typeface="Courier New" charset="0"/>
                <a:cs typeface="Courier New" charset="0"/>
              </a:rPr>
              <a:t>’</a:t>
            </a:r>
            <a:r>
              <a:rPr lang="en-US" sz="2000">
                <a:latin typeface="Courier New" charset="0"/>
                <a:cs typeface="Courier New" charset="0"/>
              </a:rPr>
              <a:t>s queue is empty then</a:t>
            </a:r>
          </a:p>
          <a:p>
            <a:pPr>
              <a:lnSpc>
                <a:spcPct val="90000"/>
              </a:lnSpc>
              <a:spcBef>
                <a:spcPct val="0"/>
              </a:spcBef>
              <a:buFontTx/>
              <a:buNone/>
            </a:pPr>
            <a:r>
              <a:rPr lang="en-US" sz="2000">
                <a:latin typeface="Courier New" charset="0"/>
                <a:cs typeface="Courier New" charset="0"/>
              </a:rPr>
              <a:t>   increment aSemaphore</a:t>
            </a:r>
            <a:r>
              <a:rPr lang="ja-JP" altLang="en-US" sz="2000">
                <a:latin typeface="Courier New" charset="0"/>
                <a:cs typeface="Courier New" charset="0"/>
              </a:rPr>
              <a:t>’</a:t>
            </a:r>
            <a:r>
              <a:rPr lang="en-US" sz="2000">
                <a:latin typeface="Courier New" charset="0"/>
                <a:cs typeface="Courier New" charset="0"/>
              </a:rPr>
              <a:t>s counter</a:t>
            </a:r>
          </a:p>
          <a:p>
            <a:pPr>
              <a:lnSpc>
                <a:spcPct val="90000"/>
              </a:lnSpc>
              <a:spcBef>
                <a:spcPct val="0"/>
              </a:spcBef>
              <a:buFontTx/>
              <a:buNone/>
            </a:pPr>
            <a:r>
              <a:rPr lang="en-US" sz="2000">
                <a:latin typeface="Courier New" charset="0"/>
                <a:cs typeface="Courier New" charset="0"/>
              </a:rPr>
              <a:t>else</a:t>
            </a:r>
          </a:p>
          <a:p>
            <a:pPr>
              <a:lnSpc>
                <a:spcPct val="90000"/>
              </a:lnSpc>
              <a:spcBef>
                <a:spcPct val="0"/>
              </a:spcBef>
              <a:buFontTx/>
              <a:buNone/>
            </a:pPr>
            <a:r>
              <a:rPr lang="en-US" sz="2000">
                <a:latin typeface="Courier New" charset="0"/>
                <a:cs typeface="Courier New" charset="0"/>
              </a:rPr>
              <a:t>   put the calling task in the task ready queue</a:t>
            </a:r>
          </a:p>
          <a:p>
            <a:pPr>
              <a:lnSpc>
                <a:spcPct val="90000"/>
              </a:lnSpc>
              <a:spcBef>
                <a:spcPct val="0"/>
              </a:spcBef>
              <a:buFontTx/>
              <a:buNone/>
            </a:pPr>
            <a:r>
              <a:rPr lang="en-US" sz="2000">
                <a:latin typeface="Courier New" charset="0"/>
                <a:cs typeface="Courier New" charset="0"/>
              </a:rPr>
              <a:t>   transfer control to a task from aSemaphore</a:t>
            </a:r>
            <a:r>
              <a:rPr lang="ja-JP" altLang="en-US" sz="2000">
                <a:latin typeface="Courier New" charset="0"/>
                <a:cs typeface="Courier New" charset="0"/>
              </a:rPr>
              <a:t>’</a:t>
            </a:r>
            <a:r>
              <a:rPr lang="en-US" sz="2000">
                <a:latin typeface="Courier New" charset="0"/>
                <a:cs typeface="Courier New" charset="0"/>
              </a:rPr>
              <a:t>s queue</a:t>
            </a:r>
          </a:p>
          <a:p>
            <a:pPr>
              <a:lnSpc>
                <a:spcPct val="90000"/>
              </a:lnSpc>
              <a:spcBef>
                <a:spcPct val="0"/>
              </a:spcBef>
              <a:buFontTx/>
              <a:buNone/>
            </a:pPr>
            <a:r>
              <a:rPr lang="en-US" sz="2000">
                <a:latin typeface="Courier New" charset="0"/>
                <a:cs typeface="Courier New" charset="0"/>
              </a:rPr>
              <a:t>end</a:t>
            </a:r>
          </a:p>
          <a:p>
            <a:pPr>
              <a:lnSpc>
                <a:spcPct val="90000"/>
              </a:lnSpc>
              <a:spcBef>
                <a:spcPct val="0"/>
              </a:spcBef>
              <a:buFontTx/>
              <a:buNone/>
            </a:pPr>
            <a:endParaRPr lang="en-US" sz="2000">
              <a:latin typeface="Courier New" charset="0"/>
              <a:cs typeface="Courier New" charset="0"/>
            </a:endParaRPr>
          </a:p>
        </p:txBody>
      </p:sp>
    </p:spTree>
    <p:extLst>
      <p:ext uri="{BB962C8B-B14F-4D97-AF65-F5344CB8AC3E}">
        <p14:creationId xmlns:p14="http://schemas.microsoft.com/office/powerpoint/2010/main" val="35015079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560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71847E75-8CBC-EE4E-93CD-5D24613D28B5}" type="slidenum">
              <a:rPr lang="en-US" sz="1000">
                <a:latin typeface="Arial" charset="0"/>
              </a:rPr>
              <a:pPr/>
              <a:t>81</a:t>
            </a:fld>
            <a:endParaRPr lang="en-US" sz="1000">
              <a:latin typeface="Arial" charset="0"/>
            </a:endParaRPr>
          </a:p>
        </p:txBody>
      </p:sp>
      <p:sp>
        <p:nvSpPr>
          <p:cNvPr id="25604" name="Rectangle 2"/>
          <p:cNvSpPr>
            <a:spLocks noGrp="1" noChangeArrowheads="1"/>
          </p:cNvSpPr>
          <p:nvPr>
            <p:ph type="title"/>
          </p:nvPr>
        </p:nvSpPr>
        <p:spPr>
          <a:xfrm>
            <a:off x="609600" y="381000"/>
            <a:ext cx="8153400" cy="762000"/>
          </a:xfrm>
        </p:spPr>
        <p:txBody>
          <a:bodyPr/>
          <a:lstStyle/>
          <a:p>
            <a:pPr eaLnBrk="1" hangingPunct="1"/>
            <a:r>
              <a:rPr lang="en-US">
                <a:latin typeface="Lucida Sans Unicode" charset="0"/>
                <a:cs typeface="Lucida Sans Unicode" charset="0"/>
              </a:rPr>
              <a:t>Producer and Consumer Tasks</a:t>
            </a:r>
          </a:p>
        </p:txBody>
      </p:sp>
      <p:sp>
        <p:nvSpPr>
          <p:cNvPr id="25605" name="Rectangle 3"/>
          <p:cNvSpPr>
            <a:spLocks noGrp="1" noChangeArrowheads="1"/>
          </p:cNvSpPr>
          <p:nvPr>
            <p:ph type="body" idx="1"/>
          </p:nvPr>
        </p:nvSpPr>
        <p:spPr>
          <a:xfrm>
            <a:off x="609600" y="1371600"/>
            <a:ext cx="7696200" cy="4876800"/>
          </a:xfrm>
        </p:spPr>
        <p:txBody>
          <a:bodyPr/>
          <a:lstStyle/>
          <a:p>
            <a:pPr marL="0" indent="0" defTabSz="515938" eaLnBrk="1" hangingPunct="1">
              <a:spcBef>
                <a:spcPct val="0"/>
              </a:spcBef>
              <a:buFontTx/>
              <a:buNone/>
            </a:pPr>
            <a:r>
              <a:rPr lang="en-US" sz="1600">
                <a:latin typeface="Courier New" charset="0"/>
                <a:cs typeface="Courier New" charset="0"/>
              </a:rPr>
              <a:t>semaphore fullspots, emptyspots;</a:t>
            </a:r>
          </a:p>
          <a:p>
            <a:pPr marL="0" indent="0" defTabSz="515938" eaLnBrk="1" hangingPunct="1">
              <a:spcBef>
                <a:spcPct val="0"/>
              </a:spcBef>
              <a:buFontTx/>
              <a:buNone/>
            </a:pPr>
            <a:r>
              <a:rPr lang="en-US" sz="1600">
                <a:latin typeface="Courier New" charset="0"/>
                <a:cs typeface="Courier New" charset="0"/>
              </a:rPr>
              <a:t>fullstops.count = 0;</a:t>
            </a:r>
          </a:p>
          <a:p>
            <a:pPr marL="0" indent="0" defTabSz="515938" eaLnBrk="1" hangingPunct="1">
              <a:spcBef>
                <a:spcPct val="0"/>
              </a:spcBef>
              <a:buFontTx/>
              <a:buNone/>
            </a:pPr>
            <a:r>
              <a:rPr lang="en-US" sz="1600">
                <a:latin typeface="Courier New" charset="0"/>
                <a:cs typeface="Courier New" charset="0"/>
              </a:rPr>
              <a:t>emptyspots.count = BUFLEN;</a:t>
            </a:r>
          </a:p>
          <a:p>
            <a:pPr marL="0" indent="0" defTabSz="515938" eaLnBrk="1" hangingPunct="1">
              <a:spcBef>
                <a:spcPct val="0"/>
              </a:spcBef>
              <a:buFontTx/>
              <a:buNone/>
            </a:pPr>
            <a:r>
              <a:rPr lang="en-US" sz="1600">
                <a:latin typeface="Courier New" charset="0"/>
                <a:cs typeface="Courier New" charset="0"/>
              </a:rPr>
              <a:t>task producer;</a:t>
            </a:r>
          </a:p>
          <a:p>
            <a:pPr marL="0" indent="0" defTabSz="515938" eaLnBrk="1" hangingPunct="1">
              <a:spcBef>
                <a:spcPct val="0"/>
              </a:spcBef>
              <a:buFontTx/>
              <a:buNone/>
            </a:pPr>
            <a:r>
              <a:rPr lang="en-US" sz="1600">
                <a:latin typeface="Courier New" charset="0"/>
                <a:cs typeface="Courier New" charset="0"/>
              </a:rPr>
              <a:t>	loop</a:t>
            </a:r>
          </a:p>
          <a:p>
            <a:pPr marL="0" indent="0" defTabSz="515938" eaLnBrk="1" hangingPunct="1">
              <a:spcBef>
                <a:spcPct val="0"/>
              </a:spcBef>
              <a:buFontTx/>
              <a:buNone/>
            </a:pPr>
            <a:r>
              <a:rPr lang="en-US" sz="1600">
                <a:latin typeface="Courier New" charset="0"/>
                <a:cs typeface="Courier New" charset="0"/>
              </a:rPr>
              <a:t>	-- produce VALUE –-</a:t>
            </a:r>
          </a:p>
          <a:p>
            <a:pPr marL="0" indent="0" defTabSz="515938" eaLnBrk="1" hangingPunct="1">
              <a:spcBef>
                <a:spcPct val="0"/>
              </a:spcBef>
              <a:buFontTx/>
              <a:buNone/>
            </a:pPr>
            <a:r>
              <a:rPr lang="en-US" sz="1600">
                <a:latin typeface="Courier New" charset="0"/>
                <a:cs typeface="Courier New" charset="0"/>
              </a:rPr>
              <a:t>	wait (emptyspots); {wait for space}</a:t>
            </a:r>
          </a:p>
          <a:p>
            <a:pPr marL="0" indent="0" defTabSz="515938" eaLnBrk="1" hangingPunct="1">
              <a:spcBef>
                <a:spcPct val="0"/>
              </a:spcBef>
              <a:buFontTx/>
              <a:buNone/>
            </a:pPr>
            <a:r>
              <a:rPr lang="en-US" sz="1600">
                <a:latin typeface="Courier New" charset="0"/>
                <a:cs typeface="Courier New" charset="0"/>
              </a:rPr>
              <a:t>	DEPOSIT(VALUE);</a:t>
            </a:r>
          </a:p>
          <a:p>
            <a:pPr marL="0" indent="0" defTabSz="515938" eaLnBrk="1" hangingPunct="1">
              <a:spcBef>
                <a:spcPct val="0"/>
              </a:spcBef>
              <a:buFontTx/>
              <a:buNone/>
            </a:pPr>
            <a:r>
              <a:rPr lang="en-US" sz="1600">
                <a:latin typeface="Courier New" charset="0"/>
                <a:cs typeface="Courier New" charset="0"/>
              </a:rPr>
              <a:t>	release(fullspots); {increase filled}</a:t>
            </a:r>
          </a:p>
          <a:p>
            <a:pPr marL="0" indent="0" defTabSz="515938" eaLnBrk="1" hangingPunct="1">
              <a:spcBef>
                <a:spcPct val="0"/>
              </a:spcBef>
              <a:buFontTx/>
              <a:buNone/>
            </a:pPr>
            <a:r>
              <a:rPr lang="en-US" sz="1600">
                <a:latin typeface="Courier New" charset="0"/>
                <a:cs typeface="Courier New" charset="0"/>
              </a:rPr>
              <a:t>	end loop;</a:t>
            </a:r>
          </a:p>
          <a:p>
            <a:pPr marL="0" indent="0" defTabSz="515938" eaLnBrk="1" hangingPunct="1">
              <a:spcBef>
                <a:spcPct val="0"/>
              </a:spcBef>
              <a:buFontTx/>
              <a:buNone/>
            </a:pPr>
            <a:r>
              <a:rPr lang="en-US" sz="1600">
                <a:latin typeface="Courier New" charset="0"/>
                <a:cs typeface="Courier New" charset="0"/>
              </a:rPr>
              <a:t>end producer;</a:t>
            </a:r>
          </a:p>
          <a:p>
            <a:pPr marL="0" indent="0" defTabSz="515938" eaLnBrk="1" hangingPunct="1">
              <a:spcBef>
                <a:spcPct val="0"/>
              </a:spcBef>
              <a:buFontTx/>
              <a:buNone/>
            </a:pPr>
            <a:r>
              <a:rPr lang="en-US" sz="1600">
                <a:latin typeface="Courier New" charset="0"/>
                <a:cs typeface="Lucida Sans Unicode" charset="0"/>
              </a:rPr>
              <a:t>task consumer;</a:t>
            </a:r>
          </a:p>
          <a:p>
            <a:pPr marL="0" indent="0" defTabSz="515938" eaLnBrk="1" hangingPunct="1">
              <a:spcBef>
                <a:spcPct val="0"/>
              </a:spcBef>
              <a:buFontTx/>
              <a:buNone/>
            </a:pPr>
            <a:r>
              <a:rPr lang="en-US" sz="1600">
                <a:latin typeface="Courier New" charset="0"/>
                <a:cs typeface="Lucida Sans Unicode" charset="0"/>
              </a:rPr>
              <a:t>	loop</a:t>
            </a:r>
          </a:p>
          <a:p>
            <a:pPr marL="0" indent="0" defTabSz="515938" eaLnBrk="1" hangingPunct="1">
              <a:spcBef>
                <a:spcPct val="0"/>
              </a:spcBef>
              <a:buFontTx/>
              <a:buNone/>
            </a:pPr>
            <a:r>
              <a:rPr lang="en-US" sz="1600">
                <a:latin typeface="Courier New" charset="0"/>
                <a:cs typeface="Lucida Sans Unicode" charset="0"/>
              </a:rPr>
              <a:t>	wait (fullspots);{wait till not empty}}</a:t>
            </a:r>
          </a:p>
          <a:p>
            <a:pPr marL="0" indent="0" defTabSz="515938" eaLnBrk="1" hangingPunct="1">
              <a:spcBef>
                <a:spcPct val="0"/>
              </a:spcBef>
              <a:buFontTx/>
              <a:buNone/>
            </a:pPr>
            <a:r>
              <a:rPr lang="en-US" sz="1600">
                <a:latin typeface="Courier New" charset="0"/>
                <a:cs typeface="Lucida Sans Unicode" charset="0"/>
              </a:rPr>
              <a:t>	FETCH(VALUE);</a:t>
            </a:r>
          </a:p>
          <a:p>
            <a:pPr marL="0" indent="0" defTabSz="515938" eaLnBrk="1" hangingPunct="1">
              <a:spcBef>
                <a:spcPct val="0"/>
              </a:spcBef>
              <a:buFontTx/>
              <a:buNone/>
            </a:pPr>
            <a:r>
              <a:rPr lang="en-US" sz="1600">
                <a:latin typeface="Courier New" charset="0"/>
                <a:cs typeface="Lucida Sans Unicode" charset="0"/>
              </a:rPr>
              <a:t>	release(emptyspots); {increase empty}</a:t>
            </a:r>
          </a:p>
          <a:p>
            <a:pPr marL="0" indent="0" defTabSz="515938" eaLnBrk="1" hangingPunct="1">
              <a:spcBef>
                <a:spcPct val="0"/>
              </a:spcBef>
              <a:buFontTx/>
              <a:buNone/>
            </a:pPr>
            <a:r>
              <a:rPr lang="en-US" sz="1600">
                <a:latin typeface="Courier New" charset="0"/>
                <a:cs typeface="Lucida Sans Unicode" charset="0"/>
              </a:rPr>
              <a:t>	-- consume VALUE </a:t>
            </a:r>
            <a:r>
              <a:rPr lang="en-US" sz="1600">
                <a:latin typeface="Lucida Sans Unicode" charset="0"/>
                <a:cs typeface="Lucida Sans Unicode" charset="0"/>
              </a:rPr>
              <a:t>–</a:t>
            </a:r>
            <a:r>
              <a:rPr lang="en-US" sz="1600">
                <a:latin typeface="Courier New" charset="0"/>
                <a:cs typeface="Lucida Sans Unicode" charset="0"/>
              </a:rPr>
              <a:t>-</a:t>
            </a:r>
          </a:p>
          <a:p>
            <a:pPr marL="0" indent="0" defTabSz="515938" eaLnBrk="1" hangingPunct="1">
              <a:spcBef>
                <a:spcPct val="0"/>
              </a:spcBef>
              <a:buFontTx/>
              <a:buNone/>
            </a:pPr>
            <a:r>
              <a:rPr lang="en-US" sz="1600">
                <a:latin typeface="Courier New" charset="0"/>
                <a:cs typeface="Lucida Sans Unicode" charset="0"/>
              </a:rPr>
              <a:t>	end loop;</a:t>
            </a:r>
          </a:p>
          <a:p>
            <a:pPr marL="0" indent="0" defTabSz="515938" eaLnBrk="1" hangingPunct="1">
              <a:spcBef>
                <a:spcPct val="0"/>
              </a:spcBef>
              <a:buFontTx/>
              <a:buNone/>
            </a:pPr>
            <a:r>
              <a:rPr lang="en-US" sz="1600">
                <a:latin typeface="Courier New" charset="0"/>
                <a:cs typeface="Lucida Sans Unicode" charset="0"/>
              </a:rPr>
              <a:t>end consumer;</a:t>
            </a:r>
          </a:p>
          <a:p>
            <a:pPr marL="0" indent="0" defTabSz="515938" eaLnBrk="1" hangingPunct="1">
              <a:spcBef>
                <a:spcPct val="0"/>
              </a:spcBef>
              <a:buFontTx/>
              <a:buNone/>
            </a:pPr>
            <a:endParaRPr lang="en-US" sz="1800">
              <a:latin typeface="Courier New" charset="0"/>
              <a:cs typeface="Courier New" charset="0"/>
            </a:endParaRPr>
          </a:p>
        </p:txBody>
      </p:sp>
    </p:spTree>
    <p:extLst>
      <p:ext uri="{BB962C8B-B14F-4D97-AF65-F5344CB8AC3E}">
        <p14:creationId xmlns:p14="http://schemas.microsoft.com/office/powerpoint/2010/main" val="29325587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662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653DF08B-1FAA-2044-A949-3988A5F3C090}" type="slidenum">
              <a:rPr lang="en-US" sz="1000">
                <a:latin typeface="Arial" charset="0"/>
              </a:rPr>
              <a:pPr/>
              <a:t>82</a:t>
            </a:fld>
            <a:endParaRPr lang="en-US" sz="1000">
              <a:latin typeface="Arial" charset="0"/>
            </a:endParaRPr>
          </a:p>
        </p:txBody>
      </p:sp>
      <p:sp>
        <p:nvSpPr>
          <p:cNvPr id="26628" name="Rectangle 2"/>
          <p:cNvSpPr>
            <a:spLocks noGrp="1" noChangeArrowheads="1"/>
          </p:cNvSpPr>
          <p:nvPr>
            <p:ph type="title"/>
          </p:nvPr>
        </p:nvSpPr>
        <p:spPr>
          <a:xfrm>
            <a:off x="609600" y="152400"/>
            <a:ext cx="8153400" cy="1143000"/>
          </a:xfrm>
        </p:spPr>
        <p:txBody>
          <a:bodyPr>
            <a:normAutofit fontScale="90000"/>
          </a:bodyPr>
          <a:lstStyle/>
          <a:p>
            <a:pPr eaLnBrk="1" hangingPunct="1"/>
            <a:r>
              <a:rPr lang="en-US" sz="3200">
                <a:latin typeface="Lucida Sans Unicode" charset="0"/>
                <a:cs typeface="Lucida Sans Unicode" charset="0"/>
              </a:rPr>
              <a:t>Competition Synchronization with Semaphores</a:t>
            </a:r>
            <a:br>
              <a:rPr lang="en-US" sz="3200">
                <a:latin typeface="Lucida Sans Unicode" charset="0"/>
                <a:cs typeface="Lucida Sans Unicode" charset="0"/>
              </a:rPr>
            </a:br>
            <a:endParaRPr lang="en-US" sz="3200">
              <a:latin typeface="Lucida Sans Unicode" charset="0"/>
              <a:cs typeface="Lucida Sans Unicode" charset="0"/>
            </a:endParaRPr>
          </a:p>
        </p:txBody>
      </p:sp>
      <p:sp>
        <p:nvSpPr>
          <p:cNvPr id="26629" name="Rectangle 3"/>
          <p:cNvSpPr>
            <a:spLocks noGrp="1" noChangeArrowheads="1"/>
          </p:cNvSpPr>
          <p:nvPr>
            <p:ph type="body" idx="1"/>
          </p:nvPr>
        </p:nvSpPr>
        <p:spPr>
          <a:xfrm>
            <a:off x="533400" y="1447800"/>
            <a:ext cx="8153400" cy="4572000"/>
          </a:xfrm>
        </p:spPr>
        <p:txBody>
          <a:bodyPr/>
          <a:lstStyle/>
          <a:p>
            <a:pPr eaLnBrk="1" hangingPunct="1"/>
            <a:r>
              <a:rPr lang="en-US">
                <a:latin typeface="Lucida Sans Unicode" charset="0"/>
                <a:cs typeface="Lucida Sans Unicode" charset="0"/>
              </a:rPr>
              <a:t>A third semaphore, named </a:t>
            </a:r>
            <a:r>
              <a:rPr lang="en-US">
                <a:latin typeface="Courier New" charset="0"/>
                <a:cs typeface="Lucida Sans Unicode" charset="0"/>
              </a:rPr>
              <a:t>access</a:t>
            </a:r>
            <a:r>
              <a:rPr lang="en-US">
                <a:latin typeface="Lucida Sans Unicode" charset="0"/>
                <a:cs typeface="Lucida Sans Unicode" charset="0"/>
              </a:rPr>
              <a:t>, is used to control access (competition synchronization)</a:t>
            </a:r>
          </a:p>
          <a:p>
            <a:pPr lvl="1" eaLnBrk="1" hangingPunct="1"/>
            <a:r>
              <a:rPr lang="en-US">
                <a:latin typeface="Lucida Sans Unicode" charset="0"/>
                <a:ea typeface="Lucida Sans Unicode" charset="0"/>
                <a:cs typeface="Lucida Sans Unicode" charset="0"/>
              </a:rPr>
              <a:t>The counter of </a:t>
            </a:r>
            <a:r>
              <a:rPr lang="en-US" b="1">
                <a:latin typeface="Courier New" charset="0"/>
                <a:ea typeface="Lucida Sans Unicode" charset="0"/>
                <a:cs typeface="Lucida Sans Unicode" charset="0"/>
              </a:rPr>
              <a:t>access</a:t>
            </a:r>
            <a:r>
              <a:rPr lang="en-US">
                <a:latin typeface="Lucida Sans Unicode" charset="0"/>
                <a:ea typeface="Lucida Sans Unicode" charset="0"/>
                <a:cs typeface="Lucida Sans Unicode" charset="0"/>
              </a:rPr>
              <a:t> will only have the values 0 and 1</a:t>
            </a:r>
          </a:p>
          <a:p>
            <a:pPr lvl="1" eaLnBrk="1" hangingPunct="1"/>
            <a:r>
              <a:rPr lang="en-US">
                <a:latin typeface="Lucida Sans Unicode" charset="0"/>
                <a:ea typeface="Lucida Sans Unicode" charset="0"/>
                <a:cs typeface="Lucida Sans Unicode" charset="0"/>
              </a:rPr>
              <a:t>Such a semaphore is called a </a:t>
            </a:r>
            <a:r>
              <a:rPr lang="en-US" i="1">
                <a:solidFill>
                  <a:schemeClr val="tx2"/>
                </a:solidFill>
                <a:latin typeface="Lucida Sans Unicode" charset="0"/>
                <a:ea typeface="Lucida Sans Unicode" charset="0"/>
                <a:cs typeface="Lucida Sans Unicode" charset="0"/>
              </a:rPr>
              <a:t>binary semaphore</a:t>
            </a:r>
          </a:p>
          <a:p>
            <a:pPr eaLnBrk="1" hangingPunct="1"/>
            <a:r>
              <a:rPr lang="en-US">
                <a:latin typeface="Lucida Sans Unicode" charset="0"/>
                <a:cs typeface="Lucida Sans Unicode" charset="0"/>
              </a:rPr>
              <a:t>Note that wait and release must be atomic!</a:t>
            </a:r>
          </a:p>
        </p:txBody>
      </p:sp>
    </p:spTree>
    <p:extLst>
      <p:ext uri="{BB962C8B-B14F-4D97-AF65-F5344CB8AC3E}">
        <p14:creationId xmlns:p14="http://schemas.microsoft.com/office/powerpoint/2010/main" val="6078909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765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E5447139-6E67-3946-986E-CB8529DD1006}" type="slidenum">
              <a:rPr lang="en-US" sz="1000">
                <a:latin typeface="Arial" charset="0"/>
              </a:rPr>
              <a:pPr/>
              <a:t>83</a:t>
            </a:fld>
            <a:endParaRPr lang="en-US" sz="1000">
              <a:latin typeface="Arial" charset="0"/>
            </a:endParaRPr>
          </a:p>
        </p:txBody>
      </p:sp>
      <p:sp>
        <p:nvSpPr>
          <p:cNvPr id="27652" name="Rectangle 2"/>
          <p:cNvSpPr>
            <a:spLocks noGrp="1" noChangeArrowheads="1"/>
          </p:cNvSpPr>
          <p:nvPr>
            <p:ph type="title"/>
          </p:nvPr>
        </p:nvSpPr>
        <p:spPr/>
        <p:txBody>
          <a:bodyPr/>
          <a:lstStyle/>
          <a:p>
            <a:pPr eaLnBrk="1" hangingPunct="1"/>
            <a:r>
              <a:rPr lang="en-US">
                <a:latin typeface="Lucida Sans Unicode" charset="0"/>
                <a:cs typeface="Lucida Sans Unicode" charset="0"/>
              </a:rPr>
              <a:t>Producer Code for Semaphores</a:t>
            </a:r>
          </a:p>
        </p:txBody>
      </p:sp>
      <p:sp>
        <p:nvSpPr>
          <p:cNvPr id="27653" name="Rectangle 3"/>
          <p:cNvSpPr>
            <a:spLocks noGrp="1" noChangeArrowheads="1"/>
          </p:cNvSpPr>
          <p:nvPr>
            <p:ph type="body" idx="1"/>
          </p:nvPr>
        </p:nvSpPr>
        <p:spPr>
          <a:xfrm>
            <a:off x="457200" y="1371600"/>
            <a:ext cx="7543800" cy="4800600"/>
          </a:xfrm>
        </p:spPr>
        <p:txBody>
          <a:bodyPr/>
          <a:lstStyle/>
          <a:p>
            <a:pPr marL="0" indent="0" defTabSz="515938" eaLnBrk="1" hangingPunct="1">
              <a:lnSpc>
                <a:spcPct val="90000"/>
              </a:lnSpc>
              <a:spcBef>
                <a:spcPct val="0"/>
              </a:spcBef>
              <a:buFontTx/>
              <a:buNone/>
            </a:pPr>
            <a:r>
              <a:rPr lang="en-US" sz="2400">
                <a:latin typeface="Courier New" charset="0"/>
                <a:cs typeface="Lucida Sans Unicode" charset="0"/>
              </a:rPr>
              <a:t>semaphore access, fullspots, emptyspots;</a:t>
            </a:r>
          </a:p>
          <a:p>
            <a:pPr marL="0" indent="0" defTabSz="515938" eaLnBrk="1" hangingPunct="1">
              <a:lnSpc>
                <a:spcPct val="90000"/>
              </a:lnSpc>
              <a:spcBef>
                <a:spcPct val="0"/>
              </a:spcBef>
              <a:buFontTx/>
              <a:buNone/>
            </a:pPr>
            <a:r>
              <a:rPr lang="en-US" sz="2400">
                <a:latin typeface="Courier New" charset="0"/>
                <a:cs typeface="Lucida Sans Unicode" charset="0"/>
              </a:rPr>
              <a:t>access.count = 0;</a:t>
            </a:r>
          </a:p>
          <a:p>
            <a:pPr marL="0" indent="0" defTabSz="515938" eaLnBrk="1" hangingPunct="1">
              <a:lnSpc>
                <a:spcPct val="90000"/>
              </a:lnSpc>
              <a:spcBef>
                <a:spcPct val="0"/>
              </a:spcBef>
              <a:buFontTx/>
              <a:buNone/>
            </a:pPr>
            <a:r>
              <a:rPr lang="en-US" sz="2400">
                <a:latin typeface="Courier New" charset="0"/>
                <a:cs typeface="Lucida Sans Unicode" charset="0"/>
              </a:rPr>
              <a:t>fullstops.count = 0;</a:t>
            </a:r>
          </a:p>
          <a:p>
            <a:pPr marL="0" indent="0" defTabSz="515938" eaLnBrk="1" hangingPunct="1">
              <a:lnSpc>
                <a:spcPct val="90000"/>
              </a:lnSpc>
              <a:spcBef>
                <a:spcPct val="0"/>
              </a:spcBef>
              <a:buFontTx/>
              <a:buNone/>
            </a:pPr>
            <a:r>
              <a:rPr lang="en-US" sz="2400">
                <a:latin typeface="Courier New" charset="0"/>
                <a:cs typeface="Lucida Sans Unicode" charset="0"/>
              </a:rPr>
              <a:t>emptyspots.count = BUFLEN;</a:t>
            </a:r>
          </a:p>
          <a:p>
            <a:pPr marL="0" indent="0" defTabSz="515938" eaLnBrk="1" hangingPunct="1">
              <a:lnSpc>
                <a:spcPct val="90000"/>
              </a:lnSpc>
              <a:spcBef>
                <a:spcPct val="0"/>
              </a:spcBef>
              <a:buFontTx/>
              <a:buNone/>
            </a:pPr>
            <a:r>
              <a:rPr lang="en-US" sz="2400">
                <a:latin typeface="Courier New" charset="0"/>
                <a:cs typeface="Lucida Sans Unicode" charset="0"/>
              </a:rPr>
              <a:t>task producer;</a:t>
            </a:r>
          </a:p>
          <a:p>
            <a:pPr marL="0" indent="0" defTabSz="515938" eaLnBrk="1" hangingPunct="1">
              <a:lnSpc>
                <a:spcPct val="90000"/>
              </a:lnSpc>
              <a:spcBef>
                <a:spcPct val="0"/>
              </a:spcBef>
              <a:buFontTx/>
              <a:buNone/>
            </a:pPr>
            <a:r>
              <a:rPr lang="en-US" sz="2400">
                <a:latin typeface="Courier New" charset="0"/>
                <a:cs typeface="Lucida Sans Unicode" charset="0"/>
              </a:rPr>
              <a:t>	loop</a:t>
            </a:r>
          </a:p>
          <a:p>
            <a:pPr marL="0" indent="0" defTabSz="515938" eaLnBrk="1" hangingPunct="1">
              <a:lnSpc>
                <a:spcPct val="90000"/>
              </a:lnSpc>
              <a:spcBef>
                <a:spcPct val="0"/>
              </a:spcBef>
              <a:buFontTx/>
              <a:buNone/>
            </a:pPr>
            <a:r>
              <a:rPr lang="en-US" sz="2400">
                <a:latin typeface="Courier New" charset="0"/>
                <a:cs typeface="Lucida Sans Unicode" charset="0"/>
              </a:rPr>
              <a:t>	-- produce VALUE </a:t>
            </a:r>
            <a:r>
              <a:rPr lang="en-US" sz="2400">
                <a:latin typeface="Lucida Sans Unicode" charset="0"/>
                <a:cs typeface="Lucida Sans Unicode" charset="0"/>
              </a:rPr>
              <a:t>–</a:t>
            </a:r>
            <a:r>
              <a:rPr lang="en-US" sz="2400">
                <a:latin typeface="Courier New" charset="0"/>
                <a:cs typeface="Lucida Sans Unicode" charset="0"/>
              </a:rPr>
              <a:t>-</a:t>
            </a:r>
          </a:p>
          <a:p>
            <a:pPr marL="0" indent="0" defTabSz="515938" eaLnBrk="1" hangingPunct="1">
              <a:lnSpc>
                <a:spcPct val="90000"/>
              </a:lnSpc>
              <a:spcBef>
                <a:spcPct val="0"/>
              </a:spcBef>
              <a:buFontTx/>
              <a:buNone/>
            </a:pPr>
            <a:r>
              <a:rPr lang="en-US" sz="2400">
                <a:latin typeface="Courier New" charset="0"/>
                <a:cs typeface="Lucida Sans Unicode" charset="0"/>
              </a:rPr>
              <a:t>	wait(emptyspots); {wait for space}</a:t>
            </a:r>
          </a:p>
          <a:p>
            <a:pPr marL="0" indent="0" defTabSz="515938" eaLnBrk="1" hangingPunct="1">
              <a:lnSpc>
                <a:spcPct val="90000"/>
              </a:lnSpc>
              <a:spcBef>
                <a:spcPct val="0"/>
              </a:spcBef>
              <a:buFontTx/>
              <a:buNone/>
            </a:pPr>
            <a:r>
              <a:rPr lang="en-US" sz="2400">
                <a:latin typeface="Courier New" charset="0"/>
                <a:cs typeface="Lucida Sans Unicode" charset="0"/>
              </a:rPr>
              <a:t>	wait(access);     {wait for access)</a:t>
            </a:r>
          </a:p>
          <a:p>
            <a:pPr marL="0" indent="0" defTabSz="515938" eaLnBrk="1" hangingPunct="1">
              <a:lnSpc>
                <a:spcPct val="90000"/>
              </a:lnSpc>
              <a:spcBef>
                <a:spcPct val="0"/>
              </a:spcBef>
              <a:buFontTx/>
              <a:buNone/>
            </a:pPr>
            <a:r>
              <a:rPr lang="en-US" sz="2400">
                <a:latin typeface="Courier New" charset="0"/>
                <a:cs typeface="Lucida Sans Unicode" charset="0"/>
              </a:rPr>
              <a:t>	DEPOSIT(VALUE);</a:t>
            </a:r>
          </a:p>
          <a:p>
            <a:pPr marL="0" indent="0" defTabSz="515938" eaLnBrk="1" hangingPunct="1">
              <a:lnSpc>
                <a:spcPct val="90000"/>
              </a:lnSpc>
              <a:spcBef>
                <a:spcPct val="0"/>
              </a:spcBef>
              <a:buFontTx/>
              <a:buNone/>
            </a:pPr>
            <a:r>
              <a:rPr lang="en-US" sz="2400">
                <a:latin typeface="Courier New" charset="0"/>
                <a:cs typeface="Lucida Sans Unicode" charset="0"/>
              </a:rPr>
              <a:t>	release(access); {relinquish access}</a:t>
            </a:r>
          </a:p>
          <a:p>
            <a:pPr marL="0" indent="0" defTabSz="515938" eaLnBrk="1" hangingPunct="1">
              <a:lnSpc>
                <a:spcPct val="90000"/>
              </a:lnSpc>
              <a:spcBef>
                <a:spcPct val="0"/>
              </a:spcBef>
              <a:buFontTx/>
              <a:buNone/>
            </a:pPr>
            <a:r>
              <a:rPr lang="en-US" sz="2400">
                <a:latin typeface="Courier New" charset="0"/>
                <a:cs typeface="Lucida Sans Unicode" charset="0"/>
              </a:rPr>
              <a:t>	release(fullspots); {increase filled}</a:t>
            </a:r>
          </a:p>
          <a:p>
            <a:pPr marL="0" indent="0" defTabSz="515938" eaLnBrk="1" hangingPunct="1">
              <a:lnSpc>
                <a:spcPct val="90000"/>
              </a:lnSpc>
              <a:spcBef>
                <a:spcPct val="0"/>
              </a:spcBef>
              <a:buFontTx/>
              <a:buNone/>
            </a:pPr>
            <a:r>
              <a:rPr lang="en-US" sz="2400">
                <a:latin typeface="Courier New" charset="0"/>
                <a:cs typeface="Lucida Sans Unicode" charset="0"/>
              </a:rPr>
              <a:t>	end loop;</a:t>
            </a:r>
          </a:p>
          <a:p>
            <a:pPr marL="0" indent="0" defTabSz="515938" eaLnBrk="1" hangingPunct="1">
              <a:lnSpc>
                <a:spcPct val="90000"/>
              </a:lnSpc>
              <a:spcBef>
                <a:spcPct val="0"/>
              </a:spcBef>
              <a:buFontTx/>
              <a:buNone/>
            </a:pPr>
            <a:r>
              <a:rPr lang="en-US" sz="2400">
                <a:latin typeface="Courier New" charset="0"/>
                <a:cs typeface="Lucida Sans Unicode" charset="0"/>
              </a:rPr>
              <a:t>end producer;</a:t>
            </a:r>
          </a:p>
        </p:txBody>
      </p:sp>
    </p:spTree>
    <p:extLst>
      <p:ext uri="{BB962C8B-B14F-4D97-AF65-F5344CB8AC3E}">
        <p14:creationId xmlns:p14="http://schemas.microsoft.com/office/powerpoint/2010/main" val="394108227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867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D23A6A25-A95C-3F43-8B3C-52AC489FE9A9}" type="slidenum">
              <a:rPr lang="en-US" sz="1000">
                <a:latin typeface="Arial" charset="0"/>
              </a:rPr>
              <a:pPr/>
              <a:t>84</a:t>
            </a:fld>
            <a:endParaRPr lang="en-US" sz="1000">
              <a:latin typeface="Arial" charset="0"/>
            </a:endParaRPr>
          </a:p>
        </p:txBody>
      </p:sp>
      <p:sp>
        <p:nvSpPr>
          <p:cNvPr id="28676" name="Rectangle 2"/>
          <p:cNvSpPr>
            <a:spLocks noGrp="1" noChangeArrowheads="1"/>
          </p:cNvSpPr>
          <p:nvPr>
            <p:ph type="title"/>
          </p:nvPr>
        </p:nvSpPr>
        <p:spPr/>
        <p:txBody>
          <a:bodyPr/>
          <a:lstStyle/>
          <a:p>
            <a:pPr eaLnBrk="1" hangingPunct="1"/>
            <a:r>
              <a:rPr lang="en-US">
                <a:latin typeface="Lucida Sans Unicode" charset="0"/>
                <a:cs typeface="Lucida Sans Unicode" charset="0"/>
              </a:rPr>
              <a:t>Consumer Code for Semaphores</a:t>
            </a:r>
          </a:p>
        </p:txBody>
      </p:sp>
      <p:sp>
        <p:nvSpPr>
          <p:cNvPr id="28677" name="Rectangle 3"/>
          <p:cNvSpPr>
            <a:spLocks noGrp="1" noChangeArrowheads="1"/>
          </p:cNvSpPr>
          <p:nvPr>
            <p:ph type="body" idx="1"/>
          </p:nvPr>
        </p:nvSpPr>
        <p:spPr>
          <a:xfrm>
            <a:off x="457200" y="1371600"/>
            <a:ext cx="7620000" cy="4572000"/>
          </a:xfrm>
        </p:spPr>
        <p:txBody>
          <a:bodyPr/>
          <a:lstStyle/>
          <a:p>
            <a:pPr marL="0" indent="0" defTabSz="463550" eaLnBrk="1" hangingPunct="1">
              <a:spcBef>
                <a:spcPct val="0"/>
              </a:spcBef>
              <a:buFontTx/>
              <a:buNone/>
            </a:pPr>
            <a:r>
              <a:rPr lang="en-US" sz="2400">
                <a:latin typeface="Courier New" charset="0"/>
                <a:cs typeface="Lucida Sans Unicode" charset="0"/>
              </a:rPr>
              <a:t>task consumer;</a:t>
            </a:r>
          </a:p>
          <a:p>
            <a:pPr marL="0" indent="0" defTabSz="463550" eaLnBrk="1" hangingPunct="1">
              <a:spcBef>
                <a:spcPct val="0"/>
              </a:spcBef>
              <a:buFontTx/>
              <a:buNone/>
            </a:pPr>
            <a:r>
              <a:rPr lang="en-US" sz="2400">
                <a:latin typeface="Courier New" charset="0"/>
                <a:cs typeface="Lucida Sans Unicode" charset="0"/>
              </a:rPr>
              <a:t>	loop</a:t>
            </a:r>
          </a:p>
          <a:p>
            <a:pPr marL="0" indent="0" defTabSz="463550" eaLnBrk="1" hangingPunct="1">
              <a:spcBef>
                <a:spcPct val="0"/>
              </a:spcBef>
              <a:buFontTx/>
              <a:buNone/>
            </a:pPr>
            <a:r>
              <a:rPr lang="en-US" sz="2400">
                <a:latin typeface="Courier New" charset="0"/>
                <a:cs typeface="Lucida Sans Unicode" charset="0"/>
              </a:rPr>
              <a:t>	wait(fullspots);{wait till not empty}</a:t>
            </a:r>
          </a:p>
          <a:p>
            <a:pPr marL="0" indent="0" defTabSz="463550" eaLnBrk="1" hangingPunct="1">
              <a:spcBef>
                <a:spcPct val="0"/>
              </a:spcBef>
              <a:buFontTx/>
              <a:buNone/>
            </a:pPr>
            <a:r>
              <a:rPr lang="en-US" sz="2400">
                <a:latin typeface="Courier New" charset="0"/>
                <a:cs typeface="Lucida Sans Unicode" charset="0"/>
              </a:rPr>
              <a:t>	wait(access);   {wait for access}</a:t>
            </a:r>
          </a:p>
          <a:p>
            <a:pPr marL="0" indent="0" defTabSz="463550" eaLnBrk="1" hangingPunct="1">
              <a:spcBef>
                <a:spcPct val="0"/>
              </a:spcBef>
              <a:buFontTx/>
              <a:buNone/>
            </a:pPr>
            <a:r>
              <a:rPr lang="en-US" sz="2400">
                <a:latin typeface="Courier New" charset="0"/>
                <a:cs typeface="Lucida Sans Unicode" charset="0"/>
              </a:rPr>
              <a:t>	FETCH(VALUE);</a:t>
            </a:r>
          </a:p>
          <a:p>
            <a:pPr marL="0" indent="0" defTabSz="463550" eaLnBrk="1" hangingPunct="1">
              <a:spcBef>
                <a:spcPct val="0"/>
              </a:spcBef>
              <a:buFontTx/>
              <a:buNone/>
            </a:pPr>
            <a:r>
              <a:rPr lang="en-US" sz="2400">
                <a:latin typeface="Courier New" charset="0"/>
                <a:cs typeface="Lucida Sans Unicode" charset="0"/>
              </a:rPr>
              <a:t>	release(access); {relinquish access}</a:t>
            </a:r>
          </a:p>
          <a:p>
            <a:pPr marL="0" indent="0" defTabSz="463550" eaLnBrk="1" hangingPunct="1">
              <a:spcBef>
                <a:spcPct val="0"/>
              </a:spcBef>
              <a:buFontTx/>
              <a:buNone/>
            </a:pPr>
            <a:r>
              <a:rPr lang="en-US" sz="2400">
                <a:latin typeface="Courier New" charset="0"/>
                <a:cs typeface="Lucida Sans Unicode" charset="0"/>
              </a:rPr>
              <a:t>	release(emptyspots); {increase empty}</a:t>
            </a:r>
          </a:p>
          <a:p>
            <a:pPr marL="0" indent="0" defTabSz="463550" eaLnBrk="1" hangingPunct="1">
              <a:spcBef>
                <a:spcPct val="0"/>
              </a:spcBef>
              <a:buFontTx/>
              <a:buNone/>
            </a:pPr>
            <a:r>
              <a:rPr lang="en-US" sz="2400">
                <a:latin typeface="Courier New" charset="0"/>
                <a:cs typeface="Lucida Sans Unicode" charset="0"/>
              </a:rPr>
              <a:t>	-- consume VALUE </a:t>
            </a:r>
            <a:r>
              <a:rPr lang="en-US" sz="2400">
                <a:latin typeface="Lucida Sans Unicode" charset="0"/>
                <a:cs typeface="Lucida Sans Unicode" charset="0"/>
              </a:rPr>
              <a:t>–</a:t>
            </a:r>
            <a:r>
              <a:rPr lang="en-US" sz="2400">
                <a:latin typeface="Courier New" charset="0"/>
                <a:cs typeface="Lucida Sans Unicode" charset="0"/>
              </a:rPr>
              <a:t>-</a:t>
            </a:r>
          </a:p>
          <a:p>
            <a:pPr marL="0" indent="0" defTabSz="463550" eaLnBrk="1" hangingPunct="1">
              <a:spcBef>
                <a:spcPct val="0"/>
              </a:spcBef>
              <a:buFontTx/>
              <a:buNone/>
            </a:pPr>
            <a:r>
              <a:rPr lang="en-US" sz="2400">
                <a:latin typeface="Courier New" charset="0"/>
                <a:cs typeface="Lucida Sans Unicode" charset="0"/>
              </a:rPr>
              <a:t>	end loop;</a:t>
            </a:r>
          </a:p>
          <a:p>
            <a:pPr marL="0" indent="0" defTabSz="463550" eaLnBrk="1" hangingPunct="1">
              <a:spcBef>
                <a:spcPct val="0"/>
              </a:spcBef>
              <a:buFontTx/>
              <a:buNone/>
            </a:pPr>
            <a:r>
              <a:rPr lang="en-US" sz="2400">
                <a:latin typeface="Courier New" charset="0"/>
                <a:cs typeface="Lucida Sans Unicode" charset="0"/>
              </a:rPr>
              <a:t>end consumer;</a:t>
            </a:r>
          </a:p>
        </p:txBody>
      </p:sp>
    </p:spTree>
    <p:extLst>
      <p:ext uri="{BB962C8B-B14F-4D97-AF65-F5344CB8AC3E}">
        <p14:creationId xmlns:p14="http://schemas.microsoft.com/office/powerpoint/2010/main" val="261862402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2969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D987C588-EC8E-4541-A94F-2BED50873D59}" type="slidenum">
              <a:rPr lang="en-US" sz="1000">
                <a:latin typeface="Arial" charset="0"/>
              </a:rPr>
              <a:pPr/>
              <a:t>85</a:t>
            </a:fld>
            <a:endParaRPr lang="en-US" sz="1000">
              <a:latin typeface="Arial" charset="0"/>
            </a:endParaRPr>
          </a:p>
        </p:txBody>
      </p:sp>
      <p:sp>
        <p:nvSpPr>
          <p:cNvPr id="29700" name="Rectangle 2"/>
          <p:cNvSpPr>
            <a:spLocks noGrp="1" noChangeArrowheads="1"/>
          </p:cNvSpPr>
          <p:nvPr>
            <p:ph type="title"/>
          </p:nvPr>
        </p:nvSpPr>
        <p:spPr/>
        <p:txBody>
          <a:bodyPr/>
          <a:lstStyle/>
          <a:p>
            <a:pPr eaLnBrk="1" hangingPunct="1"/>
            <a:r>
              <a:rPr lang="en-US">
                <a:latin typeface="Lucida Sans Unicode" charset="0"/>
                <a:cs typeface="Lucida Sans Unicode" charset="0"/>
              </a:rPr>
              <a:t>Evaluation of Semaphores</a:t>
            </a:r>
          </a:p>
        </p:txBody>
      </p:sp>
      <p:sp>
        <p:nvSpPr>
          <p:cNvPr id="29701"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Misuse of semaphores can cause failures in cooperation synchronization, e.g., the buffer will overflow if the wait of </a:t>
            </a:r>
            <a:r>
              <a:rPr lang="en-US">
                <a:latin typeface="Courier New" charset="0"/>
                <a:cs typeface="Lucida Sans Unicode" charset="0"/>
              </a:rPr>
              <a:t>fullspots</a:t>
            </a:r>
            <a:r>
              <a:rPr lang="en-US">
                <a:latin typeface="Lucida Sans Unicode" charset="0"/>
                <a:cs typeface="Lucida Sans Unicode" charset="0"/>
              </a:rPr>
              <a:t> is left out</a:t>
            </a:r>
          </a:p>
          <a:p>
            <a:pPr eaLnBrk="1" hangingPunct="1"/>
            <a:r>
              <a:rPr lang="en-US">
                <a:latin typeface="Lucida Sans Unicode" charset="0"/>
                <a:cs typeface="Lucida Sans Unicode" charset="0"/>
              </a:rPr>
              <a:t>Misuse of semaphores can cause failures in competition synchronization, e.g., the program will deadlock if the release of </a:t>
            </a:r>
            <a:r>
              <a:rPr lang="en-US">
                <a:latin typeface="Courier New" charset="0"/>
                <a:cs typeface="Lucida Sans Unicode" charset="0"/>
              </a:rPr>
              <a:t>access</a:t>
            </a:r>
            <a:r>
              <a:rPr lang="en-US">
                <a:latin typeface="Lucida Sans Unicode" charset="0"/>
                <a:cs typeface="Lucida Sans Unicode" charset="0"/>
              </a:rPr>
              <a:t> is left out</a:t>
            </a:r>
          </a:p>
        </p:txBody>
      </p:sp>
    </p:spTree>
    <p:extLst>
      <p:ext uri="{BB962C8B-B14F-4D97-AF65-F5344CB8AC3E}">
        <p14:creationId xmlns:p14="http://schemas.microsoft.com/office/powerpoint/2010/main" val="35549029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072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14167A57-70B1-6D45-B2D5-FBDFEF748C8B}" type="slidenum">
              <a:rPr lang="en-US" sz="1000">
                <a:latin typeface="Arial" charset="0"/>
              </a:rPr>
              <a:pPr/>
              <a:t>86</a:t>
            </a:fld>
            <a:endParaRPr lang="en-US" sz="1000">
              <a:latin typeface="Arial" charset="0"/>
            </a:endParaRPr>
          </a:p>
        </p:txBody>
      </p:sp>
      <p:sp>
        <p:nvSpPr>
          <p:cNvPr id="30724" name="Rectangle 2"/>
          <p:cNvSpPr>
            <a:spLocks noGrp="1" noChangeArrowheads="1"/>
          </p:cNvSpPr>
          <p:nvPr>
            <p:ph type="title"/>
          </p:nvPr>
        </p:nvSpPr>
        <p:spPr/>
        <p:txBody>
          <a:bodyPr/>
          <a:lstStyle/>
          <a:p>
            <a:pPr eaLnBrk="1" hangingPunct="1"/>
            <a:r>
              <a:rPr lang="en-US">
                <a:latin typeface="Lucida Sans Unicode" charset="0"/>
                <a:cs typeface="Lucida Sans Unicode" charset="0"/>
              </a:rPr>
              <a:t>Monitors</a:t>
            </a:r>
          </a:p>
        </p:txBody>
      </p:sp>
      <p:sp>
        <p:nvSpPr>
          <p:cNvPr id="30725"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Ada, Java, C#</a:t>
            </a:r>
          </a:p>
          <a:p>
            <a:pPr eaLnBrk="1" hangingPunct="1"/>
            <a:r>
              <a:rPr lang="en-US">
                <a:latin typeface="Lucida Sans Unicode" charset="0"/>
                <a:cs typeface="Lucida Sans Unicode" charset="0"/>
              </a:rPr>
              <a:t>The idea: encapsulate the shared data and its operations to restrict access</a:t>
            </a:r>
          </a:p>
          <a:p>
            <a:pPr eaLnBrk="1" hangingPunct="1"/>
            <a:r>
              <a:rPr lang="en-US">
                <a:latin typeface="Lucida Sans Unicode" charset="0"/>
                <a:cs typeface="Lucida Sans Unicode" charset="0"/>
              </a:rPr>
              <a:t>A monitor is an abstract data type for shared data</a:t>
            </a:r>
          </a:p>
        </p:txBody>
      </p:sp>
    </p:spTree>
    <p:extLst>
      <p:ext uri="{BB962C8B-B14F-4D97-AF65-F5344CB8AC3E}">
        <p14:creationId xmlns:p14="http://schemas.microsoft.com/office/powerpoint/2010/main" val="31871640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174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61074E9C-F483-5848-B1AC-69041F062EF9}" type="slidenum">
              <a:rPr lang="en-US" sz="1000">
                <a:latin typeface="Arial" charset="0"/>
              </a:rPr>
              <a:pPr/>
              <a:t>87</a:t>
            </a:fld>
            <a:endParaRPr lang="en-US" sz="1000">
              <a:latin typeface="Arial" charset="0"/>
            </a:endParaRPr>
          </a:p>
        </p:txBody>
      </p:sp>
      <p:sp>
        <p:nvSpPr>
          <p:cNvPr id="31748" name="Rectangle 2"/>
          <p:cNvSpPr>
            <a:spLocks noGrp="1" noChangeArrowheads="1"/>
          </p:cNvSpPr>
          <p:nvPr>
            <p:ph type="title"/>
          </p:nvPr>
        </p:nvSpPr>
        <p:spPr/>
        <p:txBody>
          <a:bodyPr/>
          <a:lstStyle/>
          <a:p>
            <a:pPr eaLnBrk="1" hangingPunct="1"/>
            <a:r>
              <a:rPr lang="en-US">
                <a:latin typeface="Lucida Sans Unicode" charset="0"/>
                <a:cs typeface="Lucida Sans Unicode" charset="0"/>
              </a:rPr>
              <a:t>Competition Synchronization</a:t>
            </a:r>
          </a:p>
        </p:txBody>
      </p:sp>
      <p:sp>
        <p:nvSpPr>
          <p:cNvPr id="31749"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Shared data is resident in the monitor (rather than in the client units)</a:t>
            </a:r>
          </a:p>
          <a:p>
            <a:pPr eaLnBrk="1" hangingPunct="1"/>
            <a:r>
              <a:rPr lang="en-US">
                <a:latin typeface="Lucida Sans Unicode" charset="0"/>
                <a:cs typeface="Lucida Sans Unicode" charset="0"/>
              </a:rPr>
              <a:t>All access resident in the monitor</a:t>
            </a:r>
          </a:p>
          <a:p>
            <a:pPr lvl="1" eaLnBrk="1" hangingPunct="1"/>
            <a:r>
              <a:rPr lang="en-US">
                <a:latin typeface="Lucida Sans Unicode" charset="0"/>
                <a:ea typeface="Lucida Sans Unicode" charset="0"/>
                <a:cs typeface="Lucida Sans Unicode" charset="0"/>
              </a:rPr>
              <a:t>Monitor implementation guarantee synchronized access by allowing only one access at a time</a:t>
            </a:r>
          </a:p>
          <a:p>
            <a:pPr lvl="1" eaLnBrk="1" hangingPunct="1"/>
            <a:r>
              <a:rPr lang="en-US">
                <a:latin typeface="Lucida Sans Unicode" charset="0"/>
                <a:ea typeface="Lucida Sans Unicode" charset="0"/>
                <a:cs typeface="Lucida Sans Unicode" charset="0"/>
              </a:rPr>
              <a:t>Calls to monitor procedures are implicitly queued if the monitor is busy at the time of the call</a:t>
            </a:r>
          </a:p>
        </p:txBody>
      </p:sp>
    </p:spTree>
    <p:extLst>
      <p:ext uri="{BB962C8B-B14F-4D97-AF65-F5344CB8AC3E}">
        <p14:creationId xmlns:p14="http://schemas.microsoft.com/office/powerpoint/2010/main" val="14831463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277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91360923-CD11-AA45-8034-FFCF83F76D11}" type="slidenum">
              <a:rPr lang="en-US" sz="1000">
                <a:latin typeface="Arial" charset="0"/>
              </a:rPr>
              <a:pPr/>
              <a:t>88</a:t>
            </a:fld>
            <a:endParaRPr lang="en-US" sz="1000">
              <a:latin typeface="Arial" charset="0"/>
            </a:endParaRPr>
          </a:p>
        </p:txBody>
      </p:sp>
      <p:sp>
        <p:nvSpPr>
          <p:cNvPr id="32772" name="Rectangle 2"/>
          <p:cNvSpPr>
            <a:spLocks noGrp="1" noChangeArrowheads="1"/>
          </p:cNvSpPr>
          <p:nvPr>
            <p:ph type="title"/>
          </p:nvPr>
        </p:nvSpPr>
        <p:spPr/>
        <p:txBody>
          <a:bodyPr/>
          <a:lstStyle/>
          <a:p>
            <a:pPr eaLnBrk="1" hangingPunct="1"/>
            <a:r>
              <a:rPr lang="en-US">
                <a:latin typeface="Lucida Sans Unicode" charset="0"/>
                <a:cs typeface="Lucida Sans Unicode" charset="0"/>
              </a:rPr>
              <a:t>Cooperation Synchronization</a:t>
            </a:r>
          </a:p>
        </p:txBody>
      </p:sp>
      <p:sp>
        <p:nvSpPr>
          <p:cNvPr id="32773"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Cooperation between processes is still a programming task</a:t>
            </a:r>
          </a:p>
          <a:p>
            <a:pPr lvl="1" eaLnBrk="1" hangingPunct="1"/>
            <a:r>
              <a:rPr lang="en-US">
                <a:latin typeface="Lucida Sans Unicode" charset="0"/>
                <a:ea typeface="Lucida Sans Unicode" charset="0"/>
                <a:cs typeface="Lucida Sans Unicode" charset="0"/>
              </a:rPr>
              <a:t>Programmer must guarantee that a shared buffer does not experience underflow or overflow</a:t>
            </a:r>
          </a:p>
          <a:p>
            <a:pPr lvl="1" eaLnBrk="1" hangingPunct="1"/>
            <a:endParaRPr lang="en-US">
              <a:latin typeface="Lucida Sans Unicode" charset="0"/>
              <a:ea typeface="Lucida Sans Unicode" charset="0"/>
              <a:cs typeface="Lucida Sans Unicode" charset="0"/>
            </a:endParaRPr>
          </a:p>
        </p:txBody>
      </p:sp>
      <p:pic>
        <p:nvPicPr>
          <p:cNvPr id="3277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5600" y="3429000"/>
            <a:ext cx="4495800" cy="2955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2342303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379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37F3062C-C761-704E-BA83-B17E4C172094}" type="slidenum">
              <a:rPr lang="en-US" sz="1000">
                <a:latin typeface="Arial" charset="0"/>
              </a:rPr>
              <a:pPr/>
              <a:t>89</a:t>
            </a:fld>
            <a:endParaRPr lang="en-US" sz="1000">
              <a:latin typeface="Arial" charset="0"/>
            </a:endParaRPr>
          </a:p>
        </p:txBody>
      </p:sp>
      <p:sp>
        <p:nvSpPr>
          <p:cNvPr id="33796" name="Rectangle 2"/>
          <p:cNvSpPr>
            <a:spLocks noGrp="1" noChangeArrowheads="1"/>
          </p:cNvSpPr>
          <p:nvPr>
            <p:ph type="title"/>
          </p:nvPr>
        </p:nvSpPr>
        <p:spPr/>
        <p:txBody>
          <a:bodyPr/>
          <a:lstStyle/>
          <a:p>
            <a:pPr eaLnBrk="1" hangingPunct="1"/>
            <a:r>
              <a:rPr lang="en-US">
                <a:latin typeface="Lucida Sans Unicode" charset="0"/>
                <a:cs typeface="Lucida Sans Unicode" charset="0"/>
              </a:rPr>
              <a:t>Evaluation of Monitors</a:t>
            </a:r>
          </a:p>
        </p:txBody>
      </p:sp>
      <p:sp>
        <p:nvSpPr>
          <p:cNvPr id="33797" name="Rectangle 3"/>
          <p:cNvSpPr>
            <a:spLocks noGrp="1" noChangeArrowheads="1"/>
          </p:cNvSpPr>
          <p:nvPr>
            <p:ph type="body" idx="1"/>
          </p:nvPr>
        </p:nvSpPr>
        <p:spPr>
          <a:xfrm>
            <a:off x="457200" y="1447800"/>
            <a:ext cx="8153400" cy="4572000"/>
          </a:xfrm>
        </p:spPr>
        <p:txBody>
          <a:bodyPr/>
          <a:lstStyle/>
          <a:p>
            <a:pPr eaLnBrk="1" hangingPunct="1"/>
            <a:r>
              <a:rPr lang="en-US" dirty="0">
                <a:latin typeface="Lucida Sans Unicode" charset="0"/>
                <a:cs typeface="Lucida Sans Unicode" charset="0"/>
              </a:rPr>
              <a:t>A better way to provide competition synchronization than with semaphores</a:t>
            </a:r>
          </a:p>
          <a:p>
            <a:pPr eaLnBrk="1" hangingPunct="1"/>
            <a:r>
              <a:rPr lang="en-US" dirty="0">
                <a:latin typeface="Lucida Sans Unicode" charset="0"/>
                <a:cs typeface="Lucida Sans Unicode" charset="0"/>
              </a:rPr>
              <a:t>Semaphores can be used to implement monitors</a:t>
            </a:r>
          </a:p>
          <a:p>
            <a:pPr eaLnBrk="1" hangingPunct="1"/>
            <a:r>
              <a:rPr lang="en-US" dirty="0">
                <a:latin typeface="Lucida Sans Unicode" charset="0"/>
                <a:cs typeface="Lucida Sans Unicode" charset="0"/>
              </a:rPr>
              <a:t>Monitors can be used to implement semaphores</a:t>
            </a:r>
          </a:p>
          <a:p>
            <a:pPr eaLnBrk="1" hangingPunct="1"/>
            <a:r>
              <a:rPr lang="en-US" dirty="0">
                <a:latin typeface="Lucida Sans Unicode" charset="0"/>
                <a:cs typeface="Lucida Sans Unicode" charset="0"/>
              </a:rPr>
              <a:t>Support for cooperation synchronization is very similar as with semaphores, so it has the same problems</a:t>
            </a:r>
          </a:p>
        </p:txBody>
      </p:sp>
    </p:spTree>
    <p:extLst>
      <p:ext uri="{BB962C8B-B14F-4D97-AF65-F5344CB8AC3E}">
        <p14:creationId xmlns:p14="http://schemas.microsoft.com/office/powerpoint/2010/main" val="3773838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481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F93E8FA0-D8C3-BD48-BCF6-E837BD2446D2}" type="slidenum">
              <a:rPr lang="en-US" sz="1000">
                <a:latin typeface="Arial" charset="0"/>
              </a:rPr>
              <a:pPr/>
              <a:t>90</a:t>
            </a:fld>
            <a:endParaRPr lang="en-US" sz="1000">
              <a:latin typeface="Arial" charset="0"/>
            </a:endParaRPr>
          </a:p>
        </p:txBody>
      </p:sp>
      <p:sp>
        <p:nvSpPr>
          <p:cNvPr id="34820" name="Rectangle 2"/>
          <p:cNvSpPr>
            <a:spLocks noGrp="1" noChangeArrowheads="1"/>
          </p:cNvSpPr>
          <p:nvPr>
            <p:ph type="title"/>
          </p:nvPr>
        </p:nvSpPr>
        <p:spPr/>
        <p:txBody>
          <a:bodyPr/>
          <a:lstStyle/>
          <a:p>
            <a:pPr eaLnBrk="1" hangingPunct="1"/>
            <a:r>
              <a:rPr lang="en-US">
                <a:latin typeface="Lucida Sans Unicode" charset="0"/>
                <a:cs typeface="Lucida Sans Unicode" charset="0"/>
              </a:rPr>
              <a:t>Message Passing</a:t>
            </a:r>
          </a:p>
        </p:txBody>
      </p:sp>
      <p:sp>
        <p:nvSpPr>
          <p:cNvPr id="34821" name="Rectangle 3"/>
          <p:cNvSpPr>
            <a:spLocks noGrp="1" noChangeArrowheads="1"/>
          </p:cNvSpPr>
          <p:nvPr>
            <p:ph type="body" idx="1"/>
          </p:nvPr>
        </p:nvSpPr>
        <p:spPr>
          <a:xfrm>
            <a:off x="457200" y="1295400"/>
            <a:ext cx="8153400" cy="4572000"/>
          </a:xfrm>
        </p:spPr>
        <p:txBody>
          <a:bodyPr/>
          <a:lstStyle/>
          <a:p>
            <a:pPr eaLnBrk="1" hangingPunct="1"/>
            <a:r>
              <a:rPr lang="en-US">
                <a:latin typeface="Lucida Sans Unicode" charset="0"/>
                <a:cs typeface="Lucida Sans Unicode" charset="0"/>
              </a:rPr>
              <a:t>Message passing is a general model for concurrency</a:t>
            </a:r>
          </a:p>
          <a:p>
            <a:pPr lvl="1" eaLnBrk="1" hangingPunct="1"/>
            <a:r>
              <a:rPr lang="en-US">
                <a:latin typeface="Lucida Sans Unicode" charset="0"/>
                <a:ea typeface="Lucida Sans Unicode" charset="0"/>
                <a:cs typeface="Lucida Sans Unicode" charset="0"/>
              </a:rPr>
              <a:t>It can model both semaphores and monitors</a:t>
            </a:r>
          </a:p>
          <a:p>
            <a:pPr lvl="1" eaLnBrk="1" hangingPunct="1"/>
            <a:r>
              <a:rPr lang="en-US">
                <a:latin typeface="Lucida Sans Unicode" charset="0"/>
                <a:ea typeface="Lucida Sans Unicode" charset="0"/>
                <a:cs typeface="Lucida Sans Unicode" charset="0"/>
              </a:rPr>
              <a:t>It is not just for competition synchronization</a:t>
            </a:r>
          </a:p>
          <a:p>
            <a:pPr eaLnBrk="1" hangingPunct="1"/>
            <a:r>
              <a:rPr lang="en-US">
                <a:latin typeface="Lucida Sans Unicode" charset="0"/>
                <a:cs typeface="Lucida Sans Unicode" charset="0"/>
              </a:rPr>
              <a:t>Central idea: task communication is like seeing a doctor--most of the time she waits for you or you wait for her, but when you are both ready, you get together, or </a:t>
            </a:r>
            <a:r>
              <a:rPr lang="en-US" i="1">
                <a:latin typeface="Lucida Sans Unicode" charset="0"/>
                <a:cs typeface="Lucida Sans Unicode" charset="0"/>
              </a:rPr>
              <a:t>rendezvous</a:t>
            </a:r>
            <a:endParaRPr lang="en-US">
              <a:latin typeface="Lucida Sans Unicode" charset="0"/>
              <a:cs typeface="Lucida Sans Unicode" charset="0"/>
            </a:endParaRPr>
          </a:p>
        </p:txBody>
      </p:sp>
    </p:spTree>
    <p:extLst>
      <p:ext uri="{BB962C8B-B14F-4D97-AF65-F5344CB8AC3E}">
        <p14:creationId xmlns:p14="http://schemas.microsoft.com/office/powerpoint/2010/main" val="667526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3584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1A6DE415-71CC-6648-854E-7F1033036BA5}" type="slidenum">
              <a:rPr lang="en-US" sz="1000">
                <a:latin typeface="Arial" charset="0"/>
              </a:rPr>
              <a:pPr/>
              <a:t>91</a:t>
            </a:fld>
            <a:endParaRPr lang="en-US" sz="1000">
              <a:latin typeface="Arial" charset="0"/>
            </a:endParaRPr>
          </a:p>
        </p:txBody>
      </p:sp>
      <p:sp>
        <p:nvSpPr>
          <p:cNvPr id="35844" name="Rectangle 2"/>
          <p:cNvSpPr>
            <a:spLocks noGrp="1" noChangeArrowheads="1"/>
          </p:cNvSpPr>
          <p:nvPr>
            <p:ph type="title"/>
          </p:nvPr>
        </p:nvSpPr>
        <p:spPr/>
        <p:txBody>
          <a:bodyPr/>
          <a:lstStyle/>
          <a:p>
            <a:pPr eaLnBrk="1" hangingPunct="1"/>
            <a:r>
              <a:rPr lang="en-US">
                <a:latin typeface="Lucida Sans Unicode" charset="0"/>
                <a:cs typeface="Lucida Sans Unicode" charset="0"/>
              </a:rPr>
              <a:t>Message Passing Rendezvous</a:t>
            </a:r>
          </a:p>
        </p:txBody>
      </p:sp>
      <p:sp>
        <p:nvSpPr>
          <p:cNvPr id="35845" name="Rectangle 3"/>
          <p:cNvSpPr>
            <a:spLocks noGrp="1" noChangeArrowheads="1"/>
          </p:cNvSpPr>
          <p:nvPr>
            <p:ph type="body" idx="1"/>
          </p:nvPr>
        </p:nvSpPr>
        <p:spPr>
          <a:xfrm>
            <a:off x="457200" y="1371600"/>
            <a:ext cx="8153400" cy="4572000"/>
          </a:xfrm>
        </p:spPr>
        <p:txBody>
          <a:bodyPr/>
          <a:lstStyle/>
          <a:p>
            <a:pPr eaLnBrk="1" hangingPunct="1">
              <a:lnSpc>
                <a:spcPct val="80000"/>
              </a:lnSpc>
            </a:pPr>
            <a:r>
              <a:rPr lang="en-US" sz="2400">
                <a:latin typeface="Lucida Sans Unicode" charset="0"/>
                <a:cs typeface="Lucida Sans Unicode" charset="0"/>
              </a:rPr>
              <a:t>To support concurrent tasks with message passing, a language needs:</a:t>
            </a:r>
          </a:p>
          <a:p>
            <a:pPr eaLnBrk="1" hangingPunct="1">
              <a:lnSpc>
                <a:spcPct val="80000"/>
              </a:lnSpc>
              <a:buFontTx/>
              <a:buNone/>
            </a:pPr>
            <a:br>
              <a:rPr lang="en-US" sz="2400">
                <a:latin typeface="Lucida Sans Unicode" charset="0"/>
                <a:cs typeface="Lucida Sans Unicode" charset="0"/>
              </a:rPr>
            </a:br>
            <a:r>
              <a:rPr lang="en-US" sz="2400">
                <a:latin typeface="Lucida Sans Unicode" charset="0"/>
                <a:cs typeface="Lucida Sans Unicode" charset="0"/>
              </a:rPr>
              <a:t>- A mechanism to allow a task to indicate when it is willing to accept messages</a:t>
            </a:r>
          </a:p>
          <a:p>
            <a:pPr eaLnBrk="1" hangingPunct="1">
              <a:lnSpc>
                <a:spcPct val="80000"/>
              </a:lnSpc>
              <a:buFontTx/>
              <a:buNone/>
            </a:pPr>
            <a:br>
              <a:rPr lang="en-US" sz="2400">
                <a:latin typeface="Lucida Sans Unicode" charset="0"/>
                <a:cs typeface="Lucida Sans Unicode" charset="0"/>
              </a:rPr>
            </a:br>
            <a:r>
              <a:rPr lang="en-US" sz="2400">
                <a:latin typeface="Lucida Sans Unicode" charset="0"/>
                <a:cs typeface="Lucida Sans Unicode" charset="0"/>
              </a:rPr>
              <a:t>- A way to remember who is waiting to have its message accepted and some </a:t>
            </a:r>
            <a:r>
              <a:rPr lang="ja-JP" altLang="en-US" sz="2400">
                <a:latin typeface="Lucida Sans Unicode" charset="0"/>
                <a:cs typeface="Lucida Sans Unicode" charset="0"/>
              </a:rPr>
              <a:t>“</a:t>
            </a:r>
            <a:r>
              <a:rPr lang="en-US" sz="2400">
                <a:latin typeface="Lucida Sans Unicode" charset="0"/>
                <a:cs typeface="Lucida Sans Unicode" charset="0"/>
              </a:rPr>
              <a:t>fair</a:t>
            </a:r>
            <a:r>
              <a:rPr lang="ja-JP" altLang="en-US" sz="2400">
                <a:latin typeface="Lucida Sans Unicode" charset="0"/>
                <a:cs typeface="Lucida Sans Unicode" charset="0"/>
              </a:rPr>
              <a:t>”</a:t>
            </a:r>
            <a:r>
              <a:rPr lang="en-US" sz="2400">
                <a:latin typeface="Lucida Sans Unicode" charset="0"/>
                <a:cs typeface="Lucida Sans Unicode" charset="0"/>
              </a:rPr>
              <a:t> way of choosing the next message</a:t>
            </a:r>
          </a:p>
          <a:p>
            <a:pPr eaLnBrk="1" hangingPunct="1">
              <a:lnSpc>
                <a:spcPct val="80000"/>
              </a:lnSpc>
              <a:buFontTx/>
              <a:buNone/>
            </a:pPr>
            <a:endParaRPr lang="en-US" sz="2400">
              <a:latin typeface="Lucida Sans Unicode" charset="0"/>
              <a:cs typeface="Lucida Sans Unicode" charset="0"/>
            </a:endParaRPr>
          </a:p>
          <a:p>
            <a:pPr eaLnBrk="1" hangingPunct="1">
              <a:lnSpc>
                <a:spcPct val="80000"/>
              </a:lnSpc>
            </a:pPr>
            <a:r>
              <a:rPr lang="en-US" sz="2400">
                <a:latin typeface="Lucida Sans Unicode" charset="0"/>
                <a:cs typeface="Lucida Sans Unicode" charset="0"/>
              </a:rPr>
              <a:t>When a sender task</a:t>
            </a:r>
            <a:r>
              <a:rPr lang="ja-JP" altLang="en-US" sz="2400">
                <a:latin typeface="Lucida Sans Unicode" charset="0"/>
                <a:cs typeface="Lucida Sans Unicode" charset="0"/>
              </a:rPr>
              <a:t>’</a:t>
            </a:r>
            <a:r>
              <a:rPr lang="en-US" sz="2400">
                <a:latin typeface="Lucida Sans Unicode" charset="0"/>
                <a:cs typeface="Lucida Sans Unicode" charset="0"/>
              </a:rPr>
              <a:t>s message is accepted by a receiver task, the actual message transmission is called a </a:t>
            </a:r>
            <a:r>
              <a:rPr lang="en-US" sz="2400" i="1">
                <a:latin typeface="Lucida Sans Unicode" charset="0"/>
                <a:cs typeface="Lucida Sans Unicode" charset="0"/>
              </a:rPr>
              <a:t>rendezvous</a:t>
            </a:r>
            <a:r>
              <a:rPr lang="en-US" sz="2400">
                <a:latin typeface="Lucida Sans Unicode" charset="0"/>
                <a:cs typeface="Lucida Sans Unicode" charset="0"/>
              </a:rPr>
              <a:t> </a:t>
            </a:r>
          </a:p>
        </p:txBody>
      </p:sp>
    </p:spTree>
    <p:extLst>
      <p:ext uri="{BB962C8B-B14F-4D97-AF65-F5344CB8AC3E}">
        <p14:creationId xmlns:p14="http://schemas.microsoft.com/office/powerpoint/2010/main" val="102161585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5837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21A2402D-8269-7046-8341-6037C547AF21}" type="slidenum">
              <a:rPr lang="en-US" sz="1000">
                <a:latin typeface="Arial" charset="0"/>
              </a:rPr>
              <a:pPr/>
              <a:t>92</a:t>
            </a:fld>
            <a:endParaRPr lang="en-US" sz="1000">
              <a:latin typeface="Arial" charset="0"/>
            </a:endParaRPr>
          </a:p>
        </p:txBody>
      </p:sp>
      <p:sp>
        <p:nvSpPr>
          <p:cNvPr id="58372" name="Rectangle 2"/>
          <p:cNvSpPr>
            <a:spLocks noGrp="1" noChangeArrowheads="1"/>
          </p:cNvSpPr>
          <p:nvPr>
            <p:ph type="title"/>
          </p:nvPr>
        </p:nvSpPr>
        <p:spPr/>
        <p:txBody>
          <a:bodyPr/>
          <a:lstStyle/>
          <a:p>
            <a:pPr eaLnBrk="1" hangingPunct="1"/>
            <a:r>
              <a:rPr lang="en-US">
                <a:latin typeface="Lucida Sans Unicode" charset="0"/>
                <a:cs typeface="Lucida Sans Unicode" charset="0"/>
              </a:rPr>
              <a:t>Java Threads</a:t>
            </a:r>
          </a:p>
        </p:txBody>
      </p:sp>
      <p:sp>
        <p:nvSpPr>
          <p:cNvPr id="58373" name="Rectangle 3"/>
          <p:cNvSpPr>
            <a:spLocks noGrp="1" noChangeArrowheads="1"/>
          </p:cNvSpPr>
          <p:nvPr>
            <p:ph type="body" idx="1"/>
          </p:nvPr>
        </p:nvSpPr>
        <p:spPr>
          <a:xfrm>
            <a:off x="457200" y="1371600"/>
            <a:ext cx="8153400" cy="4572000"/>
          </a:xfrm>
        </p:spPr>
        <p:txBody>
          <a:bodyPr/>
          <a:lstStyle/>
          <a:p>
            <a:pPr eaLnBrk="1" hangingPunct="1"/>
            <a:r>
              <a:rPr lang="en-US" sz="2400">
                <a:latin typeface="Lucida Sans Unicode" charset="0"/>
                <a:cs typeface="Lucida Sans Unicode" charset="0"/>
              </a:rPr>
              <a:t>The concurrent units in Java are methods named </a:t>
            </a:r>
            <a:r>
              <a:rPr lang="en-US" sz="2400">
                <a:latin typeface="Courier New" charset="0"/>
                <a:cs typeface="Courier New" charset="0"/>
              </a:rPr>
              <a:t>run</a:t>
            </a:r>
          </a:p>
          <a:p>
            <a:pPr lvl="1" eaLnBrk="1" hangingPunct="1"/>
            <a:r>
              <a:rPr lang="en-US" sz="2000">
                <a:latin typeface="Lucida Sans Unicode" charset="0"/>
                <a:ea typeface="Lucida Sans Unicode" charset="0"/>
                <a:cs typeface="Lucida Sans Unicode" charset="0"/>
              </a:rPr>
              <a:t>A </a:t>
            </a:r>
            <a:r>
              <a:rPr lang="en-US" sz="2000">
                <a:latin typeface="Courier New" charset="0"/>
                <a:ea typeface="ＭＳ Ｐゴシック" charset="0"/>
                <a:cs typeface="Courier New" charset="0"/>
              </a:rPr>
              <a:t>run</a:t>
            </a:r>
            <a:r>
              <a:rPr lang="en-US" sz="2000">
                <a:latin typeface="Lucida Sans Unicode" charset="0"/>
                <a:ea typeface="Lucida Sans Unicode" charset="0"/>
                <a:cs typeface="Lucida Sans Unicode" charset="0"/>
              </a:rPr>
              <a:t> method code can be in concurrent execution with other such methods</a:t>
            </a:r>
          </a:p>
          <a:p>
            <a:pPr lvl="1" eaLnBrk="1" hangingPunct="1"/>
            <a:r>
              <a:rPr lang="en-US" sz="2000">
                <a:latin typeface="Lucida Sans Unicode" charset="0"/>
                <a:ea typeface="Lucida Sans Unicode" charset="0"/>
                <a:cs typeface="Lucida Sans Unicode" charset="0"/>
              </a:rPr>
              <a:t>The process in which the </a:t>
            </a:r>
            <a:r>
              <a:rPr lang="en-US" sz="2000">
                <a:latin typeface="Courier New" charset="0"/>
                <a:ea typeface="ＭＳ Ｐゴシック" charset="0"/>
                <a:cs typeface="Courier New" charset="0"/>
              </a:rPr>
              <a:t>run</a:t>
            </a:r>
            <a:r>
              <a:rPr lang="en-US" sz="2000">
                <a:latin typeface="Lucida Sans Unicode" charset="0"/>
                <a:ea typeface="Lucida Sans Unicode" charset="0"/>
                <a:cs typeface="Lucida Sans Unicode" charset="0"/>
              </a:rPr>
              <a:t> methods execute is called a </a:t>
            </a:r>
            <a:r>
              <a:rPr lang="en-US" sz="2000" i="1">
                <a:latin typeface="Lucida Sans Unicode" charset="0"/>
                <a:ea typeface="Lucida Sans Unicode" charset="0"/>
                <a:cs typeface="Lucida Sans Unicode" charset="0"/>
              </a:rPr>
              <a:t>thread</a:t>
            </a:r>
          </a:p>
          <a:p>
            <a:pPr lvl="1" eaLnBrk="1" hangingPunct="1">
              <a:buFontTx/>
              <a:buNone/>
            </a:pPr>
            <a:r>
              <a:rPr lang="en-US" sz="2000" b="1">
                <a:latin typeface="Courier New" charset="0"/>
                <a:ea typeface="ＭＳ Ｐゴシック" charset="0"/>
                <a:cs typeface="Courier New" charset="0"/>
              </a:rPr>
              <a:t>class</a:t>
            </a:r>
            <a:r>
              <a:rPr lang="en-US" sz="2000">
                <a:latin typeface="Courier New" charset="0"/>
                <a:ea typeface="ＭＳ Ｐゴシック" charset="0"/>
                <a:cs typeface="Courier New" charset="0"/>
              </a:rPr>
              <a:t> myThread </a:t>
            </a:r>
            <a:r>
              <a:rPr lang="en-US" sz="2000" b="1">
                <a:latin typeface="Courier New" charset="0"/>
                <a:ea typeface="ＭＳ Ｐゴシック" charset="0"/>
                <a:cs typeface="Courier New" charset="0"/>
              </a:rPr>
              <a:t>extends</a:t>
            </a:r>
            <a:r>
              <a:rPr lang="en-US" sz="2000">
                <a:latin typeface="Courier New" charset="0"/>
                <a:ea typeface="ＭＳ Ｐゴシック" charset="0"/>
                <a:cs typeface="Courier New" charset="0"/>
              </a:rPr>
              <a:t> Thread</a:t>
            </a:r>
          </a:p>
          <a:p>
            <a:pPr lvl="1" eaLnBrk="1" hangingPunct="1">
              <a:buFontTx/>
              <a:buNone/>
            </a:pPr>
            <a:r>
              <a:rPr lang="en-US" sz="2000">
                <a:latin typeface="Courier New" charset="0"/>
                <a:ea typeface="ＭＳ Ｐゴシック" charset="0"/>
                <a:cs typeface="Courier New" charset="0"/>
              </a:rPr>
              <a:t>	</a:t>
            </a:r>
            <a:r>
              <a:rPr lang="en-US" sz="2000" b="1">
                <a:latin typeface="Courier New" charset="0"/>
                <a:ea typeface="ＭＳ Ｐゴシック" charset="0"/>
                <a:cs typeface="Courier New" charset="0"/>
              </a:rPr>
              <a:t>public void </a:t>
            </a:r>
            <a:r>
              <a:rPr lang="en-US" sz="2000">
                <a:latin typeface="Courier New" charset="0"/>
                <a:ea typeface="ＭＳ Ｐゴシック" charset="0"/>
                <a:cs typeface="Courier New" charset="0"/>
              </a:rPr>
              <a:t>run () {…}</a:t>
            </a:r>
          </a:p>
          <a:p>
            <a:pPr lvl="1" eaLnBrk="1" hangingPunct="1">
              <a:buFontTx/>
              <a:buNone/>
            </a:pPr>
            <a:r>
              <a:rPr lang="en-US" sz="2000">
                <a:latin typeface="Courier New" charset="0"/>
                <a:ea typeface="ＭＳ Ｐゴシック" charset="0"/>
                <a:cs typeface="Courier New" charset="0"/>
              </a:rPr>
              <a:t>}</a:t>
            </a:r>
          </a:p>
          <a:p>
            <a:pPr lvl="1" eaLnBrk="1" hangingPunct="1">
              <a:buFontTx/>
              <a:buNone/>
            </a:pPr>
            <a:r>
              <a:rPr lang="en-US" sz="2000">
                <a:latin typeface="Courier New" charset="0"/>
                <a:ea typeface="ＭＳ Ｐゴシック" charset="0"/>
                <a:cs typeface="Courier New" charset="0"/>
              </a:rPr>
              <a:t>…</a:t>
            </a:r>
          </a:p>
          <a:p>
            <a:pPr lvl="1" eaLnBrk="1" hangingPunct="1">
              <a:buFontTx/>
              <a:buNone/>
            </a:pPr>
            <a:r>
              <a:rPr lang="en-US" sz="2000">
                <a:latin typeface="Courier New" charset="0"/>
                <a:ea typeface="ＭＳ Ｐゴシック" charset="0"/>
                <a:cs typeface="Courier New" charset="0"/>
              </a:rPr>
              <a:t>Thread myTh = </a:t>
            </a:r>
            <a:r>
              <a:rPr lang="en-US" sz="2000" b="1">
                <a:latin typeface="Courier New" charset="0"/>
                <a:ea typeface="ＭＳ Ｐゴシック" charset="0"/>
                <a:cs typeface="Courier New" charset="0"/>
              </a:rPr>
              <a:t>new</a:t>
            </a:r>
            <a:r>
              <a:rPr lang="en-US" sz="2000">
                <a:latin typeface="Courier New" charset="0"/>
                <a:ea typeface="ＭＳ Ｐゴシック" charset="0"/>
                <a:cs typeface="Courier New" charset="0"/>
              </a:rPr>
              <a:t> MyThread ();</a:t>
            </a:r>
          </a:p>
          <a:p>
            <a:pPr lvl="1" eaLnBrk="1" hangingPunct="1">
              <a:buFontTx/>
              <a:buNone/>
            </a:pPr>
            <a:r>
              <a:rPr lang="en-US" sz="2000">
                <a:latin typeface="Courier New" charset="0"/>
                <a:ea typeface="ＭＳ Ｐゴシック" charset="0"/>
                <a:cs typeface="Courier New" charset="0"/>
              </a:rPr>
              <a:t>myTh.start();</a:t>
            </a:r>
          </a:p>
        </p:txBody>
      </p:sp>
    </p:spTree>
    <p:extLst>
      <p:ext uri="{BB962C8B-B14F-4D97-AF65-F5344CB8AC3E}">
        <p14:creationId xmlns:p14="http://schemas.microsoft.com/office/powerpoint/2010/main" val="101422676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5939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B8FC1880-B050-6746-B88C-97526F83FC45}" type="slidenum">
              <a:rPr lang="en-US" sz="1000">
                <a:latin typeface="Arial" charset="0"/>
              </a:rPr>
              <a:pPr/>
              <a:t>93</a:t>
            </a:fld>
            <a:endParaRPr lang="en-US" sz="1000">
              <a:latin typeface="Arial" charset="0"/>
            </a:endParaRPr>
          </a:p>
        </p:txBody>
      </p:sp>
      <p:sp>
        <p:nvSpPr>
          <p:cNvPr id="59396" name="Rectangle 2"/>
          <p:cNvSpPr>
            <a:spLocks noGrp="1" noChangeArrowheads="1"/>
          </p:cNvSpPr>
          <p:nvPr>
            <p:ph type="title"/>
          </p:nvPr>
        </p:nvSpPr>
        <p:spPr/>
        <p:txBody>
          <a:bodyPr/>
          <a:lstStyle/>
          <a:p>
            <a:pPr eaLnBrk="1" hangingPunct="1"/>
            <a:r>
              <a:rPr lang="en-US">
                <a:latin typeface="Lucida Sans Unicode" charset="0"/>
                <a:cs typeface="Lucida Sans Unicode" charset="0"/>
              </a:rPr>
              <a:t>Controlling Thread Execution</a:t>
            </a:r>
          </a:p>
        </p:txBody>
      </p:sp>
      <p:sp>
        <p:nvSpPr>
          <p:cNvPr id="59397"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The </a:t>
            </a:r>
            <a:r>
              <a:rPr lang="en-US">
                <a:latin typeface="Courier New" charset="0"/>
                <a:cs typeface="Courier New" charset="0"/>
              </a:rPr>
              <a:t>Thread</a:t>
            </a:r>
            <a:r>
              <a:rPr lang="en-US">
                <a:latin typeface="Lucida Sans Unicode" charset="0"/>
                <a:cs typeface="Lucida Sans Unicode" charset="0"/>
              </a:rPr>
              <a:t> class has several methods to control the execution of threads</a:t>
            </a:r>
          </a:p>
          <a:p>
            <a:pPr lvl="1" eaLnBrk="1" hangingPunct="1"/>
            <a:r>
              <a:rPr lang="en-US">
                <a:latin typeface="Lucida Sans Unicode" charset="0"/>
                <a:ea typeface="Lucida Sans Unicode" charset="0"/>
                <a:cs typeface="Lucida Sans Unicode" charset="0"/>
              </a:rPr>
              <a:t>The </a:t>
            </a:r>
            <a:r>
              <a:rPr lang="en-US">
                <a:latin typeface="Courier New" charset="0"/>
                <a:ea typeface="ＭＳ Ｐゴシック" charset="0"/>
                <a:cs typeface="Courier New" charset="0"/>
              </a:rPr>
              <a:t>yield</a:t>
            </a:r>
            <a:r>
              <a:rPr lang="en-US">
                <a:latin typeface="Lucida Sans Unicode" charset="0"/>
                <a:ea typeface="Lucida Sans Unicode" charset="0"/>
                <a:cs typeface="Lucida Sans Unicode" charset="0"/>
              </a:rPr>
              <a:t> is a request from the running thread to voluntarily surrender the processor</a:t>
            </a:r>
          </a:p>
          <a:p>
            <a:pPr lvl="1" eaLnBrk="1" hangingPunct="1"/>
            <a:r>
              <a:rPr lang="en-US">
                <a:latin typeface="Lucida Sans Unicode" charset="0"/>
                <a:ea typeface="Lucida Sans Unicode" charset="0"/>
                <a:cs typeface="Lucida Sans Unicode" charset="0"/>
              </a:rPr>
              <a:t>The </a:t>
            </a:r>
            <a:r>
              <a:rPr lang="en-US">
                <a:latin typeface="Courier New" charset="0"/>
                <a:ea typeface="ＭＳ Ｐゴシック" charset="0"/>
                <a:cs typeface="Courier New" charset="0"/>
              </a:rPr>
              <a:t>sleep</a:t>
            </a:r>
            <a:r>
              <a:rPr lang="en-US">
                <a:latin typeface="Lucida Sans Unicode" charset="0"/>
                <a:ea typeface="Lucida Sans Unicode" charset="0"/>
                <a:cs typeface="Lucida Sans Unicode" charset="0"/>
              </a:rPr>
              <a:t> method can be used by the caller of the method to block the thread</a:t>
            </a:r>
          </a:p>
          <a:p>
            <a:pPr lvl="1" eaLnBrk="1" hangingPunct="1"/>
            <a:r>
              <a:rPr lang="en-US">
                <a:latin typeface="Lucida Sans Unicode" charset="0"/>
                <a:ea typeface="Lucida Sans Unicode" charset="0"/>
                <a:cs typeface="Lucida Sans Unicode" charset="0"/>
              </a:rPr>
              <a:t>The </a:t>
            </a:r>
            <a:r>
              <a:rPr lang="en-US">
                <a:latin typeface="Courier New" charset="0"/>
                <a:ea typeface="ＭＳ Ｐゴシック" charset="0"/>
                <a:cs typeface="Courier New" charset="0"/>
              </a:rPr>
              <a:t>join</a:t>
            </a:r>
            <a:r>
              <a:rPr lang="en-US">
                <a:latin typeface="Lucida Sans Unicode" charset="0"/>
                <a:ea typeface="Lucida Sans Unicode" charset="0"/>
                <a:cs typeface="Lucida Sans Unicode" charset="0"/>
              </a:rPr>
              <a:t> method is used to force a method to delay its execution until the run method of another thread has completed its execution</a:t>
            </a:r>
          </a:p>
        </p:txBody>
      </p:sp>
    </p:spTree>
    <p:extLst>
      <p:ext uri="{BB962C8B-B14F-4D97-AF65-F5344CB8AC3E}">
        <p14:creationId xmlns:p14="http://schemas.microsoft.com/office/powerpoint/2010/main" val="8806256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041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2C461C76-5EAF-3040-8260-275C27D184B3}" type="slidenum">
              <a:rPr lang="en-US" sz="1000">
                <a:latin typeface="Arial" charset="0"/>
              </a:rPr>
              <a:pPr/>
              <a:t>94</a:t>
            </a:fld>
            <a:endParaRPr lang="en-US" sz="1000">
              <a:latin typeface="Arial" charset="0"/>
            </a:endParaRPr>
          </a:p>
        </p:txBody>
      </p:sp>
      <p:sp>
        <p:nvSpPr>
          <p:cNvPr id="60420" name="Rectangle 2"/>
          <p:cNvSpPr>
            <a:spLocks noGrp="1" noChangeArrowheads="1"/>
          </p:cNvSpPr>
          <p:nvPr>
            <p:ph type="title"/>
          </p:nvPr>
        </p:nvSpPr>
        <p:spPr/>
        <p:txBody>
          <a:bodyPr/>
          <a:lstStyle/>
          <a:p>
            <a:pPr eaLnBrk="1" hangingPunct="1"/>
            <a:r>
              <a:rPr lang="en-US">
                <a:latin typeface="Lucida Sans Unicode" charset="0"/>
                <a:cs typeface="Lucida Sans Unicode" charset="0"/>
              </a:rPr>
              <a:t>Thread Priorities</a:t>
            </a:r>
          </a:p>
        </p:txBody>
      </p:sp>
      <p:sp>
        <p:nvSpPr>
          <p:cNvPr id="60421"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A thread</a:t>
            </a:r>
            <a:r>
              <a:rPr lang="ja-JP" altLang="en-US">
                <a:latin typeface="Lucida Sans Unicode" charset="0"/>
                <a:cs typeface="Lucida Sans Unicode" charset="0"/>
              </a:rPr>
              <a:t>’</a:t>
            </a:r>
            <a:r>
              <a:rPr lang="en-US">
                <a:latin typeface="Lucida Sans Unicode" charset="0"/>
                <a:cs typeface="Lucida Sans Unicode" charset="0"/>
              </a:rPr>
              <a:t>s default priority is the same as the thread that create it</a:t>
            </a:r>
          </a:p>
          <a:p>
            <a:pPr lvl="1" eaLnBrk="1" hangingPunct="1"/>
            <a:r>
              <a:rPr lang="en-US">
                <a:latin typeface="Lucida Sans Unicode" charset="0"/>
                <a:ea typeface="Lucida Sans Unicode" charset="0"/>
                <a:cs typeface="Lucida Sans Unicode" charset="0"/>
              </a:rPr>
              <a:t>If </a:t>
            </a:r>
            <a:r>
              <a:rPr lang="en-US" sz="2000">
                <a:latin typeface="Courier New" charset="0"/>
                <a:ea typeface="ＭＳ Ｐゴシック" charset="0"/>
                <a:cs typeface="Courier New" charset="0"/>
              </a:rPr>
              <a:t>main</a:t>
            </a:r>
            <a:r>
              <a:rPr lang="en-US">
                <a:latin typeface="Lucida Sans Unicode" charset="0"/>
                <a:ea typeface="Lucida Sans Unicode" charset="0"/>
                <a:cs typeface="Lucida Sans Unicode" charset="0"/>
              </a:rPr>
              <a:t> creates a thread, its default priority is </a:t>
            </a:r>
            <a:r>
              <a:rPr lang="en-US" sz="2000">
                <a:latin typeface="Courier New" charset="0"/>
                <a:ea typeface="ＭＳ Ｐゴシック" charset="0"/>
                <a:cs typeface="Courier New" charset="0"/>
              </a:rPr>
              <a:t>NORM_PRIORITY</a:t>
            </a:r>
          </a:p>
          <a:p>
            <a:pPr eaLnBrk="1" hangingPunct="1"/>
            <a:r>
              <a:rPr lang="en-US">
                <a:latin typeface="Lucida Sans Unicode" charset="0"/>
                <a:cs typeface="Lucida Sans Unicode" charset="0"/>
              </a:rPr>
              <a:t>Threads defined two other priority constants, </a:t>
            </a:r>
            <a:r>
              <a:rPr lang="en-US" sz="2000">
                <a:latin typeface="Courier New" charset="0"/>
                <a:cs typeface="Courier New" charset="0"/>
              </a:rPr>
              <a:t>MAX_PRIORITY</a:t>
            </a:r>
            <a:r>
              <a:rPr lang="en-US">
                <a:latin typeface="Lucida Sans Unicode" charset="0"/>
                <a:cs typeface="Lucida Sans Unicode" charset="0"/>
              </a:rPr>
              <a:t> and </a:t>
            </a:r>
            <a:r>
              <a:rPr lang="en-US" sz="2000">
                <a:latin typeface="Courier New" charset="0"/>
                <a:cs typeface="Courier New" charset="0"/>
              </a:rPr>
              <a:t>MIN_PRIORITY</a:t>
            </a:r>
          </a:p>
          <a:p>
            <a:pPr eaLnBrk="1" hangingPunct="1"/>
            <a:r>
              <a:rPr lang="en-US">
                <a:latin typeface="Lucida Sans Unicode" charset="0"/>
                <a:cs typeface="Lucida Sans Unicode" charset="0"/>
              </a:rPr>
              <a:t>The priority of a thread can be changed with the methods</a:t>
            </a:r>
            <a:r>
              <a:rPr lang="en-US">
                <a:latin typeface="Courier New" charset="0"/>
                <a:cs typeface="Courier New" charset="0"/>
              </a:rPr>
              <a:t> </a:t>
            </a:r>
            <a:r>
              <a:rPr lang="en-US" sz="2000">
                <a:latin typeface="Courier New" charset="0"/>
                <a:cs typeface="Courier New" charset="0"/>
              </a:rPr>
              <a:t>setPriority</a:t>
            </a:r>
          </a:p>
        </p:txBody>
      </p:sp>
    </p:spTree>
    <p:extLst>
      <p:ext uri="{BB962C8B-B14F-4D97-AF65-F5344CB8AC3E}">
        <p14:creationId xmlns:p14="http://schemas.microsoft.com/office/powerpoint/2010/main" val="42558391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246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0885D0C2-E984-0040-9EC8-FE2A0172BAD0}" type="slidenum">
              <a:rPr lang="en-US" sz="1000">
                <a:latin typeface="Arial" charset="0"/>
              </a:rPr>
              <a:pPr/>
              <a:t>95</a:t>
            </a:fld>
            <a:endParaRPr lang="en-US" sz="1000">
              <a:latin typeface="Arial" charset="0"/>
            </a:endParaRPr>
          </a:p>
        </p:txBody>
      </p:sp>
      <p:sp>
        <p:nvSpPr>
          <p:cNvPr id="62468" name="Rectangle 2"/>
          <p:cNvSpPr>
            <a:spLocks noGrp="1" noChangeArrowheads="1"/>
          </p:cNvSpPr>
          <p:nvPr>
            <p:ph type="title"/>
          </p:nvPr>
        </p:nvSpPr>
        <p:spPr>
          <a:xfrm>
            <a:off x="533400" y="228600"/>
            <a:ext cx="8153400" cy="1143000"/>
          </a:xfrm>
        </p:spPr>
        <p:txBody>
          <a:bodyPr/>
          <a:lstStyle/>
          <a:p>
            <a:pPr eaLnBrk="1" hangingPunct="1"/>
            <a:r>
              <a:rPr lang="en-US" sz="3200">
                <a:latin typeface="Lucida Sans Unicode" charset="0"/>
                <a:cs typeface="Lucida Sans Unicode" charset="0"/>
              </a:rPr>
              <a:t>Competition Synchronization with Java Threads</a:t>
            </a:r>
          </a:p>
        </p:txBody>
      </p:sp>
      <p:sp>
        <p:nvSpPr>
          <p:cNvPr id="62469" name="Rectangle 3"/>
          <p:cNvSpPr>
            <a:spLocks noGrp="1" noChangeArrowheads="1"/>
          </p:cNvSpPr>
          <p:nvPr>
            <p:ph type="body" idx="1"/>
          </p:nvPr>
        </p:nvSpPr>
        <p:spPr>
          <a:xfrm>
            <a:off x="533400" y="1447800"/>
            <a:ext cx="8153400" cy="4572000"/>
          </a:xfrm>
        </p:spPr>
        <p:txBody>
          <a:bodyPr/>
          <a:lstStyle/>
          <a:p>
            <a:pPr eaLnBrk="1" hangingPunct="1">
              <a:lnSpc>
                <a:spcPct val="80000"/>
              </a:lnSpc>
            </a:pPr>
            <a:r>
              <a:rPr lang="en-US" sz="2400">
                <a:latin typeface="Lucida Sans Unicode" charset="0"/>
                <a:cs typeface="Lucida Sans Unicode" charset="0"/>
              </a:rPr>
              <a:t>A method that includes the </a:t>
            </a:r>
            <a:r>
              <a:rPr lang="en-US" sz="2400">
                <a:latin typeface="Courier New" charset="0"/>
                <a:cs typeface="Lucida Sans Unicode" charset="0"/>
              </a:rPr>
              <a:t>synchronized</a:t>
            </a:r>
            <a:r>
              <a:rPr lang="en-US" sz="2400">
                <a:latin typeface="Lucida Sans Unicode" charset="0"/>
                <a:cs typeface="Lucida Sans Unicode" charset="0"/>
              </a:rPr>
              <a:t> modifier disallows any other method from running on the object while it is in execution</a:t>
            </a:r>
          </a:p>
          <a:p>
            <a:pPr lvl="1" eaLnBrk="1" hangingPunct="1">
              <a:lnSpc>
                <a:spcPct val="80000"/>
              </a:lnSpc>
              <a:buFontTx/>
              <a:buNone/>
            </a:pPr>
            <a:r>
              <a:rPr lang="en-US" sz="2000">
                <a:latin typeface="Lucida Sans Unicode" charset="0"/>
                <a:ea typeface="Lucida Sans Unicode" charset="0"/>
                <a:cs typeface="Lucida Sans Unicode" charset="0"/>
              </a:rPr>
              <a:t>…</a:t>
            </a:r>
          </a:p>
          <a:p>
            <a:pPr lvl="1" eaLnBrk="1" hangingPunct="1">
              <a:lnSpc>
                <a:spcPct val="80000"/>
              </a:lnSpc>
              <a:buFontTx/>
              <a:buNone/>
            </a:pPr>
            <a:r>
              <a:rPr lang="en-US" sz="1800">
                <a:latin typeface="Courier New" charset="0"/>
                <a:ea typeface="ＭＳ Ｐゴシック" charset="0"/>
                <a:cs typeface="Courier New" charset="0"/>
              </a:rPr>
              <a:t>public synchronized void deposit( int i) {…}</a:t>
            </a:r>
          </a:p>
          <a:p>
            <a:pPr lvl="1" eaLnBrk="1" hangingPunct="1">
              <a:lnSpc>
                <a:spcPct val="80000"/>
              </a:lnSpc>
              <a:buFontTx/>
              <a:buNone/>
            </a:pPr>
            <a:r>
              <a:rPr lang="en-US" sz="1800">
                <a:latin typeface="Courier New" charset="0"/>
                <a:ea typeface="ＭＳ Ｐゴシック" charset="0"/>
                <a:cs typeface="Courier New" charset="0"/>
              </a:rPr>
              <a:t>public synchronized int fetch() {…}</a:t>
            </a:r>
          </a:p>
          <a:p>
            <a:pPr lvl="1" eaLnBrk="1" hangingPunct="1">
              <a:lnSpc>
                <a:spcPct val="80000"/>
              </a:lnSpc>
              <a:buFontTx/>
              <a:buNone/>
            </a:pPr>
            <a:r>
              <a:rPr lang="en-US" sz="1800">
                <a:latin typeface="Courier New" charset="0"/>
                <a:ea typeface="ＭＳ Ｐゴシック" charset="0"/>
                <a:cs typeface="Courier New" charset="0"/>
              </a:rPr>
              <a:t>…</a:t>
            </a:r>
          </a:p>
          <a:p>
            <a:pPr eaLnBrk="1" hangingPunct="1">
              <a:lnSpc>
                <a:spcPct val="80000"/>
              </a:lnSpc>
            </a:pPr>
            <a:r>
              <a:rPr lang="en-US" sz="2400">
                <a:latin typeface="Lucida Sans Unicode" charset="0"/>
                <a:cs typeface="Lucida Sans Unicode" charset="0"/>
              </a:rPr>
              <a:t>The above two methods are synchronized which prevents them from interfering with each other</a:t>
            </a:r>
          </a:p>
          <a:p>
            <a:pPr eaLnBrk="1" hangingPunct="1">
              <a:lnSpc>
                <a:spcPct val="80000"/>
              </a:lnSpc>
            </a:pPr>
            <a:r>
              <a:rPr lang="en-US" sz="2400">
                <a:latin typeface="Lucida Sans Unicode" charset="0"/>
                <a:cs typeface="Lucida Sans Unicode" charset="0"/>
              </a:rPr>
              <a:t>If only a part of a method must be run without interference, it can be synchronized thru </a:t>
            </a:r>
            <a:r>
              <a:rPr lang="en-US" sz="2000">
                <a:latin typeface="Courier New" charset="0"/>
                <a:cs typeface="Lucida Sans Unicode" charset="0"/>
              </a:rPr>
              <a:t>synchronized</a:t>
            </a:r>
            <a:r>
              <a:rPr lang="en-US" sz="2400">
                <a:latin typeface="Lucida Sans Unicode" charset="0"/>
                <a:cs typeface="Lucida Sans Unicode" charset="0"/>
              </a:rPr>
              <a:t> statement</a:t>
            </a:r>
          </a:p>
          <a:p>
            <a:pPr lvl="1" eaLnBrk="1" hangingPunct="1">
              <a:lnSpc>
                <a:spcPct val="80000"/>
              </a:lnSpc>
              <a:buFontTx/>
              <a:buNone/>
            </a:pPr>
            <a:r>
              <a:rPr lang="en-US" sz="2000">
                <a:latin typeface="Courier New" charset="0"/>
                <a:ea typeface="ＭＳ Ｐゴシック" charset="0"/>
                <a:cs typeface="Courier New" charset="0"/>
              </a:rPr>
              <a:t>synchronized (</a:t>
            </a:r>
            <a:r>
              <a:rPr lang="en-US" sz="2000" i="1">
                <a:latin typeface="Lucida Sans Unicode" charset="0"/>
                <a:ea typeface="ＭＳ Ｐゴシック" charset="0"/>
                <a:cs typeface="Courier New" charset="0"/>
              </a:rPr>
              <a:t>expression</a:t>
            </a:r>
            <a:r>
              <a:rPr lang="en-US" sz="2000">
                <a:latin typeface="Courier New" charset="0"/>
                <a:ea typeface="ＭＳ Ｐゴシック" charset="0"/>
                <a:cs typeface="Courier New" charset="0"/>
              </a:rPr>
              <a:t>) </a:t>
            </a:r>
          </a:p>
          <a:p>
            <a:pPr lvl="1" eaLnBrk="1" hangingPunct="1">
              <a:lnSpc>
                <a:spcPct val="80000"/>
              </a:lnSpc>
              <a:buFontTx/>
              <a:buNone/>
            </a:pPr>
            <a:r>
              <a:rPr lang="en-US" sz="2000">
                <a:latin typeface="Courier New" charset="0"/>
                <a:ea typeface="ＭＳ Ｐゴシック" charset="0"/>
                <a:cs typeface="Courier New" charset="0"/>
              </a:rPr>
              <a:t>  </a:t>
            </a:r>
            <a:r>
              <a:rPr lang="en-US" sz="2000" i="1">
                <a:latin typeface="Lucida Sans Unicode" charset="0"/>
                <a:ea typeface="ＭＳ Ｐゴシック" charset="0"/>
                <a:cs typeface="Courier New" charset="0"/>
              </a:rPr>
              <a:t>statement</a:t>
            </a:r>
          </a:p>
          <a:p>
            <a:pPr eaLnBrk="1" hangingPunct="1">
              <a:lnSpc>
                <a:spcPct val="80000"/>
              </a:lnSpc>
            </a:pPr>
            <a:endParaRPr lang="en-US" sz="2400">
              <a:latin typeface="Courier New" charset="0"/>
              <a:cs typeface="Courier New" charset="0"/>
            </a:endParaRPr>
          </a:p>
        </p:txBody>
      </p:sp>
    </p:spTree>
    <p:extLst>
      <p:ext uri="{BB962C8B-B14F-4D97-AF65-F5344CB8AC3E}">
        <p14:creationId xmlns:p14="http://schemas.microsoft.com/office/powerpoint/2010/main" val="10446742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349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8FFDAA37-B5C3-344A-8472-398A0B168AF4}" type="slidenum">
              <a:rPr lang="en-US" sz="1000">
                <a:latin typeface="Arial" charset="0"/>
              </a:rPr>
              <a:pPr/>
              <a:t>96</a:t>
            </a:fld>
            <a:endParaRPr lang="en-US" sz="1000">
              <a:latin typeface="Arial" charset="0"/>
            </a:endParaRPr>
          </a:p>
        </p:txBody>
      </p:sp>
      <p:sp>
        <p:nvSpPr>
          <p:cNvPr id="63492" name="Rectangle 2"/>
          <p:cNvSpPr>
            <a:spLocks noGrp="1" noChangeArrowheads="1"/>
          </p:cNvSpPr>
          <p:nvPr>
            <p:ph type="title"/>
          </p:nvPr>
        </p:nvSpPr>
        <p:spPr>
          <a:xfrm>
            <a:off x="457200" y="228600"/>
            <a:ext cx="8153400" cy="1143000"/>
          </a:xfrm>
        </p:spPr>
        <p:txBody>
          <a:bodyPr/>
          <a:lstStyle/>
          <a:p>
            <a:pPr eaLnBrk="1" hangingPunct="1"/>
            <a:r>
              <a:rPr lang="en-US" sz="3200">
                <a:latin typeface="Lucida Sans Unicode" charset="0"/>
                <a:cs typeface="Lucida Sans Unicode" charset="0"/>
              </a:rPr>
              <a:t>Cooperation Synchronization with Java Threads</a:t>
            </a:r>
          </a:p>
        </p:txBody>
      </p:sp>
      <p:sp>
        <p:nvSpPr>
          <p:cNvPr id="63493" name="Rectangle 3"/>
          <p:cNvSpPr>
            <a:spLocks noGrp="1" noChangeArrowheads="1"/>
          </p:cNvSpPr>
          <p:nvPr>
            <p:ph type="body" idx="1"/>
          </p:nvPr>
        </p:nvSpPr>
        <p:spPr/>
        <p:txBody>
          <a:bodyPr/>
          <a:lstStyle/>
          <a:p>
            <a:pPr eaLnBrk="1" hangingPunct="1">
              <a:lnSpc>
                <a:spcPct val="90000"/>
              </a:lnSpc>
            </a:pPr>
            <a:r>
              <a:rPr lang="en-US">
                <a:latin typeface="Lucida Sans Unicode" charset="0"/>
                <a:cs typeface="Lucida Sans Unicode" charset="0"/>
              </a:rPr>
              <a:t>Cooperation synchronization in Java is achieved via </a:t>
            </a:r>
            <a:r>
              <a:rPr lang="en-US">
                <a:latin typeface="Courier New" charset="0"/>
                <a:cs typeface="Courier New" charset="0"/>
              </a:rPr>
              <a:t>wait</a:t>
            </a:r>
            <a:r>
              <a:rPr lang="en-US">
                <a:latin typeface="Lucida Sans Unicode" charset="0"/>
                <a:cs typeface="Lucida Sans Unicode" charset="0"/>
              </a:rPr>
              <a:t>, </a:t>
            </a:r>
            <a:r>
              <a:rPr lang="en-US">
                <a:latin typeface="Courier New" charset="0"/>
                <a:cs typeface="Courier New" charset="0"/>
              </a:rPr>
              <a:t>notify</a:t>
            </a:r>
            <a:r>
              <a:rPr lang="en-US">
                <a:latin typeface="Lucida Sans Unicode" charset="0"/>
                <a:cs typeface="Lucida Sans Unicode" charset="0"/>
              </a:rPr>
              <a:t>, and </a:t>
            </a:r>
            <a:r>
              <a:rPr lang="en-US">
                <a:latin typeface="Courier New" charset="0"/>
                <a:cs typeface="Courier New" charset="0"/>
              </a:rPr>
              <a:t>notifyAll</a:t>
            </a:r>
            <a:r>
              <a:rPr lang="en-US">
                <a:latin typeface="Lucida Sans Unicode" charset="0"/>
                <a:cs typeface="Lucida Sans Unicode" charset="0"/>
              </a:rPr>
              <a:t> methods</a:t>
            </a:r>
          </a:p>
          <a:p>
            <a:pPr lvl="1" eaLnBrk="1" hangingPunct="1">
              <a:lnSpc>
                <a:spcPct val="90000"/>
              </a:lnSpc>
            </a:pPr>
            <a:r>
              <a:rPr lang="en-US">
                <a:latin typeface="Lucida Sans Unicode" charset="0"/>
                <a:ea typeface="Lucida Sans Unicode" charset="0"/>
                <a:cs typeface="Lucida Sans Unicode" charset="0"/>
              </a:rPr>
              <a:t>All methods are defined in </a:t>
            </a:r>
            <a:r>
              <a:rPr lang="en-US">
                <a:latin typeface="Courier New" charset="0"/>
                <a:ea typeface="Lucida Sans Unicode" charset="0"/>
                <a:cs typeface="Lucida Sans Unicode" charset="0"/>
              </a:rPr>
              <a:t>Object</a:t>
            </a:r>
            <a:r>
              <a:rPr lang="en-US">
                <a:latin typeface="Lucida Sans Unicode" charset="0"/>
                <a:ea typeface="Lucida Sans Unicode" charset="0"/>
                <a:cs typeface="Lucida Sans Unicode" charset="0"/>
              </a:rPr>
              <a:t>, which is the root class in Java, so all objects inherit them</a:t>
            </a:r>
          </a:p>
          <a:p>
            <a:pPr eaLnBrk="1" hangingPunct="1">
              <a:lnSpc>
                <a:spcPct val="90000"/>
              </a:lnSpc>
            </a:pPr>
            <a:r>
              <a:rPr lang="en-US">
                <a:latin typeface="Lucida Sans Unicode" charset="0"/>
                <a:cs typeface="Lucida Sans Unicode" charset="0"/>
              </a:rPr>
              <a:t>The </a:t>
            </a:r>
            <a:r>
              <a:rPr lang="en-US">
                <a:latin typeface="Courier New" charset="0"/>
                <a:cs typeface="Courier New" charset="0"/>
              </a:rPr>
              <a:t>wait</a:t>
            </a:r>
            <a:r>
              <a:rPr lang="en-US">
                <a:latin typeface="Lucida Sans Unicode" charset="0"/>
                <a:cs typeface="Lucida Sans Unicode" charset="0"/>
              </a:rPr>
              <a:t> method must be called in a loop</a:t>
            </a:r>
          </a:p>
          <a:p>
            <a:pPr eaLnBrk="1" hangingPunct="1">
              <a:lnSpc>
                <a:spcPct val="90000"/>
              </a:lnSpc>
            </a:pPr>
            <a:r>
              <a:rPr lang="en-US">
                <a:latin typeface="Lucida Sans Unicode" charset="0"/>
                <a:cs typeface="Lucida Sans Unicode" charset="0"/>
              </a:rPr>
              <a:t>The </a:t>
            </a:r>
            <a:r>
              <a:rPr lang="en-US">
                <a:latin typeface="Courier New" charset="0"/>
                <a:cs typeface="Courier New" charset="0"/>
              </a:rPr>
              <a:t>notify</a:t>
            </a:r>
            <a:r>
              <a:rPr lang="en-US">
                <a:latin typeface="Lucida Sans Unicode" charset="0"/>
                <a:cs typeface="Lucida Sans Unicode" charset="0"/>
              </a:rPr>
              <a:t> method is called to tell one waiting thread that the event it was waiting has happened</a:t>
            </a:r>
          </a:p>
          <a:p>
            <a:pPr eaLnBrk="1" hangingPunct="1">
              <a:lnSpc>
                <a:spcPct val="90000"/>
              </a:lnSpc>
            </a:pPr>
            <a:r>
              <a:rPr lang="en-US">
                <a:latin typeface="Lucida Sans Unicode" charset="0"/>
                <a:cs typeface="Lucida Sans Unicode" charset="0"/>
              </a:rPr>
              <a:t>The </a:t>
            </a:r>
            <a:r>
              <a:rPr lang="en-US">
                <a:latin typeface="Courier New" charset="0"/>
                <a:cs typeface="Courier New" charset="0"/>
              </a:rPr>
              <a:t>notifyAll</a:t>
            </a:r>
            <a:r>
              <a:rPr lang="en-US">
                <a:latin typeface="Lucida Sans Unicode" charset="0"/>
                <a:cs typeface="Lucida Sans Unicode" charset="0"/>
              </a:rPr>
              <a:t> method awakens all of the threads on the object</a:t>
            </a:r>
            <a:r>
              <a:rPr lang="ja-JP" altLang="en-US">
                <a:latin typeface="Lucida Sans Unicode" charset="0"/>
                <a:cs typeface="Lucida Sans Unicode" charset="0"/>
              </a:rPr>
              <a:t>’</a:t>
            </a:r>
            <a:r>
              <a:rPr lang="en-US">
                <a:latin typeface="Lucida Sans Unicode" charset="0"/>
                <a:cs typeface="Lucida Sans Unicode" charset="0"/>
              </a:rPr>
              <a:t>s wait list</a:t>
            </a:r>
          </a:p>
          <a:p>
            <a:pPr eaLnBrk="1" hangingPunct="1">
              <a:lnSpc>
                <a:spcPct val="90000"/>
              </a:lnSpc>
            </a:pPr>
            <a:endParaRPr lang="en-US">
              <a:latin typeface="Lucida Sans Unicode" charset="0"/>
              <a:cs typeface="Lucida Sans Unicode" charset="0"/>
            </a:endParaRPr>
          </a:p>
        </p:txBody>
      </p:sp>
    </p:spTree>
    <p:extLst>
      <p:ext uri="{BB962C8B-B14F-4D97-AF65-F5344CB8AC3E}">
        <p14:creationId xmlns:p14="http://schemas.microsoft.com/office/powerpoint/2010/main" val="24445423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451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06A69E8C-C6DA-2E4E-B617-CC72CEFC3A3C}" type="slidenum">
              <a:rPr lang="en-US" sz="1000">
                <a:latin typeface="Arial" charset="0"/>
              </a:rPr>
              <a:pPr/>
              <a:t>97</a:t>
            </a:fld>
            <a:endParaRPr lang="en-US" sz="1000">
              <a:latin typeface="Arial" charset="0"/>
            </a:endParaRPr>
          </a:p>
        </p:txBody>
      </p:sp>
      <p:sp>
        <p:nvSpPr>
          <p:cNvPr id="64516" name="Rectangle 2"/>
          <p:cNvSpPr>
            <a:spLocks noGrp="1" noChangeArrowheads="1"/>
          </p:cNvSpPr>
          <p:nvPr>
            <p:ph type="title"/>
          </p:nvPr>
        </p:nvSpPr>
        <p:spPr/>
        <p:txBody>
          <a:bodyPr/>
          <a:lstStyle/>
          <a:p>
            <a:pPr eaLnBrk="1" hangingPunct="1"/>
            <a:r>
              <a:rPr lang="en-US">
                <a:latin typeface="Lucida Sans Unicode" charset="0"/>
                <a:cs typeface="Lucida Sans Unicode" charset="0"/>
              </a:rPr>
              <a:t>Java</a:t>
            </a:r>
            <a:r>
              <a:rPr lang="ja-JP" altLang="en-US">
                <a:latin typeface="Lucida Sans Unicode" charset="0"/>
                <a:cs typeface="Lucida Sans Unicode" charset="0"/>
              </a:rPr>
              <a:t>’</a:t>
            </a:r>
            <a:r>
              <a:rPr lang="en-US">
                <a:latin typeface="Lucida Sans Unicode" charset="0"/>
                <a:cs typeface="Lucida Sans Unicode" charset="0"/>
              </a:rPr>
              <a:t>s Thread Evaluation</a:t>
            </a:r>
          </a:p>
        </p:txBody>
      </p:sp>
      <p:sp>
        <p:nvSpPr>
          <p:cNvPr id="64517"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Java</a:t>
            </a:r>
            <a:r>
              <a:rPr lang="ja-JP" altLang="en-US">
                <a:latin typeface="Lucida Sans Unicode" charset="0"/>
                <a:cs typeface="Lucida Sans Unicode" charset="0"/>
              </a:rPr>
              <a:t>’</a:t>
            </a:r>
            <a:r>
              <a:rPr lang="en-US">
                <a:latin typeface="Lucida Sans Unicode" charset="0"/>
                <a:cs typeface="Lucida Sans Unicode" charset="0"/>
              </a:rPr>
              <a:t>s support for concurrency is relatively simple but effective</a:t>
            </a:r>
          </a:p>
          <a:p>
            <a:pPr eaLnBrk="1" hangingPunct="1"/>
            <a:r>
              <a:rPr lang="en-US">
                <a:latin typeface="Lucida Sans Unicode" charset="0"/>
                <a:cs typeface="Lucida Sans Unicode" charset="0"/>
              </a:rPr>
              <a:t>Not as powerful as Ada</a:t>
            </a:r>
            <a:r>
              <a:rPr lang="ja-JP" altLang="en-US">
                <a:latin typeface="Lucida Sans Unicode" charset="0"/>
                <a:cs typeface="Lucida Sans Unicode" charset="0"/>
              </a:rPr>
              <a:t>’</a:t>
            </a:r>
            <a:r>
              <a:rPr lang="en-US">
                <a:latin typeface="Lucida Sans Unicode" charset="0"/>
                <a:cs typeface="Lucida Sans Unicode" charset="0"/>
              </a:rPr>
              <a:t>s tasks</a:t>
            </a:r>
          </a:p>
        </p:txBody>
      </p:sp>
    </p:spTree>
    <p:extLst>
      <p:ext uri="{BB962C8B-B14F-4D97-AF65-F5344CB8AC3E}">
        <p14:creationId xmlns:p14="http://schemas.microsoft.com/office/powerpoint/2010/main" val="33502061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553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7B8C97AE-AC9C-8F4A-B8D1-55D0F726ADBC}" type="slidenum">
              <a:rPr lang="en-US" sz="1000">
                <a:latin typeface="Arial" charset="0"/>
              </a:rPr>
              <a:pPr/>
              <a:t>98</a:t>
            </a:fld>
            <a:endParaRPr lang="en-US" sz="1000">
              <a:latin typeface="Arial" charset="0"/>
            </a:endParaRPr>
          </a:p>
        </p:txBody>
      </p:sp>
      <p:sp>
        <p:nvSpPr>
          <p:cNvPr id="65540" name="Rectangle 2"/>
          <p:cNvSpPr>
            <a:spLocks noGrp="1" noChangeArrowheads="1"/>
          </p:cNvSpPr>
          <p:nvPr>
            <p:ph type="title"/>
          </p:nvPr>
        </p:nvSpPr>
        <p:spPr/>
        <p:txBody>
          <a:bodyPr/>
          <a:lstStyle/>
          <a:p>
            <a:pPr eaLnBrk="1" hangingPunct="1"/>
            <a:r>
              <a:rPr lang="en-US">
                <a:latin typeface="Lucida Sans Unicode" charset="0"/>
                <a:cs typeface="Lucida Sans Unicode" charset="0"/>
              </a:rPr>
              <a:t>C# Threads</a:t>
            </a:r>
          </a:p>
        </p:txBody>
      </p:sp>
      <p:sp>
        <p:nvSpPr>
          <p:cNvPr id="65541" name="Rectangle 3"/>
          <p:cNvSpPr>
            <a:spLocks noGrp="1" noChangeArrowheads="1"/>
          </p:cNvSpPr>
          <p:nvPr>
            <p:ph type="body" idx="1"/>
          </p:nvPr>
        </p:nvSpPr>
        <p:spPr>
          <a:xfrm>
            <a:off x="533400" y="1447800"/>
            <a:ext cx="8153400" cy="4572000"/>
          </a:xfrm>
        </p:spPr>
        <p:txBody>
          <a:bodyPr/>
          <a:lstStyle/>
          <a:p>
            <a:pPr eaLnBrk="1" hangingPunct="1"/>
            <a:r>
              <a:rPr lang="en-US" sz="2400">
                <a:latin typeface="Lucida Sans Unicode" charset="0"/>
                <a:cs typeface="Lucida Sans Unicode" charset="0"/>
              </a:rPr>
              <a:t>Loosely based on Java but there are significant differences</a:t>
            </a:r>
          </a:p>
          <a:p>
            <a:pPr eaLnBrk="1" hangingPunct="1"/>
            <a:r>
              <a:rPr lang="en-US" sz="2400">
                <a:latin typeface="Lucida Sans Unicode" charset="0"/>
                <a:cs typeface="Lucida Sans Unicode" charset="0"/>
              </a:rPr>
              <a:t>Basic thread operations</a:t>
            </a:r>
          </a:p>
          <a:p>
            <a:pPr lvl="1" eaLnBrk="1" hangingPunct="1"/>
            <a:r>
              <a:rPr lang="en-US" sz="2000">
                <a:latin typeface="Lucida Sans Unicode" charset="0"/>
                <a:ea typeface="Lucida Sans Unicode" charset="0"/>
                <a:cs typeface="Lucida Sans Unicode" charset="0"/>
              </a:rPr>
              <a:t>Any method can run in its own thread</a:t>
            </a:r>
          </a:p>
          <a:p>
            <a:pPr lvl="1" eaLnBrk="1" hangingPunct="1"/>
            <a:r>
              <a:rPr lang="en-US" sz="2000">
                <a:latin typeface="Lucida Sans Unicode" charset="0"/>
                <a:ea typeface="Lucida Sans Unicode" charset="0"/>
                <a:cs typeface="Lucida Sans Unicode" charset="0"/>
              </a:rPr>
              <a:t>A thread is created by creating a </a:t>
            </a:r>
            <a:r>
              <a:rPr lang="en-US" sz="2000">
                <a:latin typeface="Courier New" charset="0"/>
                <a:ea typeface="Lucida Sans Unicode" charset="0"/>
                <a:cs typeface="Lucida Sans Unicode" charset="0"/>
              </a:rPr>
              <a:t>Thread</a:t>
            </a:r>
            <a:r>
              <a:rPr lang="en-US" sz="2000">
                <a:latin typeface="Lucida Sans Unicode" charset="0"/>
                <a:ea typeface="Lucida Sans Unicode" charset="0"/>
                <a:cs typeface="Lucida Sans Unicode" charset="0"/>
              </a:rPr>
              <a:t> object</a:t>
            </a:r>
          </a:p>
          <a:p>
            <a:pPr lvl="1" eaLnBrk="1" hangingPunct="1"/>
            <a:r>
              <a:rPr lang="en-US" sz="2000">
                <a:latin typeface="Lucida Sans Unicode" charset="0"/>
                <a:ea typeface="Lucida Sans Unicode" charset="0"/>
                <a:cs typeface="Lucida Sans Unicode" charset="0"/>
              </a:rPr>
              <a:t>Creating a thread does not start its concurrent execution;  it must be requested through the </a:t>
            </a:r>
            <a:r>
              <a:rPr lang="en-US" sz="2000">
                <a:latin typeface="Courier New" charset="0"/>
                <a:ea typeface="Lucida Sans Unicode" charset="0"/>
                <a:cs typeface="Lucida Sans Unicode" charset="0"/>
              </a:rPr>
              <a:t>Start</a:t>
            </a:r>
            <a:r>
              <a:rPr lang="en-US" sz="2000">
                <a:latin typeface="Lucida Sans Unicode" charset="0"/>
                <a:ea typeface="Lucida Sans Unicode" charset="0"/>
                <a:cs typeface="Lucida Sans Unicode" charset="0"/>
              </a:rPr>
              <a:t> method</a:t>
            </a:r>
          </a:p>
          <a:p>
            <a:pPr lvl="1" eaLnBrk="1" hangingPunct="1"/>
            <a:r>
              <a:rPr lang="en-US" sz="2000">
                <a:latin typeface="Lucida Sans Unicode" charset="0"/>
                <a:ea typeface="Lucida Sans Unicode" charset="0"/>
                <a:cs typeface="Lucida Sans Unicode" charset="0"/>
              </a:rPr>
              <a:t>A thread can be made to wait for another thread to finish with </a:t>
            </a:r>
            <a:r>
              <a:rPr lang="en-US" sz="2000">
                <a:latin typeface="Courier New" charset="0"/>
                <a:ea typeface="Lucida Sans Unicode" charset="0"/>
                <a:cs typeface="Lucida Sans Unicode" charset="0"/>
              </a:rPr>
              <a:t>Join</a:t>
            </a:r>
          </a:p>
          <a:p>
            <a:pPr lvl="1" eaLnBrk="1" hangingPunct="1"/>
            <a:r>
              <a:rPr lang="en-US" sz="2000">
                <a:latin typeface="Lucida Sans Unicode" charset="0"/>
                <a:ea typeface="Lucida Sans Unicode" charset="0"/>
                <a:cs typeface="Lucida Sans Unicode" charset="0"/>
              </a:rPr>
              <a:t>A thread can be suspended with </a:t>
            </a:r>
            <a:r>
              <a:rPr lang="en-US" sz="2000">
                <a:latin typeface="Courier New" charset="0"/>
                <a:ea typeface="Lucida Sans Unicode" charset="0"/>
                <a:cs typeface="Lucida Sans Unicode" charset="0"/>
              </a:rPr>
              <a:t>Sleep</a:t>
            </a:r>
          </a:p>
          <a:p>
            <a:pPr lvl="1" eaLnBrk="1" hangingPunct="1"/>
            <a:r>
              <a:rPr lang="en-US" sz="2000">
                <a:latin typeface="Lucida Sans Unicode" charset="0"/>
                <a:ea typeface="Lucida Sans Unicode" charset="0"/>
                <a:cs typeface="Lucida Sans Unicode" charset="0"/>
              </a:rPr>
              <a:t>A thread can be terminated with </a:t>
            </a:r>
            <a:r>
              <a:rPr lang="en-US" sz="2000">
                <a:latin typeface="Courier New" charset="0"/>
                <a:ea typeface="Lucida Sans Unicode" charset="0"/>
                <a:cs typeface="Lucida Sans Unicode" charset="0"/>
              </a:rPr>
              <a:t>Abort</a:t>
            </a:r>
          </a:p>
        </p:txBody>
      </p:sp>
    </p:spTree>
    <p:extLst>
      <p:ext uri="{BB962C8B-B14F-4D97-AF65-F5344CB8AC3E}">
        <p14:creationId xmlns:p14="http://schemas.microsoft.com/office/powerpoint/2010/main" val="70547192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656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C8504F5D-98D4-1D46-A628-55B11F6E272F}" type="slidenum">
              <a:rPr lang="en-US" sz="1000">
                <a:latin typeface="Arial" charset="0"/>
              </a:rPr>
              <a:pPr/>
              <a:t>99</a:t>
            </a:fld>
            <a:endParaRPr lang="en-US" sz="1000">
              <a:latin typeface="Arial" charset="0"/>
            </a:endParaRPr>
          </a:p>
        </p:txBody>
      </p:sp>
      <p:sp>
        <p:nvSpPr>
          <p:cNvPr id="66564" name="Rectangle 2"/>
          <p:cNvSpPr>
            <a:spLocks noGrp="1" noChangeArrowheads="1"/>
          </p:cNvSpPr>
          <p:nvPr>
            <p:ph type="title"/>
          </p:nvPr>
        </p:nvSpPr>
        <p:spPr/>
        <p:txBody>
          <a:bodyPr/>
          <a:lstStyle/>
          <a:p>
            <a:pPr eaLnBrk="1" hangingPunct="1"/>
            <a:r>
              <a:rPr lang="en-US" sz="3200">
                <a:latin typeface="Lucida Sans Unicode" charset="0"/>
                <a:cs typeface="Lucida Sans Unicode" charset="0"/>
              </a:rPr>
              <a:t>Synchronizing Threads</a:t>
            </a:r>
            <a:br>
              <a:rPr lang="en-US" sz="3200">
                <a:latin typeface="Lucida Sans Unicode" charset="0"/>
                <a:cs typeface="Lucida Sans Unicode" charset="0"/>
              </a:rPr>
            </a:br>
            <a:endParaRPr lang="en-US" sz="3200">
              <a:latin typeface="Lucida Sans Unicode" charset="0"/>
              <a:cs typeface="Lucida Sans Unicode" charset="0"/>
            </a:endParaRPr>
          </a:p>
        </p:txBody>
      </p:sp>
      <p:sp>
        <p:nvSpPr>
          <p:cNvPr id="66565"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Three ways to synchronize C# threads</a:t>
            </a:r>
          </a:p>
          <a:p>
            <a:pPr lvl="1" eaLnBrk="1" hangingPunct="1"/>
            <a:r>
              <a:rPr lang="en-US">
                <a:latin typeface="Lucida Sans Unicode" charset="0"/>
                <a:ea typeface="Lucida Sans Unicode" charset="0"/>
                <a:cs typeface="Lucida Sans Unicode" charset="0"/>
              </a:rPr>
              <a:t>The </a:t>
            </a:r>
            <a:r>
              <a:rPr lang="en-US">
                <a:latin typeface="Courier New" charset="0"/>
                <a:ea typeface="Lucida Sans Unicode" charset="0"/>
                <a:cs typeface="Lucida Sans Unicode" charset="0"/>
              </a:rPr>
              <a:t>Interlocked</a:t>
            </a:r>
            <a:r>
              <a:rPr lang="en-US">
                <a:latin typeface="Lucida Sans Unicode" charset="0"/>
                <a:ea typeface="Lucida Sans Unicode" charset="0"/>
                <a:cs typeface="Lucida Sans Unicode" charset="0"/>
              </a:rPr>
              <a:t> class</a:t>
            </a:r>
          </a:p>
          <a:p>
            <a:pPr lvl="2" eaLnBrk="1" hangingPunct="1"/>
            <a:r>
              <a:rPr lang="en-US">
                <a:latin typeface="Lucida Sans Unicode" charset="0"/>
                <a:ea typeface="Lucida Sans Unicode" charset="0"/>
                <a:cs typeface="Lucida Sans Unicode" charset="0"/>
              </a:rPr>
              <a:t>Used when the only operations that need to be synchronized are incrementing or decrementing of an integer</a:t>
            </a:r>
          </a:p>
          <a:p>
            <a:pPr lvl="1" eaLnBrk="1" hangingPunct="1"/>
            <a:r>
              <a:rPr lang="en-US">
                <a:latin typeface="Lucida Sans Unicode" charset="0"/>
                <a:ea typeface="Lucida Sans Unicode" charset="0"/>
                <a:cs typeface="Lucida Sans Unicode" charset="0"/>
              </a:rPr>
              <a:t>The </a:t>
            </a:r>
            <a:r>
              <a:rPr lang="en-US">
                <a:latin typeface="Courier New" charset="0"/>
                <a:ea typeface="Lucida Sans Unicode" charset="0"/>
                <a:cs typeface="Lucida Sans Unicode" charset="0"/>
              </a:rPr>
              <a:t>lock</a:t>
            </a:r>
            <a:r>
              <a:rPr lang="en-US">
                <a:latin typeface="Lucida Sans Unicode" charset="0"/>
                <a:ea typeface="Lucida Sans Unicode" charset="0"/>
                <a:cs typeface="Lucida Sans Unicode" charset="0"/>
              </a:rPr>
              <a:t> statement</a:t>
            </a:r>
          </a:p>
          <a:p>
            <a:pPr lvl="2" eaLnBrk="1" hangingPunct="1"/>
            <a:r>
              <a:rPr lang="en-US">
                <a:latin typeface="Lucida Sans Unicode" charset="0"/>
                <a:ea typeface="Lucida Sans Unicode" charset="0"/>
                <a:cs typeface="Lucida Sans Unicode" charset="0"/>
              </a:rPr>
              <a:t>Used to mark a critical section of code in a thread</a:t>
            </a:r>
          </a:p>
          <a:p>
            <a:pPr lvl="2" eaLnBrk="1" hangingPunct="1">
              <a:buFontTx/>
              <a:buNone/>
            </a:pPr>
            <a:r>
              <a:rPr lang="en-US">
                <a:latin typeface="Lucida Sans Unicode" charset="0"/>
                <a:ea typeface="Lucida Sans Unicode" charset="0"/>
                <a:cs typeface="Lucida Sans Unicode" charset="0"/>
              </a:rPr>
              <a:t>	lock (expression) {… }</a:t>
            </a:r>
          </a:p>
          <a:p>
            <a:pPr lvl="1" eaLnBrk="1" hangingPunct="1"/>
            <a:r>
              <a:rPr lang="en-US">
                <a:latin typeface="Lucida Sans Unicode" charset="0"/>
                <a:ea typeface="Lucida Sans Unicode" charset="0"/>
                <a:cs typeface="Lucida Sans Unicode" charset="0"/>
              </a:rPr>
              <a:t>The </a:t>
            </a:r>
            <a:r>
              <a:rPr lang="en-US">
                <a:latin typeface="Courier New" charset="0"/>
                <a:ea typeface="Lucida Sans Unicode" charset="0"/>
                <a:cs typeface="Lucida Sans Unicode" charset="0"/>
              </a:rPr>
              <a:t>Monitor</a:t>
            </a:r>
            <a:r>
              <a:rPr lang="en-US">
                <a:latin typeface="Lucida Sans Unicode" charset="0"/>
                <a:ea typeface="Lucida Sans Unicode" charset="0"/>
                <a:cs typeface="Lucida Sans Unicode" charset="0"/>
              </a:rPr>
              <a:t> class</a:t>
            </a:r>
          </a:p>
          <a:p>
            <a:pPr lvl="2" eaLnBrk="1" hangingPunct="1"/>
            <a:r>
              <a:rPr lang="en-US">
                <a:latin typeface="Lucida Sans Unicode" charset="0"/>
                <a:ea typeface="Lucida Sans Unicode" charset="0"/>
                <a:cs typeface="Lucida Sans Unicode" charset="0"/>
              </a:rPr>
              <a:t>Provides four methods that can be used to provide more sophisticated synchronization</a:t>
            </a:r>
          </a:p>
          <a:p>
            <a:pPr lvl="2" eaLnBrk="1" hangingPunct="1"/>
            <a:endParaRPr lang="en-US">
              <a:latin typeface="Lucida Sans Unicode" charset="0"/>
              <a:ea typeface="Lucida Sans Unicode" charset="0"/>
              <a:cs typeface="Lucida Sans Unicode" charset="0"/>
            </a:endParaRPr>
          </a:p>
          <a:p>
            <a:pPr lvl="1" eaLnBrk="1" hangingPunct="1"/>
            <a:endParaRPr lang="en-US">
              <a:latin typeface="Lucida Sans Unicode" charset="0"/>
              <a:ea typeface="Lucida Sans Unicode" charset="0"/>
              <a:cs typeface="Lucida Sans Unicode" charset="0"/>
            </a:endParaRPr>
          </a:p>
        </p:txBody>
      </p:sp>
    </p:spTree>
    <p:extLst>
      <p:ext uri="{BB962C8B-B14F-4D97-AF65-F5344CB8AC3E}">
        <p14:creationId xmlns:p14="http://schemas.microsoft.com/office/powerpoint/2010/main" val="158892481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758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59D79698-C024-3B46-88B4-15C6DB7A66FF}" type="slidenum">
              <a:rPr lang="en-US" sz="1000">
                <a:latin typeface="Arial" charset="0"/>
              </a:rPr>
              <a:pPr/>
              <a:t>100</a:t>
            </a:fld>
            <a:endParaRPr lang="en-US" sz="1000">
              <a:latin typeface="Arial" charset="0"/>
            </a:endParaRPr>
          </a:p>
        </p:txBody>
      </p:sp>
      <p:sp>
        <p:nvSpPr>
          <p:cNvPr id="67588" name="Rectangle 2"/>
          <p:cNvSpPr>
            <a:spLocks noGrp="1" noChangeArrowheads="1"/>
          </p:cNvSpPr>
          <p:nvPr>
            <p:ph type="title"/>
          </p:nvPr>
        </p:nvSpPr>
        <p:spPr/>
        <p:txBody>
          <a:bodyPr/>
          <a:lstStyle/>
          <a:p>
            <a:pPr eaLnBrk="1" hangingPunct="1"/>
            <a:r>
              <a:rPr lang="en-US" sz="3200">
                <a:latin typeface="Lucida Sans Unicode" charset="0"/>
                <a:cs typeface="Lucida Sans Unicode" charset="0"/>
              </a:rPr>
              <a:t>C#</a:t>
            </a:r>
            <a:r>
              <a:rPr lang="ja-JP" altLang="en-US" sz="3200">
                <a:latin typeface="Lucida Sans Unicode" charset="0"/>
                <a:cs typeface="Lucida Sans Unicode" charset="0"/>
              </a:rPr>
              <a:t>’</a:t>
            </a:r>
            <a:r>
              <a:rPr lang="en-US" sz="3200">
                <a:latin typeface="Lucida Sans Unicode" charset="0"/>
                <a:cs typeface="Lucida Sans Unicode" charset="0"/>
              </a:rPr>
              <a:t>s Concurrency Evaluation</a:t>
            </a:r>
            <a:br>
              <a:rPr lang="en-US" sz="3200">
                <a:latin typeface="Lucida Sans Unicode" charset="0"/>
                <a:cs typeface="Lucida Sans Unicode" charset="0"/>
              </a:rPr>
            </a:br>
            <a:endParaRPr lang="en-US" sz="3200">
              <a:latin typeface="Lucida Sans Unicode" charset="0"/>
              <a:cs typeface="Lucida Sans Unicode" charset="0"/>
            </a:endParaRPr>
          </a:p>
        </p:txBody>
      </p:sp>
      <p:sp>
        <p:nvSpPr>
          <p:cNvPr id="67589" name="Rectangle 3"/>
          <p:cNvSpPr>
            <a:spLocks noGrp="1" noChangeArrowheads="1"/>
          </p:cNvSpPr>
          <p:nvPr>
            <p:ph type="body" idx="1"/>
          </p:nvPr>
        </p:nvSpPr>
        <p:spPr>
          <a:xfrm>
            <a:off x="533400" y="1371600"/>
            <a:ext cx="8153400" cy="4572000"/>
          </a:xfrm>
        </p:spPr>
        <p:txBody>
          <a:bodyPr/>
          <a:lstStyle/>
          <a:p>
            <a:pPr eaLnBrk="1" hangingPunct="1"/>
            <a:r>
              <a:rPr lang="en-US">
                <a:latin typeface="Lucida Sans Unicode" charset="0"/>
                <a:cs typeface="Lucida Sans Unicode" charset="0"/>
              </a:rPr>
              <a:t>An advance over Java threads, e.g., any method can run its own thread</a:t>
            </a:r>
          </a:p>
          <a:p>
            <a:pPr eaLnBrk="1" hangingPunct="1"/>
            <a:r>
              <a:rPr lang="en-US">
                <a:latin typeface="Lucida Sans Unicode" charset="0"/>
                <a:cs typeface="Lucida Sans Unicode" charset="0"/>
              </a:rPr>
              <a:t>Thread termination is cleaner than in Java</a:t>
            </a:r>
          </a:p>
          <a:p>
            <a:pPr eaLnBrk="1" hangingPunct="1"/>
            <a:r>
              <a:rPr lang="en-US">
                <a:latin typeface="Lucida Sans Unicode" charset="0"/>
                <a:cs typeface="Lucida Sans Unicode" charset="0"/>
              </a:rPr>
              <a:t>Synchronization is more sophisticated</a:t>
            </a:r>
          </a:p>
          <a:p>
            <a:pPr eaLnBrk="1" hangingPunct="1"/>
            <a:endParaRPr lang="en-US">
              <a:latin typeface="Lucida Sans Unicode" charset="0"/>
              <a:cs typeface="Lucida Sans Unicode" charset="0"/>
            </a:endParaRPr>
          </a:p>
        </p:txBody>
      </p:sp>
    </p:spTree>
    <p:extLst>
      <p:ext uri="{BB962C8B-B14F-4D97-AF65-F5344CB8AC3E}">
        <p14:creationId xmlns:p14="http://schemas.microsoft.com/office/powerpoint/2010/main" val="4211969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861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AB15B1E1-4261-7348-8418-952981E9AB46}" type="slidenum">
              <a:rPr lang="en-US" sz="1000">
                <a:latin typeface="Arial" charset="0"/>
              </a:rPr>
              <a:pPr/>
              <a:t>101</a:t>
            </a:fld>
            <a:endParaRPr lang="en-US" sz="1000">
              <a:latin typeface="Arial" charset="0"/>
            </a:endParaRPr>
          </a:p>
        </p:txBody>
      </p:sp>
      <p:sp>
        <p:nvSpPr>
          <p:cNvPr id="68612" name="Rectangle 2"/>
          <p:cNvSpPr>
            <a:spLocks noGrp="1" noChangeArrowheads="1"/>
          </p:cNvSpPr>
          <p:nvPr>
            <p:ph type="title"/>
          </p:nvPr>
        </p:nvSpPr>
        <p:spPr/>
        <p:txBody>
          <a:bodyPr/>
          <a:lstStyle/>
          <a:p>
            <a:pPr eaLnBrk="1" hangingPunct="1"/>
            <a:r>
              <a:rPr lang="en-US">
                <a:latin typeface="Lucida Sans Unicode" charset="0"/>
                <a:cs typeface="Lucida Sans Unicode" charset="0"/>
              </a:rPr>
              <a:t>Statement-Level Concurrency</a:t>
            </a:r>
          </a:p>
        </p:txBody>
      </p:sp>
      <p:sp>
        <p:nvSpPr>
          <p:cNvPr id="68613" name="Rectangle 3"/>
          <p:cNvSpPr>
            <a:spLocks noGrp="1" noChangeArrowheads="1"/>
          </p:cNvSpPr>
          <p:nvPr>
            <p:ph type="body" idx="1"/>
          </p:nvPr>
        </p:nvSpPr>
        <p:spPr>
          <a:xfrm>
            <a:off x="457200" y="1371600"/>
            <a:ext cx="8153400" cy="4572000"/>
          </a:xfrm>
        </p:spPr>
        <p:txBody>
          <a:bodyPr/>
          <a:lstStyle/>
          <a:p>
            <a:pPr eaLnBrk="1" hangingPunct="1"/>
            <a:r>
              <a:rPr lang="en-US">
                <a:latin typeface="Lucida Sans Unicode" charset="0"/>
                <a:cs typeface="Lucida Sans Unicode" charset="0"/>
              </a:rPr>
              <a:t>Objective: Provide a mechanism that the programmer can use to inform compiler of ways it can map the program onto multiprocessor architecture</a:t>
            </a:r>
          </a:p>
          <a:p>
            <a:pPr eaLnBrk="1" hangingPunct="1"/>
            <a:r>
              <a:rPr lang="en-US">
                <a:latin typeface="Lucida Sans Unicode" charset="0"/>
                <a:cs typeface="Lucida Sans Unicode" charset="0"/>
              </a:rPr>
              <a:t>Minimize communication among processors and the memories of the other processors</a:t>
            </a:r>
          </a:p>
        </p:txBody>
      </p:sp>
    </p:spTree>
    <p:extLst>
      <p:ext uri="{BB962C8B-B14F-4D97-AF65-F5344CB8AC3E}">
        <p14:creationId xmlns:p14="http://schemas.microsoft.com/office/powerpoint/2010/main" val="213592832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6963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C9FF3030-3019-734E-8640-DD2F02FB9818}" type="slidenum">
              <a:rPr lang="en-US" sz="1000">
                <a:latin typeface="Arial" charset="0"/>
              </a:rPr>
              <a:pPr/>
              <a:t>102</a:t>
            </a:fld>
            <a:endParaRPr lang="en-US" sz="1000">
              <a:latin typeface="Arial" charset="0"/>
            </a:endParaRPr>
          </a:p>
        </p:txBody>
      </p:sp>
      <p:sp>
        <p:nvSpPr>
          <p:cNvPr id="69636" name="Rectangle 2"/>
          <p:cNvSpPr>
            <a:spLocks noGrp="1" noChangeArrowheads="1"/>
          </p:cNvSpPr>
          <p:nvPr>
            <p:ph type="title"/>
          </p:nvPr>
        </p:nvSpPr>
        <p:spPr/>
        <p:txBody>
          <a:bodyPr/>
          <a:lstStyle/>
          <a:p>
            <a:pPr eaLnBrk="1" hangingPunct="1"/>
            <a:r>
              <a:rPr lang="en-US">
                <a:latin typeface="Lucida Sans Unicode" charset="0"/>
                <a:cs typeface="Lucida Sans Unicode" charset="0"/>
              </a:rPr>
              <a:t>High-Performance Fortran</a:t>
            </a:r>
          </a:p>
        </p:txBody>
      </p:sp>
      <p:sp>
        <p:nvSpPr>
          <p:cNvPr id="69637" name="Rectangle 3"/>
          <p:cNvSpPr>
            <a:spLocks noGrp="1" noChangeArrowheads="1"/>
          </p:cNvSpPr>
          <p:nvPr>
            <p:ph type="body" idx="1"/>
          </p:nvPr>
        </p:nvSpPr>
        <p:spPr/>
        <p:txBody>
          <a:bodyPr/>
          <a:lstStyle/>
          <a:p>
            <a:pPr eaLnBrk="1" hangingPunct="1"/>
            <a:r>
              <a:rPr lang="en-US">
                <a:latin typeface="Lucida Sans Unicode" charset="0"/>
                <a:cs typeface="Lucida Sans Unicode" charset="0"/>
              </a:rPr>
              <a:t>A collection of extensions that allow the programmer to provide information to the compiler to help it optimize code for multiprocessor computers</a:t>
            </a:r>
          </a:p>
          <a:p>
            <a:pPr eaLnBrk="1" hangingPunct="1"/>
            <a:r>
              <a:rPr lang="en-US">
                <a:latin typeface="Lucida Sans Unicode" charset="0"/>
                <a:cs typeface="Lucida Sans Unicode" charset="0"/>
              </a:rPr>
              <a:t>Specify the number of processors, the distribution of data over the memories of those processors, and the alignment of data</a:t>
            </a:r>
          </a:p>
          <a:p>
            <a:pPr eaLnBrk="1" hangingPunct="1"/>
            <a:endParaRPr lang="en-US">
              <a:latin typeface="Lucida Sans Unicode" charset="0"/>
              <a:cs typeface="Lucida Sans Unicode" charset="0"/>
            </a:endParaRPr>
          </a:p>
        </p:txBody>
      </p:sp>
    </p:spTree>
    <p:extLst>
      <p:ext uri="{BB962C8B-B14F-4D97-AF65-F5344CB8AC3E}">
        <p14:creationId xmlns:p14="http://schemas.microsoft.com/office/powerpoint/2010/main" val="34609367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7065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E0F5CFFE-4D1B-034E-9035-BF7ACA9C3571}" type="slidenum">
              <a:rPr lang="en-US" sz="1000">
                <a:latin typeface="Arial" charset="0"/>
              </a:rPr>
              <a:pPr/>
              <a:t>103</a:t>
            </a:fld>
            <a:endParaRPr lang="en-US" sz="1000">
              <a:latin typeface="Arial" charset="0"/>
            </a:endParaRPr>
          </a:p>
        </p:txBody>
      </p:sp>
      <p:sp>
        <p:nvSpPr>
          <p:cNvPr id="70660" name="Rectangle 2"/>
          <p:cNvSpPr>
            <a:spLocks noGrp="1" noChangeArrowheads="1"/>
          </p:cNvSpPr>
          <p:nvPr>
            <p:ph type="title"/>
          </p:nvPr>
        </p:nvSpPr>
        <p:spPr/>
        <p:txBody>
          <a:bodyPr/>
          <a:lstStyle/>
          <a:p>
            <a:pPr eaLnBrk="1" hangingPunct="1"/>
            <a:r>
              <a:rPr lang="en-US">
                <a:latin typeface="Lucida Sans Unicode" charset="0"/>
                <a:cs typeface="Lucida Sans Unicode" charset="0"/>
              </a:rPr>
              <a:t>Primary HPF Specifications</a:t>
            </a:r>
          </a:p>
        </p:txBody>
      </p:sp>
      <p:sp>
        <p:nvSpPr>
          <p:cNvPr id="70661" name="Rectangle 3"/>
          <p:cNvSpPr>
            <a:spLocks noGrp="1" noChangeArrowheads="1"/>
          </p:cNvSpPr>
          <p:nvPr>
            <p:ph type="body" idx="1"/>
          </p:nvPr>
        </p:nvSpPr>
        <p:spPr>
          <a:xfrm>
            <a:off x="457200" y="1295400"/>
            <a:ext cx="8382000" cy="4572000"/>
          </a:xfrm>
        </p:spPr>
        <p:txBody>
          <a:bodyPr/>
          <a:lstStyle/>
          <a:p>
            <a:pPr eaLnBrk="1" hangingPunct="1">
              <a:lnSpc>
                <a:spcPct val="90000"/>
              </a:lnSpc>
            </a:pPr>
            <a:r>
              <a:rPr lang="en-US">
                <a:latin typeface="Lucida Sans Unicode" charset="0"/>
                <a:cs typeface="Lucida Sans Unicode" charset="0"/>
              </a:rPr>
              <a:t>Number of processors</a:t>
            </a:r>
          </a:p>
          <a:p>
            <a:pPr eaLnBrk="1" hangingPunct="1">
              <a:lnSpc>
                <a:spcPct val="90000"/>
              </a:lnSpc>
              <a:buFontTx/>
              <a:buNone/>
            </a:pPr>
            <a:r>
              <a:rPr lang="en-US" b="1">
                <a:latin typeface="Courier New" charset="0"/>
                <a:cs typeface="Lucida Sans Unicode" charset="0"/>
              </a:rPr>
              <a:t>	</a:t>
            </a:r>
            <a:r>
              <a:rPr lang="en-US">
                <a:latin typeface="Courier New" charset="0"/>
                <a:cs typeface="Lucida Sans Unicode" charset="0"/>
              </a:rPr>
              <a:t>!HPF$ PROCESSORS procs (n)</a:t>
            </a:r>
            <a:endParaRPr lang="en-US">
              <a:latin typeface="Lucida Sans Unicode" charset="0"/>
              <a:cs typeface="Lucida Sans Unicode" charset="0"/>
            </a:endParaRPr>
          </a:p>
          <a:p>
            <a:pPr eaLnBrk="1" hangingPunct="1">
              <a:lnSpc>
                <a:spcPct val="90000"/>
              </a:lnSpc>
            </a:pPr>
            <a:r>
              <a:rPr lang="en-US">
                <a:latin typeface="Lucida Sans Unicode" charset="0"/>
                <a:cs typeface="Lucida Sans Unicode" charset="0"/>
              </a:rPr>
              <a:t>Distribution of data</a:t>
            </a:r>
          </a:p>
          <a:p>
            <a:pPr eaLnBrk="1" hangingPunct="1">
              <a:lnSpc>
                <a:spcPct val="90000"/>
              </a:lnSpc>
              <a:buFontTx/>
              <a:buNone/>
            </a:pPr>
            <a:r>
              <a:rPr lang="en-US">
                <a:latin typeface="Lucida Sans Unicode" charset="0"/>
                <a:cs typeface="Lucida Sans Unicode" charset="0"/>
              </a:rPr>
              <a:t> </a:t>
            </a:r>
            <a:r>
              <a:rPr lang="en-US" sz="2400">
                <a:latin typeface="Lucida Sans Unicode" charset="0"/>
                <a:cs typeface="Lucida Sans Unicode" charset="0"/>
              </a:rPr>
              <a:t>	</a:t>
            </a:r>
            <a:r>
              <a:rPr lang="en-US" sz="2400">
                <a:latin typeface="Courier New" charset="0"/>
                <a:cs typeface="Lucida Sans Unicode" charset="0"/>
              </a:rPr>
              <a:t>!HPF$ DISTRIBUTE (</a:t>
            </a:r>
            <a:r>
              <a:rPr lang="en-US" sz="2000" i="1">
                <a:latin typeface="Lucida Sans Unicode" charset="0"/>
                <a:cs typeface="Courier New" charset="0"/>
              </a:rPr>
              <a:t>kind</a:t>
            </a:r>
            <a:r>
              <a:rPr lang="en-US" sz="2400">
                <a:latin typeface="Courier New" charset="0"/>
                <a:cs typeface="Lucida Sans Unicode" charset="0"/>
              </a:rPr>
              <a:t>) ONTO procs :: 		</a:t>
            </a:r>
            <a:r>
              <a:rPr lang="en-US" sz="2000" i="1">
                <a:latin typeface="Lucida Sans Unicode" charset="0"/>
                <a:cs typeface="Courier New" charset="0"/>
              </a:rPr>
              <a:t>identifier_list</a:t>
            </a:r>
          </a:p>
          <a:p>
            <a:pPr lvl="1" eaLnBrk="1" hangingPunct="1">
              <a:lnSpc>
                <a:spcPct val="90000"/>
              </a:lnSpc>
            </a:pPr>
            <a:r>
              <a:rPr lang="en-US" sz="2000" i="1">
                <a:latin typeface="Lucida Sans Unicode" charset="0"/>
                <a:ea typeface="ＭＳ Ｐゴシック" charset="0"/>
                <a:cs typeface="Courier New" charset="0"/>
              </a:rPr>
              <a:t>kind</a:t>
            </a:r>
            <a:r>
              <a:rPr lang="en-US">
                <a:latin typeface="Lucida Sans Unicode" charset="0"/>
                <a:ea typeface="Lucida Sans Unicode" charset="0"/>
                <a:cs typeface="Lucida Sans Unicode" charset="0"/>
              </a:rPr>
              <a:t> can be </a:t>
            </a:r>
            <a:r>
              <a:rPr lang="en-US">
                <a:latin typeface="Courier New" charset="0"/>
                <a:ea typeface="Lucida Sans Unicode" charset="0"/>
                <a:cs typeface="Lucida Sans Unicode" charset="0"/>
              </a:rPr>
              <a:t>BLOCK</a:t>
            </a:r>
            <a:r>
              <a:rPr lang="en-US">
                <a:latin typeface="Lucida Sans Unicode" charset="0"/>
                <a:ea typeface="Lucida Sans Unicode" charset="0"/>
                <a:cs typeface="Lucida Sans Unicode" charset="0"/>
              </a:rPr>
              <a:t> (distribute data to processors in blocks) or </a:t>
            </a:r>
            <a:r>
              <a:rPr lang="en-US">
                <a:latin typeface="Courier New" charset="0"/>
                <a:ea typeface="Lucida Sans Unicode" charset="0"/>
                <a:cs typeface="Lucida Sans Unicode" charset="0"/>
              </a:rPr>
              <a:t>CYCLIC</a:t>
            </a:r>
            <a:r>
              <a:rPr lang="en-US">
                <a:latin typeface="Lucida Sans Unicode" charset="0"/>
                <a:ea typeface="Lucida Sans Unicode" charset="0"/>
                <a:cs typeface="Lucida Sans Unicode" charset="0"/>
              </a:rPr>
              <a:t> (distribute data to processors one element at a time)</a:t>
            </a:r>
          </a:p>
          <a:p>
            <a:pPr eaLnBrk="1" hangingPunct="1">
              <a:lnSpc>
                <a:spcPct val="90000"/>
              </a:lnSpc>
            </a:pPr>
            <a:r>
              <a:rPr lang="en-US">
                <a:latin typeface="Lucida Sans Unicode" charset="0"/>
                <a:cs typeface="Lucida Sans Unicode" charset="0"/>
              </a:rPr>
              <a:t>Relate the distribution of one array with that of another</a:t>
            </a:r>
          </a:p>
          <a:p>
            <a:pPr eaLnBrk="1" hangingPunct="1">
              <a:lnSpc>
                <a:spcPct val="90000"/>
              </a:lnSpc>
              <a:buFontTx/>
              <a:buNone/>
            </a:pPr>
            <a:r>
              <a:rPr lang="en-US" sz="2400">
                <a:latin typeface="Courier New" charset="0"/>
                <a:cs typeface="Lucida Sans Unicode" charset="0"/>
              </a:rPr>
              <a:t>	ALIGN </a:t>
            </a:r>
            <a:r>
              <a:rPr lang="en-US" sz="2000" i="1">
                <a:latin typeface="Lucida Sans Unicode" charset="0"/>
                <a:cs typeface="Lucida Sans Unicode" charset="0"/>
              </a:rPr>
              <a:t>array1_element</a:t>
            </a:r>
            <a:r>
              <a:rPr lang="en-US" sz="2400">
                <a:latin typeface="Courier New" charset="0"/>
                <a:cs typeface="Lucida Sans Unicode" charset="0"/>
              </a:rPr>
              <a:t> WITH </a:t>
            </a:r>
            <a:r>
              <a:rPr lang="en-US" sz="2000" i="1">
                <a:latin typeface="Lucida Sans Unicode" charset="0"/>
                <a:cs typeface="Lucida Sans Unicode" charset="0"/>
              </a:rPr>
              <a:t>array2_element</a:t>
            </a:r>
          </a:p>
        </p:txBody>
      </p:sp>
    </p:spTree>
    <p:extLst>
      <p:ext uri="{BB962C8B-B14F-4D97-AF65-F5344CB8AC3E}">
        <p14:creationId xmlns:p14="http://schemas.microsoft.com/office/powerpoint/2010/main" val="12347586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7168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0E254BD1-389B-A441-99DC-221E2E4D3CED}" type="slidenum">
              <a:rPr lang="en-US" sz="1000">
                <a:latin typeface="Arial" charset="0"/>
              </a:rPr>
              <a:pPr/>
              <a:t>104</a:t>
            </a:fld>
            <a:endParaRPr lang="en-US" sz="1000">
              <a:latin typeface="Arial" charset="0"/>
            </a:endParaRPr>
          </a:p>
        </p:txBody>
      </p:sp>
      <p:sp>
        <p:nvSpPr>
          <p:cNvPr id="71684" name="Rectangle 2"/>
          <p:cNvSpPr>
            <a:spLocks noGrp="1" noChangeArrowheads="1"/>
          </p:cNvSpPr>
          <p:nvPr>
            <p:ph type="title"/>
          </p:nvPr>
        </p:nvSpPr>
        <p:spPr/>
        <p:txBody>
          <a:bodyPr/>
          <a:lstStyle/>
          <a:p>
            <a:pPr eaLnBrk="1" hangingPunct="1"/>
            <a:r>
              <a:rPr lang="en-US" sz="3200">
                <a:latin typeface="Lucida Sans Unicode" charset="0"/>
                <a:cs typeface="Lucida Sans Unicode" charset="0"/>
              </a:rPr>
              <a:t>Statement-Level Concurrency Example</a:t>
            </a:r>
          </a:p>
        </p:txBody>
      </p:sp>
      <p:sp>
        <p:nvSpPr>
          <p:cNvPr id="71685" name="Rectangle 3"/>
          <p:cNvSpPr>
            <a:spLocks noGrp="1" noChangeArrowheads="1"/>
          </p:cNvSpPr>
          <p:nvPr>
            <p:ph type="body" idx="1"/>
          </p:nvPr>
        </p:nvSpPr>
        <p:spPr>
          <a:xfrm>
            <a:off x="609600" y="1371600"/>
            <a:ext cx="8153400" cy="4572000"/>
          </a:xfrm>
        </p:spPr>
        <p:txBody>
          <a:bodyPr/>
          <a:lstStyle/>
          <a:p>
            <a:pPr eaLnBrk="1" hangingPunct="1">
              <a:buFontTx/>
              <a:buNone/>
            </a:pPr>
            <a:r>
              <a:rPr lang="en-US" sz="2000">
                <a:latin typeface="Courier New" charset="0"/>
                <a:cs typeface="Lucida Sans Unicode" charset="0"/>
              </a:rPr>
              <a:t>     REAL list_1(1000), list_2(1000)</a:t>
            </a:r>
          </a:p>
          <a:p>
            <a:pPr eaLnBrk="1" hangingPunct="1">
              <a:buFontTx/>
              <a:buNone/>
            </a:pPr>
            <a:r>
              <a:rPr lang="en-US" sz="2000">
                <a:latin typeface="Courier New" charset="0"/>
                <a:cs typeface="Lucida Sans Unicode" charset="0"/>
              </a:rPr>
              <a:t>     INTEGER list_3(500), list_4(501)</a:t>
            </a:r>
          </a:p>
          <a:p>
            <a:pPr eaLnBrk="1" hangingPunct="1">
              <a:buFontTx/>
              <a:buNone/>
            </a:pPr>
            <a:r>
              <a:rPr lang="en-US" sz="2000">
                <a:latin typeface="Courier New" charset="0"/>
                <a:cs typeface="Lucida Sans Unicode" charset="0"/>
              </a:rPr>
              <a:t>!HPF$ PROCESSORS proc (10)</a:t>
            </a:r>
          </a:p>
          <a:p>
            <a:pPr eaLnBrk="1" hangingPunct="1">
              <a:buFontTx/>
              <a:buNone/>
            </a:pPr>
            <a:r>
              <a:rPr lang="en-US" sz="2000">
                <a:latin typeface="Courier New" charset="0"/>
                <a:cs typeface="Lucida Sans Unicode" charset="0"/>
              </a:rPr>
              <a:t>!HPF$ DISTRIBUTE (BLOCK) ONTO procs ::</a:t>
            </a:r>
          </a:p>
          <a:p>
            <a:pPr eaLnBrk="1" hangingPunct="1">
              <a:buFontTx/>
              <a:buNone/>
            </a:pPr>
            <a:r>
              <a:rPr lang="en-US" sz="2000">
                <a:latin typeface="Courier New" charset="0"/>
                <a:cs typeface="Lucida Sans Unicode" charset="0"/>
              </a:rPr>
              <a:t>                         list_1, list_2</a:t>
            </a:r>
          </a:p>
          <a:p>
            <a:pPr eaLnBrk="1" hangingPunct="1">
              <a:buFontTx/>
              <a:buNone/>
            </a:pPr>
            <a:r>
              <a:rPr lang="en-US" sz="2000">
                <a:latin typeface="Courier New" charset="0"/>
                <a:cs typeface="Lucida Sans Unicode" charset="0"/>
              </a:rPr>
              <a:t>!HPF$ ALIGN list_1(index) WITH </a:t>
            </a:r>
          </a:p>
          <a:p>
            <a:pPr eaLnBrk="1" hangingPunct="1">
              <a:buFontTx/>
              <a:buNone/>
            </a:pPr>
            <a:r>
              <a:rPr lang="en-US" sz="2000">
                <a:latin typeface="Courier New" charset="0"/>
                <a:cs typeface="Lucida Sans Unicode" charset="0"/>
              </a:rPr>
              <a:t>            list_4 (index+1)</a:t>
            </a:r>
          </a:p>
          <a:p>
            <a:pPr eaLnBrk="1" hangingPunct="1">
              <a:buFontTx/>
              <a:buNone/>
            </a:pPr>
            <a:r>
              <a:rPr lang="en-US" sz="2000">
                <a:latin typeface="Courier New" charset="0"/>
                <a:cs typeface="Lucida Sans Unicode" charset="0"/>
              </a:rPr>
              <a:t>     </a:t>
            </a:r>
            <a:r>
              <a:rPr lang="en-US" sz="2000">
                <a:latin typeface="Lucida Sans Unicode" charset="0"/>
                <a:cs typeface="Lucida Sans Unicode" charset="0"/>
              </a:rPr>
              <a:t>…</a:t>
            </a:r>
            <a:endParaRPr lang="en-US" sz="2000">
              <a:latin typeface="Courier New" charset="0"/>
              <a:cs typeface="Lucida Sans Unicode" charset="0"/>
            </a:endParaRPr>
          </a:p>
          <a:p>
            <a:pPr eaLnBrk="1" hangingPunct="1">
              <a:buFontTx/>
              <a:buNone/>
            </a:pPr>
            <a:r>
              <a:rPr lang="en-US" sz="2000">
                <a:latin typeface="Courier New" charset="0"/>
                <a:cs typeface="Lucida Sans Unicode" charset="0"/>
              </a:rPr>
              <a:t>     list_1 (index) = list_2(index)</a:t>
            </a:r>
          </a:p>
          <a:p>
            <a:pPr eaLnBrk="1" hangingPunct="1">
              <a:buFontTx/>
              <a:buNone/>
            </a:pPr>
            <a:r>
              <a:rPr lang="en-US" sz="2000">
                <a:latin typeface="Courier New" charset="0"/>
                <a:cs typeface="Lucida Sans Unicode" charset="0"/>
              </a:rPr>
              <a:t>     list_3(index) = list_4(index+1)</a:t>
            </a:r>
          </a:p>
        </p:txBody>
      </p:sp>
    </p:spTree>
    <p:extLst>
      <p:ext uri="{BB962C8B-B14F-4D97-AF65-F5344CB8AC3E}">
        <p14:creationId xmlns:p14="http://schemas.microsoft.com/office/powerpoint/2010/main" val="18262006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7270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4A3DA906-3350-E241-B606-6581A6280ADF}" type="slidenum">
              <a:rPr lang="en-US" sz="1000">
                <a:latin typeface="Arial" charset="0"/>
              </a:rPr>
              <a:pPr/>
              <a:t>105</a:t>
            </a:fld>
            <a:endParaRPr lang="en-US" sz="1000">
              <a:latin typeface="Arial" charset="0"/>
            </a:endParaRPr>
          </a:p>
        </p:txBody>
      </p:sp>
      <p:sp>
        <p:nvSpPr>
          <p:cNvPr id="72708" name="Rectangle 2"/>
          <p:cNvSpPr>
            <a:spLocks noGrp="1" noChangeArrowheads="1"/>
          </p:cNvSpPr>
          <p:nvPr>
            <p:ph type="title"/>
          </p:nvPr>
        </p:nvSpPr>
        <p:spPr>
          <a:xfrm>
            <a:off x="609600" y="228600"/>
            <a:ext cx="8153400" cy="1143000"/>
          </a:xfrm>
        </p:spPr>
        <p:txBody>
          <a:bodyPr/>
          <a:lstStyle/>
          <a:p>
            <a:pPr eaLnBrk="1" hangingPunct="1"/>
            <a:r>
              <a:rPr lang="en-US" sz="3200">
                <a:latin typeface="Lucida Sans Unicode" charset="0"/>
                <a:cs typeface="Lucida Sans Unicode" charset="0"/>
              </a:rPr>
              <a:t>Statement-Level Concurrency (continued)</a:t>
            </a:r>
          </a:p>
        </p:txBody>
      </p:sp>
      <p:sp>
        <p:nvSpPr>
          <p:cNvPr id="72709" name="Rectangle 3"/>
          <p:cNvSpPr>
            <a:spLocks noGrp="1" noChangeArrowheads="1"/>
          </p:cNvSpPr>
          <p:nvPr>
            <p:ph type="body" idx="1"/>
          </p:nvPr>
        </p:nvSpPr>
        <p:spPr/>
        <p:txBody>
          <a:bodyPr/>
          <a:lstStyle/>
          <a:p>
            <a:pPr eaLnBrk="1" hangingPunct="1"/>
            <a:r>
              <a:rPr lang="en-US">
                <a:latin typeface="Courier New" charset="0"/>
                <a:cs typeface="Lucida Sans Unicode" charset="0"/>
              </a:rPr>
              <a:t>FORALL</a:t>
            </a:r>
            <a:r>
              <a:rPr lang="en-US">
                <a:latin typeface="Lucida Sans Unicode" charset="0"/>
                <a:cs typeface="Lucida Sans Unicode" charset="0"/>
              </a:rPr>
              <a:t> statement is used to specify a list of statements that may be executed concurrently</a:t>
            </a:r>
          </a:p>
          <a:p>
            <a:pPr eaLnBrk="1" hangingPunct="1">
              <a:buFontTx/>
              <a:buNone/>
            </a:pPr>
            <a:r>
              <a:rPr lang="en-US" sz="2400">
                <a:latin typeface="Courier New" charset="0"/>
                <a:cs typeface="Lucida Sans Unicode" charset="0"/>
              </a:rPr>
              <a:t>		FORALL (index = 1:1000) </a:t>
            </a:r>
          </a:p>
          <a:p>
            <a:pPr eaLnBrk="1" hangingPunct="1">
              <a:buFontTx/>
              <a:buNone/>
            </a:pPr>
            <a:r>
              <a:rPr lang="en-US" sz="2400">
                <a:latin typeface="Courier New" charset="0"/>
                <a:cs typeface="Lucida Sans Unicode" charset="0"/>
              </a:rPr>
              <a:t>     	 	list_1(index) = list_2(index)</a:t>
            </a:r>
            <a:endParaRPr lang="en-US" b="1">
              <a:latin typeface="Courier New" charset="0"/>
              <a:cs typeface="Lucida Sans Unicode" charset="0"/>
            </a:endParaRPr>
          </a:p>
          <a:p>
            <a:pPr eaLnBrk="1" hangingPunct="1"/>
            <a:r>
              <a:rPr lang="en-US">
                <a:latin typeface="Lucida Sans Unicode" charset="0"/>
                <a:cs typeface="Lucida Sans Unicode" charset="0"/>
              </a:rPr>
              <a:t>Specifies that all 1,000 RHSs of the assignments can be evaluated before any assignment takes place</a:t>
            </a:r>
          </a:p>
        </p:txBody>
      </p:sp>
    </p:spTree>
    <p:extLst>
      <p:ext uri="{BB962C8B-B14F-4D97-AF65-F5344CB8AC3E}">
        <p14:creationId xmlns:p14="http://schemas.microsoft.com/office/powerpoint/2010/main" val="42089680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Copyright © 2012 Addison-Wesley. All rights reserved.</a:t>
            </a:r>
          </a:p>
        </p:txBody>
      </p:sp>
      <p:sp>
        <p:nvSpPr>
          <p:cNvPr id="7373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Lucida Sans Unicode" charset="0"/>
              </a:defRPr>
            </a:lvl1pPr>
            <a:lvl2pPr marL="742950" indent="-285750">
              <a:defRPr sz="2400">
                <a:solidFill>
                  <a:schemeClr val="tx1"/>
                </a:solidFill>
                <a:latin typeface="Times" charset="0"/>
                <a:ea typeface="Lucida Sans Unicode" charset="0"/>
                <a:cs typeface="Lucida Sans Unicode" charset="0"/>
              </a:defRPr>
            </a:lvl2pPr>
            <a:lvl3pPr marL="1143000" indent="-228600">
              <a:defRPr sz="2400">
                <a:solidFill>
                  <a:schemeClr val="tx1"/>
                </a:solidFill>
                <a:latin typeface="Times" charset="0"/>
                <a:ea typeface="Lucida Sans Unicode" charset="0"/>
                <a:cs typeface="Lucida Sans Unicode" charset="0"/>
              </a:defRPr>
            </a:lvl3pPr>
            <a:lvl4pPr marL="1600200" indent="-228600">
              <a:defRPr sz="2400">
                <a:solidFill>
                  <a:schemeClr val="tx1"/>
                </a:solidFill>
                <a:latin typeface="Times" charset="0"/>
                <a:ea typeface="Lucida Sans Unicode" charset="0"/>
                <a:cs typeface="Lucida Sans Unicode" charset="0"/>
              </a:defRPr>
            </a:lvl4pPr>
            <a:lvl5pPr marL="2057400" indent="-228600">
              <a:defRPr sz="2400">
                <a:solidFill>
                  <a:schemeClr val="tx1"/>
                </a:solidFill>
                <a:latin typeface="Times" charset="0"/>
                <a:ea typeface="Lucida Sans Unicode" charset="0"/>
                <a:cs typeface="Lucida Sans Unicode" charset="0"/>
              </a:defRPr>
            </a:lvl5pPr>
            <a:lvl6pPr marL="25146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6pPr>
            <a:lvl7pPr marL="29718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7pPr>
            <a:lvl8pPr marL="34290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8pPr>
            <a:lvl9pPr marL="3886200" indent="-228600" eaLnBrk="0" fontAlgn="base" hangingPunct="0">
              <a:spcBef>
                <a:spcPct val="0"/>
              </a:spcBef>
              <a:spcAft>
                <a:spcPct val="0"/>
              </a:spcAft>
              <a:defRPr sz="2400">
                <a:solidFill>
                  <a:schemeClr val="tx1"/>
                </a:solidFill>
                <a:latin typeface="Times" charset="0"/>
                <a:ea typeface="Lucida Sans Unicode" charset="0"/>
                <a:cs typeface="Lucida Sans Unicode" charset="0"/>
              </a:defRPr>
            </a:lvl9pPr>
          </a:lstStyle>
          <a:p>
            <a:r>
              <a:rPr lang="en-US" sz="1000">
                <a:latin typeface="Arial" charset="0"/>
              </a:rPr>
              <a:t>1-</a:t>
            </a:r>
            <a:fld id="{CF6420D7-FC46-D145-A0D4-1338D8C5988C}" type="slidenum">
              <a:rPr lang="en-US" sz="1000">
                <a:latin typeface="Arial" charset="0"/>
              </a:rPr>
              <a:pPr/>
              <a:t>106</a:t>
            </a:fld>
            <a:endParaRPr lang="en-US" sz="1000">
              <a:latin typeface="Arial" charset="0"/>
            </a:endParaRPr>
          </a:p>
        </p:txBody>
      </p:sp>
      <p:sp>
        <p:nvSpPr>
          <p:cNvPr id="73732" name="Rectangle 2"/>
          <p:cNvSpPr>
            <a:spLocks noGrp="1" noChangeArrowheads="1"/>
          </p:cNvSpPr>
          <p:nvPr>
            <p:ph type="title"/>
          </p:nvPr>
        </p:nvSpPr>
        <p:spPr/>
        <p:txBody>
          <a:bodyPr/>
          <a:lstStyle/>
          <a:p>
            <a:pPr eaLnBrk="1" hangingPunct="1"/>
            <a:r>
              <a:rPr lang="en-US">
                <a:latin typeface="Lucida Sans Unicode" charset="0"/>
                <a:cs typeface="Lucida Sans Unicode" charset="0"/>
              </a:rPr>
              <a:t>Summary</a:t>
            </a:r>
          </a:p>
        </p:txBody>
      </p:sp>
      <p:sp>
        <p:nvSpPr>
          <p:cNvPr id="73733" name="Rectangle 3"/>
          <p:cNvSpPr>
            <a:spLocks noGrp="1" noChangeArrowheads="1"/>
          </p:cNvSpPr>
          <p:nvPr>
            <p:ph type="body" idx="1"/>
          </p:nvPr>
        </p:nvSpPr>
        <p:spPr/>
        <p:txBody>
          <a:bodyPr>
            <a:normAutofit lnSpcReduction="10000"/>
          </a:bodyPr>
          <a:lstStyle/>
          <a:p>
            <a:pPr eaLnBrk="1" hangingPunct="1">
              <a:lnSpc>
                <a:spcPct val="80000"/>
              </a:lnSpc>
            </a:pPr>
            <a:r>
              <a:rPr lang="en-US" sz="2400" dirty="0">
                <a:latin typeface="Lucida Sans Unicode" charset="0"/>
                <a:cs typeface="Lucida Sans Unicode" charset="0"/>
              </a:rPr>
              <a:t>Concurrent execution can be at the instruction, statement, or subprogram level</a:t>
            </a:r>
          </a:p>
          <a:p>
            <a:pPr eaLnBrk="1" hangingPunct="1">
              <a:lnSpc>
                <a:spcPct val="80000"/>
              </a:lnSpc>
            </a:pPr>
            <a:r>
              <a:rPr lang="en-US" sz="2400" dirty="0">
                <a:latin typeface="Lucida Sans Unicode" charset="0"/>
                <a:cs typeface="Lucida Sans Unicode" charset="0"/>
              </a:rPr>
              <a:t>Physical concurrency: when multiple processors are used to execute concurrent units</a:t>
            </a:r>
          </a:p>
          <a:p>
            <a:pPr eaLnBrk="1" hangingPunct="1">
              <a:lnSpc>
                <a:spcPct val="80000"/>
              </a:lnSpc>
            </a:pPr>
            <a:r>
              <a:rPr lang="en-US" sz="2400" dirty="0">
                <a:latin typeface="Lucida Sans Unicode" charset="0"/>
                <a:cs typeface="Lucida Sans Unicode" charset="0"/>
              </a:rPr>
              <a:t>Logical concurrency: concurrent united are executed on a single processor</a:t>
            </a:r>
          </a:p>
          <a:p>
            <a:pPr eaLnBrk="1" hangingPunct="1">
              <a:lnSpc>
                <a:spcPct val="80000"/>
              </a:lnSpc>
            </a:pPr>
            <a:r>
              <a:rPr lang="en-US" sz="2400" dirty="0">
                <a:latin typeface="Lucida Sans Unicode" charset="0"/>
                <a:cs typeface="Lucida Sans Unicode" charset="0"/>
              </a:rPr>
              <a:t>Two primary facilities to support subprogram concurrency: competition synchronization and cooperation synchronization</a:t>
            </a:r>
          </a:p>
          <a:p>
            <a:pPr eaLnBrk="1" hangingPunct="1">
              <a:lnSpc>
                <a:spcPct val="80000"/>
              </a:lnSpc>
            </a:pPr>
            <a:r>
              <a:rPr lang="en-US" sz="2400" dirty="0">
                <a:latin typeface="Lucida Sans Unicode" charset="0"/>
                <a:cs typeface="Lucida Sans Unicode" charset="0"/>
              </a:rPr>
              <a:t>Mechanisms: semaphores, monitors, rendezvous, threads</a:t>
            </a:r>
          </a:p>
          <a:p>
            <a:pPr eaLnBrk="1" hangingPunct="1">
              <a:lnSpc>
                <a:spcPct val="80000"/>
              </a:lnSpc>
            </a:pPr>
            <a:r>
              <a:rPr lang="en-US" sz="2400" dirty="0">
                <a:latin typeface="Lucida Sans Unicode" charset="0"/>
                <a:cs typeface="Lucida Sans Unicode" charset="0"/>
              </a:rPr>
              <a:t>High-Performance Fortran provides statements for specifying how data is to be distributed over the memory units connected to multiple processors</a:t>
            </a:r>
          </a:p>
        </p:txBody>
      </p:sp>
    </p:spTree>
    <p:extLst>
      <p:ext uri="{BB962C8B-B14F-4D97-AF65-F5344CB8AC3E}">
        <p14:creationId xmlns:p14="http://schemas.microsoft.com/office/powerpoint/2010/main" val="246979445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p:txBody>
          <a:bodyPr/>
          <a:lstStyle/>
          <a:p>
            <a:pPr eaLnBrk="1" hangingPunct="1"/>
            <a:r>
              <a:rPr lang="en-US" dirty="0">
                <a:latin typeface="Lucida Sans Unicode" charset="0"/>
                <a:cs typeface="Lucida Sans Unicode" charset="0"/>
              </a:rPr>
              <a:t>Chapter 14</a:t>
            </a:r>
          </a:p>
        </p:txBody>
      </p:sp>
      <p:sp>
        <p:nvSpPr>
          <p:cNvPr id="3075" name="Rectangle 5"/>
          <p:cNvSpPr>
            <a:spLocks noGrp="1" noChangeArrowheads="1"/>
          </p:cNvSpPr>
          <p:nvPr>
            <p:ph type="subTitle" idx="1"/>
          </p:nvPr>
        </p:nvSpPr>
        <p:spPr/>
        <p:txBody>
          <a:bodyPr/>
          <a:lstStyle/>
          <a:p>
            <a:pPr eaLnBrk="1" hangingPunct="1"/>
            <a:r>
              <a:rPr lang="en-US" dirty="0">
                <a:latin typeface="Lucida Sans Unicode" charset="0"/>
                <a:cs typeface="Lucida Sans Unicode" charset="0"/>
              </a:rPr>
              <a:t>Exception Handling</a:t>
            </a:r>
          </a:p>
        </p:txBody>
      </p:sp>
    </p:spTree>
    <p:extLst>
      <p:ext uri="{BB962C8B-B14F-4D97-AF65-F5344CB8AC3E}">
        <p14:creationId xmlns:p14="http://schemas.microsoft.com/office/powerpoint/2010/main" val="375044487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a:extLst>
              <a:ext uri="{FF2B5EF4-FFF2-40B4-BE49-F238E27FC236}">
                <a16:creationId xmlns:a16="http://schemas.microsoft.com/office/drawing/2014/main" id="{CD9E90AC-23FB-834A-BB32-5A75BCE87EF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6147" name="Slide Number Placeholder 4">
            <a:extLst>
              <a:ext uri="{FF2B5EF4-FFF2-40B4-BE49-F238E27FC236}">
                <a16:creationId xmlns:a16="http://schemas.microsoft.com/office/drawing/2014/main" id="{1B3AC94B-4AF4-3F4D-BACD-87AEA447E80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A6297BD7-83A3-EE44-8254-76AA2C9FC333}" type="slidenum">
              <a:rPr lang="en-US" altLang="en-US" sz="1000" smtClean="0">
                <a:solidFill>
                  <a:schemeClr val="tx1"/>
                </a:solidFill>
                <a:latin typeface="Arial" panose="020B0604020202020204" pitchFamily="34" charset="0"/>
              </a:rPr>
              <a:pPr>
                <a:spcBef>
                  <a:spcPct val="0"/>
                </a:spcBef>
                <a:buFontTx/>
                <a:buNone/>
              </a:pPr>
              <a:t>108</a:t>
            </a:fld>
            <a:endParaRPr lang="en-US" altLang="en-US" sz="1000">
              <a:solidFill>
                <a:schemeClr val="tx1"/>
              </a:solidFill>
              <a:latin typeface="Arial" panose="020B0604020202020204" pitchFamily="34" charset="0"/>
            </a:endParaRPr>
          </a:p>
        </p:txBody>
      </p:sp>
      <p:sp>
        <p:nvSpPr>
          <p:cNvPr id="6148" name="Rectangle 2">
            <a:extLst>
              <a:ext uri="{FF2B5EF4-FFF2-40B4-BE49-F238E27FC236}">
                <a16:creationId xmlns:a16="http://schemas.microsoft.com/office/drawing/2014/main" id="{8927F321-E6A3-5A4D-82DE-7991DD53AEC2}"/>
              </a:ext>
            </a:extLst>
          </p:cNvPr>
          <p:cNvSpPr>
            <a:spLocks noGrp="1" noChangeArrowheads="1"/>
          </p:cNvSpPr>
          <p:nvPr>
            <p:ph type="title"/>
          </p:nvPr>
        </p:nvSpPr>
        <p:spPr/>
        <p:txBody>
          <a:bodyPr/>
          <a:lstStyle/>
          <a:p>
            <a:pPr eaLnBrk="1" hangingPunct="1"/>
            <a:r>
              <a:rPr lang="en-US" altLang="en-US"/>
              <a:t>Chapter 14 Topics</a:t>
            </a:r>
          </a:p>
        </p:txBody>
      </p:sp>
      <p:sp>
        <p:nvSpPr>
          <p:cNvPr id="6149" name="Rectangle 3">
            <a:extLst>
              <a:ext uri="{FF2B5EF4-FFF2-40B4-BE49-F238E27FC236}">
                <a16:creationId xmlns:a16="http://schemas.microsoft.com/office/drawing/2014/main" id="{DCC82519-F428-DB48-B870-E84AE7909F70}"/>
              </a:ext>
            </a:extLst>
          </p:cNvPr>
          <p:cNvSpPr>
            <a:spLocks noGrp="1" noChangeArrowheads="1"/>
          </p:cNvSpPr>
          <p:nvPr>
            <p:ph type="body" idx="1"/>
          </p:nvPr>
        </p:nvSpPr>
        <p:spPr/>
        <p:txBody>
          <a:bodyPr/>
          <a:lstStyle/>
          <a:p>
            <a:pPr eaLnBrk="1" hangingPunct="1"/>
            <a:r>
              <a:rPr lang="en-US" altLang="en-US"/>
              <a:t>Introduction to Exception Handling</a:t>
            </a:r>
          </a:p>
          <a:p>
            <a:pPr eaLnBrk="1" hangingPunct="1"/>
            <a:r>
              <a:rPr lang="en-US" altLang="en-US"/>
              <a:t>Exception Handling in C++</a:t>
            </a:r>
          </a:p>
          <a:p>
            <a:pPr eaLnBrk="1" hangingPunct="1"/>
            <a:r>
              <a:rPr lang="en-US" altLang="en-US"/>
              <a:t>Exception Handling in Java</a:t>
            </a:r>
          </a:p>
          <a:p>
            <a:pPr eaLnBrk="1" hangingPunct="1"/>
            <a:r>
              <a:rPr lang="en-US" altLang="en-US"/>
              <a:t>Exception Handling in Python and Ruby</a:t>
            </a:r>
          </a:p>
          <a:p>
            <a:pPr eaLnBrk="1" hangingPunct="1"/>
            <a:r>
              <a:rPr lang="en-US" altLang="en-US"/>
              <a:t>Introduction to Event Handling</a:t>
            </a:r>
          </a:p>
          <a:p>
            <a:pPr eaLnBrk="1" hangingPunct="1"/>
            <a:r>
              <a:rPr lang="en-US" altLang="en-US"/>
              <a:t>Event Handling in Java</a:t>
            </a:r>
          </a:p>
          <a:p>
            <a:pPr eaLnBrk="1" hangingPunct="1"/>
            <a:r>
              <a:rPr lang="en-US" altLang="en-US"/>
              <a:t>Event Handling in C#</a:t>
            </a:r>
          </a:p>
          <a:p>
            <a:pPr eaLnBrk="1" hangingPunct="1"/>
            <a:endParaRPr lang="en-US" altLang="en-US"/>
          </a:p>
          <a:p>
            <a:pPr eaLnBrk="1" hangingPunct="1"/>
            <a:endParaRPr lang="en-US" altLang="en-US"/>
          </a:p>
          <a:p>
            <a:pPr eaLnBrk="1" hangingPunct="1"/>
            <a:endParaRPr lang="en-US" altLang="en-US"/>
          </a:p>
        </p:txBody>
      </p:sp>
    </p:spTree>
    <p:extLst>
      <p:ext uri="{BB962C8B-B14F-4D97-AF65-F5344CB8AC3E}">
        <p14:creationId xmlns:p14="http://schemas.microsoft.com/office/powerpoint/2010/main" val="117510516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a:extLst>
              <a:ext uri="{FF2B5EF4-FFF2-40B4-BE49-F238E27FC236}">
                <a16:creationId xmlns:a16="http://schemas.microsoft.com/office/drawing/2014/main" id="{8BE057E1-C8CC-0948-9471-C9B14A17AAC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8195" name="Slide Number Placeholder 4">
            <a:extLst>
              <a:ext uri="{FF2B5EF4-FFF2-40B4-BE49-F238E27FC236}">
                <a16:creationId xmlns:a16="http://schemas.microsoft.com/office/drawing/2014/main" id="{A25690E5-3B20-5E47-8B62-6FC6ED0971A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B1CD1F3D-7905-864D-A567-2B189DDDC955}" type="slidenum">
              <a:rPr lang="en-US" altLang="en-US" sz="1000" smtClean="0">
                <a:solidFill>
                  <a:schemeClr val="tx1"/>
                </a:solidFill>
                <a:latin typeface="Arial" panose="020B0604020202020204" pitchFamily="34" charset="0"/>
              </a:rPr>
              <a:pPr>
                <a:spcBef>
                  <a:spcPct val="0"/>
                </a:spcBef>
                <a:buFontTx/>
                <a:buNone/>
              </a:pPr>
              <a:t>109</a:t>
            </a:fld>
            <a:endParaRPr lang="en-US" altLang="en-US" sz="1000">
              <a:solidFill>
                <a:schemeClr val="tx1"/>
              </a:solidFill>
              <a:latin typeface="Arial" panose="020B0604020202020204" pitchFamily="34" charset="0"/>
            </a:endParaRPr>
          </a:p>
        </p:txBody>
      </p:sp>
      <p:sp>
        <p:nvSpPr>
          <p:cNvPr id="8196" name="Rectangle 2">
            <a:extLst>
              <a:ext uri="{FF2B5EF4-FFF2-40B4-BE49-F238E27FC236}">
                <a16:creationId xmlns:a16="http://schemas.microsoft.com/office/drawing/2014/main" id="{E1989591-DACF-B74B-BF55-5C4784E1810F}"/>
              </a:ext>
            </a:extLst>
          </p:cNvPr>
          <p:cNvSpPr>
            <a:spLocks noGrp="1" noChangeArrowheads="1"/>
          </p:cNvSpPr>
          <p:nvPr>
            <p:ph type="title"/>
          </p:nvPr>
        </p:nvSpPr>
        <p:spPr>
          <a:xfrm>
            <a:off x="609600" y="304800"/>
            <a:ext cx="8534400" cy="1206500"/>
          </a:xfrm>
        </p:spPr>
        <p:txBody>
          <a:bodyPr/>
          <a:lstStyle/>
          <a:p>
            <a:pPr eaLnBrk="1" hangingPunct="1"/>
            <a:r>
              <a:rPr lang="en-US" altLang="en-US"/>
              <a:t>Introduction to Exception Handling</a:t>
            </a:r>
          </a:p>
        </p:txBody>
      </p:sp>
      <p:sp>
        <p:nvSpPr>
          <p:cNvPr id="8197" name="Rectangle 3">
            <a:extLst>
              <a:ext uri="{FF2B5EF4-FFF2-40B4-BE49-F238E27FC236}">
                <a16:creationId xmlns:a16="http://schemas.microsoft.com/office/drawing/2014/main" id="{78C4A854-68A7-D44E-804E-501B979B9A9E}"/>
              </a:ext>
            </a:extLst>
          </p:cNvPr>
          <p:cNvSpPr>
            <a:spLocks noGrp="1" noChangeArrowheads="1"/>
          </p:cNvSpPr>
          <p:nvPr>
            <p:ph type="body" idx="1"/>
          </p:nvPr>
        </p:nvSpPr>
        <p:spPr/>
        <p:txBody>
          <a:bodyPr/>
          <a:lstStyle/>
          <a:p>
            <a:pPr marL="0" indent="0" eaLnBrk="1" hangingPunct="1"/>
            <a:r>
              <a:rPr lang="en-US" altLang="en-US"/>
              <a:t>  In a language without exception handling</a:t>
            </a:r>
          </a:p>
          <a:p>
            <a:pPr lvl="1" eaLnBrk="1" hangingPunct="1"/>
            <a:r>
              <a:rPr lang="en-US" altLang="en-US"/>
              <a:t>When an exception occurs, control goes to the operating system, where a message is displayed and the program is terminated</a:t>
            </a:r>
          </a:p>
          <a:p>
            <a:pPr marL="0" indent="0" eaLnBrk="1" hangingPunct="1"/>
            <a:r>
              <a:rPr lang="en-US" altLang="en-US"/>
              <a:t>  In a language with exception handling</a:t>
            </a:r>
          </a:p>
          <a:p>
            <a:pPr lvl="1" eaLnBrk="1" hangingPunct="1"/>
            <a:r>
              <a:rPr lang="en-US" altLang="en-US"/>
              <a:t>Programs are allowed to trap some exceptions, thereby providing the possibility of fixing the problem and continuing</a:t>
            </a:r>
          </a:p>
        </p:txBody>
      </p:sp>
    </p:spTree>
    <p:extLst>
      <p:ext uri="{BB962C8B-B14F-4D97-AF65-F5344CB8AC3E}">
        <p14:creationId xmlns:p14="http://schemas.microsoft.com/office/powerpoint/2010/main" val="130931604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a:extLst>
              <a:ext uri="{FF2B5EF4-FFF2-40B4-BE49-F238E27FC236}">
                <a16:creationId xmlns:a16="http://schemas.microsoft.com/office/drawing/2014/main" id="{FCB63216-35CA-D44A-B320-5A56984D676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10243" name="Slide Number Placeholder 4">
            <a:extLst>
              <a:ext uri="{FF2B5EF4-FFF2-40B4-BE49-F238E27FC236}">
                <a16:creationId xmlns:a16="http://schemas.microsoft.com/office/drawing/2014/main" id="{71ADD85F-2A63-D442-AA56-32BE7BB129F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0873A013-4549-1E4A-9AC9-49E2F233D3F4}" type="slidenum">
              <a:rPr lang="en-US" altLang="en-US" sz="1000" smtClean="0">
                <a:solidFill>
                  <a:schemeClr val="tx1"/>
                </a:solidFill>
                <a:latin typeface="Arial" panose="020B0604020202020204" pitchFamily="34" charset="0"/>
              </a:rPr>
              <a:pPr>
                <a:spcBef>
                  <a:spcPct val="0"/>
                </a:spcBef>
                <a:buFontTx/>
                <a:buNone/>
              </a:pPr>
              <a:t>110</a:t>
            </a:fld>
            <a:endParaRPr lang="en-US" altLang="en-US" sz="1000">
              <a:solidFill>
                <a:schemeClr val="tx1"/>
              </a:solidFill>
              <a:latin typeface="Arial" panose="020B0604020202020204" pitchFamily="34" charset="0"/>
            </a:endParaRPr>
          </a:p>
        </p:txBody>
      </p:sp>
      <p:sp>
        <p:nvSpPr>
          <p:cNvPr id="10244" name="Rectangle 2">
            <a:extLst>
              <a:ext uri="{FF2B5EF4-FFF2-40B4-BE49-F238E27FC236}">
                <a16:creationId xmlns:a16="http://schemas.microsoft.com/office/drawing/2014/main" id="{2FCC4699-A645-554A-AE85-936566F1461E}"/>
              </a:ext>
            </a:extLst>
          </p:cNvPr>
          <p:cNvSpPr>
            <a:spLocks noGrp="1" noChangeArrowheads="1"/>
          </p:cNvSpPr>
          <p:nvPr>
            <p:ph type="title"/>
          </p:nvPr>
        </p:nvSpPr>
        <p:spPr/>
        <p:txBody>
          <a:bodyPr/>
          <a:lstStyle/>
          <a:p>
            <a:pPr eaLnBrk="1" hangingPunct="1"/>
            <a:r>
              <a:rPr lang="en-US" altLang="en-US"/>
              <a:t>Basic Concepts</a:t>
            </a:r>
          </a:p>
        </p:txBody>
      </p:sp>
      <p:sp>
        <p:nvSpPr>
          <p:cNvPr id="10245" name="Rectangle 3">
            <a:extLst>
              <a:ext uri="{FF2B5EF4-FFF2-40B4-BE49-F238E27FC236}">
                <a16:creationId xmlns:a16="http://schemas.microsoft.com/office/drawing/2014/main" id="{AB86CF21-2DAB-BB4D-92F9-FF8CA3661D90}"/>
              </a:ext>
            </a:extLst>
          </p:cNvPr>
          <p:cNvSpPr>
            <a:spLocks noGrp="1" noChangeArrowheads="1"/>
          </p:cNvSpPr>
          <p:nvPr>
            <p:ph type="body" idx="1"/>
          </p:nvPr>
        </p:nvSpPr>
        <p:spPr/>
        <p:txBody>
          <a:bodyPr/>
          <a:lstStyle/>
          <a:p>
            <a:pPr eaLnBrk="1" hangingPunct="1"/>
            <a:r>
              <a:rPr lang="en-US" altLang="en-US" sz="2400"/>
              <a:t>Many languages allow programs to trap input/output errors (including EOF)</a:t>
            </a:r>
          </a:p>
          <a:p>
            <a:pPr eaLnBrk="1" hangingPunct="1"/>
            <a:r>
              <a:rPr lang="en-US" altLang="en-US" sz="2400"/>
              <a:t>An </a:t>
            </a:r>
            <a:r>
              <a:rPr lang="en-US" altLang="en-US" sz="2400" i="1"/>
              <a:t>exception</a:t>
            </a:r>
            <a:r>
              <a:rPr lang="en-US" altLang="en-US" sz="2400"/>
              <a:t> is any unusual event, either erroneous or not, detectable by either hardware or software, that may require special processing</a:t>
            </a:r>
          </a:p>
          <a:p>
            <a:pPr eaLnBrk="1" hangingPunct="1"/>
            <a:r>
              <a:rPr lang="en-US" altLang="en-US" sz="2400"/>
              <a:t>The special processing that may be required after detection of an exception is called </a:t>
            </a:r>
            <a:r>
              <a:rPr lang="en-US" altLang="en-US" sz="2400" i="1"/>
              <a:t>exception handling</a:t>
            </a:r>
          </a:p>
          <a:p>
            <a:pPr eaLnBrk="1" hangingPunct="1"/>
            <a:r>
              <a:rPr lang="en-US" altLang="en-US" sz="2400"/>
              <a:t>The exception handling code unit is called an </a:t>
            </a:r>
            <a:r>
              <a:rPr lang="en-US" altLang="en-US" sz="2400" i="1"/>
              <a:t>exception</a:t>
            </a:r>
            <a:r>
              <a:rPr lang="en-US" altLang="en-US" sz="2400"/>
              <a:t> </a:t>
            </a:r>
            <a:r>
              <a:rPr lang="en-US" altLang="en-US" sz="2400" i="1"/>
              <a:t>handler</a:t>
            </a:r>
            <a:endParaRPr lang="en-US" altLang="en-US" sz="2400"/>
          </a:p>
        </p:txBody>
      </p:sp>
    </p:spTree>
    <p:extLst>
      <p:ext uri="{BB962C8B-B14F-4D97-AF65-F5344CB8AC3E}">
        <p14:creationId xmlns:p14="http://schemas.microsoft.com/office/powerpoint/2010/main" val="128620136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a:extLst>
              <a:ext uri="{FF2B5EF4-FFF2-40B4-BE49-F238E27FC236}">
                <a16:creationId xmlns:a16="http://schemas.microsoft.com/office/drawing/2014/main" id="{050C69ED-8E08-4742-A75A-21BB04198B2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12291" name="Slide Number Placeholder 4">
            <a:extLst>
              <a:ext uri="{FF2B5EF4-FFF2-40B4-BE49-F238E27FC236}">
                <a16:creationId xmlns:a16="http://schemas.microsoft.com/office/drawing/2014/main" id="{E4A68D08-6919-EC4E-89D9-E2CD00B9C0F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B827B593-4FB9-B942-B0EB-5EF5B77B8FD4}" type="slidenum">
              <a:rPr lang="en-US" altLang="en-US" sz="1000" smtClean="0">
                <a:solidFill>
                  <a:schemeClr val="tx1"/>
                </a:solidFill>
                <a:latin typeface="Arial" panose="020B0604020202020204" pitchFamily="34" charset="0"/>
              </a:rPr>
              <a:pPr>
                <a:spcBef>
                  <a:spcPct val="0"/>
                </a:spcBef>
                <a:buFontTx/>
                <a:buNone/>
              </a:pPr>
              <a:t>111</a:t>
            </a:fld>
            <a:endParaRPr lang="en-US" altLang="en-US" sz="1000">
              <a:solidFill>
                <a:schemeClr val="tx1"/>
              </a:solidFill>
              <a:latin typeface="Arial" panose="020B0604020202020204" pitchFamily="34" charset="0"/>
            </a:endParaRPr>
          </a:p>
        </p:txBody>
      </p:sp>
      <p:sp>
        <p:nvSpPr>
          <p:cNvPr id="12292" name="Rectangle 2">
            <a:extLst>
              <a:ext uri="{FF2B5EF4-FFF2-40B4-BE49-F238E27FC236}">
                <a16:creationId xmlns:a16="http://schemas.microsoft.com/office/drawing/2014/main" id="{9D48765A-24D5-D84C-B65F-D93200B02C70}"/>
              </a:ext>
            </a:extLst>
          </p:cNvPr>
          <p:cNvSpPr>
            <a:spLocks noGrp="1" noChangeArrowheads="1"/>
          </p:cNvSpPr>
          <p:nvPr>
            <p:ph type="title"/>
          </p:nvPr>
        </p:nvSpPr>
        <p:spPr/>
        <p:txBody>
          <a:bodyPr/>
          <a:lstStyle/>
          <a:p>
            <a:pPr eaLnBrk="1" hangingPunct="1"/>
            <a:r>
              <a:rPr lang="en-US" altLang="en-US"/>
              <a:t>Exception Handling Alternatives</a:t>
            </a:r>
          </a:p>
        </p:txBody>
      </p:sp>
      <p:sp>
        <p:nvSpPr>
          <p:cNvPr id="12293" name="Rectangle 3">
            <a:extLst>
              <a:ext uri="{FF2B5EF4-FFF2-40B4-BE49-F238E27FC236}">
                <a16:creationId xmlns:a16="http://schemas.microsoft.com/office/drawing/2014/main" id="{46D29CAE-13FB-F84D-974E-26737539F238}"/>
              </a:ext>
            </a:extLst>
          </p:cNvPr>
          <p:cNvSpPr>
            <a:spLocks noGrp="1" noChangeArrowheads="1"/>
          </p:cNvSpPr>
          <p:nvPr>
            <p:ph type="body" idx="1"/>
          </p:nvPr>
        </p:nvSpPr>
        <p:spPr>
          <a:xfrm>
            <a:off x="457200" y="1371600"/>
            <a:ext cx="8229600" cy="4495800"/>
          </a:xfrm>
        </p:spPr>
        <p:txBody>
          <a:bodyPr>
            <a:normAutofit lnSpcReduction="10000"/>
          </a:bodyPr>
          <a:lstStyle/>
          <a:p>
            <a:pPr eaLnBrk="1" hangingPunct="1"/>
            <a:r>
              <a:rPr lang="en-US" altLang="en-US" sz="2400"/>
              <a:t>An exception is </a:t>
            </a:r>
            <a:r>
              <a:rPr lang="en-US" altLang="en-US" sz="2400">
                <a:solidFill>
                  <a:schemeClr val="tx2"/>
                </a:solidFill>
              </a:rPr>
              <a:t>raised</a:t>
            </a:r>
            <a:r>
              <a:rPr lang="en-US" altLang="en-US" sz="2400"/>
              <a:t> when its associated event occurs</a:t>
            </a:r>
          </a:p>
          <a:p>
            <a:pPr eaLnBrk="1" hangingPunct="1"/>
            <a:r>
              <a:rPr lang="en-US" altLang="en-US" sz="2400"/>
              <a:t>A language that does not have exception handling capabilities can still define, detect, raise, and handle exceptions (user defined, software detected)</a:t>
            </a:r>
          </a:p>
          <a:p>
            <a:pPr eaLnBrk="1" hangingPunct="1"/>
            <a:r>
              <a:rPr lang="en-US" altLang="en-US" sz="2400"/>
              <a:t>Alternatives:</a:t>
            </a:r>
          </a:p>
          <a:p>
            <a:pPr lvl="1" eaLnBrk="1" hangingPunct="1"/>
            <a:r>
              <a:rPr lang="en-US" altLang="en-US" sz="2000"/>
              <a:t>Send an auxiliary parameter or use the return value to indicate the return status of a subprogram</a:t>
            </a:r>
          </a:p>
          <a:p>
            <a:pPr lvl="1" eaLnBrk="1" hangingPunct="1"/>
            <a:r>
              <a:rPr lang="en-US" altLang="en-US" sz="2000"/>
              <a:t>Pass a label parameter to all subprograms (error return is to the passed label)</a:t>
            </a:r>
          </a:p>
          <a:p>
            <a:pPr lvl="1" eaLnBrk="1" hangingPunct="1"/>
            <a:r>
              <a:rPr lang="en-US" altLang="en-US" sz="2000"/>
              <a:t>Pass an exception handling subprogram to all subprograms</a:t>
            </a:r>
          </a:p>
        </p:txBody>
      </p:sp>
    </p:spTree>
    <p:extLst>
      <p:ext uri="{BB962C8B-B14F-4D97-AF65-F5344CB8AC3E}">
        <p14:creationId xmlns:p14="http://schemas.microsoft.com/office/powerpoint/2010/main" val="198743615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a:extLst>
              <a:ext uri="{FF2B5EF4-FFF2-40B4-BE49-F238E27FC236}">
                <a16:creationId xmlns:a16="http://schemas.microsoft.com/office/drawing/2014/main" id="{A0204D55-AA3C-3346-AAE5-A8060C55591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14339" name="Slide Number Placeholder 4">
            <a:extLst>
              <a:ext uri="{FF2B5EF4-FFF2-40B4-BE49-F238E27FC236}">
                <a16:creationId xmlns:a16="http://schemas.microsoft.com/office/drawing/2014/main" id="{E070E755-0BC4-3547-9AC4-0733FB9D21A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9CA375EC-8972-0149-8666-E0410AE05872}" type="slidenum">
              <a:rPr lang="en-US" altLang="en-US" sz="1000" smtClean="0">
                <a:solidFill>
                  <a:schemeClr val="tx1"/>
                </a:solidFill>
                <a:latin typeface="Arial" panose="020B0604020202020204" pitchFamily="34" charset="0"/>
              </a:rPr>
              <a:pPr>
                <a:spcBef>
                  <a:spcPct val="0"/>
                </a:spcBef>
                <a:buFontTx/>
                <a:buNone/>
              </a:pPr>
              <a:t>112</a:t>
            </a:fld>
            <a:endParaRPr lang="en-US" altLang="en-US" sz="1000">
              <a:solidFill>
                <a:schemeClr val="tx1"/>
              </a:solidFill>
              <a:latin typeface="Arial" panose="020B0604020202020204" pitchFamily="34" charset="0"/>
            </a:endParaRPr>
          </a:p>
        </p:txBody>
      </p:sp>
      <p:sp>
        <p:nvSpPr>
          <p:cNvPr id="14340" name="Rectangle 2">
            <a:extLst>
              <a:ext uri="{FF2B5EF4-FFF2-40B4-BE49-F238E27FC236}">
                <a16:creationId xmlns:a16="http://schemas.microsoft.com/office/drawing/2014/main" id="{A84108DB-5CD7-824E-A967-2C887F33A583}"/>
              </a:ext>
            </a:extLst>
          </p:cNvPr>
          <p:cNvSpPr>
            <a:spLocks noGrp="1" noChangeArrowheads="1"/>
          </p:cNvSpPr>
          <p:nvPr>
            <p:ph type="title"/>
          </p:nvPr>
        </p:nvSpPr>
        <p:spPr>
          <a:xfrm>
            <a:off x="609600" y="0"/>
            <a:ext cx="8153400" cy="1143000"/>
          </a:xfrm>
        </p:spPr>
        <p:txBody>
          <a:bodyPr/>
          <a:lstStyle/>
          <a:p>
            <a:pPr eaLnBrk="1" hangingPunct="1"/>
            <a:r>
              <a:rPr lang="en-US" altLang="en-US"/>
              <a:t>Advantages of Built-in Exception Handling</a:t>
            </a:r>
          </a:p>
        </p:txBody>
      </p:sp>
      <p:sp>
        <p:nvSpPr>
          <p:cNvPr id="14341" name="Rectangle 3">
            <a:extLst>
              <a:ext uri="{FF2B5EF4-FFF2-40B4-BE49-F238E27FC236}">
                <a16:creationId xmlns:a16="http://schemas.microsoft.com/office/drawing/2014/main" id="{CC5EB8FF-98E5-0C41-BB08-B82B7AADE20E}"/>
              </a:ext>
            </a:extLst>
          </p:cNvPr>
          <p:cNvSpPr>
            <a:spLocks noGrp="1" noChangeArrowheads="1"/>
          </p:cNvSpPr>
          <p:nvPr>
            <p:ph type="body" idx="1"/>
          </p:nvPr>
        </p:nvSpPr>
        <p:spPr/>
        <p:txBody>
          <a:bodyPr/>
          <a:lstStyle/>
          <a:p>
            <a:pPr eaLnBrk="1" hangingPunct="1"/>
            <a:r>
              <a:rPr lang="en-US" altLang="en-US"/>
              <a:t>Error detection code is tedious to write and it clutters the program</a:t>
            </a:r>
          </a:p>
          <a:p>
            <a:pPr eaLnBrk="1" hangingPunct="1"/>
            <a:r>
              <a:rPr lang="en-US" altLang="en-US"/>
              <a:t>Exception handling encourages programmers to consider many different possible errors</a:t>
            </a:r>
          </a:p>
          <a:p>
            <a:pPr eaLnBrk="1" hangingPunct="1"/>
            <a:r>
              <a:rPr lang="en-US" altLang="en-US"/>
              <a:t>Exception propagation allows a high level of reuse of exception handling code</a:t>
            </a:r>
          </a:p>
        </p:txBody>
      </p:sp>
    </p:spTree>
    <p:extLst>
      <p:ext uri="{BB962C8B-B14F-4D97-AF65-F5344CB8AC3E}">
        <p14:creationId xmlns:p14="http://schemas.microsoft.com/office/powerpoint/2010/main" val="33149195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a:extLst>
              <a:ext uri="{FF2B5EF4-FFF2-40B4-BE49-F238E27FC236}">
                <a16:creationId xmlns:a16="http://schemas.microsoft.com/office/drawing/2014/main" id="{6551E2AC-7680-EF44-8F10-E4E2F544699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16387" name="Slide Number Placeholder 4">
            <a:extLst>
              <a:ext uri="{FF2B5EF4-FFF2-40B4-BE49-F238E27FC236}">
                <a16:creationId xmlns:a16="http://schemas.microsoft.com/office/drawing/2014/main" id="{6615D390-9969-8540-889C-5E2441B2D2C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DCB4B17A-C42E-AA41-ABAB-D585FB4AAFB3}" type="slidenum">
              <a:rPr lang="en-US" altLang="en-US" sz="1000" smtClean="0">
                <a:solidFill>
                  <a:schemeClr val="tx1"/>
                </a:solidFill>
                <a:latin typeface="Arial" panose="020B0604020202020204" pitchFamily="34" charset="0"/>
              </a:rPr>
              <a:pPr>
                <a:spcBef>
                  <a:spcPct val="0"/>
                </a:spcBef>
                <a:buFontTx/>
                <a:buNone/>
              </a:pPr>
              <a:t>113</a:t>
            </a:fld>
            <a:endParaRPr lang="en-US" altLang="en-US" sz="1000">
              <a:solidFill>
                <a:schemeClr val="tx1"/>
              </a:solidFill>
              <a:latin typeface="Arial" panose="020B0604020202020204" pitchFamily="34" charset="0"/>
            </a:endParaRPr>
          </a:p>
        </p:txBody>
      </p:sp>
      <p:sp>
        <p:nvSpPr>
          <p:cNvPr id="16388" name="Rectangle 2">
            <a:extLst>
              <a:ext uri="{FF2B5EF4-FFF2-40B4-BE49-F238E27FC236}">
                <a16:creationId xmlns:a16="http://schemas.microsoft.com/office/drawing/2014/main" id="{DAEC168D-CFD9-8D47-93D8-CFA1AD98D94A}"/>
              </a:ext>
            </a:extLst>
          </p:cNvPr>
          <p:cNvSpPr>
            <a:spLocks noGrp="1" noChangeArrowheads="1"/>
          </p:cNvSpPr>
          <p:nvPr>
            <p:ph type="title"/>
          </p:nvPr>
        </p:nvSpPr>
        <p:spPr/>
        <p:txBody>
          <a:bodyPr/>
          <a:lstStyle/>
          <a:p>
            <a:pPr eaLnBrk="1" hangingPunct="1"/>
            <a:r>
              <a:rPr lang="en-US" altLang="en-US"/>
              <a:t>Design Issues</a:t>
            </a:r>
          </a:p>
        </p:txBody>
      </p:sp>
      <p:sp>
        <p:nvSpPr>
          <p:cNvPr id="16389" name="Rectangle 3">
            <a:extLst>
              <a:ext uri="{FF2B5EF4-FFF2-40B4-BE49-F238E27FC236}">
                <a16:creationId xmlns:a16="http://schemas.microsoft.com/office/drawing/2014/main" id="{E0A725DD-477D-BD4C-BEAA-7426BA524536}"/>
              </a:ext>
            </a:extLst>
          </p:cNvPr>
          <p:cNvSpPr>
            <a:spLocks noGrp="1" noChangeArrowheads="1"/>
          </p:cNvSpPr>
          <p:nvPr>
            <p:ph type="body" idx="1"/>
          </p:nvPr>
        </p:nvSpPr>
        <p:spPr/>
        <p:txBody>
          <a:bodyPr/>
          <a:lstStyle/>
          <a:p>
            <a:pPr eaLnBrk="1" hangingPunct="1">
              <a:lnSpc>
                <a:spcPct val="90000"/>
              </a:lnSpc>
            </a:pPr>
            <a:r>
              <a:rPr lang="en-US" altLang="en-US"/>
              <a:t>How and where are exception handlers specified and what is their scope?</a:t>
            </a:r>
          </a:p>
          <a:p>
            <a:pPr eaLnBrk="1" hangingPunct="1">
              <a:lnSpc>
                <a:spcPct val="90000"/>
              </a:lnSpc>
            </a:pPr>
            <a:r>
              <a:rPr lang="en-US" altLang="en-US"/>
              <a:t>How is an exception occurrence bound to an exception handler?</a:t>
            </a:r>
          </a:p>
          <a:p>
            <a:pPr eaLnBrk="1" hangingPunct="1">
              <a:lnSpc>
                <a:spcPct val="90000"/>
              </a:lnSpc>
            </a:pPr>
            <a:r>
              <a:rPr lang="en-US" altLang="en-US"/>
              <a:t>Can information about the exception be passed to the handler?</a:t>
            </a:r>
          </a:p>
          <a:p>
            <a:pPr eaLnBrk="1" hangingPunct="1">
              <a:lnSpc>
                <a:spcPct val="90000"/>
              </a:lnSpc>
            </a:pPr>
            <a:r>
              <a:rPr lang="en-US" altLang="en-US"/>
              <a:t>Where does execution continue, if at all, after an exception handler completes its execution? (continuation vs. resumption)</a:t>
            </a:r>
          </a:p>
          <a:p>
            <a:pPr eaLnBrk="1" hangingPunct="1">
              <a:lnSpc>
                <a:spcPct val="90000"/>
              </a:lnSpc>
            </a:pPr>
            <a:r>
              <a:rPr lang="en-US" altLang="en-US"/>
              <a:t>Is some form of finalization provided?</a:t>
            </a:r>
          </a:p>
        </p:txBody>
      </p:sp>
    </p:spTree>
    <p:extLst>
      <p:ext uri="{BB962C8B-B14F-4D97-AF65-F5344CB8AC3E}">
        <p14:creationId xmlns:p14="http://schemas.microsoft.com/office/powerpoint/2010/main" val="224430444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a:extLst>
              <a:ext uri="{FF2B5EF4-FFF2-40B4-BE49-F238E27FC236}">
                <a16:creationId xmlns:a16="http://schemas.microsoft.com/office/drawing/2014/main" id="{2CF7B75D-2EB6-E349-9938-7F2B6D4CC33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18435" name="Slide Number Placeholder 4">
            <a:extLst>
              <a:ext uri="{FF2B5EF4-FFF2-40B4-BE49-F238E27FC236}">
                <a16:creationId xmlns:a16="http://schemas.microsoft.com/office/drawing/2014/main" id="{A5E964EC-7CCD-0345-A307-D0B9BED00DD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12F8737D-7CA2-0744-B8BB-A0ADE0D37250}" type="slidenum">
              <a:rPr lang="en-US" altLang="en-US" sz="1000" smtClean="0">
                <a:solidFill>
                  <a:schemeClr val="tx1"/>
                </a:solidFill>
                <a:latin typeface="Arial" panose="020B0604020202020204" pitchFamily="34" charset="0"/>
              </a:rPr>
              <a:pPr>
                <a:spcBef>
                  <a:spcPct val="0"/>
                </a:spcBef>
                <a:buFontTx/>
                <a:buNone/>
              </a:pPr>
              <a:t>114</a:t>
            </a:fld>
            <a:endParaRPr lang="en-US" altLang="en-US" sz="1000">
              <a:solidFill>
                <a:schemeClr val="tx1"/>
              </a:solidFill>
              <a:latin typeface="Arial" panose="020B0604020202020204" pitchFamily="34" charset="0"/>
            </a:endParaRPr>
          </a:p>
        </p:txBody>
      </p:sp>
      <p:sp>
        <p:nvSpPr>
          <p:cNvPr id="18436" name="Rectangle 2">
            <a:extLst>
              <a:ext uri="{FF2B5EF4-FFF2-40B4-BE49-F238E27FC236}">
                <a16:creationId xmlns:a16="http://schemas.microsoft.com/office/drawing/2014/main" id="{FF9A6595-D3CB-FD42-A5E2-3CFA1F9573E0}"/>
              </a:ext>
            </a:extLst>
          </p:cNvPr>
          <p:cNvSpPr>
            <a:spLocks noGrp="1" noChangeArrowheads="1"/>
          </p:cNvSpPr>
          <p:nvPr>
            <p:ph type="title"/>
          </p:nvPr>
        </p:nvSpPr>
        <p:spPr/>
        <p:txBody>
          <a:bodyPr/>
          <a:lstStyle/>
          <a:p>
            <a:pPr eaLnBrk="1" hangingPunct="1"/>
            <a:r>
              <a:rPr lang="en-US" altLang="en-US"/>
              <a:t>Design Issues </a:t>
            </a:r>
            <a:r>
              <a:rPr lang="en-US" altLang="en-US" sz="2800"/>
              <a:t>(continued)</a:t>
            </a:r>
          </a:p>
        </p:txBody>
      </p:sp>
      <p:sp>
        <p:nvSpPr>
          <p:cNvPr id="18437" name="Rectangle 3">
            <a:extLst>
              <a:ext uri="{FF2B5EF4-FFF2-40B4-BE49-F238E27FC236}">
                <a16:creationId xmlns:a16="http://schemas.microsoft.com/office/drawing/2014/main" id="{00A9E6C2-F8CC-194B-825C-A86358D8C5FD}"/>
              </a:ext>
            </a:extLst>
          </p:cNvPr>
          <p:cNvSpPr>
            <a:spLocks noGrp="1" noChangeArrowheads="1"/>
          </p:cNvSpPr>
          <p:nvPr>
            <p:ph type="body" idx="1"/>
          </p:nvPr>
        </p:nvSpPr>
        <p:spPr/>
        <p:txBody>
          <a:bodyPr/>
          <a:lstStyle/>
          <a:p>
            <a:pPr eaLnBrk="1" hangingPunct="1"/>
            <a:r>
              <a:rPr lang="en-US" altLang="en-US"/>
              <a:t>How are user-defined exceptions specified?</a:t>
            </a:r>
          </a:p>
          <a:p>
            <a:pPr eaLnBrk="1" hangingPunct="1"/>
            <a:r>
              <a:rPr lang="en-US" altLang="en-US"/>
              <a:t>Should there be default exception handlers for programs that do not provide their own?</a:t>
            </a:r>
          </a:p>
          <a:p>
            <a:pPr eaLnBrk="1" hangingPunct="1"/>
            <a:r>
              <a:rPr lang="en-US" altLang="en-US"/>
              <a:t>Can predefined exceptions be explicitly raised?</a:t>
            </a:r>
          </a:p>
          <a:p>
            <a:pPr eaLnBrk="1" hangingPunct="1"/>
            <a:r>
              <a:rPr lang="en-US" altLang="en-US"/>
              <a:t>Are hardware-detectable errors treated as exceptions that can be handled?</a:t>
            </a:r>
          </a:p>
          <a:p>
            <a:pPr eaLnBrk="1" hangingPunct="1"/>
            <a:r>
              <a:rPr lang="en-US" altLang="en-US"/>
              <a:t>Are there any predefined exceptions?</a:t>
            </a:r>
          </a:p>
          <a:p>
            <a:pPr eaLnBrk="1" hangingPunct="1"/>
            <a:r>
              <a:rPr lang="en-US" altLang="en-US"/>
              <a:t>How can exceptions be disabled, if at all?   </a:t>
            </a:r>
          </a:p>
        </p:txBody>
      </p:sp>
    </p:spTree>
    <p:extLst>
      <p:ext uri="{BB962C8B-B14F-4D97-AF65-F5344CB8AC3E}">
        <p14:creationId xmlns:p14="http://schemas.microsoft.com/office/powerpoint/2010/main" val="98843417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2">
            <a:extLst>
              <a:ext uri="{FF2B5EF4-FFF2-40B4-BE49-F238E27FC236}">
                <a16:creationId xmlns:a16="http://schemas.microsoft.com/office/drawing/2014/main" id="{9576B425-97EC-374F-BDDC-1C8739A90CB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20483" name="Slide Number Placeholder 3">
            <a:extLst>
              <a:ext uri="{FF2B5EF4-FFF2-40B4-BE49-F238E27FC236}">
                <a16:creationId xmlns:a16="http://schemas.microsoft.com/office/drawing/2014/main" id="{23D19CF0-AA99-EC4C-8705-E93C46859C0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BC7B9565-BA95-6A4F-BCEF-7D21188DD82E}" type="slidenum">
              <a:rPr lang="en-US" altLang="en-US" sz="1000" smtClean="0">
                <a:solidFill>
                  <a:schemeClr val="tx1"/>
                </a:solidFill>
                <a:latin typeface="Arial" panose="020B0604020202020204" pitchFamily="34" charset="0"/>
              </a:rPr>
              <a:pPr>
                <a:spcBef>
                  <a:spcPct val="0"/>
                </a:spcBef>
                <a:buFontTx/>
                <a:buNone/>
              </a:pPr>
              <a:t>115</a:t>
            </a:fld>
            <a:endParaRPr lang="en-US" altLang="en-US" sz="1000">
              <a:solidFill>
                <a:schemeClr val="tx1"/>
              </a:solidFill>
              <a:latin typeface="Arial" panose="020B0604020202020204" pitchFamily="34" charset="0"/>
            </a:endParaRPr>
          </a:p>
        </p:txBody>
      </p:sp>
      <p:sp>
        <p:nvSpPr>
          <p:cNvPr id="20484" name="Rectangle 5">
            <a:extLst>
              <a:ext uri="{FF2B5EF4-FFF2-40B4-BE49-F238E27FC236}">
                <a16:creationId xmlns:a16="http://schemas.microsoft.com/office/drawing/2014/main" id="{B1D7F289-4AB6-394C-BEDB-B7862362EAE7}"/>
              </a:ext>
            </a:extLst>
          </p:cNvPr>
          <p:cNvSpPr>
            <a:spLocks noGrp="1" noChangeArrowheads="1"/>
          </p:cNvSpPr>
          <p:nvPr>
            <p:ph type="title"/>
          </p:nvPr>
        </p:nvSpPr>
        <p:spPr/>
        <p:txBody>
          <a:bodyPr/>
          <a:lstStyle/>
          <a:p>
            <a:pPr eaLnBrk="1" hangingPunct="1"/>
            <a:r>
              <a:rPr lang="en-US" altLang="en-US"/>
              <a:t>Exception Handling Control Flow</a:t>
            </a:r>
          </a:p>
        </p:txBody>
      </p:sp>
      <p:pic>
        <p:nvPicPr>
          <p:cNvPr id="20485" name="Picture 1">
            <a:extLst>
              <a:ext uri="{FF2B5EF4-FFF2-40B4-BE49-F238E27FC236}">
                <a16:creationId xmlns:a16="http://schemas.microsoft.com/office/drawing/2014/main" id="{51DCE135-D7EB-C44F-8FB9-50DBE39E92BE}"/>
              </a:ext>
            </a:extLst>
          </p:cNvPr>
          <p:cNvPicPr>
            <a:picLocks noChangeAspect="1"/>
          </p:cNvPicPr>
          <p:nvPr/>
        </p:nvPicPr>
        <p:blipFill>
          <a:blip r:embed="rId3">
            <a:extLst>
              <a:ext uri="{28A0092B-C50C-407E-A947-70E740481C1C}">
                <a14:useLocalDpi xmlns:a14="http://schemas.microsoft.com/office/drawing/2010/main" val="0"/>
              </a:ext>
            </a:extLst>
          </a:blip>
          <a:srcRect l="52922" r="-316" b="56213"/>
          <a:stretch>
            <a:fillRect/>
          </a:stretch>
        </p:blipFill>
        <p:spPr bwMode="auto">
          <a:xfrm>
            <a:off x="1066800" y="1371600"/>
            <a:ext cx="6858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44215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a:extLst>
              <a:ext uri="{FF2B5EF4-FFF2-40B4-BE49-F238E27FC236}">
                <a16:creationId xmlns:a16="http://schemas.microsoft.com/office/drawing/2014/main" id="{C2E71330-D0D8-614D-8B56-D154FB30860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22531" name="Slide Number Placeholder 4">
            <a:extLst>
              <a:ext uri="{FF2B5EF4-FFF2-40B4-BE49-F238E27FC236}">
                <a16:creationId xmlns:a16="http://schemas.microsoft.com/office/drawing/2014/main" id="{25E2A6CD-E4CB-6842-9A1F-F4ED43DCDE8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2162370A-84A3-4044-A609-D7708256BC9D}" type="slidenum">
              <a:rPr lang="en-US" altLang="en-US" sz="1000" smtClean="0">
                <a:solidFill>
                  <a:schemeClr val="tx1"/>
                </a:solidFill>
                <a:latin typeface="Arial" panose="020B0604020202020204" pitchFamily="34" charset="0"/>
              </a:rPr>
              <a:pPr>
                <a:spcBef>
                  <a:spcPct val="0"/>
                </a:spcBef>
                <a:buFontTx/>
                <a:buNone/>
              </a:pPr>
              <a:t>116</a:t>
            </a:fld>
            <a:endParaRPr lang="en-US" altLang="en-US" sz="1000">
              <a:solidFill>
                <a:schemeClr val="tx1"/>
              </a:solidFill>
              <a:latin typeface="Arial" panose="020B0604020202020204" pitchFamily="34" charset="0"/>
            </a:endParaRPr>
          </a:p>
        </p:txBody>
      </p:sp>
      <p:sp>
        <p:nvSpPr>
          <p:cNvPr id="22532" name="Rectangle 2">
            <a:extLst>
              <a:ext uri="{FF2B5EF4-FFF2-40B4-BE49-F238E27FC236}">
                <a16:creationId xmlns:a16="http://schemas.microsoft.com/office/drawing/2014/main" id="{38EE4195-00F2-B34E-A44C-DCADFB91EF91}"/>
              </a:ext>
            </a:extLst>
          </p:cNvPr>
          <p:cNvSpPr>
            <a:spLocks noGrp="1" noChangeArrowheads="1"/>
          </p:cNvSpPr>
          <p:nvPr>
            <p:ph type="title"/>
          </p:nvPr>
        </p:nvSpPr>
        <p:spPr/>
        <p:txBody>
          <a:bodyPr/>
          <a:lstStyle/>
          <a:p>
            <a:pPr eaLnBrk="1" hangingPunct="1"/>
            <a:r>
              <a:rPr lang="en-US" altLang="en-US"/>
              <a:t>Exception Handling in C++</a:t>
            </a:r>
          </a:p>
        </p:txBody>
      </p:sp>
      <p:sp>
        <p:nvSpPr>
          <p:cNvPr id="22533" name="Rectangle 3">
            <a:extLst>
              <a:ext uri="{FF2B5EF4-FFF2-40B4-BE49-F238E27FC236}">
                <a16:creationId xmlns:a16="http://schemas.microsoft.com/office/drawing/2014/main" id="{EC6CD514-CE19-9448-B0BD-1CD0E9D7BBC5}"/>
              </a:ext>
            </a:extLst>
          </p:cNvPr>
          <p:cNvSpPr>
            <a:spLocks noGrp="1" noChangeArrowheads="1"/>
          </p:cNvSpPr>
          <p:nvPr>
            <p:ph type="body" idx="1"/>
          </p:nvPr>
        </p:nvSpPr>
        <p:spPr/>
        <p:txBody>
          <a:bodyPr/>
          <a:lstStyle/>
          <a:p>
            <a:pPr eaLnBrk="1" hangingPunct="1"/>
            <a:r>
              <a:rPr lang="en-US" altLang="en-US"/>
              <a:t>Added to C++ in 1990</a:t>
            </a:r>
          </a:p>
          <a:p>
            <a:pPr eaLnBrk="1" hangingPunct="1"/>
            <a:r>
              <a:rPr lang="en-US" altLang="en-US"/>
              <a:t>Design is based on that of CLU, Ada, and ML</a:t>
            </a:r>
          </a:p>
        </p:txBody>
      </p:sp>
    </p:spTree>
    <p:extLst>
      <p:ext uri="{BB962C8B-B14F-4D97-AF65-F5344CB8AC3E}">
        <p14:creationId xmlns:p14="http://schemas.microsoft.com/office/powerpoint/2010/main" val="41565275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a:extLst>
              <a:ext uri="{FF2B5EF4-FFF2-40B4-BE49-F238E27FC236}">
                <a16:creationId xmlns:a16="http://schemas.microsoft.com/office/drawing/2014/main" id="{F962BA03-0AC2-0747-A01F-9D0D8469AD9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24579" name="Slide Number Placeholder 4">
            <a:extLst>
              <a:ext uri="{FF2B5EF4-FFF2-40B4-BE49-F238E27FC236}">
                <a16:creationId xmlns:a16="http://schemas.microsoft.com/office/drawing/2014/main" id="{0BC86830-52F5-354C-828B-233C045F3F9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F057B90E-DF8B-224E-B615-14CDFDBCC524}" type="slidenum">
              <a:rPr lang="en-US" altLang="en-US" sz="1000" smtClean="0">
                <a:solidFill>
                  <a:schemeClr val="tx1"/>
                </a:solidFill>
                <a:latin typeface="Arial" panose="020B0604020202020204" pitchFamily="34" charset="0"/>
              </a:rPr>
              <a:pPr>
                <a:spcBef>
                  <a:spcPct val="0"/>
                </a:spcBef>
                <a:buFontTx/>
                <a:buNone/>
              </a:pPr>
              <a:t>117</a:t>
            </a:fld>
            <a:endParaRPr lang="en-US" altLang="en-US" sz="1000">
              <a:solidFill>
                <a:schemeClr val="tx1"/>
              </a:solidFill>
              <a:latin typeface="Arial" panose="020B0604020202020204" pitchFamily="34" charset="0"/>
            </a:endParaRPr>
          </a:p>
        </p:txBody>
      </p:sp>
      <p:sp>
        <p:nvSpPr>
          <p:cNvPr id="24580" name="Rectangle 2">
            <a:extLst>
              <a:ext uri="{FF2B5EF4-FFF2-40B4-BE49-F238E27FC236}">
                <a16:creationId xmlns:a16="http://schemas.microsoft.com/office/drawing/2014/main" id="{410CE229-C78D-7E4B-AA22-99F31527ADBC}"/>
              </a:ext>
            </a:extLst>
          </p:cNvPr>
          <p:cNvSpPr>
            <a:spLocks noGrp="1" noChangeArrowheads="1"/>
          </p:cNvSpPr>
          <p:nvPr>
            <p:ph type="title"/>
          </p:nvPr>
        </p:nvSpPr>
        <p:spPr/>
        <p:txBody>
          <a:bodyPr/>
          <a:lstStyle/>
          <a:p>
            <a:pPr eaLnBrk="1" hangingPunct="1"/>
            <a:r>
              <a:rPr lang="en-US" altLang="en-US"/>
              <a:t>C++ Exception Handlers</a:t>
            </a:r>
          </a:p>
        </p:txBody>
      </p:sp>
      <p:sp>
        <p:nvSpPr>
          <p:cNvPr id="24581" name="Rectangle 3">
            <a:extLst>
              <a:ext uri="{FF2B5EF4-FFF2-40B4-BE49-F238E27FC236}">
                <a16:creationId xmlns:a16="http://schemas.microsoft.com/office/drawing/2014/main" id="{89B5CC1F-E76B-9548-82EE-03E4A7C05457}"/>
              </a:ext>
            </a:extLst>
          </p:cNvPr>
          <p:cNvSpPr>
            <a:spLocks noGrp="1" noChangeArrowheads="1"/>
          </p:cNvSpPr>
          <p:nvPr>
            <p:ph type="body" idx="1"/>
          </p:nvPr>
        </p:nvSpPr>
        <p:spPr/>
        <p:txBody>
          <a:bodyPr/>
          <a:lstStyle/>
          <a:p>
            <a:pPr eaLnBrk="1" hangingPunct="1"/>
            <a:r>
              <a:rPr lang="en-US" altLang="en-US" sz="2400"/>
              <a:t>Exception Handlers Form:</a:t>
            </a:r>
          </a:p>
          <a:p>
            <a:pPr eaLnBrk="1" hangingPunct="1">
              <a:spcBef>
                <a:spcPct val="0"/>
              </a:spcBef>
              <a:buFontTx/>
              <a:buNone/>
            </a:pPr>
            <a:r>
              <a:rPr lang="en-US" altLang="en-US" sz="2400" b="1">
                <a:latin typeface="Courier New" panose="02070309020205020404" pitchFamily="49" charset="0"/>
              </a:rPr>
              <a:t>	try</a:t>
            </a:r>
            <a:r>
              <a:rPr lang="en-US" altLang="en-US" sz="2400">
                <a:latin typeface="Courier New" panose="02070309020205020404" pitchFamily="49" charset="0"/>
              </a:rPr>
              <a:t> {</a:t>
            </a:r>
          </a:p>
          <a:p>
            <a:pPr eaLnBrk="1" hangingPunct="1">
              <a:spcBef>
                <a:spcPct val="0"/>
              </a:spcBef>
              <a:buFontTx/>
              <a:buNone/>
            </a:pPr>
            <a:r>
              <a:rPr lang="en-US" altLang="en-US" sz="2400"/>
              <a:t>	-- code that is expected to raise an exception</a:t>
            </a:r>
          </a:p>
          <a:p>
            <a:pPr eaLnBrk="1" hangingPunct="1">
              <a:spcBef>
                <a:spcPct val="0"/>
              </a:spcBef>
              <a:buFontTx/>
              <a:buNone/>
            </a:pPr>
            <a:r>
              <a:rPr lang="en-US" altLang="en-US" sz="2400">
                <a:latin typeface="Courier New" panose="02070309020205020404" pitchFamily="49" charset="0"/>
              </a:rPr>
              <a:t>	}</a:t>
            </a:r>
          </a:p>
          <a:p>
            <a:pPr eaLnBrk="1" hangingPunct="1">
              <a:spcBef>
                <a:spcPct val="0"/>
              </a:spcBef>
              <a:buFontTx/>
              <a:buNone/>
            </a:pPr>
            <a:r>
              <a:rPr lang="en-US" altLang="en-US" sz="2400">
                <a:latin typeface="Courier New" panose="02070309020205020404" pitchFamily="49" charset="0"/>
              </a:rPr>
              <a:t>	</a:t>
            </a:r>
            <a:r>
              <a:rPr lang="en-US" altLang="en-US" sz="2400" b="1">
                <a:latin typeface="Courier New" panose="02070309020205020404" pitchFamily="49" charset="0"/>
              </a:rPr>
              <a:t>catch</a:t>
            </a:r>
            <a:r>
              <a:rPr lang="en-US" altLang="en-US" sz="2400">
                <a:latin typeface="Courier New" panose="02070309020205020404" pitchFamily="49" charset="0"/>
              </a:rPr>
              <a:t> (</a:t>
            </a:r>
            <a:r>
              <a:rPr lang="en-US" altLang="en-US" sz="2000" i="1"/>
              <a:t>formal parameter</a:t>
            </a:r>
            <a:r>
              <a:rPr lang="en-US" altLang="en-US" sz="2400">
                <a:latin typeface="Courier New" panose="02070309020205020404" pitchFamily="49" charset="0"/>
              </a:rPr>
              <a:t>) {</a:t>
            </a:r>
          </a:p>
          <a:p>
            <a:pPr eaLnBrk="1" hangingPunct="1">
              <a:spcBef>
                <a:spcPct val="0"/>
              </a:spcBef>
              <a:buFontTx/>
              <a:buNone/>
            </a:pPr>
            <a:r>
              <a:rPr lang="en-US" altLang="en-US" sz="2400"/>
              <a:t>	-- </a:t>
            </a:r>
            <a:r>
              <a:rPr lang="en-US" altLang="en-US" sz="2000" i="1"/>
              <a:t>handler code</a:t>
            </a:r>
          </a:p>
          <a:p>
            <a:pPr eaLnBrk="1" hangingPunct="1">
              <a:spcBef>
                <a:spcPct val="0"/>
              </a:spcBef>
              <a:buFontTx/>
              <a:buNone/>
            </a:pPr>
            <a:r>
              <a:rPr lang="en-US" altLang="en-US" sz="2400">
                <a:latin typeface="Courier New" panose="02070309020205020404" pitchFamily="49" charset="0"/>
              </a:rPr>
              <a:t>	}</a:t>
            </a:r>
          </a:p>
          <a:p>
            <a:pPr eaLnBrk="1" hangingPunct="1">
              <a:spcBef>
                <a:spcPct val="0"/>
              </a:spcBef>
              <a:buFontTx/>
              <a:buNone/>
            </a:pPr>
            <a:r>
              <a:rPr lang="en-US" altLang="en-US" sz="2400">
                <a:latin typeface="Courier New" panose="02070309020205020404" pitchFamily="49" charset="0"/>
              </a:rPr>
              <a:t>	...</a:t>
            </a:r>
          </a:p>
          <a:p>
            <a:pPr eaLnBrk="1" hangingPunct="1">
              <a:spcBef>
                <a:spcPct val="0"/>
              </a:spcBef>
              <a:buFontTx/>
              <a:buNone/>
            </a:pPr>
            <a:r>
              <a:rPr lang="en-US" altLang="en-US" sz="2400">
                <a:latin typeface="Courier New" panose="02070309020205020404" pitchFamily="49" charset="0"/>
              </a:rPr>
              <a:t>	</a:t>
            </a:r>
            <a:r>
              <a:rPr lang="en-US" altLang="en-US" sz="2400" b="1">
                <a:latin typeface="Courier New" panose="02070309020205020404" pitchFamily="49" charset="0"/>
              </a:rPr>
              <a:t>catch</a:t>
            </a:r>
            <a:r>
              <a:rPr lang="en-US" altLang="en-US" sz="2400">
                <a:latin typeface="Courier New" panose="02070309020205020404" pitchFamily="49" charset="0"/>
              </a:rPr>
              <a:t> (</a:t>
            </a:r>
            <a:r>
              <a:rPr lang="en-US" altLang="en-US" sz="2000" i="1"/>
              <a:t>formal parameter</a:t>
            </a:r>
            <a:r>
              <a:rPr lang="en-US" altLang="en-US" sz="2400">
                <a:latin typeface="Courier New" panose="02070309020205020404" pitchFamily="49" charset="0"/>
              </a:rPr>
              <a:t>) {</a:t>
            </a:r>
          </a:p>
          <a:p>
            <a:pPr eaLnBrk="1" hangingPunct="1">
              <a:spcBef>
                <a:spcPct val="0"/>
              </a:spcBef>
              <a:buFontTx/>
              <a:buNone/>
            </a:pPr>
            <a:r>
              <a:rPr lang="en-US" altLang="en-US" sz="2400"/>
              <a:t>	-- </a:t>
            </a:r>
            <a:r>
              <a:rPr lang="en-US" altLang="en-US" sz="2000" i="1"/>
              <a:t>handler code</a:t>
            </a:r>
          </a:p>
          <a:p>
            <a:pPr eaLnBrk="1" hangingPunct="1">
              <a:spcBef>
                <a:spcPct val="0"/>
              </a:spcBef>
              <a:buFontTx/>
              <a:buNone/>
            </a:pPr>
            <a:r>
              <a:rPr lang="en-US" altLang="en-US" sz="2400">
                <a:latin typeface="Courier New" panose="02070309020205020404" pitchFamily="49" charset="0"/>
              </a:rPr>
              <a:t>	}</a:t>
            </a:r>
          </a:p>
        </p:txBody>
      </p:sp>
    </p:spTree>
    <p:extLst>
      <p:ext uri="{BB962C8B-B14F-4D97-AF65-F5344CB8AC3E}">
        <p14:creationId xmlns:p14="http://schemas.microsoft.com/office/powerpoint/2010/main" val="1073658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a:extLst>
              <a:ext uri="{FF2B5EF4-FFF2-40B4-BE49-F238E27FC236}">
                <a16:creationId xmlns:a16="http://schemas.microsoft.com/office/drawing/2014/main" id="{88C3B60C-C943-F44C-86F6-E39F62B783A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26627" name="Slide Number Placeholder 4">
            <a:extLst>
              <a:ext uri="{FF2B5EF4-FFF2-40B4-BE49-F238E27FC236}">
                <a16:creationId xmlns:a16="http://schemas.microsoft.com/office/drawing/2014/main" id="{96BC4F5E-C05A-DF4B-9A91-59CF6ACF1D3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69F8968A-4DA9-DE46-93EB-ACD5B99A5BDB}" type="slidenum">
              <a:rPr lang="en-US" altLang="en-US" sz="1000" smtClean="0">
                <a:solidFill>
                  <a:schemeClr val="tx1"/>
                </a:solidFill>
                <a:latin typeface="Arial" panose="020B0604020202020204" pitchFamily="34" charset="0"/>
              </a:rPr>
              <a:pPr>
                <a:spcBef>
                  <a:spcPct val="0"/>
                </a:spcBef>
                <a:buFontTx/>
                <a:buNone/>
              </a:pPr>
              <a:t>118</a:t>
            </a:fld>
            <a:endParaRPr lang="en-US" altLang="en-US" sz="1000">
              <a:solidFill>
                <a:schemeClr val="tx1"/>
              </a:solidFill>
              <a:latin typeface="Arial" panose="020B0604020202020204" pitchFamily="34" charset="0"/>
            </a:endParaRPr>
          </a:p>
        </p:txBody>
      </p:sp>
      <p:sp>
        <p:nvSpPr>
          <p:cNvPr id="26628" name="Rectangle 2">
            <a:extLst>
              <a:ext uri="{FF2B5EF4-FFF2-40B4-BE49-F238E27FC236}">
                <a16:creationId xmlns:a16="http://schemas.microsoft.com/office/drawing/2014/main" id="{BDB98FDB-2A11-594D-8581-10D0D30B0937}"/>
              </a:ext>
            </a:extLst>
          </p:cNvPr>
          <p:cNvSpPr>
            <a:spLocks noGrp="1" noChangeArrowheads="1"/>
          </p:cNvSpPr>
          <p:nvPr>
            <p:ph type="title"/>
          </p:nvPr>
        </p:nvSpPr>
        <p:spPr/>
        <p:txBody>
          <a:bodyPr/>
          <a:lstStyle/>
          <a:p>
            <a:pPr eaLnBrk="1" hangingPunct="1"/>
            <a:r>
              <a:rPr lang="en-US" altLang="en-US"/>
              <a:t>The </a:t>
            </a:r>
            <a:r>
              <a:rPr lang="en-US" altLang="en-US" b="1">
                <a:latin typeface="Courier New" panose="02070309020205020404" pitchFamily="49" charset="0"/>
              </a:rPr>
              <a:t>catch</a:t>
            </a:r>
            <a:r>
              <a:rPr lang="en-US" altLang="en-US"/>
              <a:t> Function</a:t>
            </a:r>
          </a:p>
        </p:txBody>
      </p:sp>
      <p:sp>
        <p:nvSpPr>
          <p:cNvPr id="26629" name="Rectangle 3">
            <a:extLst>
              <a:ext uri="{FF2B5EF4-FFF2-40B4-BE49-F238E27FC236}">
                <a16:creationId xmlns:a16="http://schemas.microsoft.com/office/drawing/2014/main" id="{96EF2F3E-8FD8-2041-B0ED-14C0F1A78AFF}"/>
              </a:ext>
            </a:extLst>
          </p:cNvPr>
          <p:cNvSpPr>
            <a:spLocks noGrp="1" noChangeArrowheads="1"/>
          </p:cNvSpPr>
          <p:nvPr>
            <p:ph type="body" idx="1"/>
          </p:nvPr>
        </p:nvSpPr>
        <p:spPr>
          <a:xfrm>
            <a:off x="609600" y="1524000"/>
            <a:ext cx="8153400" cy="4572000"/>
          </a:xfrm>
        </p:spPr>
        <p:txBody>
          <a:bodyPr/>
          <a:lstStyle/>
          <a:p>
            <a:pPr eaLnBrk="1" hangingPunct="1">
              <a:lnSpc>
                <a:spcPct val="90000"/>
              </a:lnSpc>
            </a:pPr>
            <a:r>
              <a:rPr lang="en-US" altLang="en-US" b="1">
                <a:latin typeface="Courier New" panose="02070309020205020404" pitchFamily="49" charset="0"/>
              </a:rPr>
              <a:t>catch</a:t>
            </a:r>
            <a:r>
              <a:rPr lang="en-US" altLang="en-US"/>
              <a:t> is the name of all handlers--it is an overloaded name, so the formal parameter of each must be unique</a:t>
            </a:r>
          </a:p>
          <a:p>
            <a:pPr eaLnBrk="1" hangingPunct="1">
              <a:lnSpc>
                <a:spcPct val="90000"/>
              </a:lnSpc>
            </a:pPr>
            <a:r>
              <a:rPr lang="en-US" altLang="en-US"/>
              <a:t>The formal parameter need not have a variable</a:t>
            </a:r>
          </a:p>
          <a:p>
            <a:pPr lvl="1" eaLnBrk="1" hangingPunct="1">
              <a:lnSpc>
                <a:spcPct val="90000"/>
              </a:lnSpc>
            </a:pPr>
            <a:r>
              <a:rPr lang="en-US" altLang="en-US"/>
              <a:t>It can be simply a type name to distinguish the handler it is in from others</a:t>
            </a:r>
          </a:p>
          <a:p>
            <a:pPr eaLnBrk="1" hangingPunct="1">
              <a:lnSpc>
                <a:spcPct val="90000"/>
              </a:lnSpc>
            </a:pPr>
            <a:r>
              <a:rPr lang="en-US" altLang="en-US"/>
              <a:t>The formal parameter can be used to transfer information to the handler</a:t>
            </a:r>
          </a:p>
          <a:p>
            <a:pPr eaLnBrk="1" hangingPunct="1">
              <a:lnSpc>
                <a:spcPct val="90000"/>
              </a:lnSpc>
            </a:pPr>
            <a:r>
              <a:rPr lang="en-US" altLang="en-US"/>
              <a:t>The formal parameter can be an ellipsis, in which case it handles all exceptions not yet handled</a:t>
            </a:r>
          </a:p>
        </p:txBody>
      </p:sp>
    </p:spTree>
    <p:extLst>
      <p:ext uri="{BB962C8B-B14F-4D97-AF65-F5344CB8AC3E}">
        <p14:creationId xmlns:p14="http://schemas.microsoft.com/office/powerpoint/2010/main" val="262375498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a:extLst>
              <a:ext uri="{FF2B5EF4-FFF2-40B4-BE49-F238E27FC236}">
                <a16:creationId xmlns:a16="http://schemas.microsoft.com/office/drawing/2014/main" id="{C9CE1B93-8BC8-2746-9AB0-AA562E3101E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28675" name="Slide Number Placeholder 4">
            <a:extLst>
              <a:ext uri="{FF2B5EF4-FFF2-40B4-BE49-F238E27FC236}">
                <a16:creationId xmlns:a16="http://schemas.microsoft.com/office/drawing/2014/main" id="{706D339A-6887-1E4D-8AED-0727FB32ACD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AE2C080A-50D3-3745-A238-17DDC4E3BA38}" type="slidenum">
              <a:rPr lang="en-US" altLang="en-US" sz="1000" smtClean="0">
                <a:solidFill>
                  <a:schemeClr val="tx1"/>
                </a:solidFill>
                <a:latin typeface="Arial" panose="020B0604020202020204" pitchFamily="34" charset="0"/>
              </a:rPr>
              <a:pPr>
                <a:spcBef>
                  <a:spcPct val="0"/>
                </a:spcBef>
                <a:buFontTx/>
                <a:buNone/>
              </a:pPr>
              <a:t>119</a:t>
            </a:fld>
            <a:endParaRPr lang="en-US" altLang="en-US" sz="1000">
              <a:solidFill>
                <a:schemeClr val="tx1"/>
              </a:solidFill>
              <a:latin typeface="Arial" panose="020B0604020202020204" pitchFamily="34" charset="0"/>
            </a:endParaRPr>
          </a:p>
        </p:txBody>
      </p:sp>
      <p:sp>
        <p:nvSpPr>
          <p:cNvPr id="28676" name="Rectangle 2">
            <a:extLst>
              <a:ext uri="{FF2B5EF4-FFF2-40B4-BE49-F238E27FC236}">
                <a16:creationId xmlns:a16="http://schemas.microsoft.com/office/drawing/2014/main" id="{B5FCC283-2DED-134B-882B-36E284CF3766}"/>
              </a:ext>
            </a:extLst>
          </p:cNvPr>
          <p:cNvSpPr>
            <a:spLocks noGrp="1" noChangeArrowheads="1"/>
          </p:cNvSpPr>
          <p:nvPr>
            <p:ph type="title"/>
          </p:nvPr>
        </p:nvSpPr>
        <p:spPr/>
        <p:txBody>
          <a:bodyPr/>
          <a:lstStyle/>
          <a:p>
            <a:pPr eaLnBrk="1" hangingPunct="1"/>
            <a:r>
              <a:rPr lang="en-US" altLang="en-US"/>
              <a:t>Throwing Exceptions</a:t>
            </a:r>
          </a:p>
        </p:txBody>
      </p:sp>
      <p:sp>
        <p:nvSpPr>
          <p:cNvPr id="28677" name="Rectangle 3">
            <a:extLst>
              <a:ext uri="{FF2B5EF4-FFF2-40B4-BE49-F238E27FC236}">
                <a16:creationId xmlns:a16="http://schemas.microsoft.com/office/drawing/2014/main" id="{DC846431-E0FD-0A46-8846-48482F09F276}"/>
              </a:ext>
            </a:extLst>
          </p:cNvPr>
          <p:cNvSpPr>
            <a:spLocks noGrp="1" noChangeArrowheads="1"/>
          </p:cNvSpPr>
          <p:nvPr>
            <p:ph type="body" idx="1"/>
          </p:nvPr>
        </p:nvSpPr>
        <p:spPr/>
        <p:txBody>
          <a:bodyPr/>
          <a:lstStyle/>
          <a:p>
            <a:pPr eaLnBrk="1" hangingPunct="1"/>
            <a:r>
              <a:rPr lang="en-US" altLang="en-US"/>
              <a:t>Exceptions are all raised explicitly by the statement:</a:t>
            </a:r>
          </a:p>
          <a:p>
            <a:pPr eaLnBrk="1" hangingPunct="1">
              <a:buFontTx/>
              <a:buNone/>
            </a:pPr>
            <a:r>
              <a:rPr lang="en-US" altLang="en-US" b="1">
                <a:latin typeface="Courier New" panose="02070309020205020404" pitchFamily="49" charset="0"/>
              </a:rPr>
              <a:t>	throw</a:t>
            </a:r>
            <a:r>
              <a:rPr lang="en-US" altLang="en-US">
                <a:latin typeface="Courier New" panose="02070309020205020404" pitchFamily="49" charset="0"/>
              </a:rPr>
              <a:t> [</a:t>
            </a:r>
            <a:r>
              <a:rPr lang="en-US" altLang="en-US" sz="2400" i="1"/>
              <a:t>expression</a:t>
            </a:r>
            <a:r>
              <a:rPr lang="en-US" altLang="en-US">
                <a:latin typeface="Courier New" panose="02070309020205020404" pitchFamily="49" charset="0"/>
              </a:rPr>
              <a:t>];</a:t>
            </a:r>
            <a:endParaRPr lang="en-US" altLang="en-US"/>
          </a:p>
          <a:p>
            <a:pPr eaLnBrk="1" hangingPunct="1"/>
            <a:r>
              <a:rPr lang="en-US" altLang="en-US"/>
              <a:t>The brackets are metasymbols</a:t>
            </a:r>
          </a:p>
          <a:p>
            <a:pPr eaLnBrk="1" hangingPunct="1"/>
            <a:r>
              <a:rPr lang="en-US" altLang="en-US"/>
              <a:t>A </a:t>
            </a:r>
            <a:r>
              <a:rPr lang="en-US" altLang="en-US" b="1">
                <a:latin typeface="Courier New" panose="02070309020205020404" pitchFamily="49" charset="0"/>
              </a:rPr>
              <a:t>throw</a:t>
            </a:r>
            <a:r>
              <a:rPr lang="en-US" altLang="en-US"/>
              <a:t>  without an operand can only appear in a handler; when it appears, it simply re-raises the exception, which is then handled elsewhere</a:t>
            </a:r>
          </a:p>
          <a:p>
            <a:pPr eaLnBrk="1" hangingPunct="1"/>
            <a:r>
              <a:rPr lang="en-US" altLang="en-US"/>
              <a:t>The type of the expression disambiguates the intended handler</a:t>
            </a:r>
          </a:p>
        </p:txBody>
      </p:sp>
    </p:spTree>
    <p:extLst>
      <p:ext uri="{BB962C8B-B14F-4D97-AF65-F5344CB8AC3E}">
        <p14:creationId xmlns:p14="http://schemas.microsoft.com/office/powerpoint/2010/main" val="280628628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a:extLst>
              <a:ext uri="{FF2B5EF4-FFF2-40B4-BE49-F238E27FC236}">
                <a16:creationId xmlns:a16="http://schemas.microsoft.com/office/drawing/2014/main" id="{94555560-66A5-BE4D-95DC-5E3D493E160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30723" name="Slide Number Placeholder 4">
            <a:extLst>
              <a:ext uri="{FF2B5EF4-FFF2-40B4-BE49-F238E27FC236}">
                <a16:creationId xmlns:a16="http://schemas.microsoft.com/office/drawing/2014/main" id="{530B398A-BB8B-DE47-890D-AB659602B1E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DBA9ABAA-9711-5C42-8E90-5C6D833EB837}" type="slidenum">
              <a:rPr lang="en-US" altLang="en-US" sz="1000" smtClean="0">
                <a:solidFill>
                  <a:schemeClr val="tx1"/>
                </a:solidFill>
                <a:latin typeface="Arial" panose="020B0604020202020204" pitchFamily="34" charset="0"/>
              </a:rPr>
              <a:pPr>
                <a:spcBef>
                  <a:spcPct val="0"/>
                </a:spcBef>
                <a:buFontTx/>
                <a:buNone/>
              </a:pPr>
              <a:t>120</a:t>
            </a:fld>
            <a:endParaRPr lang="en-US" altLang="en-US" sz="1000">
              <a:solidFill>
                <a:schemeClr val="tx1"/>
              </a:solidFill>
              <a:latin typeface="Arial" panose="020B0604020202020204" pitchFamily="34" charset="0"/>
            </a:endParaRPr>
          </a:p>
        </p:txBody>
      </p:sp>
      <p:sp>
        <p:nvSpPr>
          <p:cNvPr id="30724" name="Rectangle 2">
            <a:extLst>
              <a:ext uri="{FF2B5EF4-FFF2-40B4-BE49-F238E27FC236}">
                <a16:creationId xmlns:a16="http://schemas.microsoft.com/office/drawing/2014/main" id="{24F6D973-A349-2341-8B2D-8FE87053E21C}"/>
              </a:ext>
            </a:extLst>
          </p:cNvPr>
          <p:cNvSpPr>
            <a:spLocks noGrp="1" noChangeArrowheads="1"/>
          </p:cNvSpPr>
          <p:nvPr>
            <p:ph type="title"/>
          </p:nvPr>
        </p:nvSpPr>
        <p:spPr/>
        <p:txBody>
          <a:bodyPr/>
          <a:lstStyle/>
          <a:p>
            <a:pPr eaLnBrk="1" hangingPunct="1"/>
            <a:r>
              <a:rPr lang="en-US" altLang="en-US"/>
              <a:t>Unhandled Exceptions</a:t>
            </a:r>
          </a:p>
        </p:txBody>
      </p:sp>
      <p:sp>
        <p:nvSpPr>
          <p:cNvPr id="30725" name="Rectangle 3">
            <a:extLst>
              <a:ext uri="{FF2B5EF4-FFF2-40B4-BE49-F238E27FC236}">
                <a16:creationId xmlns:a16="http://schemas.microsoft.com/office/drawing/2014/main" id="{93F8C8E3-7B92-D84C-ACDA-E43D5D457BA6}"/>
              </a:ext>
            </a:extLst>
          </p:cNvPr>
          <p:cNvSpPr>
            <a:spLocks noGrp="1" noChangeArrowheads="1"/>
          </p:cNvSpPr>
          <p:nvPr>
            <p:ph type="body" idx="1"/>
          </p:nvPr>
        </p:nvSpPr>
        <p:spPr/>
        <p:txBody>
          <a:bodyPr/>
          <a:lstStyle/>
          <a:p>
            <a:pPr eaLnBrk="1" hangingPunct="1"/>
            <a:r>
              <a:rPr lang="en-US" altLang="en-US"/>
              <a:t>An unhandled exception is propagated to the caller of the function in which it is raised</a:t>
            </a:r>
          </a:p>
          <a:p>
            <a:pPr eaLnBrk="1" hangingPunct="1"/>
            <a:r>
              <a:rPr lang="en-US" altLang="en-US"/>
              <a:t>This propagation continues to the main function</a:t>
            </a:r>
          </a:p>
          <a:p>
            <a:pPr eaLnBrk="1" hangingPunct="1"/>
            <a:r>
              <a:rPr lang="en-US" altLang="en-US"/>
              <a:t>If no handler is found, the default handler is called</a:t>
            </a:r>
          </a:p>
          <a:p>
            <a:pPr eaLnBrk="1" hangingPunct="1"/>
            <a:endParaRPr lang="en-US" altLang="en-US"/>
          </a:p>
        </p:txBody>
      </p:sp>
    </p:spTree>
    <p:extLst>
      <p:ext uri="{BB962C8B-B14F-4D97-AF65-F5344CB8AC3E}">
        <p14:creationId xmlns:p14="http://schemas.microsoft.com/office/powerpoint/2010/main" val="351024627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a:extLst>
              <a:ext uri="{FF2B5EF4-FFF2-40B4-BE49-F238E27FC236}">
                <a16:creationId xmlns:a16="http://schemas.microsoft.com/office/drawing/2014/main" id="{F250C03E-2BA0-B943-9AC5-6ADA75DE69F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32771" name="Slide Number Placeholder 4">
            <a:extLst>
              <a:ext uri="{FF2B5EF4-FFF2-40B4-BE49-F238E27FC236}">
                <a16:creationId xmlns:a16="http://schemas.microsoft.com/office/drawing/2014/main" id="{7E5F88A5-6AB7-D34E-8362-485189D7AB4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DDA718BD-441A-0A46-8DFB-61579B65494F}" type="slidenum">
              <a:rPr lang="en-US" altLang="en-US" sz="1000" smtClean="0">
                <a:solidFill>
                  <a:schemeClr val="tx1"/>
                </a:solidFill>
                <a:latin typeface="Arial" panose="020B0604020202020204" pitchFamily="34" charset="0"/>
              </a:rPr>
              <a:pPr>
                <a:spcBef>
                  <a:spcPct val="0"/>
                </a:spcBef>
                <a:buFontTx/>
                <a:buNone/>
              </a:pPr>
              <a:t>121</a:t>
            </a:fld>
            <a:endParaRPr lang="en-US" altLang="en-US" sz="1000">
              <a:solidFill>
                <a:schemeClr val="tx1"/>
              </a:solidFill>
              <a:latin typeface="Arial" panose="020B0604020202020204" pitchFamily="34" charset="0"/>
            </a:endParaRPr>
          </a:p>
        </p:txBody>
      </p:sp>
      <p:sp>
        <p:nvSpPr>
          <p:cNvPr id="32772" name="Rectangle 2">
            <a:extLst>
              <a:ext uri="{FF2B5EF4-FFF2-40B4-BE49-F238E27FC236}">
                <a16:creationId xmlns:a16="http://schemas.microsoft.com/office/drawing/2014/main" id="{9303BD96-71A7-6E4A-9E45-7CF75CC551F9}"/>
              </a:ext>
            </a:extLst>
          </p:cNvPr>
          <p:cNvSpPr>
            <a:spLocks noGrp="1" noChangeArrowheads="1"/>
          </p:cNvSpPr>
          <p:nvPr>
            <p:ph type="title"/>
          </p:nvPr>
        </p:nvSpPr>
        <p:spPr/>
        <p:txBody>
          <a:bodyPr/>
          <a:lstStyle/>
          <a:p>
            <a:pPr eaLnBrk="1" hangingPunct="1"/>
            <a:r>
              <a:rPr lang="en-US" altLang="en-US"/>
              <a:t>Continuation</a:t>
            </a:r>
          </a:p>
        </p:txBody>
      </p:sp>
      <p:sp>
        <p:nvSpPr>
          <p:cNvPr id="32773" name="Rectangle 3">
            <a:extLst>
              <a:ext uri="{FF2B5EF4-FFF2-40B4-BE49-F238E27FC236}">
                <a16:creationId xmlns:a16="http://schemas.microsoft.com/office/drawing/2014/main" id="{40205E84-FF87-A24D-8371-8AA98A886FB6}"/>
              </a:ext>
            </a:extLst>
          </p:cNvPr>
          <p:cNvSpPr>
            <a:spLocks noGrp="1" noChangeArrowheads="1"/>
          </p:cNvSpPr>
          <p:nvPr>
            <p:ph type="body" idx="1"/>
          </p:nvPr>
        </p:nvSpPr>
        <p:spPr>
          <a:xfrm>
            <a:off x="685800" y="1447800"/>
            <a:ext cx="8077200" cy="5105400"/>
          </a:xfrm>
        </p:spPr>
        <p:txBody>
          <a:bodyPr/>
          <a:lstStyle/>
          <a:p>
            <a:pPr eaLnBrk="1" hangingPunct="1">
              <a:lnSpc>
                <a:spcPct val="90000"/>
              </a:lnSpc>
            </a:pPr>
            <a:r>
              <a:rPr lang="en-US" altLang="en-US"/>
              <a:t>After a handler completes its execution, control flows to the first statement after the last handler in the sequence of handlers of which it is an element</a:t>
            </a:r>
          </a:p>
          <a:p>
            <a:pPr eaLnBrk="1" hangingPunct="1">
              <a:lnSpc>
                <a:spcPct val="90000"/>
              </a:lnSpc>
            </a:pPr>
            <a:r>
              <a:rPr lang="en-US" altLang="en-US"/>
              <a:t>Other design choices</a:t>
            </a:r>
          </a:p>
          <a:p>
            <a:pPr lvl="1" eaLnBrk="1" hangingPunct="1">
              <a:lnSpc>
                <a:spcPct val="90000"/>
              </a:lnSpc>
            </a:pPr>
            <a:r>
              <a:rPr lang="en-US" altLang="en-US"/>
              <a:t>All exceptions are user-defined</a:t>
            </a:r>
          </a:p>
          <a:p>
            <a:pPr lvl="1" eaLnBrk="1" hangingPunct="1">
              <a:lnSpc>
                <a:spcPct val="90000"/>
              </a:lnSpc>
            </a:pPr>
            <a:r>
              <a:rPr lang="en-US" altLang="en-US"/>
              <a:t>Exceptions are neither specified nor declared</a:t>
            </a:r>
          </a:p>
          <a:p>
            <a:pPr lvl="1" eaLnBrk="1" hangingPunct="1">
              <a:lnSpc>
                <a:spcPct val="90000"/>
              </a:lnSpc>
            </a:pPr>
            <a:r>
              <a:rPr lang="en-US" altLang="en-US"/>
              <a:t>The default handler, </a:t>
            </a:r>
            <a:r>
              <a:rPr lang="en-US" altLang="en-US" sz="2000">
                <a:latin typeface="Courier New" panose="02070309020205020404" pitchFamily="49" charset="0"/>
              </a:rPr>
              <a:t>unexpected</a:t>
            </a:r>
            <a:r>
              <a:rPr lang="en-US" altLang="en-US"/>
              <a:t>, simply terminates the program; </a:t>
            </a:r>
            <a:r>
              <a:rPr lang="en-US" altLang="en-US" sz="2000">
                <a:latin typeface="Courier New" panose="02070309020205020404" pitchFamily="49" charset="0"/>
              </a:rPr>
              <a:t>unexpected</a:t>
            </a:r>
            <a:r>
              <a:rPr lang="en-US" altLang="en-US"/>
              <a:t> can be redefined by the user</a:t>
            </a:r>
          </a:p>
          <a:p>
            <a:pPr lvl="1" eaLnBrk="1" hangingPunct="1">
              <a:lnSpc>
                <a:spcPct val="90000"/>
              </a:lnSpc>
            </a:pPr>
            <a:r>
              <a:rPr lang="en-US" altLang="en-US"/>
              <a:t>Functions can list the exceptions they may raise</a:t>
            </a:r>
          </a:p>
          <a:p>
            <a:pPr lvl="1" eaLnBrk="1" hangingPunct="1">
              <a:lnSpc>
                <a:spcPct val="90000"/>
              </a:lnSpc>
            </a:pPr>
            <a:r>
              <a:rPr lang="en-US" altLang="en-US"/>
              <a:t>Without a specification, a function can raise any exception (the </a:t>
            </a:r>
            <a:r>
              <a:rPr lang="en-US" altLang="en-US" b="1">
                <a:latin typeface="Courier New" panose="02070309020205020404" pitchFamily="49" charset="0"/>
              </a:rPr>
              <a:t>throw</a:t>
            </a:r>
            <a:r>
              <a:rPr lang="en-US" altLang="en-US"/>
              <a:t> clause)</a:t>
            </a:r>
          </a:p>
        </p:txBody>
      </p:sp>
    </p:spTree>
    <p:extLst>
      <p:ext uri="{BB962C8B-B14F-4D97-AF65-F5344CB8AC3E}">
        <p14:creationId xmlns:p14="http://schemas.microsoft.com/office/powerpoint/2010/main" val="74225488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a:extLst>
              <a:ext uri="{FF2B5EF4-FFF2-40B4-BE49-F238E27FC236}">
                <a16:creationId xmlns:a16="http://schemas.microsoft.com/office/drawing/2014/main" id="{9C2B3BFA-5812-E24A-9484-9796C7D5258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34819" name="Slide Number Placeholder 4">
            <a:extLst>
              <a:ext uri="{FF2B5EF4-FFF2-40B4-BE49-F238E27FC236}">
                <a16:creationId xmlns:a16="http://schemas.microsoft.com/office/drawing/2014/main" id="{EA12DC75-A7CE-C64B-93C9-D6152925045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778A27A6-FE31-724B-AD07-89DBC9BED98C}" type="slidenum">
              <a:rPr lang="en-US" altLang="en-US" sz="1000" smtClean="0">
                <a:solidFill>
                  <a:schemeClr val="tx1"/>
                </a:solidFill>
                <a:latin typeface="Arial" panose="020B0604020202020204" pitchFamily="34" charset="0"/>
              </a:rPr>
              <a:pPr>
                <a:spcBef>
                  <a:spcPct val="0"/>
                </a:spcBef>
                <a:buFontTx/>
                <a:buNone/>
              </a:pPr>
              <a:t>122</a:t>
            </a:fld>
            <a:endParaRPr lang="en-US" altLang="en-US" sz="1000">
              <a:solidFill>
                <a:schemeClr val="tx1"/>
              </a:solidFill>
              <a:latin typeface="Arial" panose="020B0604020202020204" pitchFamily="34" charset="0"/>
            </a:endParaRPr>
          </a:p>
        </p:txBody>
      </p:sp>
      <p:sp>
        <p:nvSpPr>
          <p:cNvPr id="34820" name="Rectangle 2">
            <a:extLst>
              <a:ext uri="{FF2B5EF4-FFF2-40B4-BE49-F238E27FC236}">
                <a16:creationId xmlns:a16="http://schemas.microsoft.com/office/drawing/2014/main" id="{9CAE8F9C-2FDA-144A-A79D-08759B84DE70}"/>
              </a:ext>
            </a:extLst>
          </p:cNvPr>
          <p:cNvSpPr>
            <a:spLocks noGrp="1" noChangeArrowheads="1"/>
          </p:cNvSpPr>
          <p:nvPr>
            <p:ph type="title"/>
          </p:nvPr>
        </p:nvSpPr>
        <p:spPr/>
        <p:txBody>
          <a:bodyPr/>
          <a:lstStyle/>
          <a:p>
            <a:pPr eaLnBrk="1" hangingPunct="1"/>
            <a:r>
              <a:rPr lang="en-US" altLang="en-US"/>
              <a:t>Evaluation</a:t>
            </a:r>
          </a:p>
        </p:txBody>
      </p:sp>
      <p:sp>
        <p:nvSpPr>
          <p:cNvPr id="34821" name="Rectangle 3">
            <a:extLst>
              <a:ext uri="{FF2B5EF4-FFF2-40B4-BE49-F238E27FC236}">
                <a16:creationId xmlns:a16="http://schemas.microsoft.com/office/drawing/2014/main" id="{C9535051-3969-AE4D-8CF0-0BE5C0823D11}"/>
              </a:ext>
            </a:extLst>
          </p:cNvPr>
          <p:cNvSpPr>
            <a:spLocks noGrp="1" noChangeArrowheads="1"/>
          </p:cNvSpPr>
          <p:nvPr>
            <p:ph type="body" idx="1"/>
          </p:nvPr>
        </p:nvSpPr>
        <p:spPr/>
        <p:txBody>
          <a:bodyPr/>
          <a:lstStyle/>
          <a:p>
            <a:pPr eaLnBrk="1" hangingPunct="1"/>
            <a:r>
              <a:rPr lang="en-US" altLang="en-US"/>
              <a:t>There are no predefined exceptions</a:t>
            </a:r>
          </a:p>
          <a:p>
            <a:pPr eaLnBrk="1" hangingPunct="1"/>
            <a:r>
              <a:rPr lang="en-US" altLang="en-US"/>
              <a:t>It is odd that exceptions are not named and that hardware- and system software-detectable exceptions cannot be handled</a:t>
            </a:r>
          </a:p>
          <a:p>
            <a:pPr eaLnBrk="1" hangingPunct="1"/>
            <a:r>
              <a:rPr lang="en-US" altLang="en-US"/>
              <a:t>Binding exceptions to handlers through the type of the parameter certainly does not promote readability</a:t>
            </a:r>
          </a:p>
        </p:txBody>
      </p:sp>
    </p:spTree>
    <p:extLst>
      <p:ext uri="{BB962C8B-B14F-4D97-AF65-F5344CB8AC3E}">
        <p14:creationId xmlns:p14="http://schemas.microsoft.com/office/powerpoint/2010/main" val="149804313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a:extLst>
              <a:ext uri="{FF2B5EF4-FFF2-40B4-BE49-F238E27FC236}">
                <a16:creationId xmlns:a16="http://schemas.microsoft.com/office/drawing/2014/main" id="{238AF235-39D9-264C-8F71-B97FDAE8B90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36867" name="Slide Number Placeholder 4">
            <a:extLst>
              <a:ext uri="{FF2B5EF4-FFF2-40B4-BE49-F238E27FC236}">
                <a16:creationId xmlns:a16="http://schemas.microsoft.com/office/drawing/2014/main" id="{14F5849E-2A53-AE49-800B-8B87358D7A2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FC9C55A4-D145-F14D-9EB3-C705C23CED34}" type="slidenum">
              <a:rPr lang="en-US" altLang="en-US" sz="1000" smtClean="0">
                <a:solidFill>
                  <a:schemeClr val="tx1"/>
                </a:solidFill>
                <a:latin typeface="Arial" panose="020B0604020202020204" pitchFamily="34" charset="0"/>
              </a:rPr>
              <a:pPr>
                <a:spcBef>
                  <a:spcPct val="0"/>
                </a:spcBef>
                <a:buFontTx/>
                <a:buNone/>
              </a:pPr>
              <a:t>123</a:t>
            </a:fld>
            <a:endParaRPr lang="en-US" altLang="en-US" sz="1000">
              <a:solidFill>
                <a:schemeClr val="tx1"/>
              </a:solidFill>
              <a:latin typeface="Arial" panose="020B0604020202020204" pitchFamily="34" charset="0"/>
            </a:endParaRPr>
          </a:p>
        </p:txBody>
      </p:sp>
      <p:sp>
        <p:nvSpPr>
          <p:cNvPr id="36868" name="Rectangle 2">
            <a:extLst>
              <a:ext uri="{FF2B5EF4-FFF2-40B4-BE49-F238E27FC236}">
                <a16:creationId xmlns:a16="http://schemas.microsoft.com/office/drawing/2014/main" id="{EADA3F43-FDE3-D943-8FA2-CE9B9BAAB055}"/>
              </a:ext>
            </a:extLst>
          </p:cNvPr>
          <p:cNvSpPr>
            <a:spLocks noGrp="1" noChangeArrowheads="1"/>
          </p:cNvSpPr>
          <p:nvPr>
            <p:ph type="title"/>
          </p:nvPr>
        </p:nvSpPr>
        <p:spPr/>
        <p:txBody>
          <a:bodyPr/>
          <a:lstStyle/>
          <a:p>
            <a:pPr eaLnBrk="1" hangingPunct="1"/>
            <a:r>
              <a:rPr lang="en-US" altLang="en-US"/>
              <a:t>Exception Handling in Java</a:t>
            </a:r>
          </a:p>
        </p:txBody>
      </p:sp>
      <p:sp>
        <p:nvSpPr>
          <p:cNvPr id="36869" name="Rectangle 3">
            <a:extLst>
              <a:ext uri="{FF2B5EF4-FFF2-40B4-BE49-F238E27FC236}">
                <a16:creationId xmlns:a16="http://schemas.microsoft.com/office/drawing/2014/main" id="{5C03A98E-7FC6-6D42-B0F4-5A18D6612F36}"/>
              </a:ext>
            </a:extLst>
          </p:cNvPr>
          <p:cNvSpPr>
            <a:spLocks noGrp="1" noChangeArrowheads="1"/>
          </p:cNvSpPr>
          <p:nvPr>
            <p:ph type="body" idx="1"/>
          </p:nvPr>
        </p:nvSpPr>
        <p:spPr/>
        <p:txBody>
          <a:bodyPr/>
          <a:lstStyle/>
          <a:p>
            <a:pPr eaLnBrk="1" hangingPunct="1"/>
            <a:r>
              <a:rPr lang="en-US" altLang="en-US"/>
              <a:t>Based on that of C++, but more in line with OOP philosophy</a:t>
            </a:r>
          </a:p>
          <a:p>
            <a:pPr eaLnBrk="1" hangingPunct="1"/>
            <a:r>
              <a:rPr lang="en-US" altLang="en-US"/>
              <a:t>All exceptions are objects of classes that are descendants of the </a:t>
            </a:r>
            <a:r>
              <a:rPr lang="en-US" altLang="en-US">
                <a:latin typeface="Courier New" panose="02070309020205020404" pitchFamily="49" charset="0"/>
              </a:rPr>
              <a:t>Throwable</a:t>
            </a:r>
            <a:r>
              <a:rPr lang="en-US" altLang="en-US"/>
              <a:t> class</a:t>
            </a:r>
          </a:p>
        </p:txBody>
      </p:sp>
    </p:spTree>
    <p:extLst>
      <p:ext uri="{BB962C8B-B14F-4D97-AF65-F5344CB8AC3E}">
        <p14:creationId xmlns:p14="http://schemas.microsoft.com/office/powerpoint/2010/main" val="60036365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a:extLst>
              <a:ext uri="{FF2B5EF4-FFF2-40B4-BE49-F238E27FC236}">
                <a16:creationId xmlns:a16="http://schemas.microsoft.com/office/drawing/2014/main" id="{4FD2F7C1-ABAC-4549-9812-BF33CE0447D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38915" name="Slide Number Placeholder 4">
            <a:extLst>
              <a:ext uri="{FF2B5EF4-FFF2-40B4-BE49-F238E27FC236}">
                <a16:creationId xmlns:a16="http://schemas.microsoft.com/office/drawing/2014/main" id="{D174E5E2-A573-374E-BCCA-560DA77113B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CDC96EB0-4D9D-9F45-A2C9-427D0BC86BA9}" type="slidenum">
              <a:rPr lang="en-US" altLang="en-US" sz="1000" smtClean="0">
                <a:solidFill>
                  <a:schemeClr val="tx1"/>
                </a:solidFill>
                <a:latin typeface="Arial" panose="020B0604020202020204" pitchFamily="34" charset="0"/>
              </a:rPr>
              <a:pPr>
                <a:spcBef>
                  <a:spcPct val="0"/>
                </a:spcBef>
                <a:buFontTx/>
                <a:buNone/>
              </a:pPr>
              <a:t>124</a:t>
            </a:fld>
            <a:endParaRPr lang="en-US" altLang="en-US" sz="1000">
              <a:solidFill>
                <a:schemeClr val="tx1"/>
              </a:solidFill>
              <a:latin typeface="Arial" panose="020B0604020202020204" pitchFamily="34" charset="0"/>
            </a:endParaRPr>
          </a:p>
        </p:txBody>
      </p:sp>
      <p:sp>
        <p:nvSpPr>
          <p:cNvPr id="38916" name="Rectangle 2">
            <a:extLst>
              <a:ext uri="{FF2B5EF4-FFF2-40B4-BE49-F238E27FC236}">
                <a16:creationId xmlns:a16="http://schemas.microsoft.com/office/drawing/2014/main" id="{43F73435-7209-A147-B297-F56580FD2168}"/>
              </a:ext>
            </a:extLst>
          </p:cNvPr>
          <p:cNvSpPr>
            <a:spLocks noGrp="1" noChangeArrowheads="1"/>
          </p:cNvSpPr>
          <p:nvPr>
            <p:ph type="title"/>
          </p:nvPr>
        </p:nvSpPr>
        <p:spPr/>
        <p:txBody>
          <a:bodyPr/>
          <a:lstStyle/>
          <a:p>
            <a:pPr eaLnBrk="1" hangingPunct="1"/>
            <a:r>
              <a:rPr lang="en-US" altLang="en-US"/>
              <a:t>Classes of Exceptions</a:t>
            </a:r>
          </a:p>
        </p:txBody>
      </p:sp>
      <p:sp>
        <p:nvSpPr>
          <p:cNvPr id="38917" name="Rectangle 3">
            <a:extLst>
              <a:ext uri="{FF2B5EF4-FFF2-40B4-BE49-F238E27FC236}">
                <a16:creationId xmlns:a16="http://schemas.microsoft.com/office/drawing/2014/main" id="{34E86B3B-6F8D-1F4C-8CAB-C883C104F431}"/>
              </a:ext>
            </a:extLst>
          </p:cNvPr>
          <p:cNvSpPr>
            <a:spLocks noGrp="1" noChangeArrowheads="1"/>
          </p:cNvSpPr>
          <p:nvPr>
            <p:ph type="body" idx="1"/>
          </p:nvPr>
        </p:nvSpPr>
        <p:spPr/>
        <p:txBody>
          <a:bodyPr/>
          <a:lstStyle/>
          <a:p>
            <a:pPr eaLnBrk="1" hangingPunct="1"/>
            <a:r>
              <a:rPr lang="en-US" altLang="en-US" sz="2400"/>
              <a:t>The Java library includes two subclasses of </a:t>
            </a:r>
            <a:r>
              <a:rPr lang="en-US" altLang="en-US" sz="2400">
                <a:latin typeface="Courier New" panose="02070309020205020404" pitchFamily="49" charset="0"/>
              </a:rPr>
              <a:t>Throwable</a:t>
            </a:r>
            <a:r>
              <a:rPr lang="en-US" altLang="en-US" sz="2400"/>
              <a:t> :</a:t>
            </a:r>
          </a:p>
          <a:p>
            <a:pPr lvl="1" eaLnBrk="1" hangingPunct="1"/>
            <a:r>
              <a:rPr lang="en-US" altLang="en-US" sz="2000">
                <a:latin typeface="Courier New" panose="02070309020205020404" pitchFamily="49" charset="0"/>
              </a:rPr>
              <a:t>Error</a:t>
            </a:r>
            <a:endParaRPr lang="en-US" altLang="en-US" sz="2000" b="1">
              <a:latin typeface="Courier New" panose="02070309020205020404" pitchFamily="49" charset="0"/>
            </a:endParaRPr>
          </a:p>
          <a:p>
            <a:pPr lvl="2" eaLnBrk="1" hangingPunct="1"/>
            <a:r>
              <a:rPr lang="en-US" altLang="en-US" sz="1900"/>
              <a:t>Thrown by the Java interpreter for events such as heap overflow</a:t>
            </a:r>
          </a:p>
          <a:p>
            <a:pPr lvl="2" eaLnBrk="1" hangingPunct="1"/>
            <a:r>
              <a:rPr lang="en-US" altLang="en-US" sz="1900"/>
              <a:t>Never handled by user programs</a:t>
            </a:r>
          </a:p>
          <a:p>
            <a:pPr lvl="1" eaLnBrk="1" hangingPunct="1"/>
            <a:r>
              <a:rPr lang="en-US" altLang="en-US" sz="2000">
                <a:latin typeface="Courier New" panose="02070309020205020404" pitchFamily="49" charset="0"/>
              </a:rPr>
              <a:t>Exception</a:t>
            </a:r>
            <a:endParaRPr lang="en-US" altLang="en-US" sz="2000" b="1">
              <a:latin typeface="Courier New" panose="02070309020205020404" pitchFamily="49" charset="0"/>
            </a:endParaRPr>
          </a:p>
          <a:p>
            <a:pPr lvl="2" eaLnBrk="1" hangingPunct="1"/>
            <a:r>
              <a:rPr lang="en-US" altLang="en-US" sz="1900"/>
              <a:t>User-defined exceptions are usually subclasses of this</a:t>
            </a:r>
          </a:p>
          <a:p>
            <a:pPr lvl="2" eaLnBrk="1" hangingPunct="1"/>
            <a:r>
              <a:rPr lang="en-US" altLang="en-US" sz="1900"/>
              <a:t>Has two predefined subclasses, </a:t>
            </a:r>
            <a:r>
              <a:rPr lang="en-US" altLang="en-US" sz="1900">
                <a:latin typeface="Courier New" panose="02070309020205020404" pitchFamily="49" charset="0"/>
              </a:rPr>
              <a:t>IOException</a:t>
            </a:r>
            <a:r>
              <a:rPr lang="en-US" altLang="en-US" sz="1900"/>
              <a:t> and </a:t>
            </a:r>
            <a:r>
              <a:rPr lang="en-US" altLang="en-US" sz="1900">
                <a:latin typeface="Courier New" panose="02070309020205020404" pitchFamily="49" charset="0"/>
              </a:rPr>
              <a:t>RuntimeException</a:t>
            </a:r>
            <a:r>
              <a:rPr lang="en-US" altLang="en-US" sz="1900"/>
              <a:t> (e.g., </a:t>
            </a:r>
            <a:r>
              <a:rPr lang="en-US" altLang="en-US" sz="1900">
                <a:latin typeface="Courier New" panose="02070309020205020404" pitchFamily="49" charset="0"/>
              </a:rPr>
              <a:t>ArrayIndexOutOfBoundsException</a:t>
            </a:r>
            <a:r>
              <a:rPr lang="en-US" altLang="en-US" sz="1900"/>
              <a:t> and </a:t>
            </a:r>
            <a:r>
              <a:rPr lang="en-US" altLang="en-US" sz="1900">
                <a:latin typeface="Courier New" panose="02070309020205020404" pitchFamily="49" charset="0"/>
              </a:rPr>
              <a:t>NullPointerException</a:t>
            </a:r>
            <a:endParaRPr lang="en-US" altLang="en-US" sz="1900" b="1">
              <a:latin typeface="Courier New" panose="02070309020205020404" pitchFamily="49" charset="0"/>
            </a:endParaRPr>
          </a:p>
        </p:txBody>
      </p:sp>
    </p:spTree>
    <p:extLst>
      <p:ext uri="{BB962C8B-B14F-4D97-AF65-F5344CB8AC3E}">
        <p14:creationId xmlns:p14="http://schemas.microsoft.com/office/powerpoint/2010/main" val="294317749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a:extLst>
              <a:ext uri="{FF2B5EF4-FFF2-40B4-BE49-F238E27FC236}">
                <a16:creationId xmlns:a16="http://schemas.microsoft.com/office/drawing/2014/main" id="{8294A66D-E7DA-7C46-B4B3-4A3B8AEF61F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40963" name="Slide Number Placeholder 4">
            <a:extLst>
              <a:ext uri="{FF2B5EF4-FFF2-40B4-BE49-F238E27FC236}">
                <a16:creationId xmlns:a16="http://schemas.microsoft.com/office/drawing/2014/main" id="{C96C17CA-C13C-D347-B166-C5C42880397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A92F3BE5-6239-DA43-BCE4-0D6F80CB9D6A}" type="slidenum">
              <a:rPr lang="en-US" altLang="en-US" sz="1000" smtClean="0">
                <a:solidFill>
                  <a:schemeClr val="tx1"/>
                </a:solidFill>
                <a:latin typeface="Arial" panose="020B0604020202020204" pitchFamily="34" charset="0"/>
              </a:rPr>
              <a:pPr>
                <a:spcBef>
                  <a:spcPct val="0"/>
                </a:spcBef>
                <a:buFontTx/>
                <a:buNone/>
              </a:pPr>
              <a:t>125</a:t>
            </a:fld>
            <a:endParaRPr lang="en-US" altLang="en-US" sz="1000">
              <a:solidFill>
                <a:schemeClr val="tx1"/>
              </a:solidFill>
              <a:latin typeface="Arial" panose="020B0604020202020204" pitchFamily="34" charset="0"/>
            </a:endParaRPr>
          </a:p>
        </p:txBody>
      </p:sp>
      <p:sp>
        <p:nvSpPr>
          <p:cNvPr id="40964" name="Rectangle 2">
            <a:extLst>
              <a:ext uri="{FF2B5EF4-FFF2-40B4-BE49-F238E27FC236}">
                <a16:creationId xmlns:a16="http://schemas.microsoft.com/office/drawing/2014/main" id="{C04CC48E-140B-A34C-AE47-B3CE967DC341}"/>
              </a:ext>
            </a:extLst>
          </p:cNvPr>
          <p:cNvSpPr>
            <a:spLocks noGrp="1" noChangeArrowheads="1"/>
          </p:cNvSpPr>
          <p:nvPr>
            <p:ph type="title"/>
          </p:nvPr>
        </p:nvSpPr>
        <p:spPr/>
        <p:txBody>
          <a:bodyPr/>
          <a:lstStyle/>
          <a:p>
            <a:pPr eaLnBrk="1" hangingPunct="1"/>
            <a:r>
              <a:rPr lang="en-US" altLang="en-US"/>
              <a:t>Java Exception Handlers</a:t>
            </a:r>
          </a:p>
        </p:txBody>
      </p:sp>
      <p:sp>
        <p:nvSpPr>
          <p:cNvPr id="40965" name="Rectangle 3">
            <a:extLst>
              <a:ext uri="{FF2B5EF4-FFF2-40B4-BE49-F238E27FC236}">
                <a16:creationId xmlns:a16="http://schemas.microsoft.com/office/drawing/2014/main" id="{A67013D5-6A50-514E-8954-780C28B60390}"/>
              </a:ext>
            </a:extLst>
          </p:cNvPr>
          <p:cNvSpPr>
            <a:spLocks noGrp="1" noChangeArrowheads="1"/>
          </p:cNvSpPr>
          <p:nvPr>
            <p:ph type="body" idx="1"/>
          </p:nvPr>
        </p:nvSpPr>
        <p:spPr>
          <a:xfrm>
            <a:off x="533400" y="1371600"/>
            <a:ext cx="8153400" cy="4572000"/>
          </a:xfrm>
        </p:spPr>
        <p:txBody>
          <a:bodyPr/>
          <a:lstStyle/>
          <a:p>
            <a:pPr eaLnBrk="1" hangingPunct="1"/>
            <a:r>
              <a:rPr lang="en-US" altLang="en-US"/>
              <a:t>Like those of C++, except every </a:t>
            </a:r>
            <a:r>
              <a:rPr lang="en-US" altLang="en-US" b="1">
                <a:latin typeface="Courier New" panose="02070309020205020404" pitchFamily="49" charset="0"/>
              </a:rPr>
              <a:t>catch</a:t>
            </a:r>
            <a:r>
              <a:rPr lang="en-US" altLang="en-US"/>
              <a:t> requires a named parameter and all parameters must be descendants of </a:t>
            </a:r>
            <a:r>
              <a:rPr lang="en-US" altLang="en-US">
                <a:latin typeface="Courier New" panose="02070309020205020404" pitchFamily="49" charset="0"/>
              </a:rPr>
              <a:t>Throwable</a:t>
            </a:r>
            <a:endParaRPr lang="en-US" altLang="en-US" b="1">
              <a:latin typeface="Courier New" panose="02070309020205020404" pitchFamily="49" charset="0"/>
            </a:endParaRPr>
          </a:p>
          <a:p>
            <a:pPr eaLnBrk="1" hangingPunct="1"/>
            <a:r>
              <a:rPr lang="en-US" altLang="en-US"/>
              <a:t>Syntax of </a:t>
            </a:r>
            <a:r>
              <a:rPr lang="en-US" altLang="en-US" b="1">
                <a:latin typeface="Courier New" panose="02070309020205020404" pitchFamily="49" charset="0"/>
              </a:rPr>
              <a:t>try</a:t>
            </a:r>
            <a:r>
              <a:rPr lang="en-US" altLang="en-US"/>
              <a:t> clause is exactly that of C++</a:t>
            </a:r>
          </a:p>
          <a:p>
            <a:pPr eaLnBrk="1" hangingPunct="1"/>
            <a:r>
              <a:rPr lang="en-US" altLang="en-US"/>
              <a:t>Exceptions are thrown with </a:t>
            </a:r>
            <a:r>
              <a:rPr lang="en-US" altLang="en-US" b="1">
                <a:latin typeface="Courier New" panose="02070309020205020404" pitchFamily="49" charset="0"/>
              </a:rPr>
              <a:t>throw</a:t>
            </a:r>
            <a:r>
              <a:rPr lang="en-US" altLang="en-US"/>
              <a:t>, as in C++, but often the </a:t>
            </a:r>
            <a:r>
              <a:rPr lang="en-US" altLang="en-US" b="1">
                <a:latin typeface="Courier New" panose="02070309020205020404" pitchFamily="49" charset="0"/>
              </a:rPr>
              <a:t>throw</a:t>
            </a:r>
            <a:r>
              <a:rPr lang="en-US" altLang="en-US"/>
              <a:t> includes the </a:t>
            </a:r>
            <a:r>
              <a:rPr lang="en-US" altLang="en-US" b="1">
                <a:latin typeface="Courier New" panose="02070309020205020404" pitchFamily="49" charset="0"/>
              </a:rPr>
              <a:t>new</a:t>
            </a:r>
            <a:r>
              <a:rPr lang="en-US" altLang="en-US"/>
              <a:t> operator to create the object, as in:	</a:t>
            </a:r>
            <a:r>
              <a:rPr lang="en-US" altLang="en-US" b="1">
                <a:latin typeface="Courier New" panose="02070309020205020404" pitchFamily="49" charset="0"/>
              </a:rPr>
              <a:t>throw new </a:t>
            </a:r>
            <a:r>
              <a:rPr lang="en-US" altLang="en-US">
                <a:latin typeface="Courier New" panose="02070309020205020404" pitchFamily="49" charset="0"/>
              </a:rPr>
              <a:t>MyException();</a:t>
            </a:r>
          </a:p>
        </p:txBody>
      </p:sp>
    </p:spTree>
    <p:extLst>
      <p:ext uri="{BB962C8B-B14F-4D97-AF65-F5344CB8AC3E}">
        <p14:creationId xmlns:p14="http://schemas.microsoft.com/office/powerpoint/2010/main" val="137847600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a:extLst>
              <a:ext uri="{FF2B5EF4-FFF2-40B4-BE49-F238E27FC236}">
                <a16:creationId xmlns:a16="http://schemas.microsoft.com/office/drawing/2014/main" id="{A8A61A8E-D018-0746-9189-CC772D9FBB6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43011" name="Slide Number Placeholder 4">
            <a:extLst>
              <a:ext uri="{FF2B5EF4-FFF2-40B4-BE49-F238E27FC236}">
                <a16:creationId xmlns:a16="http://schemas.microsoft.com/office/drawing/2014/main" id="{3D353740-A40F-F94F-A2E0-86C7B4FD85F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DBAAA2D0-A7F6-D341-9366-398409C10467}" type="slidenum">
              <a:rPr lang="en-US" altLang="en-US" sz="1000" smtClean="0">
                <a:solidFill>
                  <a:schemeClr val="tx1"/>
                </a:solidFill>
                <a:latin typeface="Arial" panose="020B0604020202020204" pitchFamily="34" charset="0"/>
              </a:rPr>
              <a:pPr>
                <a:spcBef>
                  <a:spcPct val="0"/>
                </a:spcBef>
                <a:buFontTx/>
                <a:buNone/>
              </a:pPr>
              <a:t>126</a:t>
            </a:fld>
            <a:endParaRPr lang="en-US" altLang="en-US" sz="1000">
              <a:solidFill>
                <a:schemeClr val="tx1"/>
              </a:solidFill>
              <a:latin typeface="Arial" panose="020B0604020202020204" pitchFamily="34" charset="0"/>
            </a:endParaRPr>
          </a:p>
        </p:txBody>
      </p:sp>
      <p:sp>
        <p:nvSpPr>
          <p:cNvPr id="43012" name="Rectangle 2">
            <a:extLst>
              <a:ext uri="{FF2B5EF4-FFF2-40B4-BE49-F238E27FC236}">
                <a16:creationId xmlns:a16="http://schemas.microsoft.com/office/drawing/2014/main" id="{B654E842-B743-A64A-8A1E-670D4570F687}"/>
              </a:ext>
            </a:extLst>
          </p:cNvPr>
          <p:cNvSpPr>
            <a:spLocks noGrp="1" noChangeArrowheads="1"/>
          </p:cNvSpPr>
          <p:nvPr>
            <p:ph type="title"/>
          </p:nvPr>
        </p:nvSpPr>
        <p:spPr/>
        <p:txBody>
          <a:bodyPr/>
          <a:lstStyle/>
          <a:p>
            <a:pPr eaLnBrk="1" hangingPunct="1"/>
            <a:r>
              <a:rPr lang="en-US" altLang="en-US"/>
              <a:t>Binding Exceptions to Handlers</a:t>
            </a:r>
          </a:p>
        </p:txBody>
      </p:sp>
      <p:sp>
        <p:nvSpPr>
          <p:cNvPr id="43013" name="Rectangle 3">
            <a:extLst>
              <a:ext uri="{FF2B5EF4-FFF2-40B4-BE49-F238E27FC236}">
                <a16:creationId xmlns:a16="http://schemas.microsoft.com/office/drawing/2014/main" id="{FDC194E3-24E6-5645-BDE9-5E8476F67452}"/>
              </a:ext>
            </a:extLst>
          </p:cNvPr>
          <p:cNvSpPr>
            <a:spLocks noGrp="1" noChangeArrowheads="1"/>
          </p:cNvSpPr>
          <p:nvPr>
            <p:ph type="body" idx="1"/>
          </p:nvPr>
        </p:nvSpPr>
        <p:spPr>
          <a:xfrm>
            <a:off x="533400" y="1524000"/>
            <a:ext cx="8153400" cy="4572000"/>
          </a:xfrm>
        </p:spPr>
        <p:txBody>
          <a:bodyPr/>
          <a:lstStyle/>
          <a:p>
            <a:pPr eaLnBrk="1" hangingPunct="1"/>
            <a:r>
              <a:rPr lang="en-US" altLang="en-US"/>
              <a:t>Binding an exception to a handler is simpler in Java than it is in C++</a:t>
            </a:r>
          </a:p>
          <a:p>
            <a:pPr lvl="1" eaLnBrk="1" hangingPunct="1"/>
            <a:r>
              <a:rPr lang="en-US" altLang="en-US"/>
              <a:t>An exception is bound to the first handler with a parameter is the same class as the thrown object or an ancestor of it</a:t>
            </a:r>
          </a:p>
          <a:p>
            <a:pPr eaLnBrk="1" hangingPunct="1"/>
            <a:r>
              <a:rPr lang="en-US" altLang="en-US"/>
              <a:t>An exception can be handled and rethrown by including a </a:t>
            </a:r>
            <a:r>
              <a:rPr lang="en-US" altLang="en-US" b="1">
                <a:latin typeface="Courier New" panose="02070309020205020404" pitchFamily="49" charset="0"/>
              </a:rPr>
              <a:t>throw</a:t>
            </a:r>
            <a:r>
              <a:rPr lang="en-US" altLang="en-US"/>
              <a:t> in the handler (a handler could also throw a different exception)</a:t>
            </a:r>
          </a:p>
        </p:txBody>
      </p:sp>
    </p:spTree>
    <p:extLst>
      <p:ext uri="{BB962C8B-B14F-4D97-AF65-F5344CB8AC3E}">
        <p14:creationId xmlns:p14="http://schemas.microsoft.com/office/powerpoint/2010/main" val="150028350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a:extLst>
              <a:ext uri="{FF2B5EF4-FFF2-40B4-BE49-F238E27FC236}">
                <a16:creationId xmlns:a16="http://schemas.microsoft.com/office/drawing/2014/main" id="{93A9450C-60A9-A44A-B803-5C0753FCE86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45059" name="Slide Number Placeholder 4">
            <a:extLst>
              <a:ext uri="{FF2B5EF4-FFF2-40B4-BE49-F238E27FC236}">
                <a16:creationId xmlns:a16="http://schemas.microsoft.com/office/drawing/2014/main" id="{CABF1007-F921-E94D-A0DA-5CF98EFA451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E11A0E44-3CCE-8A40-A076-CAA81CF8B2ED}" type="slidenum">
              <a:rPr lang="en-US" altLang="en-US" sz="1000" smtClean="0">
                <a:solidFill>
                  <a:schemeClr val="tx1"/>
                </a:solidFill>
                <a:latin typeface="Arial" panose="020B0604020202020204" pitchFamily="34" charset="0"/>
              </a:rPr>
              <a:pPr>
                <a:spcBef>
                  <a:spcPct val="0"/>
                </a:spcBef>
                <a:buFontTx/>
                <a:buNone/>
              </a:pPr>
              <a:t>127</a:t>
            </a:fld>
            <a:endParaRPr lang="en-US" altLang="en-US" sz="1000">
              <a:solidFill>
                <a:schemeClr val="tx1"/>
              </a:solidFill>
              <a:latin typeface="Arial" panose="020B0604020202020204" pitchFamily="34" charset="0"/>
            </a:endParaRPr>
          </a:p>
        </p:txBody>
      </p:sp>
      <p:sp>
        <p:nvSpPr>
          <p:cNvPr id="45060" name="Rectangle 2">
            <a:extLst>
              <a:ext uri="{FF2B5EF4-FFF2-40B4-BE49-F238E27FC236}">
                <a16:creationId xmlns:a16="http://schemas.microsoft.com/office/drawing/2014/main" id="{FE858EB2-E35F-B946-B080-AD399A3310B3}"/>
              </a:ext>
            </a:extLst>
          </p:cNvPr>
          <p:cNvSpPr>
            <a:spLocks noGrp="1" noChangeArrowheads="1"/>
          </p:cNvSpPr>
          <p:nvPr>
            <p:ph type="title"/>
          </p:nvPr>
        </p:nvSpPr>
        <p:spPr/>
        <p:txBody>
          <a:bodyPr/>
          <a:lstStyle/>
          <a:p>
            <a:pPr eaLnBrk="1" hangingPunct="1"/>
            <a:r>
              <a:rPr lang="en-US" altLang="en-US"/>
              <a:t>Continuation</a:t>
            </a:r>
          </a:p>
        </p:txBody>
      </p:sp>
      <p:sp>
        <p:nvSpPr>
          <p:cNvPr id="45061" name="Rectangle 3">
            <a:extLst>
              <a:ext uri="{FF2B5EF4-FFF2-40B4-BE49-F238E27FC236}">
                <a16:creationId xmlns:a16="http://schemas.microsoft.com/office/drawing/2014/main" id="{896949C3-1E47-9746-9E8F-6CEAB3E4A165}"/>
              </a:ext>
            </a:extLst>
          </p:cNvPr>
          <p:cNvSpPr>
            <a:spLocks noGrp="1" noChangeArrowheads="1"/>
          </p:cNvSpPr>
          <p:nvPr>
            <p:ph type="body" idx="1"/>
          </p:nvPr>
        </p:nvSpPr>
        <p:spPr>
          <a:xfrm>
            <a:off x="609600" y="1447800"/>
            <a:ext cx="8153400" cy="4724400"/>
          </a:xfrm>
        </p:spPr>
        <p:txBody>
          <a:bodyPr/>
          <a:lstStyle/>
          <a:p>
            <a:pPr eaLnBrk="1" hangingPunct="1"/>
            <a:r>
              <a:rPr lang="en-US" altLang="en-US" sz="2400"/>
              <a:t>If no handler is found in the </a:t>
            </a:r>
            <a:r>
              <a:rPr lang="en-US" altLang="en-US" sz="2400" b="1">
                <a:latin typeface="Courier New" panose="02070309020205020404" pitchFamily="49" charset="0"/>
              </a:rPr>
              <a:t>try</a:t>
            </a:r>
            <a:r>
              <a:rPr lang="en-US" altLang="en-US" sz="2400"/>
              <a:t> construct, the search is continued in the nearest enclosing </a:t>
            </a:r>
            <a:r>
              <a:rPr lang="en-US" altLang="en-US" sz="2400" b="1">
                <a:latin typeface="Courier New" panose="02070309020205020404" pitchFamily="49" charset="0"/>
              </a:rPr>
              <a:t>try</a:t>
            </a:r>
            <a:r>
              <a:rPr lang="en-US" altLang="en-US" sz="2400"/>
              <a:t> construct, etc.</a:t>
            </a:r>
          </a:p>
          <a:p>
            <a:pPr eaLnBrk="1" hangingPunct="1"/>
            <a:r>
              <a:rPr lang="en-US" altLang="en-US" sz="2400"/>
              <a:t>If no handler is found in the method, the exception is propagated to the method’s caller</a:t>
            </a:r>
          </a:p>
          <a:p>
            <a:pPr eaLnBrk="1" hangingPunct="1"/>
            <a:r>
              <a:rPr lang="en-US" altLang="en-US" sz="2400"/>
              <a:t>If no handler is found (all the way to </a:t>
            </a:r>
            <a:r>
              <a:rPr lang="en-US" altLang="en-US" sz="2400">
                <a:latin typeface="Courier New" panose="02070309020205020404" pitchFamily="49" charset="0"/>
              </a:rPr>
              <a:t>main</a:t>
            </a:r>
            <a:r>
              <a:rPr lang="en-US" altLang="en-US" sz="2400"/>
              <a:t>), the program is terminated</a:t>
            </a:r>
          </a:p>
          <a:p>
            <a:pPr eaLnBrk="1" hangingPunct="1"/>
            <a:r>
              <a:rPr lang="en-US" altLang="en-US" sz="2400"/>
              <a:t>To insure that all exceptions are caught, a handler can be included in any </a:t>
            </a:r>
            <a:r>
              <a:rPr lang="en-US" altLang="en-US" sz="2400" b="1">
                <a:latin typeface="Courier New" panose="02070309020205020404" pitchFamily="49" charset="0"/>
              </a:rPr>
              <a:t>try</a:t>
            </a:r>
            <a:r>
              <a:rPr lang="en-US" altLang="en-US" sz="2400"/>
              <a:t> construct that catches all exceptions</a:t>
            </a:r>
          </a:p>
          <a:p>
            <a:pPr lvl="1" eaLnBrk="1" hangingPunct="1"/>
            <a:r>
              <a:rPr lang="en-US" altLang="en-US" sz="2000"/>
              <a:t>Simply use an </a:t>
            </a:r>
            <a:r>
              <a:rPr lang="en-US" altLang="en-US" sz="2000">
                <a:latin typeface="Courier New" panose="02070309020205020404" pitchFamily="49" charset="0"/>
              </a:rPr>
              <a:t>Exception</a:t>
            </a:r>
            <a:r>
              <a:rPr lang="en-US" altLang="en-US" sz="2000"/>
              <a:t> class parameter</a:t>
            </a:r>
          </a:p>
          <a:p>
            <a:pPr lvl="1" eaLnBrk="1" hangingPunct="1"/>
            <a:r>
              <a:rPr lang="en-US" altLang="en-US" sz="2000"/>
              <a:t>Of course, it must be the last in the </a:t>
            </a:r>
            <a:r>
              <a:rPr lang="en-US" altLang="en-US" sz="2000" b="1">
                <a:latin typeface="Courier New" panose="02070309020205020404" pitchFamily="49" charset="0"/>
              </a:rPr>
              <a:t>try</a:t>
            </a:r>
            <a:r>
              <a:rPr lang="en-US" altLang="en-US" sz="2000"/>
              <a:t> construct</a:t>
            </a:r>
          </a:p>
        </p:txBody>
      </p:sp>
    </p:spTree>
    <p:extLst>
      <p:ext uri="{BB962C8B-B14F-4D97-AF65-F5344CB8AC3E}">
        <p14:creationId xmlns:p14="http://schemas.microsoft.com/office/powerpoint/2010/main" val="295150008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a:extLst>
              <a:ext uri="{FF2B5EF4-FFF2-40B4-BE49-F238E27FC236}">
                <a16:creationId xmlns:a16="http://schemas.microsoft.com/office/drawing/2014/main" id="{7B5FFE6D-7D21-E145-B983-37A43F89465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47107" name="Slide Number Placeholder 4">
            <a:extLst>
              <a:ext uri="{FF2B5EF4-FFF2-40B4-BE49-F238E27FC236}">
                <a16:creationId xmlns:a16="http://schemas.microsoft.com/office/drawing/2014/main" id="{4C9FADA6-F589-7343-9BAE-9ECF8DDF0A0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1646FD23-947A-7342-AD33-386B0439D203}" type="slidenum">
              <a:rPr lang="en-US" altLang="en-US" sz="1000" smtClean="0">
                <a:solidFill>
                  <a:schemeClr val="tx1"/>
                </a:solidFill>
                <a:latin typeface="Arial" panose="020B0604020202020204" pitchFamily="34" charset="0"/>
              </a:rPr>
              <a:pPr>
                <a:spcBef>
                  <a:spcPct val="0"/>
                </a:spcBef>
                <a:buFontTx/>
                <a:buNone/>
              </a:pPr>
              <a:t>128</a:t>
            </a:fld>
            <a:endParaRPr lang="en-US" altLang="en-US" sz="1000">
              <a:solidFill>
                <a:schemeClr val="tx1"/>
              </a:solidFill>
              <a:latin typeface="Arial" panose="020B0604020202020204" pitchFamily="34" charset="0"/>
            </a:endParaRPr>
          </a:p>
        </p:txBody>
      </p:sp>
      <p:sp>
        <p:nvSpPr>
          <p:cNvPr id="47108" name="Rectangle 2">
            <a:extLst>
              <a:ext uri="{FF2B5EF4-FFF2-40B4-BE49-F238E27FC236}">
                <a16:creationId xmlns:a16="http://schemas.microsoft.com/office/drawing/2014/main" id="{DAB04307-85C5-4B41-A8E5-FE8C315AF4C8}"/>
              </a:ext>
            </a:extLst>
          </p:cNvPr>
          <p:cNvSpPr>
            <a:spLocks noGrp="1" noChangeArrowheads="1"/>
          </p:cNvSpPr>
          <p:nvPr>
            <p:ph type="title"/>
          </p:nvPr>
        </p:nvSpPr>
        <p:spPr>
          <a:xfrm>
            <a:off x="457200" y="381000"/>
            <a:ext cx="8305800" cy="1143000"/>
          </a:xfrm>
        </p:spPr>
        <p:txBody>
          <a:bodyPr/>
          <a:lstStyle/>
          <a:p>
            <a:pPr eaLnBrk="1" hangingPunct="1"/>
            <a:r>
              <a:rPr lang="en-US" altLang="en-US"/>
              <a:t>Checked and Unchecked Exceptions</a:t>
            </a:r>
          </a:p>
        </p:txBody>
      </p:sp>
      <p:sp>
        <p:nvSpPr>
          <p:cNvPr id="47109" name="Rectangle 3">
            <a:extLst>
              <a:ext uri="{FF2B5EF4-FFF2-40B4-BE49-F238E27FC236}">
                <a16:creationId xmlns:a16="http://schemas.microsoft.com/office/drawing/2014/main" id="{B3FB459B-48DC-A042-AE3C-A5670A5626BC}"/>
              </a:ext>
            </a:extLst>
          </p:cNvPr>
          <p:cNvSpPr>
            <a:spLocks noGrp="1" noChangeArrowheads="1"/>
          </p:cNvSpPr>
          <p:nvPr>
            <p:ph type="body" idx="1"/>
          </p:nvPr>
        </p:nvSpPr>
        <p:spPr>
          <a:xfrm>
            <a:off x="533400" y="1371600"/>
            <a:ext cx="8153400" cy="4572000"/>
          </a:xfrm>
        </p:spPr>
        <p:txBody>
          <a:bodyPr/>
          <a:lstStyle/>
          <a:p>
            <a:pPr eaLnBrk="1" hangingPunct="1">
              <a:lnSpc>
                <a:spcPct val="90000"/>
              </a:lnSpc>
            </a:pPr>
            <a:r>
              <a:rPr lang="en-US" altLang="en-US"/>
              <a:t>The Java </a:t>
            </a:r>
            <a:r>
              <a:rPr lang="en-US" altLang="en-US" b="1">
                <a:latin typeface="Courier New" panose="02070309020205020404" pitchFamily="49" charset="0"/>
              </a:rPr>
              <a:t>throws</a:t>
            </a:r>
            <a:r>
              <a:rPr lang="en-US" altLang="en-US"/>
              <a:t> clause is quite different from the </a:t>
            </a:r>
            <a:r>
              <a:rPr lang="en-US" altLang="en-US" b="1">
                <a:latin typeface="Courier New" panose="02070309020205020404" pitchFamily="49" charset="0"/>
              </a:rPr>
              <a:t>throw</a:t>
            </a:r>
            <a:r>
              <a:rPr lang="en-US" altLang="en-US"/>
              <a:t> clause of C++</a:t>
            </a:r>
          </a:p>
          <a:p>
            <a:pPr eaLnBrk="1" hangingPunct="1">
              <a:lnSpc>
                <a:spcPct val="90000"/>
              </a:lnSpc>
            </a:pPr>
            <a:r>
              <a:rPr lang="en-US" altLang="en-US"/>
              <a:t>Exceptions of class </a:t>
            </a:r>
            <a:r>
              <a:rPr lang="en-US" altLang="en-US">
                <a:latin typeface="Courier New" panose="02070309020205020404" pitchFamily="49" charset="0"/>
              </a:rPr>
              <a:t>Error</a:t>
            </a:r>
            <a:r>
              <a:rPr lang="en-US" altLang="en-US"/>
              <a:t> and </a:t>
            </a:r>
            <a:r>
              <a:rPr lang="en-US" altLang="en-US">
                <a:latin typeface="Courier New" panose="02070309020205020404" pitchFamily="49" charset="0"/>
              </a:rPr>
              <a:t>RunTimeException</a:t>
            </a:r>
            <a:r>
              <a:rPr lang="en-US" altLang="en-US"/>
              <a:t> and all of their descendants are called </a:t>
            </a:r>
            <a:r>
              <a:rPr lang="en-US" altLang="en-US">
                <a:solidFill>
                  <a:schemeClr val="tx2"/>
                </a:solidFill>
              </a:rPr>
              <a:t>unchecked exceptions; </a:t>
            </a:r>
            <a:r>
              <a:rPr lang="en-US" altLang="en-US"/>
              <a:t>all other exceptions are called </a:t>
            </a:r>
            <a:r>
              <a:rPr lang="en-US" altLang="en-US">
                <a:solidFill>
                  <a:schemeClr val="tx2"/>
                </a:solidFill>
              </a:rPr>
              <a:t>checked exceptions</a:t>
            </a:r>
          </a:p>
          <a:p>
            <a:pPr eaLnBrk="1" hangingPunct="1">
              <a:lnSpc>
                <a:spcPct val="90000"/>
              </a:lnSpc>
            </a:pPr>
            <a:r>
              <a:rPr lang="en-US" altLang="en-US"/>
              <a:t>Checked exceptions that may be thrown by a method must be either:</a:t>
            </a:r>
          </a:p>
          <a:p>
            <a:pPr lvl="1" eaLnBrk="1" hangingPunct="1">
              <a:lnSpc>
                <a:spcPct val="90000"/>
              </a:lnSpc>
            </a:pPr>
            <a:r>
              <a:rPr lang="en-US" altLang="en-US"/>
              <a:t>Listed in the </a:t>
            </a:r>
            <a:r>
              <a:rPr lang="en-US" altLang="en-US" b="1">
                <a:latin typeface="Courier New" panose="02070309020205020404" pitchFamily="49" charset="0"/>
              </a:rPr>
              <a:t>throws</a:t>
            </a:r>
            <a:r>
              <a:rPr lang="en-US" altLang="en-US"/>
              <a:t> clause, or</a:t>
            </a:r>
          </a:p>
          <a:p>
            <a:pPr lvl="1" eaLnBrk="1" hangingPunct="1">
              <a:lnSpc>
                <a:spcPct val="90000"/>
              </a:lnSpc>
            </a:pPr>
            <a:r>
              <a:rPr lang="en-US" altLang="en-US"/>
              <a:t>Handled in the method</a:t>
            </a:r>
          </a:p>
        </p:txBody>
      </p:sp>
    </p:spTree>
    <p:extLst>
      <p:ext uri="{BB962C8B-B14F-4D97-AF65-F5344CB8AC3E}">
        <p14:creationId xmlns:p14="http://schemas.microsoft.com/office/powerpoint/2010/main" val="297886213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a:extLst>
              <a:ext uri="{FF2B5EF4-FFF2-40B4-BE49-F238E27FC236}">
                <a16:creationId xmlns:a16="http://schemas.microsoft.com/office/drawing/2014/main" id="{70D3500A-19F7-6D42-9ED4-EE1B6923811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49155" name="Slide Number Placeholder 4">
            <a:extLst>
              <a:ext uri="{FF2B5EF4-FFF2-40B4-BE49-F238E27FC236}">
                <a16:creationId xmlns:a16="http://schemas.microsoft.com/office/drawing/2014/main" id="{DDDC1ABD-FA64-3544-8007-028DB2A9971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2F22A7F1-3772-FF40-8148-F2DAF08881B2}" type="slidenum">
              <a:rPr lang="en-US" altLang="en-US" sz="1000" smtClean="0">
                <a:solidFill>
                  <a:schemeClr val="tx1"/>
                </a:solidFill>
                <a:latin typeface="Arial" panose="020B0604020202020204" pitchFamily="34" charset="0"/>
              </a:rPr>
              <a:pPr>
                <a:spcBef>
                  <a:spcPct val="0"/>
                </a:spcBef>
                <a:buFontTx/>
                <a:buNone/>
              </a:pPr>
              <a:t>129</a:t>
            </a:fld>
            <a:endParaRPr lang="en-US" altLang="en-US" sz="1000">
              <a:solidFill>
                <a:schemeClr val="tx1"/>
              </a:solidFill>
              <a:latin typeface="Arial" panose="020B0604020202020204" pitchFamily="34" charset="0"/>
            </a:endParaRPr>
          </a:p>
        </p:txBody>
      </p:sp>
      <p:sp>
        <p:nvSpPr>
          <p:cNvPr id="49156" name="Rectangle 2">
            <a:extLst>
              <a:ext uri="{FF2B5EF4-FFF2-40B4-BE49-F238E27FC236}">
                <a16:creationId xmlns:a16="http://schemas.microsoft.com/office/drawing/2014/main" id="{A8D64141-302A-5E45-B317-309930067D11}"/>
              </a:ext>
            </a:extLst>
          </p:cNvPr>
          <p:cNvSpPr>
            <a:spLocks noGrp="1" noChangeArrowheads="1"/>
          </p:cNvSpPr>
          <p:nvPr>
            <p:ph type="title"/>
          </p:nvPr>
        </p:nvSpPr>
        <p:spPr/>
        <p:txBody>
          <a:bodyPr/>
          <a:lstStyle/>
          <a:p>
            <a:pPr eaLnBrk="1" hangingPunct="1"/>
            <a:r>
              <a:rPr lang="en-US" altLang="en-US"/>
              <a:t>Other Design Choices</a:t>
            </a:r>
          </a:p>
        </p:txBody>
      </p:sp>
      <p:sp>
        <p:nvSpPr>
          <p:cNvPr id="49157" name="Rectangle 3">
            <a:extLst>
              <a:ext uri="{FF2B5EF4-FFF2-40B4-BE49-F238E27FC236}">
                <a16:creationId xmlns:a16="http://schemas.microsoft.com/office/drawing/2014/main" id="{6EF96564-AED2-E545-A051-B7A74F2530D0}"/>
              </a:ext>
            </a:extLst>
          </p:cNvPr>
          <p:cNvSpPr>
            <a:spLocks noGrp="1" noChangeArrowheads="1"/>
          </p:cNvSpPr>
          <p:nvPr>
            <p:ph type="body" idx="1"/>
          </p:nvPr>
        </p:nvSpPr>
        <p:spPr/>
        <p:txBody>
          <a:bodyPr/>
          <a:lstStyle/>
          <a:p>
            <a:pPr eaLnBrk="1" hangingPunct="1"/>
            <a:r>
              <a:rPr lang="en-US" altLang="en-US" sz="2400"/>
              <a:t>A method cannot declare more exceptions in its </a:t>
            </a:r>
            <a:r>
              <a:rPr lang="en-US" altLang="en-US" sz="2400" b="1">
                <a:latin typeface="Courier New" panose="02070309020205020404" pitchFamily="49" charset="0"/>
              </a:rPr>
              <a:t>throws</a:t>
            </a:r>
            <a:r>
              <a:rPr lang="en-US" altLang="en-US" sz="2400"/>
              <a:t> clause than the method it overrides</a:t>
            </a:r>
          </a:p>
          <a:p>
            <a:pPr eaLnBrk="1" hangingPunct="1"/>
            <a:r>
              <a:rPr lang="en-US" altLang="en-US" sz="2400"/>
              <a:t>A method that calls a method that lists a particular checked exception in its </a:t>
            </a:r>
            <a:r>
              <a:rPr lang="en-US" altLang="en-US" sz="2400" b="1">
                <a:latin typeface="Courier New" panose="02070309020205020404" pitchFamily="49" charset="0"/>
              </a:rPr>
              <a:t>throws</a:t>
            </a:r>
            <a:r>
              <a:rPr lang="en-US" altLang="en-US" sz="2400"/>
              <a:t> clause has three alternatives for dealing with that exception:</a:t>
            </a:r>
          </a:p>
          <a:p>
            <a:pPr lvl="1" eaLnBrk="1" hangingPunct="1"/>
            <a:r>
              <a:rPr lang="en-US" altLang="en-US" sz="2000"/>
              <a:t>Catch and handle the exception</a:t>
            </a:r>
          </a:p>
          <a:p>
            <a:pPr lvl="1" eaLnBrk="1" hangingPunct="1"/>
            <a:r>
              <a:rPr lang="en-US" altLang="en-US" sz="2000"/>
              <a:t>Catch the exception and throw an exception that is listed in its own </a:t>
            </a:r>
            <a:r>
              <a:rPr lang="en-US" altLang="en-US" sz="2000" b="1">
                <a:latin typeface="Courier New" panose="02070309020205020404" pitchFamily="49" charset="0"/>
              </a:rPr>
              <a:t>throws</a:t>
            </a:r>
            <a:r>
              <a:rPr lang="en-US" altLang="en-US" sz="2000"/>
              <a:t> clause</a:t>
            </a:r>
          </a:p>
          <a:p>
            <a:pPr lvl="1" eaLnBrk="1" hangingPunct="1"/>
            <a:r>
              <a:rPr lang="en-US" altLang="en-US" sz="2000"/>
              <a:t>Declare it in its </a:t>
            </a:r>
            <a:r>
              <a:rPr lang="en-US" altLang="en-US" sz="2000" b="1">
                <a:latin typeface="Courier New" panose="02070309020205020404" pitchFamily="49" charset="0"/>
              </a:rPr>
              <a:t>throws</a:t>
            </a:r>
            <a:r>
              <a:rPr lang="en-US" altLang="en-US" sz="2000"/>
              <a:t> clause and do not handle it</a:t>
            </a:r>
          </a:p>
        </p:txBody>
      </p:sp>
    </p:spTree>
    <p:extLst>
      <p:ext uri="{BB962C8B-B14F-4D97-AF65-F5344CB8AC3E}">
        <p14:creationId xmlns:p14="http://schemas.microsoft.com/office/powerpoint/2010/main" val="298418827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a:extLst>
              <a:ext uri="{FF2B5EF4-FFF2-40B4-BE49-F238E27FC236}">
                <a16:creationId xmlns:a16="http://schemas.microsoft.com/office/drawing/2014/main" id="{0251DCE4-06B4-B04F-98BD-65EEB1FC2FA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51203" name="Slide Number Placeholder 4">
            <a:extLst>
              <a:ext uri="{FF2B5EF4-FFF2-40B4-BE49-F238E27FC236}">
                <a16:creationId xmlns:a16="http://schemas.microsoft.com/office/drawing/2014/main" id="{268C7494-4152-BB44-9795-0D154DCE107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513E7054-0301-984A-8760-A68CE0294C8C}" type="slidenum">
              <a:rPr lang="en-US" altLang="en-US" sz="1000" smtClean="0">
                <a:solidFill>
                  <a:schemeClr val="tx1"/>
                </a:solidFill>
                <a:latin typeface="Arial" panose="020B0604020202020204" pitchFamily="34" charset="0"/>
              </a:rPr>
              <a:pPr>
                <a:spcBef>
                  <a:spcPct val="0"/>
                </a:spcBef>
                <a:buFontTx/>
                <a:buNone/>
              </a:pPr>
              <a:t>130</a:t>
            </a:fld>
            <a:endParaRPr lang="en-US" altLang="en-US" sz="1000">
              <a:solidFill>
                <a:schemeClr val="tx1"/>
              </a:solidFill>
              <a:latin typeface="Arial" panose="020B0604020202020204" pitchFamily="34" charset="0"/>
            </a:endParaRPr>
          </a:p>
        </p:txBody>
      </p:sp>
      <p:sp>
        <p:nvSpPr>
          <p:cNvPr id="51204" name="Rectangle 2">
            <a:extLst>
              <a:ext uri="{FF2B5EF4-FFF2-40B4-BE49-F238E27FC236}">
                <a16:creationId xmlns:a16="http://schemas.microsoft.com/office/drawing/2014/main" id="{B0F7A870-E866-AE48-981B-9C6D628927A0}"/>
              </a:ext>
            </a:extLst>
          </p:cNvPr>
          <p:cNvSpPr>
            <a:spLocks noGrp="1" noChangeArrowheads="1"/>
          </p:cNvSpPr>
          <p:nvPr>
            <p:ph type="title"/>
          </p:nvPr>
        </p:nvSpPr>
        <p:spPr/>
        <p:txBody>
          <a:bodyPr/>
          <a:lstStyle/>
          <a:p>
            <a:pPr eaLnBrk="1" hangingPunct="1"/>
            <a:r>
              <a:rPr lang="en-US" altLang="en-US"/>
              <a:t>The </a:t>
            </a:r>
            <a:r>
              <a:rPr lang="en-US" altLang="en-US" b="1">
                <a:latin typeface="Courier New" panose="02070309020205020404" pitchFamily="49" charset="0"/>
              </a:rPr>
              <a:t>finally</a:t>
            </a:r>
            <a:r>
              <a:rPr lang="en-US" altLang="en-US"/>
              <a:t> Clause</a:t>
            </a:r>
          </a:p>
        </p:txBody>
      </p:sp>
      <p:sp>
        <p:nvSpPr>
          <p:cNvPr id="51205" name="Rectangle 3">
            <a:extLst>
              <a:ext uri="{FF2B5EF4-FFF2-40B4-BE49-F238E27FC236}">
                <a16:creationId xmlns:a16="http://schemas.microsoft.com/office/drawing/2014/main" id="{4316513E-8724-0B47-8189-6901BF8C452B}"/>
              </a:ext>
            </a:extLst>
          </p:cNvPr>
          <p:cNvSpPr>
            <a:spLocks noGrp="1" noChangeArrowheads="1"/>
          </p:cNvSpPr>
          <p:nvPr>
            <p:ph type="body" idx="1"/>
          </p:nvPr>
        </p:nvSpPr>
        <p:spPr/>
        <p:txBody>
          <a:bodyPr/>
          <a:lstStyle/>
          <a:p>
            <a:pPr eaLnBrk="1" hangingPunct="1"/>
            <a:r>
              <a:rPr lang="en-US" altLang="en-US"/>
              <a:t>Can appear at the end of a try construct</a:t>
            </a:r>
          </a:p>
          <a:p>
            <a:pPr eaLnBrk="1" hangingPunct="1"/>
            <a:r>
              <a:rPr lang="en-US" altLang="en-US"/>
              <a:t>Form:</a:t>
            </a:r>
          </a:p>
          <a:p>
            <a:pPr lvl="1" eaLnBrk="1" hangingPunct="1">
              <a:buFontTx/>
              <a:buNone/>
            </a:pPr>
            <a:r>
              <a:rPr lang="en-US" altLang="en-US" b="1">
                <a:latin typeface="Courier New" panose="02070309020205020404" pitchFamily="49" charset="0"/>
              </a:rPr>
              <a:t>finally</a:t>
            </a:r>
            <a:r>
              <a:rPr lang="en-US" altLang="en-US">
                <a:latin typeface="Courier New" panose="02070309020205020404" pitchFamily="49" charset="0"/>
              </a:rPr>
              <a:t> {</a:t>
            </a:r>
          </a:p>
          <a:p>
            <a:pPr lvl="1" eaLnBrk="1" hangingPunct="1">
              <a:buFontTx/>
              <a:buNone/>
            </a:pPr>
            <a:r>
              <a:rPr lang="en-US" altLang="en-US">
                <a:latin typeface="Courier New" panose="02070309020205020404" pitchFamily="49" charset="0"/>
              </a:rPr>
              <a:t>...</a:t>
            </a:r>
          </a:p>
          <a:p>
            <a:pPr lvl="1" eaLnBrk="1" hangingPunct="1">
              <a:buFontTx/>
              <a:buNone/>
            </a:pPr>
            <a:r>
              <a:rPr lang="en-US" altLang="en-US">
                <a:latin typeface="Courier New" panose="02070309020205020404" pitchFamily="49" charset="0"/>
              </a:rPr>
              <a:t>}</a:t>
            </a:r>
          </a:p>
          <a:p>
            <a:pPr eaLnBrk="1" hangingPunct="1"/>
            <a:r>
              <a:rPr lang="en-US" altLang="en-US"/>
              <a:t>Purpose: To specify code that is to be executed, regardless of what happens in the </a:t>
            </a:r>
            <a:r>
              <a:rPr lang="en-US" altLang="en-US" b="1">
                <a:latin typeface="Courier New" panose="02070309020205020404" pitchFamily="49" charset="0"/>
              </a:rPr>
              <a:t>try</a:t>
            </a:r>
            <a:r>
              <a:rPr lang="en-US" altLang="en-US"/>
              <a:t> construct</a:t>
            </a:r>
          </a:p>
        </p:txBody>
      </p:sp>
    </p:spTree>
    <p:extLst>
      <p:ext uri="{BB962C8B-B14F-4D97-AF65-F5344CB8AC3E}">
        <p14:creationId xmlns:p14="http://schemas.microsoft.com/office/powerpoint/2010/main" val="269081836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a:extLst>
              <a:ext uri="{FF2B5EF4-FFF2-40B4-BE49-F238E27FC236}">
                <a16:creationId xmlns:a16="http://schemas.microsoft.com/office/drawing/2014/main" id="{F93A1FCD-A327-A54A-9841-D1F1826C560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53251" name="Slide Number Placeholder 4">
            <a:extLst>
              <a:ext uri="{FF2B5EF4-FFF2-40B4-BE49-F238E27FC236}">
                <a16:creationId xmlns:a16="http://schemas.microsoft.com/office/drawing/2014/main" id="{A94CD379-FAF1-F245-9FE2-BE76319487C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3BD681CB-C448-A445-8177-F1FD52E8C49F}" type="slidenum">
              <a:rPr lang="en-US" altLang="en-US" sz="1000" smtClean="0">
                <a:solidFill>
                  <a:schemeClr val="tx1"/>
                </a:solidFill>
                <a:latin typeface="Arial" panose="020B0604020202020204" pitchFamily="34" charset="0"/>
              </a:rPr>
              <a:pPr>
                <a:spcBef>
                  <a:spcPct val="0"/>
                </a:spcBef>
                <a:buFontTx/>
                <a:buNone/>
              </a:pPr>
              <a:t>131</a:t>
            </a:fld>
            <a:endParaRPr lang="en-US" altLang="en-US" sz="1000">
              <a:solidFill>
                <a:schemeClr val="tx1"/>
              </a:solidFill>
              <a:latin typeface="Arial" panose="020B0604020202020204" pitchFamily="34" charset="0"/>
            </a:endParaRPr>
          </a:p>
        </p:txBody>
      </p:sp>
      <p:sp>
        <p:nvSpPr>
          <p:cNvPr id="53252" name="Rectangle 2">
            <a:extLst>
              <a:ext uri="{FF2B5EF4-FFF2-40B4-BE49-F238E27FC236}">
                <a16:creationId xmlns:a16="http://schemas.microsoft.com/office/drawing/2014/main" id="{6B0E2DFC-4DA0-5B4C-AE4A-A4D2B1C85650}"/>
              </a:ext>
            </a:extLst>
          </p:cNvPr>
          <p:cNvSpPr>
            <a:spLocks noGrp="1" noChangeArrowheads="1"/>
          </p:cNvSpPr>
          <p:nvPr>
            <p:ph type="title"/>
          </p:nvPr>
        </p:nvSpPr>
        <p:spPr/>
        <p:txBody>
          <a:bodyPr/>
          <a:lstStyle/>
          <a:p>
            <a:pPr eaLnBrk="1" hangingPunct="1"/>
            <a:r>
              <a:rPr lang="en-US" altLang="en-US"/>
              <a:t>Example</a:t>
            </a:r>
          </a:p>
        </p:txBody>
      </p:sp>
      <p:sp>
        <p:nvSpPr>
          <p:cNvPr id="53253" name="Rectangle 3">
            <a:extLst>
              <a:ext uri="{FF2B5EF4-FFF2-40B4-BE49-F238E27FC236}">
                <a16:creationId xmlns:a16="http://schemas.microsoft.com/office/drawing/2014/main" id="{AB81328C-EAA4-F946-B3D0-91C97EDD08AC}"/>
              </a:ext>
            </a:extLst>
          </p:cNvPr>
          <p:cNvSpPr>
            <a:spLocks noGrp="1" noChangeArrowheads="1"/>
          </p:cNvSpPr>
          <p:nvPr>
            <p:ph type="body" idx="1"/>
          </p:nvPr>
        </p:nvSpPr>
        <p:spPr/>
        <p:txBody>
          <a:bodyPr/>
          <a:lstStyle/>
          <a:p>
            <a:pPr eaLnBrk="1" hangingPunct="1"/>
            <a:r>
              <a:rPr lang="en-US" altLang="en-US" sz="2400"/>
              <a:t>A try construct with a finally clause can be used outside exception handling</a:t>
            </a:r>
          </a:p>
          <a:p>
            <a:pPr eaLnBrk="1" hangingPunct="1">
              <a:spcBef>
                <a:spcPct val="0"/>
              </a:spcBef>
              <a:buFontTx/>
              <a:buNone/>
            </a:pPr>
            <a:endParaRPr lang="en-US" altLang="en-US" sz="2000" b="1">
              <a:latin typeface="Courier New" panose="02070309020205020404" pitchFamily="49" charset="0"/>
            </a:endParaRPr>
          </a:p>
          <a:p>
            <a:pPr eaLnBrk="1" hangingPunct="1">
              <a:spcBef>
                <a:spcPct val="0"/>
              </a:spcBef>
              <a:buFontTx/>
              <a:buNone/>
            </a:pPr>
            <a:r>
              <a:rPr lang="en-US" altLang="en-US" sz="2000">
                <a:latin typeface="Courier New" panose="02070309020205020404" pitchFamily="49" charset="0"/>
              </a:rPr>
              <a:t>	</a:t>
            </a:r>
            <a:r>
              <a:rPr lang="en-US" altLang="en-US" sz="2000" b="1">
                <a:latin typeface="Courier New" panose="02070309020205020404" pitchFamily="49" charset="0"/>
              </a:rPr>
              <a:t>try</a:t>
            </a:r>
            <a:r>
              <a:rPr lang="en-US" altLang="en-US" sz="2000">
                <a:latin typeface="Courier New" panose="02070309020205020404" pitchFamily="49" charset="0"/>
              </a:rPr>
              <a:t> {</a:t>
            </a:r>
          </a:p>
          <a:p>
            <a:pPr eaLnBrk="1" hangingPunct="1">
              <a:spcBef>
                <a:spcPct val="0"/>
              </a:spcBef>
              <a:buFontTx/>
              <a:buNone/>
            </a:pPr>
            <a:r>
              <a:rPr lang="en-US" altLang="en-US" sz="2000">
                <a:latin typeface="Courier New" panose="02070309020205020404" pitchFamily="49" charset="0"/>
              </a:rPr>
              <a:t>		</a:t>
            </a:r>
            <a:r>
              <a:rPr lang="en-US" altLang="en-US" sz="2000" b="1">
                <a:latin typeface="Courier New" panose="02070309020205020404" pitchFamily="49" charset="0"/>
              </a:rPr>
              <a:t>for</a:t>
            </a:r>
            <a:r>
              <a:rPr lang="en-US" altLang="en-US" sz="2000">
                <a:latin typeface="Courier New" panose="02070309020205020404" pitchFamily="49" charset="0"/>
              </a:rPr>
              <a:t> (index = 0; index &lt; 100; index++) {</a:t>
            </a:r>
          </a:p>
          <a:p>
            <a:pPr eaLnBrk="1" hangingPunct="1">
              <a:spcBef>
                <a:spcPct val="0"/>
              </a:spcBef>
              <a:buFontTx/>
              <a:buNone/>
            </a:pPr>
            <a:r>
              <a:rPr lang="en-US" altLang="en-US" sz="2000">
                <a:latin typeface="Courier New" panose="02070309020205020404" pitchFamily="49" charset="0"/>
              </a:rPr>
              <a:t>			</a:t>
            </a:r>
            <a:r>
              <a:rPr lang="en-US" altLang="en-US" sz="2000"/>
              <a:t>…</a:t>
            </a:r>
            <a:endParaRPr lang="en-US" altLang="en-US" sz="2000">
              <a:latin typeface="Courier New" panose="02070309020205020404" pitchFamily="49" charset="0"/>
            </a:endParaRPr>
          </a:p>
          <a:p>
            <a:pPr eaLnBrk="1" hangingPunct="1">
              <a:spcBef>
                <a:spcPct val="0"/>
              </a:spcBef>
              <a:buFontTx/>
              <a:buNone/>
            </a:pPr>
            <a:r>
              <a:rPr lang="en-US" altLang="en-US" sz="2000">
                <a:latin typeface="Courier New" panose="02070309020205020404" pitchFamily="49" charset="0"/>
              </a:rPr>
              <a:t>			</a:t>
            </a:r>
            <a:r>
              <a:rPr lang="en-US" altLang="en-US" sz="2000" b="1">
                <a:latin typeface="Courier New" panose="02070309020205020404" pitchFamily="49" charset="0"/>
              </a:rPr>
              <a:t>if</a:t>
            </a:r>
            <a:r>
              <a:rPr lang="en-US" altLang="en-US" sz="2000">
                <a:latin typeface="Courier New" panose="02070309020205020404" pitchFamily="49" charset="0"/>
              </a:rPr>
              <a:t> (</a:t>
            </a:r>
            <a:r>
              <a:rPr lang="en-US" altLang="en-US" sz="2000"/>
              <a:t>…</a:t>
            </a:r>
            <a:r>
              <a:rPr lang="en-US" altLang="en-US" sz="2000">
                <a:latin typeface="Courier New" panose="02070309020205020404" pitchFamily="49" charset="0"/>
              </a:rPr>
              <a:t>) {</a:t>
            </a:r>
          </a:p>
          <a:p>
            <a:pPr eaLnBrk="1" hangingPunct="1">
              <a:spcBef>
                <a:spcPct val="0"/>
              </a:spcBef>
              <a:buFontTx/>
              <a:buNone/>
            </a:pPr>
            <a:r>
              <a:rPr lang="en-US" altLang="en-US" sz="2000">
                <a:latin typeface="Courier New" panose="02070309020205020404" pitchFamily="49" charset="0"/>
              </a:rPr>
              <a:t>				</a:t>
            </a:r>
            <a:r>
              <a:rPr lang="en-US" altLang="en-US" sz="2000" b="1">
                <a:latin typeface="Courier New" panose="02070309020205020404" pitchFamily="49" charset="0"/>
              </a:rPr>
              <a:t>return</a:t>
            </a:r>
            <a:r>
              <a:rPr lang="en-US" altLang="en-US" sz="2000">
                <a:latin typeface="Courier New" panose="02070309020205020404" pitchFamily="49" charset="0"/>
              </a:rPr>
              <a:t>;</a:t>
            </a:r>
          </a:p>
          <a:p>
            <a:pPr eaLnBrk="1" hangingPunct="1">
              <a:spcBef>
                <a:spcPct val="0"/>
              </a:spcBef>
              <a:buFontTx/>
              <a:buNone/>
            </a:pPr>
            <a:r>
              <a:rPr lang="en-US" altLang="en-US" sz="2000">
                <a:latin typeface="Courier New" panose="02070309020205020404" pitchFamily="49" charset="0"/>
              </a:rPr>
              <a:t>			}  </a:t>
            </a:r>
            <a:r>
              <a:rPr lang="en-US" altLang="en-US" sz="2000">
                <a:solidFill>
                  <a:schemeClr val="tx2"/>
                </a:solidFill>
                <a:latin typeface="Courier New" panose="02070309020205020404" pitchFamily="49" charset="0"/>
              </a:rPr>
              <a:t>//** end of if</a:t>
            </a:r>
          </a:p>
          <a:p>
            <a:pPr eaLnBrk="1" hangingPunct="1">
              <a:spcBef>
                <a:spcPct val="0"/>
              </a:spcBef>
              <a:buFontTx/>
              <a:buNone/>
            </a:pPr>
            <a:r>
              <a:rPr lang="en-US" altLang="en-US" sz="2000">
                <a:latin typeface="Courier New" panose="02070309020205020404" pitchFamily="49" charset="0"/>
              </a:rPr>
              <a:t>	}  </a:t>
            </a:r>
            <a:r>
              <a:rPr lang="en-US" altLang="en-US" sz="2000">
                <a:solidFill>
                  <a:schemeClr val="tx2"/>
                </a:solidFill>
                <a:latin typeface="Courier New" panose="02070309020205020404" pitchFamily="49" charset="0"/>
              </a:rPr>
              <a:t>//** end of try clause</a:t>
            </a:r>
          </a:p>
          <a:p>
            <a:pPr eaLnBrk="1" hangingPunct="1">
              <a:spcBef>
                <a:spcPct val="0"/>
              </a:spcBef>
              <a:buFontTx/>
              <a:buNone/>
            </a:pPr>
            <a:r>
              <a:rPr lang="en-US" altLang="en-US" sz="2000">
                <a:latin typeface="Courier New" panose="02070309020205020404" pitchFamily="49" charset="0"/>
              </a:rPr>
              <a:t>	</a:t>
            </a:r>
            <a:r>
              <a:rPr lang="en-US" altLang="en-US" sz="2000" b="1">
                <a:latin typeface="Courier New" panose="02070309020205020404" pitchFamily="49" charset="0"/>
              </a:rPr>
              <a:t>finally</a:t>
            </a:r>
            <a:r>
              <a:rPr lang="en-US" altLang="en-US" sz="2000">
                <a:latin typeface="Courier New" panose="02070309020205020404" pitchFamily="49" charset="0"/>
              </a:rPr>
              <a:t> {</a:t>
            </a:r>
          </a:p>
          <a:p>
            <a:pPr eaLnBrk="1" hangingPunct="1">
              <a:spcBef>
                <a:spcPct val="0"/>
              </a:spcBef>
              <a:buFontTx/>
              <a:buNone/>
            </a:pPr>
            <a:r>
              <a:rPr lang="en-US" altLang="en-US" sz="2000">
                <a:latin typeface="Courier New" panose="02070309020205020404" pitchFamily="49" charset="0"/>
              </a:rPr>
              <a:t>		</a:t>
            </a:r>
            <a:r>
              <a:rPr lang="en-US" altLang="en-US" sz="2000"/>
              <a:t>…</a:t>
            </a:r>
            <a:endParaRPr lang="en-US" altLang="en-US" sz="2000">
              <a:latin typeface="Courier New" panose="02070309020205020404" pitchFamily="49" charset="0"/>
            </a:endParaRPr>
          </a:p>
          <a:p>
            <a:pPr eaLnBrk="1" hangingPunct="1">
              <a:spcBef>
                <a:spcPct val="0"/>
              </a:spcBef>
              <a:buFontTx/>
              <a:buNone/>
            </a:pPr>
            <a:r>
              <a:rPr lang="en-US" altLang="en-US" sz="2000">
                <a:latin typeface="Courier New" panose="02070309020205020404" pitchFamily="49" charset="0"/>
              </a:rPr>
              <a:t>	}  </a:t>
            </a:r>
            <a:r>
              <a:rPr lang="en-US" altLang="en-US" sz="2000">
                <a:solidFill>
                  <a:schemeClr val="tx2"/>
                </a:solidFill>
                <a:latin typeface="Courier New" panose="02070309020205020404" pitchFamily="49" charset="0"/>
              </a:rPr>
              <a:t>//** end of try construct</a:t>
            </a:r>
          </a:p>
        </p:txBody>
      </p:sp>
    </p:spTree>
    <p:extLst>
      <p:ext uri="{BB962C8B-B14F-4D97-AF65-F5344CB8AC3E}">
        <p14:creationId xmlns:p14="http://schemas.microsoft.com/office/powerpoint/2010/main" val="410188886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3">
            <a:extLst>
              <a:ext uri="{FF2B5EF4-FFF2-40B4-BE49-F238E27FC236}">
                <a16:creationId xmlns:a16="http://schemas.microsoft.com/office/drawing/2014/main" id="{2B05FA3D-FFEA-7349-8414-54CC0173D55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55299" name="Slide Number Placeholder 4">
            <a:extLst>
              <a:ext uri="{FF2B5EF4-FFF2-40B4-BE49-F238E27FC236}">
                <a16:creationId xmlns:a16="http://schemas.microsoft.com/office/drawing/2014/main" id="{9BE05852-38FD-714A-8EF5-1B0A022DD8E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68E7E33E-30D1-8F4E-8579-1B3E081363EB}" type="slidenum">
              <a:rPr lang="en-US" altLang="en-US" sz="1000" smtClean="0">
                <a:solidFill>
                  <a:schemeClr val="tx1"/>
                </a:solidFill>
                <a:latin typeface="Arial" panose="020B0604020202020204" pitchFamily="34" charset="0"/>
              </a:rPr>
              <a:pPr>
                <a:spcBef>
                  <a:spcPct val="0"/>
                </a:spcBef>
                <a:buFontTx/>
                <a:buNone/>
              </a:pPr>
              <a:t>132</a:t>
            </a:fld>
            <a:endParaRPr lang="en-US" altLang="en-US" sz="1000">
              <a:solidFill>
                <a:schemeClr val="tx1"/>
              </a:solidFill>
              <a:latin typeface="Arial" panose="020B0604020202020204" pitchFamily="34" charset="0"/>
            </a:endParaRPr>
          </a:p>
        </p:txBody>
      </p:sp>
      <p:sp>
        <p:nvSpPr>
          <p:cNvPr id="55300" name="Rectangle 2">
            <a:extLst>
              <a:ext uri="{FF2B5EF4-FFF2-40B4-BE49-F238E27FC236}">
                <a16:creationId xmlns:a16="http://schemas.microsoft.com/office/drawing/2014/main" id="{362581D6-AFA8-634E-97DE-9D0B7609E922}"/>
              </a:ext>
            </a:extLst>
          </p:cNvPr>
          <p:cNvSpPr>
            <a:spLocks noGrp="1" noChangeArrowheads="1"/>
          </p:cNvSpPr>
          <p:nvPr>
            <p:ph type="title"/>
          </p:nvPr>
        </p:nvSpPr>
        <p:spPr/>
        <p:txBody>
          <a:bodyPr/>
          <a:lstStyle/>
          <a:p>
            <a:pPr eaLnBrk="1" hangingPunct="1"/>
            <a:r>
              <a:rPr lang="en-US" altLang="en-US"/>
              <a:t>Assertions</a:t>
            </a:r>
          </a:p>
        </p:txBody>
      </p:sp>
      <p:sp>
        <p:nvSpPr>
          <p:cNvPr id="55301" name="Rectangle 3">
            <a:extLst>
              <a:ext uri="{FF2B5EF4-FFF2-40B4-BE49-F238E27FC236}">
                <a16:creationId xmlns:a16="http://schemas.microsoft.com/office/drawing/2014/main" id="{DB160EBC-4F49-344A-B5E5-91D80E0B52DC}"/>
              </a:ext>
            </a:extLst>
          </p:cNvPr>
          <p:cNvSpPr>
            <a:spLocks noGrp="1" noChangeArrowheads="1"/>
          </p:cNvSpPr>
          <p:nvPr>
            <p:ph type="body" idx="1"/>
          </p:nvPr>
        </p:nvSpPr>
        <p:spPr>
          <a:xfrm>
            <a:off x="533400" y="1447800"/>
            <a:ext cx="8153400" cy="4572000"/>
          </a:xfrm>
        </p:spPr>
        <p:txBody>
          <a:bodyPr/>
          <a:lstStyle/>
          <a:p>
            <a:pPr eaLnBrk="1" hangingPunct="1"/>
            <a:r>
              <a:rPr lang="en-US" altLang="en-US" sz="2400"/>
              <a:t>Statements in the program declaring a boolean expression regarding the current state of the computation</a:t>
            </a:r>
          </a:p>
          <a:p>
            <a:pPr eaLnBrk="1" hangingPunct="1"/>
            <a:r>
              <a:rPr lang="en-US" altLang="en-US" sz="2400"/>
              <a:t>When evaluated to true nothing happens</a:t>
            </a:r>
          </a:p>
          <a:p>
            <a:pPr eaLnBrk="1" hangingPunct="1"/>
            <a:r>
              <a:rPr lang="en-US" altLang="en-US" sz="2400"/>
              <a:t>When evaluated to false an </a:t>
            </a:r>
            <a:r>
              <a:rPr lang="en-US" altLang="en-US" sz="2400">
                <a:latin typeface="Courier New" panose="02070309020205020404" pitchFamily="49" charset="0"/>
              </a:rPr>
              <a:t>AssertionError</a:t>
            </a:r>
            <a:r>
              <a:rPr lang="en-US" altLang="en-US" sz="2400"/>
              <a:t> exception is thrown</a:t>
            </a:r>
          </a:p>
          <a:p>
            <a:pPr eaLnBrk="1" hangingPunct="1"/>
            <a:r>
              <a:rPr lang="en-US" altLang="en-US" sz="2400"/>
              <a:t>Can be disabled during runtime without program modification or recompilation</a:t>
            </a:r>
          </a:p>
          <a:p>
            <a:pPr eaLnBrk="1" hangingPunct="1"/>
            <a:r>
              <a:rPr lang="en-US" altLang="en-US" sz="2400"/>
              <a:t>Two forms</a:t>
            </a:r>
          </a:p>
          <a:p>
            <a:pPr lvl="1" eaLnBrk="1" hangingPunct="1"/>
            <a:r>
              <a:rPr lang="en-US" altLang="en-US" sz="2000" b="1">
                <a:latin typeface="Courier New" panose="02070309020205020404" pitchFamily="49" charset="0"/>
              </a:rPr>
              <a:t>assert</a:t>
            </a:r>
            <a:r>
              <a:rPr lang="en-US" altLang="en-US" sz="2000">
                <a:latin typeface="Courier New" panose="02070309020205020404" pitchFamily="49" charset="0"/>
              </a:rPr>
              <a:t> </a:t>
            </a:r>
            <a:r>
              <a:rPr lang="en-US" altLang="en-US" sz="2000" i="1"/>
              <a:t>condition</a:t>
            </a:r>
            <a:r>
              <a:rPr lang="en-US" altLang="en-US" sz="2000">
                <a:latin typeface="Courier New" panose="02070309020205020404" pitchFamily="49" charset="0"/>
              </a:rPr>
              <a:t>;</a:t>
            </a:r>
            <a:endParaRPr lang="en-US" altLang="en-US" sz="2000"/>
          </a:p>
          <a:p>
            <a:pPr lvl="1" eaLnBrk="1" hangingPunct="1"/>
            <a:r>
              <a:rPr lang="en-US" altLang="en-US" sz="2000" b="1">
                <a:latin typeface="Courier New" panose="02070309020205020404" pitchFamily="49" charset="0"/>
              </a:rPr>
              <a:t>assert</a:t>
            </a:r>
            <a:r>
              <a:rPr lang="en-US" altLang="en-US" sz="2000">
                <a:latin typeface="Courier New" panose="02070309020205020404" pitchFamily="49" charset="0"/>
              </a:rPr>
              <a:t> </a:t>
            </a:r>
            <a:r>
              <a:rPr lang="en-US" altLang="en-US" sz="2000" i="1"/>
              <a:t>condition</a:t>
            </a:r>
            <a:r>
              <a:rPr lang="en-US" altLang="en-US" sz="2000">
                <a:latin typeface="Courier New" panose="02070309020205020404" pitchFamily="49" charset="0"/>
              </a:rPr>
              <a:t>: </a:t>
            </a:r>
            <a:r>
              <a:rPr lang="en-US" altLang="en-US" sz="2000" i="1"/>
              <a:t>expression</a:t>
            </a:r>
            <a:r>
              <a:rPr lang="en-US" altLang="en-US" sz="2000">
                <a:latin typeface="Courier New" panose="02070309020205020404" pitchFamily="49" charset="0"/>
              </a:rPr>
              <a:t>;</a:t>
            </a:r>
            <a:endParaRPr lang="en-US" altLang="en-US" sz="2000"/>
          </a:p>
          <a:p>
            <a:pPr eaLnBrk="1" hangingPunct="1"/>
            <a:endParaRPr lang="en-US" altLang="en-US"/>
          </a:p>
        </p:txBody>
      </p:sp>
    </p:spTree>
    <p:extLst>
      <p:ext uri="{BB962C8B-B14F-4D97-AF65-F5344CB8AC3E}">
        <p14:creationId xmlns:p14="http://schemas.microsoft.com/office/powerpoint/2010/main" val="129533920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3">
            <a:extLst>
              <a:ext uri="{FF2B5EF4-FFF2-40B4-BE49-F238E27FC236}">
                <a16:creationId xmlns:a16="http://schemas.microsoft.com/office/drawing/2014/main" id="{92DB2CBB-46ED-254A-8437-2E45BB65135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57347" name="Slide Number Placeholder 4">
            <a:extLst>
              <a:ext uri="{FF2B5EF4-FFF2-40B4-BE49-F238E27FC236}">
                <a16:creationId xmlns:a16="http://schemas.microsoft.com/office/drawing/2014/main" id="{938B273D-DC61-F64A-BD40-FA674087F09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439A8D03-67C5-1142-A2BE-AA6A33B67907}" type="slidenum">
              <a:rPr lang="en-US" altLang="en-US" sz="1000" smtClean="0">
                <a:solidFill>
                  <a:schemeClr val="tx1"/>
                </a:solidFill>
                <a:latin typeface="Arial" panose="020B0604020202020204" pitchFamily="34" charset="0"/>
              </a:rPr>
              <a:pPr>
                <a:spcBef>
                  <a:spcPct val="0"/>
                </a:spcBef>
                <a:buFontTx/>
                <a:buNone/>
              </a:pPr>
              <a:t>133</a:t>
            </a:fld>
            <a:endParaRPr lang="en-US" altLang="en-US" sz="1000">
              <a:solidFill>
                <a:schemeClr val="tx1"/>
              </a:solidFill>
              <a:latin typeface="Arial" panose="020B0604020202020204" pitchFamily="34" charset="0"/>
            </a:endParaRPr>
          </a:p>
        </p:txBody>
      </p:sp>
      <p:sp>
        <p:nvSpPr>
          <p:cNvPr id="57348" name="Rectangle 2">
            <a:extLst>
              <a:ext uri="{FF2B5EF4-FFF2-40B4-BE49-F238E27FC236}">
                <a16:creationId xmlns:a16="http://schemas.microsoft.com/office/drawing/2014/main" id="{DEC9C06D-CB8E-5E42-8E5B-679E6C6A9810}"/>
              </a:ext>
            </a:extLst>
          </p:cNvPr>
          <p:cNvSpPr>
            <a:spLocks noGrp="1" noChangeArrowheads="1"/>
          </p:cNvSpPr>
          <p:nvPr>
            <p:ph type="title"/>
          </p:nvPr>
        </p:nvSpPr>
        <p:spPr/>
        <p:txBody>
          <a:bodyPr/>
          <a:lstStyle/>
          <a:p>
            <a:pPr eaLnBrk="1" hangingPunct="1"/>
            <a:r>
              <a:rPr lang="en-US" altLang="en-US"/>
              <a:t>Evaluation</a:t>
            </a:r>
          </a:p>
        </p:txBody>
      </p:sp>
      <p:sp>
        <p:nvSpPr>
          <p:cNvPr id="57349" name="Rectangle 3">
            <a:extLst>
              <a:ext uri="{FF2B5EF4-FFF2-40B4-BE49-F238E27FC236}">
                <a16:creationId xmlns:a16="http://schemas.microsoft.com/office/drawing/2014/main" id="{705681D8-0D4D-7848-B35A-88E903FFD402}"/>
              </a:ext>
            </a:extLst>
          </p:cNvPr>
          <p:cNvSpPr>
            <a:spLocks noGrp="1" noChangeArrowheads="1"/>
          </p:cNvSpPr>
          <p:nvPr>
            <p:ph type="body" idx="1"/>
          </p:nvPr>
        </p:nvSpPr>
        <p:spPr/>
        <p:txBody>
          <a:bodyPr/>
          <a:lstStyle/>
          <a:p>
            <a:pPr eaLnBrk="1" hangingPunct="1"/>
            <a:r>
              <a:rPr lang="en-US" altLang="en-US"/>
              <a:t>The types of exceptions makes more sense than in the case of C++</a:t>
            </a:r>
          </a:p>
          <a:p>
            <a:pPr eaLnBrk="1" hangingPunct="1"/>
            <a:r>
              <a:rPr lang="en-US" altLang="en-US"/>
              <a:t>The </a:t>
            </a:r>
            <a:r>
              <a:rPr lang="en-US" altLang="en-US" b="1">
                <a:latin typeface="Courier New" panose="02070309020205020404" pitchFamily="49" charset="0"/>
              </a:rPr>
              <a:t>throws</a:t>
            </a:r>
            <a:r>
              <a:rPr lang="en-US" altLang="en-US"/>
              <a:t> clause is better than that of C++ (The </a:t>
            </a:r>
            <a:r>
              <a:rPr lang="en-US" altLang="en-US" b="1">
                <a:latin typeface="Courier New" panose="02070309020205020404" pitchFamily="49" charset="0"/>
              </a:rPr>
              <a:t>throw</a:t>
            </a:r>
            <a:r>
              <a:rPr lang="en-US" altLang="en-US"/>
              <a:t> clause in C++ says little to the programmer)</a:t>
            </a:r>
          </a:p>
          <a:p>
            <a:pPr eaLnBrk="1" hangingPunct="1"/>
            <a:r>
              <a:rPr lang="en-US" altLang="en-US"/>
              <a:t>The </a:t>
            </a:r>
            <a:r>
              <a:rPr lang="en-US" altLang="en-US" b="1">
                <a:latin typeface="Courier New" panose="02070309020205020404" pitchFamily="49" charset="0"/>
              </a:rPr>
              <a:t>finally</a:t>
            </a:r>
            <a:r>
              <a:rPr lang="en-US" altLang="en-US"/>
              <a:t> clause is often useful</a:t>
            </a:r>
          </a:p>
          <a:p>
            <a:pPr eaLnBrk="1" hangingPunct="1"/>
            <a:r>
              <a:rPr lang="en-US" altLang="en-US"/>
              <a:t>The Java interpreter throws a variety of exceptions that can be handled by user programs</a:t>
            </a:r>
          </a:p>
        </p:txBody>
      </p:sp>
    </p:spTree>
    <p:extLst>
      <p:ext uri="{BB962C8B-B14F-4D97-AF65-F5344CB8AC3E}">
        <p14:creationId xmlns:p14="http://schemas.microsoft.com/office/powerpoint/2010/main" val="152107770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E6779542-C911-F44B-AB95-D3324A29B8FF}"/>
              </a:ext>
            </a:extLst>
          </p:cNvPr>
          <p:cNvSpPr>
            <a:spLocks noGrp="1"/>
          </p:cNvSpPr>
          <p:nvPr>
            <p:ph type="title"/>
          </p:nvPr>
        </p:nvSpPr>
        <p:spPr/>
        <p:txBody>
          <a:bodyPr/>
          <a:lstStyle/>
          <a:p>
            <a:r>
              <a:rPr lang="en-US" altLang="en-US"/>
              <a:t>Exception Handling in Python</a:t>
            </a:r>
          </a:p>
        </p:txBody>
      </p:sp>
      <p:sp>
        <p:nvSpPr>
          <p:cNvPr id="59395" name="Content Placeholder 2">
            <a:extLst>
              <a:ext uri="{FF2B5EF4-FFF2-40B4-BE49-F238E27FC236}">
                <a16:creationId xmlns:a16="http://schemas.microsoft.com/office/drawing/2014/main" id="{A4FA75DD-D494-104D-B740-C72E0CBDBA8A}"/>
              </a:ext>
            </a:extLst>
          </p:cNvPr>
          <p:cNvSpPr>
            <a:spLocks noGrp="1"/>
          </p:cNvSpPr>
          <p:nvPr>
            <p:ph idx="1"/>
          </p:nvPr>
        </p:nvSpPr>
        <p:spPr/>
        <p:txBody>
          <a:bodyPr/>
          <a:lstStyle/>
          <a:p>
            <a:r>
              <a:rPr lang="en-US" altLang="en-US"/>
              <a:t>Exceptions are objects; the base class is </a:t>
            </a:r>
            <a:r>
              <a:rPr lang="en-US" altLang="en-US" sz="2000">
                <a:latin typeface="Courier New" panose="02070309020205020404" pitchFamily="49" charset="0"/>
                <a:cs typeface="Courier New" panose="02070309020205020404" pitchFamily="49" charset="0"/>
              </a:rPr>
              <a:t>BaseException</a:t>
            </a:r>
          </a:p>
          <a:p>
            <a:r>
              <a:rPr lang="en-US" altLang="en-US"/>
              <a:t>All predefined and user-defined exceptions are derived from </a:t>
            </a:r>
            <a:r>
              <a:rPr lang="en-US" altLang="en-US" sz="2000">
                <a:latin typeface="Courier New" panose="02070309020205020404" pitchFamily="49" charset="0"/>
                <a:cs typeface="Courier New" panose="02070309020205020404" pitchFamily="49" charset="0"/>
              </a:rPr>
              <a:t>Exception</a:t>
            </a:r>
          </a:p>
          <a:p>
            <a:r>
              <a:rPr lang="en-US" altLang="en-US"/>
              <a:t>Predefined subclasses of </a:t>
            </a:r>
            <a:r>
              <a:rPr lang="en-US" altLang="en-US" sz="2000">
                <a:latin typeface="Courier New" panose="02070309020205020404" pitchFamily="49" charset="0"/>
                <a:cs typeface="Courier New" panose="02070309020205020404" pitchFamily="49" charset="0"/>
              </a:rPr>
              <a:t>Exception</a:t>
            </a:r>
            <a:r>
              <a:rPr lang="en-US" altLang="en-US"/>
              <a:t> are </a:t>
            </a:r>
            <a:r>
              <a:rPr lang="en-US" altLang="en-US" sz="2000">
                <a:latin typeface="Courier New" panose="02070309020205020404" pitchFamily="49" charset="0"/>
                <a:cs typeface="Courier New" panose="02070309020205020404" pitchFamily="49" charset="0"/>
              </a:rPr>
              <a:t>ArithmeticError</a:t>
            </a:r>
            <a:r>
              <a:rPr lang="en-US" altLang="en-US"/>
              <a:t> (subclasses are </a:t>
            </a:r>
            <a:r>
              <a:rPr lang="en-US" altLang="en-US" sz="2000">
                <a:latin typeface="Courier New" panose="02070309020205020404" pitchFamily="49" charset="0"/>
                <a:cs typeface="Courier New" panose="02070309020205020404" pitchFamily="49" charset="0"/>
              </a:rPr>
              <a:t>OverflowError</a:t>
            </a:r>
            <a:r>
              <a:rPr lang="en-US" altLang="en-US"/>
              <a:t>, </a:t>
            </a:r>
            <a:r>
              <a:rPr lang="en-US" altLang="en-US" sz="2000">
                <a:latin typeface="Courier New" panose="02070309020205020404" pitchFamily="49" charset="0"/>
                <a:cs typeface="Courier New" panose="02070309020205020404" pitchFamily="49" charset="0"/>
              </a:rPr>
              <a:t>ZeroDivisionError</a:t>
            </a:r>
            <a:r>
              <a:rPr lang="en-US" altLang="en-US"/>
              <a:t>, and </a:t>
            </a:r>
            <a:r>
              <a:rPr lang="en-US" altLang="en-US" sz="2000">
                <a:latin typeface="Courier New" panose="02070309020205020404" pitchFamily="49" charset="0"/>
                <a:cs typeface="Courier New" panose="02070309020205020404" pitchFamily="49" charset="0"/>
              </a:rPr>
              <a:t>FloatingPointError</a:t>
            </a:r>
            <a:r>
              <a:rPr lang="en-US" altLang="en-US"/>
              <a:t>) and </a:t>
            </a:r>
            <a:r>
              <a:rPr lang="en-US" altLang="en-US" sz="2000">
                <a:latin typeface="Courier New" panose="02070309020205020404" pitchFamily="49" charset="0"/>
                <a:cs typeface="Courier New" panose="02070309020205020404" pitchFamily="49" charset="0"/>
              </a:rPr>
              <a:t>LookupError</a:t>
            </a:r>
            <a:r>
              <a:rPr lang="en-US" altLang="en-US"/>
              <a:t> (subclasses are </a:t>
            </a:r>
            <a:r>
              <a:rPr lang="en-US" altLang="en-US" sz="2000">
                <a:latin typeface="Courier New" panose="02070309020205020404" pitchFamily="49" charset="0"/>
                <a:cs typeface="Courier New" panose="02070309020205020404" pitchFamily="49" charset="0"/>
              </a:rPr>
              <a:t>IndexError</a:t>
            </a:r>
            <a:r>
              <a:rPr lang="en-US" altLang="en-US"/>
              <a:t> and </a:t>
            </a:r>
            <a:r>
              <a:rPr lang="en-US" altLang="en-US" sz="2000">
                <a:latin typeface="Courier New" panose="02070309020205020404" pitchFamily="49" charset="0"/>
                <a:cs typeface="Courier New" panose="02070309020205020404" pitchFamily="49" charset="0"/>
              </a:rPr>
              <a:t>KeyError</a:t>
            </a:r>
            <a:r>
              <a:rPr lang="en-US" altLang="en-US"/>
              <a:t>)</a:t>
            </a:r>
          </a:p>
          <a:p>
            <a:endParaRPr lang="en-US" altLang="en-US"/>
          </a:p>
        </p:txBody>
      </p:sp>
      <p:sp>
        <p:nvSpPr>
          <p:cNvPr id="59396" name="Footer Placeholder 3">
            <a:extLst>
              <a:ext uri="{FF2B5EF4-FFF2-40B4-BE49-F238E27FC236}">
                <a16:creationId xmlns:a16="http://schemas.microsoft.com/office/drawing/2014/main" id="{B862E1CB-76F9-5544-87D7-58D9D7C672B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59397" name="Slide Number Placeholder 4">
            <a:extLst>
              <a:ext uri="{FF2B5EF4-FFF2-40B4-BE49-F238E27FC236}">
                <a16:creationId xmlns:a16="http://schemas.microsoft.com/office/drawing/2014/main" id="{9FEF7FCE-11B2-5F40-A41F-C293CB0A95D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75DCF5F5-4EAD-6248-ADD9-39803B7181D1}" type="slidenum">
              <a:rPr lang="en-US" altLang="en-US" sz="1000" smtClean="0">
                <a:solidFill>
                  <a:schemeClr val="tx1"/>
                </a:solidFill>
                <a:latin typeface="Arial" panose="020B0604020202020204" pitchFamily="34" charset="0"/>
              </a:rPr>
              <a:pPr>
                <a:spcBef>
                  <a:spcPct val="0"/>
                </a:spcBef>
                <a:buFontTx/>
                <a:buNone/>
              </a:pPr>
              <a:t>134</a:t>
            </a:fld>
            <a:endParaRPr lang="en-US" altLang="en-US" sz="1000">
              <a:solidFill>
                <a:schemeClr val="tx1"/>
              </a:solidFill>
              <a:latin typeface="Arial" panose="020B0604020202020204" pitchFamily="34" charset="0"/>
            </a:endParaRPr>
          </a:p>
        </p:txBody>
      </p:sp>
    </p:spTree>
    <p:extLst>
      <p:ext uri="{BB962C8B-B14F-4D97-AF65-F5344CB8AC3E}">
        <p14:creationId xmlns:p14="http://schemas.microsoft.com/office/powerpoint/2010/main" val="38912563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D63EAFFF-C56A-3E45-8150-0AA71DEBF82B}"/>
              </a:ext>
            </a:extLst>
          </p:cNvPr>
          <p:cNvSpPr>
            <a:spLocks noGrp="1"/>
          </p:cNvSpPr>
          <p:nvPr>
            <p:ph type="title"/>
          </p:nvPr>
        </p:nvSpPr>
        <p:spPr/>
        <p:txBody>
          <a:bodyPr/>
          <a:lstStyle/>
          <a:p>
            <a:r>
              <a:rPr lang="en-US" altLang="en-US"/>
              <a:t>Exception Handling in Python </a:t>
            </a:r>
            <a:r>
              <a:rPr lang="en-US" altLang="en-US" sz="2000"/>
              <a:t>(continued)</a:t>
            </a:r>
          </a:p>
        </p:txBody>
      </p:sp>
      <p:sp>
        <p:nvSpPr>
          <p:cNvPr id="60419" name="Content Placeholder 2">
            <a:extLst>
              <a:ext uri="{FF2B5EF4-FFF2-40B4-BE49-F238E27FC236}">
                <a16:creationId xmlns:a16="http://schemas.microsoft.com/office/drawing/2014/main" id="{887DCFC8-B676-2142-9A81-E39A152BE813}"/>
              </a:ext>
            </a:extLst>
          </p:cNvPr>
          <p:cNvSpPr>
            <a:spLocks noGrp="1"/>
          </p:cNvSpPr>
          <p:nvPr>
            <p:ph idx="1"/>
          </p:nvPr>
        </p:nvSpPr>
        <p:spPr/>
        <p:txBody>
          <a:bodyPr/>
          <a:lstStyle/>
          <a:p>
            <a:pPr marL="0" indent="0">
              <a:buFontTx/>
              <a:buNone/>
            </a:pPr>
            <a:r>
              <a:rPr lang="en-US" altLang="en-US" sz="2000" b="1">
                <a:latin typeface="Courier New" panose="02070309020205020404" pitchFamily="49" charset="0"/>
                <a:cs typeface="Courier New" panose="02070309020205020404" pitchFamily="49" charset="0"/>
              </a:rPr>
              <a:t>try</a:t>
            </a:r>
            <a:r>
              <a:rPr lang="en-US" altLang="en-US" sz="2000">
                <a:latin typeface="Courier New" panose="02070309020205020404" pitchFamily="49" charset="0"/>
                <a:cs typeface="Courier New" panose="02070309020205020404" pitchFamily="49" charset="0"/>
              </a:rPr>
              <a:t>:</a:t>
            </a:r>
          </a:p>
          <a:p>
            <a:pPr marL="0" indent="0">
              <a:buFontTx/>
              <a:buNone/>
            </a:pPr>
            <a:r>
              <a:rPr lang="en-US" altLang="en-US" sz="2000">
                <a:latin typeface="Courier New" panose="02070309020205020404" pitchFamily="49" charset="0"/>
                <a:cs typeface="Courier New" panose="02070309020205020404" pitchFamily="49" charset="0"/>
              </a:rPr>
              <a:t>  - The </a:t>
            </a:r>
            <a:r>
              <a:rPr lang="en-US" altLang="en-US" sz="2000" b="1">
                <a:latin typeface="Courier New" panose="02070309020205020404" pitchFamily="49" charset="0"/>
                <a:cs typeface="Courier New" panose="02070309020205020404" pitchFamily="49" charset="0"/>
              </a:rPr>
              <a:t>try</a:t>
            </a:r>
            <a:r>
              <a:rPr lang="en-US" altLang="en-US" sz="2000">
                <a:latin typeface="Courier New" panose="02070309020205020404" pitchFamily="49" charset="0"/>
                <a:cs typeface="Courier New" panose="02070309020205020404" pitchFamily="49" charset="0"/>
              </a:rPr>
              <a:t> block</a:t>
            </a:r>
          </a:p>
          <a:p>
            <a:pPr marL="0" indent="0">
              <a:buFontTx/>
              <a:buNone/>
            </a:pPr>
            <a:r>
              <a:rPr lang="en-US" altLang="en-US" sz="2000" b="1">
                <a:latin typeface="Courier New" panose="02070309020205020404" pitchFamily="49" charset="0"/>
                <a:cs typeface="Courier New" panose="02070309020205020404" pitchFamily="49" charset="0"/>
              </a:rPr>
              <a:t>except</a:t>
            </a:r>
            <a:r>
              <a:rPr lang="en-US" altLang="en-US" sz="2000">
                <a:latin typeface="Courier New" panose="02070309020205020404" pitchFamily="49" charset="0"/>
                <a:cs typeface="Courier New" panose="02070309020205020404" pitchFamily="49" charset="0"/>
              </a:rPr>
              <a:t> Exception1:</a:t>
            </a:r>
          </a:p>
          <a:p>
            <a:pPr marL="0" indent="0">
              <a:buFontTx/>
              <a:buNone/>
            </a:pPr>
            <a:r>
              <a:rPr lang="en-US" altLang="en-US" sz="2000">
                <a:latin typeface="Courier New" panose="02070309020205020404" pitchFamily="49" charset="0"/>
                <a:cs typeface="Courier New" panose="02070309020205020404" pitchFamily="49" charset="0"/>
              </a:rPr>
              <a:t>  - Handler for Exception1</a:t>
            </a:r>
          </a:p>
          <a:p>
            <a:pPr marL="0" indent="0">
              <a:buFontTx/>
              <a:buNone/>
            </a:pPr>
            <a:r>
              <a:rPr lang="en-US" altLang="en-US" sz="2000" b="1">
                <a:latin typeface="Courier New" panose="02070309020205020404" pitchFamily="49" charset="0"/>
                <a:cs typeface="Courier New" panose="02070309020205020404" pitchFamily="49" charset="0"/>
              </a:rPr>
              <a:t>except</a:t>
            </a:r>
            <a:r>
              <a:rPr lang="en-US" altLang="en-US" sz="2000">
                <a:latin typeface="Courier New" panose="02070309020205020404" pitchFamily="49" charset="0"/>
                <a:cs typeface="Courier New" panose="02070309020205020404" pitchFamily="49" charset="0"/>
              </a:rPr>
              <a:t> Exception2:</a:t>
            </a:r>
          </a:p>
          <a:p>
            <a:pPr marL="0" indent="0">
              <a:buFontTx/>
              <a:buNone/>
            </a:pPr>
            <a:r>
              <a:rPr lang="en-US" altLang="en-US" sz="2000">
                <a:latin typeface="Courier New" panose="02070309020205020404" pitchFamily="49" charset="0"/>
                <a:cs typeface="Courier New" panose="02070309020205020404" pitchFamily="49" charset="0"/>
              </a:rPr>
              <a:t>  - Handler for Exception2</a:t>
            </a:r>
          </a:p>
          <a:p>
            <a:pPr marL="0" indent="0">
              <a:buFontTx/>
              <a:buNone/>
            </a:pPr>
            <a:r>
              <a:rPr lang="en-US" altLang="en-US" sz="2000">
                <a:latin typeface="Courier New" panose="02070309020205020404" pitchFamily="49" charset="0"/>
                <a:cs typeface="Courier New" panose="02070309020205020404" pitchFamily="49" charset="0"/>
              </a:rPr>
              <a:t>...</a:t>
            </a:r>
          </a:p>
          <a:p>
            <a:pPr marL="0" indent="0">
              <a:buFontTx/>
              <a:buNone/>
            </a:pPr>
            <a:r>
              <a:rPr lang="en-US" altLang="en-US" sz="2000" b="1">
                <a:latin typeface="Courier New" panose="02070309020205020404" pitchFamily="49" charset="0"/>
                <a:cs typeface="Courier New" panose="02070309020205020404" pitchFamily="49" charset="0"/>
              </a:rPr>
              <a:t>else</a:t>
            </a:r>
            <a:r>
              <a:rPr lang="en-US" altLang="en-US" sz="2000">
                <a:latin typeface="Courier New" panose="02070309020205020404" pitchFamily="49" charset="0"/>
                <a:cs typeface="Courier New" panose="02070309020205020404" pitchFamily="49" charset="0"/>
              </a:rPr>
              <a:t>:</a:t>
            </a:r>
          </a:p>
          <a:p>
            <a:pPr marL="0" indent="0">
              <a:buFontTx/>
              <a:buNone/>
            </a:pPr>
            <a:r>
              <a:rPr lang="en-US" altLang="en-US" sz="2000">
                <a:latin typeface="Courier New" panose="02070309020205020404" pitchFamily="49" charset="0"/>
                <a:cs typeface="Courier New" panose="02070309020205020404" pitchFamily="49" charset="0"/>
              </a:rPr>
              <a:t>  - The </a:t>
            </a:r>
            <a:r>
              <a:rPr lang="en-US" altLang="en-US" sz="2000" b="1">
                <a:latin typeface="Courier New" panose="02070309020205020404" pitchFamily="49" charset="0"/>
                <a:cs typeface="Courier New" panose="02070309020205020404" pitchFamily="49" charset="0"/>
              </a:rPr>
              <a:t>else</a:t>
            </a:r>
            <a:r>
              <a:rPr lang="en-US" altLang="en-US" sz="2000">
                <a:latin typeface="Courier New" panose="02070309020205020404" pitchFamily="49" charset="0"/>
                <a:cs typeface="Courier New" panose="02070309020205020404" pitchFamily="49" charset="0"/>
              </a:rPr>
              <a:t> block (no exception is raised)</a:t>
            </a:r>
          </a:p>
          <a:p>
            <a:pPr marL="0" indent="0">
              <a:buFontTx/>
              <a:buNone/>
            </a:pPr>
            <a:r>
              <a:rPr lang="en-US" altLang="en-US" sz="2000" b="1">
                <a:latin typeface="Courier New" panose="02070309020205020404" pitchFamily="49" charset="0"/>
                <a:cs typeface="Courier New" panose="02070309020205020404" pitchFamily="49" charset="0"/>
              </a:rPr>
              <a:t>finally</a:t>
            </a:r>
            <a:r>
              <a:rPr lang="en-US" altLang="en-US" sz="2000">
                <a:latin typeface="Courier New" panose="02070309020205020404" pitchFamily="49" charset="0"/>
                <a:cs typeface="Courier New" panose="02070309020205020404" pitchFamily="49" charset="0"/>
              </a:rPr>
              <a:t>:</a:t>
            </a:r>
          </a:p>
          <a:p>
            <a:pPr marL="0" indent="0">
              <a:buFontTx/>
              <a:buNone/>
            </a:pPr>
            <a:r>
              <a:rPr lang="en-US" altLang="en-US" sz="2000">
                <a:latin typeface="Courier New" panose="02070309020205020404" pitchFamily="49" charset="0"/>
                <a:cs typeface="Courier New" panose="02070309020205020404" pitchFamily="49" charset="0"/>
              </a:rPr>
              <a:t>  - the </a:t>
            </a:r>
            <a:r>
              <a:rPr lang="en-US" altLang="en-US" sz="2000" b="1">
                <a:latin typeface="Courier New" panose="02070309020205020404" pitchFamily="49" charset="0"/>
                <a:cs typeface="Courier New" panose="02070309020205020404" pitchFamily="49" charset="0"/>
              </a:rPr>
              <a:t>finally</a:t>
            </a:r>
            <a:r>
              <a:rPr lang="en-US" altLang="en-US" sz="2000">
                <a:latin typeface="Courier New" panose="02070309020205020404" pitchFamily="49" charset="0"/>
                <a:cs typeface="Courier New" panose="02070309020205020404" pitchFamily="49" charset="0"/>
              </a:rPr>
              <a:t> block (do it no matter what)</a:t>
            </a:r>
          </a:p>
        </p:txBody>
      </p:sp>
      <p:sp>
        <p:nvSpPr>
          <p:cNvPr id="60420" name="Footer Placeholder 3">
            <a:extLst>
              <a:ext uri="{FF2B5EF4-FFF2-40B4-BE49-F238E27FC236}">
                <a16:creationId xmlns:a16="http://schemas.microsoft.com/office/drawing/2014/main" id="{7F1EA073-04C4-5947-9281-53DA864D1CE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60421" name="Slide Number Placeholder 4">
            <a:extLst>
              <a:ext uri="{FF2B5EF4-FFF2-40B4-BE49-F238E27FC236}">
                <a16:creationId xmlns:a16="http://schemas.microsoft.com/office/drawing/2014/main" id="{32AA32E8-2476-BE41-8D45-8C8071DF6F7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2A516F7B-F6E5-4C4A-9B0E-54A62FFC9837}" type="slidenum">
              <a:rPr lang="en-US" altLang="en-US" sz="1000" smtClean="0">
                <a:solidFill>
                  <a:schemeClr val="tx1"/>
                </a:solidFill>
                <a:latin typeface="Arial" panose="020B0604020202020204" pitchFamily="34" charset="0"/>
              </a:rPr>
              <a:pPr>
                <a:spcBef>
                  <a:spcPct val="0"/>
                </a:spcBef>
                <a:buFontTx/>
                <a:buNone/>
              </a:pPr>
              <a:t>135</a:t>
            </a:fld>
            <a:endParaRPr lang="en-US" altLang="en-US" sz="1000">
              <a:solidFill>
                <a:schemeClr val="tx1"/>
              </a:solidFill>
              <a:latin typeface="Arial" panose="020B0604020202020204" pitchFamily="34" charset="0"/>
            </a:endParaRPr>
          </a:p>
        </p:txBody>
      </p:sp>
    </p:spTree>
    <p:extLst>
      <p:ext uri="{BB962C8B-B14F-4D97-AF65-F5344CB8AC3E}">
        <p14:creationId xmlns:p14="http://schemas.microsoft.com/office/powerpoint/2010/main" val="383583976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FD8847CC-82F6-FA4C-8135-6E046386397F}"/>
              </a:ext>
            </a:extLst>
          </p:cNvPr>
          <p:cNvSpPr>
            <a:spLocks noGrp="1"/>
          </p:cNvSpPr>
          <p:nvPr>
            <p:ph type="title"/>
          </p:nvPr>
        </p:nvSpPr>
        <p:spPr/>
        <p:txBody>
          <a:bodyPr/>
          <a:lstStyle/>
          <a:p>
            <a:r>
              <a:rPr lang="en-US" altLang="en-US"/>
              <a:t>Exception Handling in Python </a:t>
            </a:r>
            <a:r>
              <a:rPr lang="en-US" altLang="en-US" sz="2000"/>
              <a:t>(continued)</a:t>
            </a:r>
            <a:endParaRPr lang="en-US" altLang="en-US"/>
          </a:p>
        </p:txBody>
      </p:sp>
      <p:sp>
        <p:nvSpPr>
          <p:cNvPr id="3" name="Content Placeholder 2">
            <a:extLst>
              <a:ext uri="{FF2B5EF4-FFF2-40B4-BE49-F238E27FC236}">
                <a16:creationId xmlns:a16="http://schemas.microsoft.com/office/drawing/2014/main" id="{AC21A928-7EB6-7342-90F9-9FC7E4D0B457}"/>
              </a:ext>
            </a:extLst>
          </p:cNvPr>
          <p:cNvSpPr>
            <a:spLocks noGrp="1"/>
          </p:cNvSpPr>
          <p:nvPr>
            <p:ph idx="1"/>
          </p:nvPr>
        </p:nvSpPr>
        <p:spPr>
          <a:xfrm>
            <a:off x="609600" y="1295400"/>
            <a:ext cx="8153400" cy="4876800"/>
          </a:xfrm>
        </p:spPr>
        <p:txBody>
          <a:bodyPr/>
          <a:lstStyle/>
          <a:p>
            <a:pPr>
              <a:defRPr/>
            </a:pPr>
            <a:r>
              <a:rPr lang="en-US" dirty="0"/>
              <a:t>Handlers handle the named exception plus all subclasses of that exception, so if the named exception is </a:t>
            </a:r>
            <a:r>
              <a:rPr lang="en-US" sz="2000" dirty="0">
                <a:latin typeface="Courier New" panose="02070309020205020404" pitchFamily="49" charset="0"/>
                <a:cs typeface="Courier New" panose="02070309020205020404" pitchFamily="49" charset="0"/>
              </a:rPr>
              <a:t>Exception</a:t>
            </a:r>
            <a:r>
              <a:rPr lang="en-US" dirty="0"/>
              <a:t>, it handlers all predefined and user-defined exceptions</a:t>
            </a:r>
          </a:p>
          <a:p>
            <a:pPr>
              <a:defRPr/>
            </a:pPr>
            <a:r>
              <a:rPr lang="en-US" dirty="0"/>
              <a:t>Unhandled exceptions are propagated to the nearest enclosing try block; if no handler is found, the default handler is called</a:t>
            </a:r>
          </a:p>
          <a:p>
            <a:pPr>
              <a:defRPr/>
            </a:pPr>
            <a:r>
              <a:rPr lang="en-US" sz="2000" dirty="0">
                <a:latin typeface="Courier New" panose="02070309020205020404" pitchFamily="49" charset="0"/>
                <a:cs typeface="Courier New" panose="02070309020205020404" pitchFamily="49" charset="0"/>
              </a:rPr>
              <a:t>Raise </a:t>
            </a:r>
            <a:r>
              <a:rPr lang="en-US" sz="2000" dirty="0" err="1">
                <a:latin typeface="Courier New" panose="02070309020205020404" pitchFamily="49" charset="0"/>
                <a:cs typeface="Courier New" panose="02070309020205020404" pitchFamily="49" charset="0"/>
              </a:rPr>
              <a:t>IndexError</a:t>
            </a:r>
            <a:r>
              <a:rPr lang="en-US" sz="2000" dirty="0">
                <a:latin typeface="Courier New" panose="02070309020205020404" pitchFamily="49" charset="0"/>
                <a:cs typeface="Courier New" panose="02070309020205020404" pitchFamily="49" charset="0"/>
              </a:rPr>
              <a:t> </a:t>
            </a:r>
            <a:r>
              <a:rPr lang="en-US" dirty="0"/>
              <a:t>creates an instance</a:t>
            </a:r>
          </a:p>
          <a:p>
            <a:pPr>
              <a:spcBef>
                <a:spcPts val="0"/>
              </a:spcBef>
              <a:defRPr/>
            </a:pPr>
            <a:r>
              <a:rPr lang="en-US" dirty="0"/>
              <a:t>The raised exception object can be gotten:</a:t>
            </a:r>
          </a:p>
          <a:p>
            <a:pPr marL="0" indent="0">
              <a:spcBef>
                <a:spcPts val="0"/>
              </a:spcBef>
              <a:buFontTx/>
              <a:buNone/>
              <a:defRPr/>
            </a:pPr>
            <a:r>
              <a:rPr lang="en-US" dirty="0"/>
              <a:t>     </a:t>
            </a:r>
            <a:r>
              <a:rPr lang="en-US" sz="2000" b="1" dirty="0">
                <a:latin typeface="Courier New" panose="02070309020205020404" pitchFamily="49" charset="0"/>
                <a:cs typeface="Courier New" panose="02070309020205020404" pitchFamily="49" charset="0"/>
              </a:rPr>
              <a:t>except</a:t>
            </a:r>
            <a:r>
              <a:rPr lang="en-US" sz="2000" dirty="0">
                <a:latin typeface="Courier New" panose="02070309020205020404" pitchFamily="49" charset="0"/>
                <a:cs typeface="Courier New" panose="02070309020205020404" pitchFamily="49" charset="0"/>
              </a:rPr>
              <a:t> Exception </a:t>
            </a:r>
            <a:r>
              <a:rPr lang="en-US" sz="2000" b="1" dirty="0">
                <a:latin typeface="Courier New" panose="02070309020205020404" pitchFamily="49" charset="0"/>
                <a:cs typeface="Courier New" panose="02070309020205020404" pitchFamily="49" charset="0"/>
              </a:rPr>
              <a:t>as</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ex_obj</a:t>
            </a:r>
            <a:r>
              <a:rPr lang="en-US" sz="2000" dirty="0">
                <a:latin typeface="Courier New" panose="02070309020205020404" pitchFamily="49" charset="0"/>
                <a:cs typeface="Courier New" panose="02070309020205020404" pitchFamily="49" charset="0"/>
              </a:rPr>
              <a:t>:</a:t>
            </a:r>
          </a:p>
        </p:txBody>
      </p:sp>
      <p:sp>
        <p:nvSpPr>
          <p:cNvPr id="61444" name="Footer Placeholder 3">
            <a:extLst>
              <a:ext uri="{FF2B5EF4-FFF2-40B4-BE49-F238E27FC236}">
                <a16:creationId xmlns:a16="http://schemas.microsoft.com/office/drawing/2014/main" id="{B9C80932-B395-1D46-AF73-A9561E44D9C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61445" name="Slide Number Placeholder 4">
            <a:extLst>
              <a:ext uri="{FF2B5EF4-FFF2-40B4-BE49-F238E27FC236}">
                <a16:creationId xmlns:a16="http://schemas.microsoft.com/office/drawing/2014/main" id="{1E0C7249-227C-5648-9A63-A7FAB04C111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43D8EA3E-C776-1447-88A7-53E5BEC6A24A}" type="slidenum">
              <a:rPr lang="en-US" altLang="en-US" sz="1000" smtClean="0">
                <a:solidFill>
                  <a:schemeClr val="tx1"/>
                </a:solidFill>
                <a:latin typeface="Arial" panose="020B0604020202020204" pitchFamily="34" charset="0"/>
              </a:rPr>
              <a:pPr>
                <a:spcBef>
                  <a:spcPct val="0"/>
                </a:spcBef>
                <a:buFontTx/>
                <a:buNone/>
              </a:pPr>
              <a:t>136</a:t>
            </a:fld>
            <a:endParaRPr lang="en-US" altLang="en-US" sz="1000">
              <a:solidFill>
                <a:schemeClr val="tx1"/>
              </a:solidFill>
              <a:latin typeface="Arial" panose="020B0604020202020204" pitchFamily="34" charset="0"/>
            </a:endParaRPr>
          </a:p>
        </p:txBody>
      </p:sp>
    </p:spTree>
    <p:extLst>
      <p:ext uri="{BB962C8B-B14F-4D97-AF65-F5344CB8AC3E}">
        <p14:creationId xmlns:p14="http://schemas.microsoft.com/office/powerpoint/2010/main" val="181869950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A67C10FF-D4A5-8145-BDF3-23637E19DBB5}"/>
              </a:ext>
            </a:extLst>
          </p:cNvPr>
          <p:cNvSpPr>
            <a:spLocks noGrp="1"/>
          </p:cNvSpPr>
          <p:nvPr>
            <p:ph type="title"/>
          </p:nvPr>
        </p:nvSpPr>
        <p:spPr/>
        <p:txBody>
          <a:bodyPr/>
          <a:lstStyle/>
          <a:p>
            <a:r>
              <a:rPr lang="en-US" altLang="en-US"/>
              <a:t>Exception Handling in Python </a:t>
            </a:r>
            <a:r>
              <a:rPr lang="en-US" altLang="en-US" sz="2000"/>
              <a:t>(continued)</a:t>
            </a:r>
            <a:endParaRPr lang="en-US" altLang="en-US"/>
          </a:p>
        </p:txBody>
      </p:sp>
      <p:sp>
        <p:nvSpPr>
          <p:cNvPr id="3" name="Content Placeholder 2">
            <a:extLst>
              <a:ext uri="{FF2B5EF4-FFF2-40B4-BE49-F238E27FC236}">
                <a16:creationId xmlns:a16="http://schemas.microsoft.com/office/drawing/2014/main" id="{AD2C6240-5C5F-6041-945C-DCA293E62F12}"/>
              </a:ext>
            </a:extLst>
          </p:cNvPr>
          <p:cNvSpPr>
            <a:spLocks noGrp="1"/>
          </p:cNvSpPr>
          <p:nvPr>
            <p:ph idx="1"/>
          </p:nvPr>
        </p:nvSpPr>
        <p:spPr/>
        <p:txBody>
          <a:bodyPr/>
          <a:lstStyle/>
          <a:p>
            <a:pPr>
              <a:defRPr/>
            </a:pPr>
            <a:r>
              <a:rPr lang="en-US" dirty="0"/>
              <a:t>The </a:t>
            </a:r>
            <a:r>
              <a:rPr lang="en-US" sz="2000" dirty="0">
                <a:latin typeface="Courier New" panose="02070309020205020404" pitchFamily="49" charset="0"/>
                <a:cs typeface="Courier New" panose="02070309020205020404" pitchFamily="49" charset="0"/>
              </a:rPr>
              <a:t>assert</a:t>
            </a:r>
            <a:r>
              <a:rPr lang="en-US" dirty="0"/>
              <a:t> statement tests its Boolean expression (first parameter) and sends its second parameter to the constructor for the exception object to be raised</a:t>
            </a:r>
          </a:p>
          <a:p>
            <a:pPr marL="0" indent="0">
              <a:buFontTx/>
              <a:buNone/>
              <a:defRPr/>
            </a:pPr>
            <a:r>
              <a:rPr lang="en-US" dirty="0"/>
              <a:t>    </a:t>
            </a:r>
            <a:r>
              <a:rPr lang="en-US" sz="2000" dirty="0">
                <a:latin typeface="Courier New" panose="02070309020205020404" pitchFamily="49" charset="0"/>
                <a:cs typeface="Courier New" panose="02070309020205020404" pitchFamily="49" charset="0"/>
              </a:rPr>
              <a:t>assert test, data</a:t>
            </a:r>
          </a:p>
          <a:p>
            <a:pPr marL="0" indent="0">
              <a:buFontTx/>
              <a:buNone/>
              <a:defRPr/>
            </a:pPr>
            <a:endParaRPr lang="en-US" dirty="0"/>
          </a:p>
        </p:txBody>
      </p:sp>
      <p:sp>
        <p:nvSpPr>
          <p:cNvPr id="62468" name="Footer Placeholder 3">
            <a:extLst>
              <a:ext uri="{FF2B5EF4-FFF2-40B4-BE49-F238E27FC236}">
                <a16:creationId xmlns:a16="http://schemas.microsoft.com/office/drawing/2014/main" id="{16CC040E-16A1-564F-9DEF-21835F506E9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62469" name="Slide Number Placeholder 4">
            <a:extLst>
              <a:ext uri="{FF2B5EF4-FFF2-40B4-BE49-F238E27FC236}">
                <a16:creationId xmlns:a16="http://schemas.microsoft.com/office/drawing/2014/main" id="{A989A2A7-33B6-D748-BAAA-77B404C0237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AA008265-780E-474E-85F0-44E525E5BE30}" type="slidenum">
              <a:rPr lang="en-US" altLang="en-US" sz="1000" smtClean="0">
                <a:solidFill>
                  <a:schemeClr val="tx1"/>
                </a:solidFill>
                <a:latin typeface="Arial" panose="020B0604020202020204" pitchFamily="34" charset="0"/>
              </a:rPr>
              <a:pPr>
                <a:spcBef>
                  <a:spcPct val="0"/>
                </a:spcBef>
                <a:buFontTx/>
                <a:buNone/>
              </a:pPr>
              <a:t>137</a:t>
            </a:fld>
            <a:endParaRPr lang="en-US" altLang="en-US" sz="1000">
              <a:solidFill>
                <a:schemeClr val="tx1"/>
              </a:solidFill>
              <a:latin typeface="Arial" panose="020B0604020202020204" pitchFamily="34" charset="0"/>
            </a:endParaRPr>
          </a:p>
        </p:txBody>
      </p:sp>
    </p:spTree>
    <p:extLst>
      <p:ext uri="{BB962C8B-B14F-4D97-AF65-F5344CB8AC3E}">
        <p14:creationId xmlns:p14="http://schemas.microsoft.com/office/powerpoint/2010/main" val="352890311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8E048633-D4F7-2C47-B1F9-C545649C90DC}"/>
              </a:ext>
            </a:extLst>
          </p:cNvPr>
          <p:cNvSpPr>
            <a:spLocks noGrp="1"/>
          </p:cNvSpPr>
          <p:nvPr>
            <p:ph type="title"/>
          </p:nvPr>
        </p:nvSpPr>
        <p:spPr/>
        <p:txBody>
          <a:bodyPr/>
          <a:lstStyle/>
          <a:p>
            <a:r>
              <a:rPr lang="en-US" altLang="en-US"/>
              <a:t>Exception Handling in Ruby</a:t>
            </a:r>
          </a:p>
        </p:txBody>
      </p:sp>
      <p:sp>
        <p:nvSpPr>
          <p:cNvPr id="63491" name="Content Placeholder 2">
            <a:extLst>
              <a:ext uri="{FF2B5EF4-FFF2-40B4-BE49-F238E27FC236}">
                <a16:creationId xmlns:a16="http://schemas.microsoft.com/office/drawing/2014/main" id="{781D154A-9F73-9349-80E0-7F17251E36C7}"/>
              </a:ext>
            </a:extLst>
          </p:cNvPr>
          <p:cNvSpPr>
            <a:spLocks noGrp="1"/>
          </p:cNvSpPr>
          <p:nvPr>
            <p:ph idx="1"/>
          </p:nvPr>
        </p:nvSpPr>
        <p:spPr/>
        <p:txBody>
          <a:bodyPr/>
          <a:lstStyle/>
          <a:p>
            <a:r>
              <a:rPr lang="en-US" altLang="en-US"/>
              <a:t>Exceptions are objects</a:t>
            </a:r>
          </a:p>
          <a:p>
            <a:r>
              <a:rPr lang="en-US" altLang="en-US"/>
              <a:t>There are many predefined exceptions</a:t>
            </a:r>
          </a:p>
          <a:p>
            <a:r>
              <a:rPr lang="en-US" altLang="en-US"/>
              <a:t>All exceptions that are user handled are either </a:t>
            </a:r>
            <a:r>
              <a:rPr lang="en-US" altLang="en-US" sz="2000">
                <a:latin typeface="Courier New" panose="02070309020205020404" pitchFamily="49" charset="0"/>
                <a:cs typeface="Courier New" panose="02070309020205020404" pitchFamily="49" charset="0"/>
              </a:rPr>
              <a:t>StandardError</a:t>
            </a:r>
            <a:r>
              <a:rPr lang="en-US" altLang="en-US"/>
              <a:t> class or a subclass of it</a:t>
            </a:r>
          </a:p>
          <a:p>
            <a:r>
              <a:rPr lang="en-US" altLang="en-US" sz="2000">
                <a:latin typeface="Courier New" panose="02070309020205020404" pitchFamily="49" charset="0"/>
                <a:cs typeface="Courier New" panose="02070309020205020404" pitchFamily="49" charset="0"/>
              </a:rPr>
              <a:t>StandardError</a:t>
            </a:r>
            <a:r>
              <a:rPr lang="en-US" altLang="en-US"/>
              <a:t> is derived from </a:t>
            </a:r>
            <a:r>
              <a:rPr lang="en-US" altLang="en-US" sz="2000">
                <a:latin typeface="Courier New" panose="02070309020205020404" pitchFamily="49" charset="0"/>
                <a:cs typeface="Courier New" panose="02070309020205020404" pitchFamily="49" charset="0"/>
              </a:rPr>
              <a:t>Exception</a:t>
            </a:r>
            <a:r>
              <a:rPr lang="en-US" altLang="en-US"/>
              <a:t>, which has two methods, </a:t>
            </a:r>
            <a:r>
              <a:rPr lang="en-US" altLang="en-US" sz="2000">
                <a:latin typeface="Courier New" panose="02070309020205020404" pitchFamily="49" charset="0"/>
                <a:cs typeface="Courier New" panose="02070309020205020404" pitchFamily="49" charset="0"/>
              </a:rPr>
              <a:t>message</a:t>
            </a:r>
            <a:r>
              <a:rPr lang="en-US" altLang="en-US"/>
              <a:t> and </a:t>
            </a:r>
            <a:r>
              <a:rPr lang="en-US" altLang="en-US" sz="2000">
                <a:latin typeface="Courier New" panose="02070309020205020404" pitchFamily="49" charset="0"/>
                <a:cs typeface="Courier New" panose="02070309020205020404" pitchFamily="49" charset="0"/>
              </a:rPr>
              <a:t>backtrace</a:t>
            </a:r>
          </a:p>
          <a:p>
            <a:r>
              <a:rPr lang="en-US" altLang="en-US"/>
              <a:t>Exceptions can be raised with </a:t>
            </a:r>
            <a:r>
              <a:rPr lang="en-US" altLang="en-US" sz="2000" b="1">
                <a:latin typeface="Courier New" panose="02070309020205020404" pitchFamily="49" charset="0"/>
                <a:cs typeface="Courier New" panose="02070309020205020404" pitchFamily="49" charset="0"/>
              </a:rPr>
              <a:t>raise</a:t>
            </a:r>
            <a:r>
              <a:rPr lang="en-US" altLang="en-US"/>
              <a:t>, which often has the form:</a:t>
            </a:r>
          </a:p>
          <a:p>
            <a:pPr>
              <a:buFontTx/>
              <a:buNone/>
            </a:pPr>
            <a:r>
              <a:rPr lang="en-US" altLang="en-US"/>
              <a:t>    </a:t>
            </a:r>
            <a:r>
              <a:rPr lang="en-US" altLang="en-US" sz="2000" b="1">
                <a:latin typeface="Courier New" panose="02070309020205020404" pitchFamily="49" charset="0"/>
                <a:cs typeface="Courier New" panose="02070309020205020404" pitchFamily="49" charset="0"/>
              </a:rPr>
              <a:t>raise</a:t>
            </a:r>
            <a:r>
              <a:rPr lang="en-US" altLang="en-US" sz="2000">
                <a:latin typeface="Courier New" panose="02070309020205020404" pitchFamily="49" charset="0"/>
                <a:cs typeface="Courier New" panose="02070309020205020404" pitchFamily="49" charset="0"/>
              </a:rPr>
              <a:t> ″bad parameter″ </a:t>
            </a:r>
            <a:r>
              <a:rPr lang="en-US" altLang="en-US" sz="2000" b="1">
                <a:latin typeface="Courier New" panose="02070309020205020404" pitchFamily="49" charset="0"/>
                <a:cs typeface="Courier New" panose="02070309020205020404" pitchFamily="49" charset="0"/>
              </a:rPr>
              <a:t>if</a:t>
            </a:r>
            <a:r>
              <a:rPr lang="en-US" altLang="en-US" sz="2000">
                <a:latin typeface="Courier New" panose="02070309020205020404" pitchFamily="49" charset="0"/>
                <a:cs typeface="Courier New" panose="02070309020205020404" pitchFamily="49" charset="0"/>
              </a:rPr>
              <a:t> count == 0</a:t>
            </a:r>
          </a:p>
          <a:p>
            <a:pPr>
              <a:buFontTx/>
              <a:buNone/>
            </a:pPr>
            <a:endParaRPr lang="en-US" altLang="en-US"/>
          </a:p>
          <a:p>
            <a:endParaRPr lang="en-US" altLang="en-US"/>
          </a:p>
        </p:txBody>
      </p:sp>
      <p:sp>
        <p:nvSpPr>
          <p:cNvPr id="63492" name="Footer Placeholder 3">
            <a:extLst>
              <a:ext uri="{FF2B5EF4-FFF2-40B4-BE49-F238E27FC236}">
                <a16:creationId xmlns:a16="http://schemas.microsoft.com/office/drawing/2014/main" id="{B7E193FA-F962-6A4D-8C2C-A601A3A375F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63493" name="Slide Number Placeholder 4">
            <a:extLst>
              <a:ext uri="{FF2B5EF4-FFF2-40B4-BE49-F238E27FC236}">
                <a16:creationId xmlns:a16="http://schemas.microsoft.com/office/drawing/2014/main" id="{70D2E10A-5BD9-CE49-90C5-B650283FA88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CF1CD963-4332-F840-8083-BCAE9CD43C91}" type="slidenum">
              <a:rPr lang="en-US" altLang="en-US" sz="1000" smtClean="0">
                <a:solidFill>
                  <a:schemeClr val="tx1"/>
                </a:solidFill>
                <a:latin typeface="Arial" panose="020B0604020202020204" pitchFamily="34" charset="0"/>
              </a:rPr>
              <a:pPr>
                <a:spcBef>
                  <a:spcPct val="0"/>
                </a:spcBef>
                <a:buFontTx/>
                <a:buNone/>
              </a:pPr>
              <a:t>138</a:t>
            </a:fld>
            <a:endParaRPr lang="en-US" altLang="en-US" sz="1000">
              <a:solidFill>
                <a:schemeClr val="tx1"/>
              </a:solidFill>
              <a:latin typeface="Arial" panose="020B0604020202020204" pitchFamily="34" charset="0"/>
            </a:endParaRPr>
          </a:p>
        </p:txBody>
      </p:sp>
    </p:spTree>
    <p:extLst>
      <p:ext uri="{BB962C8B-B14F-4D97-AF65-F5344CB8AC3E}">
        <p14:creationId xmlns:p14="http://schemas.microsoft.com/office/powerpoint/2010/main" val="241791144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716455B7-D859-FB40-8A5C-C2DE492BF668}"/>
              </a:ext>
            </a:extLst>
          </p:cNvPr>
          <p:cNvSpPr>
            <a:spLocks noGrp="1"/>
          </p:cNvSpPr>
          <p:nvPr>
            <p:ph type="title"/>
          </p:nvPr>
        </p:nvSpPr>
        <p:spPr/>
        <p:txBody>
          <a:bodyPr/>
          <a:lstStyle/>
          <a:p>
            <a:r>
              <a:rPr lang="en-US" altLang="en-US"/>
              <a:t>Exception Handling in Ruby </a:t>
            </a:r>
            <a:r>
              <a:rPr lang="en-US" altLang="en-US" sz="2400"/>
              <a:t>(continued)</a:t>
            </a:r>
          </a:p>
        </p:txBody>
      </p:sp>
      <p:sp>
        <p:nvSpPr>
          <p:cNvPr id="3" name="Content Placeholder 2">
            <a:extLst>
              <a:ext uri="{FF2B5EF4-FFF2-40B4-BE49-F238E27FC236}">
                <a16:creationId xmlns:a16="http://schemas.microsoft.com/office/drawing/2014/main" id="{B6F52007-AD0C-7046-B3F6-EE760A604483}"/>
              </a:ext>
            </a:extLst>
          </p:cNvPr>
          <p:cNvSpPr>
            <a:spLocks noGrp="1"/>
          </p:cNvSpPr>
          <p:nvPr>
            <p:ph idx="1"/>
          </p:nvPr>
        </p:nvSpPr>
        <p:spPr/>
        <p:txBody>
          <a:bodyPr/>
          <a:lstStyle/>
          <a:p>
            <a:pPr>
              <a:defRPr/>
            </a:pPr>
            <a:r>
              <a:rPr lang="en-US" dirty="0"/>
              <a:t>Handlers are placed at the end of a begin-end block of code; introduced by </a:t>
            </a:r>
            <a:r>
              <a:rPr lang="en-US" sz="2000" b="1" dirty="0">
                <a:latin typeface="Courier New" panose="02070309020205020404" pitchFamily="49" charset="0"/>
                <a:cs typeface="Courier New" panose="02070309020205020404" pitchFamily="49" charset="0"/>
              </a:rPr>
              <a:t>rescue</a:t>
            </a:r>
          </a:p>
          <a:p>
            <a:pPr marL="0" indent="0">
              <a:buFontTx/>
              <a:buNone/>
              <a:defRPr/>
            </a:pPr>
            <a:r>
              <a:rPr lang="en-US" dirty="0"/>
              <a:t>    </a:t>
            </a:r>
            <a:r>
              <a:rPr lang="en-US" sz="2000" b="1" dirty="0">
                <a:latin typeface="Courier New" panose="02070309020205020404" pitchFamily="49" charset="0"/>
                <a:cs typeface="Courier New" panose="02070309020205020404" pitchFamily="49" charset="0"/>
              </a:rPr>
              <a:t>begin</a:t>
            </a:r>
          </a:p>
          <a:p>
            <a:pPr marL="0" indent="0">
              <a:buFontTx/>
              <a:buNone/>
              <a:defRPr/>
            </a:pPr>
            <a:r>
              <a:rPr lang="en-US" sz="2000" dirty="0">
                <a:cs typeface="Courier New" panose="02070309020205020404" pitchFamily="49" charset="0"/>
              </a:rPr>
              <a:t>     - Statements in the block</a:t>
            </a:r>
          </a:p>
          <a:p>
            <a:pPr marL="0" indent="0">
              <a:buFontTx/>
              <a:buNone/>
              <a:defRPr/>
            </a:pP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rescue</a:t>
            </a:r>
          </a:p>
          <a:p>
            <a:pPr marL="0" indent="0">
              <a:buFontTx/>
              <a:buNone/>
              <a:defRPr/>
            </a:pPr>
            <a:r>
              <a:rPr lang="en-US" sz="2000" dirty="0">
                <a:cs typeface="Courier New" panose="02070309020205020404" pitchFamily="49" charset="0"/>
              </a:rPr>
              <a:t>     - Handler</a:t>
            </a:r>
          </a:p>
          <a:p>
            <a:pPr marL="0" indent="0">
              <a:buFontTx/>
              <a:buNone/>
              <a:defRPr/>
            </a:pPr>
            <a:r>
              <a:rPr lang="en-US" sz="2000" dirty="0">
                <a:latin typeface="Courier New" panose="02070309020205020404" pitchFamily="49" charset="0"/>
                <a:cs typeface="Courier New" panose="02070309020205020404" pitchFamily="49" charset="0"/>
              </a:rPr>
              <a:t>   </a:t>
            </a:r>
            <a:r>
              <a:rPr lang="en-US" sz="2000" b="1" dirty="0">
                <a:latin typeface="Courier New" panose="02070309020205020404" pitchFamily="49" charset="0"/>
                <a:cs typeface="Courier New" panose="02070309020205020404" pitchFamily="49" charset="0"/>
              </a:rPr>
              <a:t>end</a:t>
            </a:r>
          </a:p>
          <a:p>
            <a:pPr>
              <a:defRPr/>
            </a:pPr>
            <a:r>
              <a:rPr lang="en-US" dirty="0"/>
              <a:t>The block could include </a:t>
            </a:r>
            <a:r>
              <a:rPr lang="en-US" sz="2000" b="1" dirty="0">
                <a:latin typeface="Courier New" panose="02070309020205020404" pitchFamily="49" charset="0"/>
                <a:cs typeface="Courier New" panose="02070309020205020404" pitchFamily="49" charset="0"/>
              </a:rPr>
              <a:t>else</a:t>
            </a:r>
            <a:r>
              <a:rPr lang="en-US" dirty="0"/>
              <a:t> and/or </a:t>
            </a:r>
            <a:r>
              <a:rPr lang="en-US" sz="2000" b="1" dirty="0">
                <a:latin typeface="Courier New" panose="02070309020205020404" pitchFamily="49" charset="0"/>
                <a:cs typeface="Courier New" panose="02070309020205020404" pitchFamily="49" charset="0"/>
              </a:rPr>
              <a:t>ensure</a:t>
            </a:r>
            <a:r>
              <a:rPr lang="en-US" dirty="0"/>
              <a:t> clauses, which are like </a:t>
            </a:r>
            <a:r>
              <a:rPr lang="en-US" sz="2000" b="1" dirty="0">
                <a:latin typeface="Courier New" panose="02070309020205020404" pitchFamily="49" charset="0"/>
                <a:cs typeface="Courier New" panose="02070309020205020404" pitchFamily="49" charset="0"/>
              </a:rPr>
              <a:t>else</a:t>
            </a:r>
            <a:r>
              <a:rPr lang="en-US" dirty="0"/>
              <a:t> and </a:t>
            </a:r>
            <a:r>
              <a:rPr lang="en-US" sz="2000" b="1" dirty="0">
                <a:latin typeface="Courier New" panose="02070309020205020404" pitchFamily="49" charset="0"/>
                <a:cs typeface="Courier New" panose="02070309020205020404" pitchFamily="49" charset="0"/>
              </a:rPr>
              <a:t>finally</a:t>
            </a:r>
            <a:r>
              <a:rPr lang="en-US" dirty="0"/>
              <a:t> in Java</a:t>
            </a:r>
          </a:p>
        </p:txBody>
      </p:sp>
      <p:sp>
        <p:nvSpPr>
          <p:cNvPr id="64516" name="Footer Placeholder 3">
            <a:extLst>
              <a:ext uri="{FF2B5EF4-FFF2-40B4-BE49-F238E27FC236}">
                <a16:creationId xmlns:a16="http://schemas.microsoft.com/office/drawing/2014/main" id="{8E86F355-2AF9-1D4F-A7C9-73A91DA72DA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64517" name="Slide Number Placeholder 4">
            <a:extLst>
              <a:ext uri="{FF2B5EF4-FFF2-40B4-BE49-F238E27FC236}">
                <a16:creationId xmlns:a16="http://schemas.microsoft.com/office/drawing/2014/main" id="{A3F013D4-7CA8-454F-AF59-0D9767259D6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6F6211B4-B001-FF4F-95E6-5BAF28C466EB}" type="slidenum">
              <a:rPr lang="en-US" altLang="en-US" sz="1000" smtClean="0">
                <a:solidFill>
                  <a:schemeClr val="tx1"/>
                </a:solidFill>
                <a:latin typeface="Arial" panose="020B0604020202020204" pitchFamily="34" charset="0"/>
              </a:rPr>
              <a:pPr>
                <a:spcBef>
                  <a:spcPct val="0"/>
                </a:spcBef>
                <a:buFontTx/>
                <a:buNone/>
              </a:pPr>
              <a:t>139</a:t>
            </a:fld>
            <a:endParaRPr lang="en-US" altLang="en-US" sz="1000">
              <a:solidFill>
                <a:schemeClr val="tx1"/>
              </a:solidFill>
              <a:latin typeface="Arial" panose="020B0604020202020204" pitchFamily="34" charset="0"/>
            </a:endParaRPr>
          </a:p>
        </p:txBody>
      </p:sp>
    </p:spTree>
    <p:extLst>
      <p:ext uri="{BB962C8B-B14F-4D97-AF65-F5344CB8AC3E}">
        <p14:creationId xmlns:p14="http://schemas.microsoft.com/office/powerpoint/2010/main" val="404433663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309E651D-CC91-AB4E-9C43-B92AFAFD27BD}"/>
              </a:ext>
            </a:extLst>
          </p:cNvPr>
          <p:cNvSpPr>
            <a:spLocks noGrp="1"/>
          </p:cNvSpPr>
          <p:nvPr>
            <p:ph type="title"/>
          </p:nvPr>
        </p:nvSpPr>
        <p:spPr/>
        <p:txBody>
          <a:bodyPr/>
          <a:lstStyle/>
          <a:p>
            <a:r>
              <a:rPr lang="en-US" altLang="en-US"/>
              <a:t>Exception Handling in Ruby </a:t>
            </a:r>
            <a:r>
              <a:rPr lang="en-US" altLang="en-US" sz="2400"/>
              <a:t>(continued)</a:t>
            </a:r>
            <a:endParaRPr lang="en-US" altLang="en-US"/>
          </a:p>
        </p:txBody>
      </p:sp>
      <p:sp>
        <p:nvSpPr>
          <p:cNvPr id="65539" name="Content Placeholder 2">
            <a:extLst>
              <a:ext uri="{FF2B5EF4-FFF2-40B4-BE49-F238E27FC236}">
                <a16:creationId xmlns:a16="http://schemas.microsoft.com/office/drawing/2014/main" id="{15A980E1-D3C7-F540-9086-A1C1DEFF76A2}"/>
              </a:ext>
            </a:extLst>
          </p:cNvPr>
          <p:cNvSpPr>
            <a:spLocks noGrp="1"/>
          </p:cNvSpPr>
          <p:nvPr>
            <p:ph idx="1"/>
          </p:nvPr>
        </p:nvSpPr>
        <p:spPr/>
        <p:txBody>
          <a:bodyPr/>
          <a:lstStyle/>
          <a:p>
            <a:r>
              <a:rPr lang="en-US" altLang="en-US"/>
              <a:t>Unlike the other languages we have discussed, in Ruby the code that raised an exception can be rerun by placing a </a:t>
            </a:r>
            <a:r>
              <a:rPr lang="en-US" altLang="en-US" sz="2000" b="1">
                <a:latin typeface="Courier New" panose="02070309020205020404" pitchFamily="49" charset="0"/>
                <a:cs typeface="Courier New" panose="02070309020205020404" pitchFamily="49" charset="0"/>
              </a:rPr>
              <a:t>retry</a:t>
            </a:r>
            <a:r>
              <a:rPr lang="en-US" altLang="en-US"/>
              <a:t> statement at the end of the handler</a:t>
            </a:r>
          </a:p>
        </p:txBody>
      </p:sp>
      <p:sp>
        <p:nvSpPr>
          <p:cNvPr id="65540" name="Footer Placeholder 3">
            <a:extLst>
              <a:ext uri="{FF2B5EF4-FFF2-40B4-BE49-F238E27FC236}">
                <a16:creationId xmlns:a16="http://schemas.microsoft.com/office/drawing/2014/main" id="{6807FFC9-0896-B243-A43B-F8B9D95C867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Copyright © 2018 Pearson. All rights reserved.</a:t>
            </a:r>
          </a:p>
        </p:txBody>
      </p:sp>
      <p:sp>
        <p:nvSpPr>
          <p:cNvPr id="65541" name="Slide Number Placeholder 4">
            <a:extLst>
              <a:ext uri="{FF2B5EF4-FFF2-40B4-BE49-F238E27FC236}">
                <a16:creationId xmlns:a16="http://schemas.microsoft.com/office/drawing/2014/main" id="{E3767CD6-4CDD-824C-BB14-B3FE1ED14EE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buChar char="–"/>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buChar char="»"/>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a:solidFill>
                  <a:srgbClr val="666699"/>
                </a:solidFill>
                <a:latin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a:solidFill>
                  <a:schemeClr val="tx1"/>
                </a:solidFill>
                <a:latin typeface="Arial" panose="020B0604020202020204" pitchFamily="34" charset="0"/>
              </a:rPr>
              <a:t>1-</a:t>
            </a:r>
            <a:fld id="{CB9B9525-98B7-004C-A3A8-AD42EF31B42A}" type="slidenum">
              <a:rPr lang="en-US" altLang="en-US" sz="1000" smtClean="0">
                <a:solidFill>
                  <a:schemeClr val="tx1"/>
                </a:solidFill>
                <a:latin typeface="Arial" panose="020B0604020202020204" pitchFamily="34" charset="0"/>
              </a:rPr>
              <a:pPr>
                <a:spcBef>
                  <a:spcPct val="0"/>
                </a:spcBef>
                <a:buFontTx/>
                <a:buNone/>
              </a:pPr>
              <a:t>140</a:t>
            </a:fld>
            <a:endParaRPr lang="en-US" altLang="en-US" sz="1000">
              <a:solidFill>
                <a:schemeClr val="tx1"/>
              </a:solidFill>
              <a:latin typeface="Arial" panose="020B0604020202020204" pitchFamily="34" charset="0"/>
            </a:endParaRPr>
          </a:p>
        </p:txBody>
      </p:sp>
    </p:spTree>
    <p:extLst>
      <p:ext uri="{BB962C8B-B14F-4D97-AF65-F5344CB8AC3E}">
        <p14:creationId xmlns:p14="http://schemas.microsoft.com/office/powerpoint/2010/main" val="2550043039"/>
      </p:ext>
    </p:extLst>
  </p:cSld>
  <p:clrMapOvr>
    <a:masterClrMapping/>
  </p:clrMapOvr>
</p:sld>
</file>

<file path=ppt/theme/theme1.xml><?xml version="1.0" encoding="utf-8"?>
<a:theme xmlns:a="http://schemas.openxmlformats.org/drawingml/2006/main" name="hsleiden_nl">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8AB2A5A18D8404DBA73EF508DB4A06C" ma:contentTypeVersion="10" ma:contentTypeDescription="Een nieuw document maken." ma:contentTypeScope="" ma:versionID="373d39ad46615713677e9c3b89cd816b">
  <xsd:schema xmlns:xsd="http://www.w3.org/2001/XMLSchema" xmlns:xs="http://www.w3.org/2001/XMLSchema" xmlns:p="http://schemas.microsoft.com/office/2006/metadata/properties" xmlns:ns2="29d2fd08-a643-4874-a881-64648cdec31e" xmlns:ns3="65ea3e1d-5866-4f28-856d-8de3ded6bbfa" targetNamespace="http://schemas.microsoft.com/office/2006/metadata/properties" ma:root="true" ma:fieldsID="d9c0c6368d671c97b5cbddb522b225cb" ns2:_="" ns3:_="">
    <xsd:import namespace="29d2fd08-a643-4874-a881-64648cdec31e"/>
    <xsd:import namespace="65ea3e1d-5866-4f28-856d-8de3ded6bbfa"/>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d2fd08-a643-4874-a881-64648cdec3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5ea3e1d-5866-4f28-856d-8de3ded6bbfa" elementFormDefault="qualified">
    <xsd:import namespace="http://schemas.microsoft.com/office/2006/documentManagement/types"/>
    <xsd:import namespace="http://schemas.microsoft.com/office/infopath/2007/PartnerControls"/>
    <xsd:element name="SharedWithUsers" ma:index="15"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5DBFBE4-2986-4754-A407-3676B236CFF5}"/>
</file>

<file path=customXml/itemProps2.xml><?xml version="1.0" encoding="utf-8"?>
<ds:datastoreItem xmlns:ds="http://schemas.openxmlformats.org/officeDocument/2006/customXml" ds:itemID="{639596F7-43BC-4664-A15F-21DCFEA376E3}">
  <ds:schemaRefs>
    <ds:schemaRef ds:uri="http://schemas.microsoft.com/sharepoint/v3/contenttype/forms"/>
  </ds:schemaRefs>
</ds:datastoreItem>
</file>

<file path=customXml/itemProps3.xml><?xml version="1.0" encoding="utf-8"?>
<ds:datastoreItem xmlns:ds="http://schemas.openxmlformats.org/officeDocument/2006/customXml" ds:itemID="{5CF2FB37-4E0B-430D-8D9A-54BEA102CB7E}">
  <ds:schemaRefs>
    <ds:schemaRef ds:uri="http://www.w3.org/XML/1998/namespace"/>
    <ds:schemaRef ds:uri="http://schemas.microsoft.com/office/2006/metadata/properties"/>
    <ds:schemaRef ds:uri="http://purl.org/dc/elements/1.1/"/>
    <ds:schemaRef ds:uri="http://purl.org/dc/terms/"/>
    <ds:schemaRef ds:uri="http://schemas.microsoft.com/office/2006/documentManagement/types"/>
    <ds:schemaRef ds:uri="f52a8cb6-32e1-4109-bdde-d03590b9ac52"/>
    <ds:schemaRef ds:uri="http://schemas.microsoft.com/office/infopath/2007/PartnerControls"/>
    <ds:schemaRef ds:uri="http://schemas.openxmlformats.org/package/2006/metadata/core-properties"/>
    <ds:schemaRef ds:uri="3f324c65-194c-423d-8180-759e3972f2c1"/>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hsleiden_nl.potx</Template>
  <TotalTime>9092</TotalTime>
  <Words>9604</Words>
  <Application>Microsoft Macintosh PowerPoint</Application>
  <PresentationFormat>Diavoorstelling (4:3)</PresentationFormat>
  <Paragraphs>1316</Paragraphs>
  <Slides>140</Slides>
  <Notes>117</Notes>
  <HiddenSlides>0</HiddenSlides>
  <MMClips>0</MMClips>
  <ScaleCrop>false</ScaleCrop>
  <HeadingPairs>
    <vt:vector size="6" baseType="variant">
      <vt:variant>
        <vt:lpstr>Gebruikte lettertypen</vt:lpstr>
      </vt:variant>
      <vt:variant>
        <vt:i4>6</vt:i4>
      </vt:variant>
      <vt:variant>
        <vt:lpstr>Thema</vt:lpstr>
      </vt:variant>
      <vt:variant>
        <vt:i4>1</vt:i4>
      </vt:variant>
      <vt:variant>
        <vt:lpstr>Diatitels</vt:lpstr>
      </vt:variant>
      <vt:variant>
        <vt:i4>140</vt:i4>
      </vt:variant>
    </vt:vector>
  </HeadingPairs>
  <TitlesOfParts>
    <vt:vector size="147" baseType="lpstr">
      <vt:lpstr>Arial</vt:lpstr>
      <vt:lpstr>Calibri</vt:lpstr>
      <vt:lpstr>Courier New</vt:lpstr>
      <vt:lpstr>Lucida Sans Unicode</vt:lpstr>
      <vt:lpstr>Times</vt:lpstr>
      <vt:lpstr>Verdana</vt:lpstr>
      <vt:lpstr>hsleiden_nl</vt:lpstr>
      <vt:lpstr>ICPT – Concepten in Programmeertalen</vt:lpstr>
      <vt:lpstr>Planning voor vandaag</vt:lpstr>
      <vt:lpstr>Chapter 12</vt:lpstr>
      <vt:lpstr>Chapter 12 Topics</vt:lpstr>
      <vt:lpstr>Introduction</vt:lpstr>
      <vt:lpstr>Object-Oriented Programming</vt:lpstr>
      <vt:lpstr>Inheritance</vt:lpstr>
      <vt:lpstr>Object-Oriented Concepts</vt:lpstr>
      <vt:lpstr>Object-Oriented Concepts (continued)</vt:lpstr>
      <vt:lpstr>Object-Oriented Concepts (continued)</vt:lpstr>
      <vt:lpstr>Object-Oriented Concepts (continued)</vt:lpstr>
      <vt:lpstr>Object-Oriented Concepts (continued)</vt:lpstr>
      <vt:lpstr>Dynamic Binding</vt:lpstr>
      <vt:lpstr>Dynamic Binding Concepts</vt:lpstr>
      <vt:lpstr>Design Issues for OOP Languages</vt:lpstr>
      <vt:lpstr>The Exclusivity of Objects</vt:lpstr>
      <vt:lpstr>Are Subclasses Subtypes?</vt:lpstr>
      <vt:lpstr>Single and Multiple Inheritance</vt:lpstr>
      <vt:lpstr>Diamond of Death (Multiple Inheritance)</vt:lpstr>
      <vt:lpstr>Allocation and DeAllocation of Objects</vt:lpstr>
      <vt:lpstr>Dynamic and Static Binding</vt:lpstr>
      <vt:lpstr>Nested Classes</vt:lpstr>
      <vt:lpstr>Initialization of Objects</vt:lpstr>
      <vt:lpstr>Support for OOP in C++</vt:lpstr>
      <vt:lpstr>Support for OOP in C++ (continued)</vt:lpstr>
      <vt:lpstr>Support for OOP in C++ (continued)</vt:lpstr>
      <vt:lpstr>Inheritance Example in C++</vt:lpstr>
      <vt:lpstr>Reexportation in C++</vt:lpstr>
      <vt:lpstr>Reexportation (continued)</vt:lpstr>
      <vt:lpstr>Support for OOP in C++ (continued)</vt:lpstr>
      <vt:lpstr>Support for OOP in C++ (continued)</vt:lpstr>
      <vt:lpstr>Support for OOP in C++ (continued)</vt:lpstr>
      <vt:lpstr>Support for OOP in C++ (continued)</vt:lpstr>
      <vt:lpstr>Support for OOP in C++ (continued)</vt:lpstr>
      <vt:lpstr>Support for OOP in Objective-C</vt:lpstr>
      <vt:lpstr>Support for OOP in Objective-C (continued)</vt:lpstr>
      <vt:lpstr>Support for OOP in Objective-C (continued)</vt:lpstr>
      <vt:lpstr>Support for OOP in Objective-C (continued)</vt:lpstr>
      <vt:lpstr>Support for OOP in Objective-C (continued)</vt:lpstr>
      <vt:lpstr>Support for OOP in Objective-C (continued)</vt:lpstr>
      <vt:lpstr>Support for OOP in Java</vt:lpstr>
      <vt:lpstr>Support for OOP in Java (continued)</vt:lpstr>
      <vt:lpstr>Support for OOP in Java (continued)</vt:lpstr>
      <vt:lpstr>Support for OOP in Java (continued)</vt:lpstr>
      <vt:lpstr>Support for OOP in Java (continued)</vt:lpstr>
      <vt:lpstr>Support for OOP in C#</vt:lpstr>
      <vt:lpstr>Support for OOP in C# (continued)</vt:lpstr>
      <vt:lpstr>Support for OOP in C#</vt:lpstr>
      <vt:lpstr>Support for OOP in C# (continued)</vt:lpstr>
      <vt:lpstr>Support for OOP in C#</vt:lpstr>
      <vt:lpstr>Support for OOP in Ruby</vt:lpstr>
      <vt:lpstr>Support for OOP in Ruby (continued)</vt:lpstr>
      <vt:lpstr>Implementing OO Constructs</vt:lpstr>
      <vt:lpstr>Instance Data Storage</vt:lpstr>
      <vt:lpstr>Dynamic Binding of Methods Calls</vt:lpstr>
      <vt:lpstr>Summary</vt:lpstr>
      <vt:lpstr>Chapter 13</vt:lpstr>
      <vt:lpstr>CPU and Fetch-execute cycle</vt:lpstr>
      <vt:lpstr>Chapter 13 Topics</vt:lpstr>
      <vt:lpstr>Introduction</vt:lpstr>
      <vt:lpstr>Multiprocessor Architectures</vt:lpstr>
      <vt:lpstr>Categories of Concurrency</vt:lpstr>
      <vt:lpstr>Motivations for the Use of Concurrency</vt:lpstr>
      <vt:lpstr>Introduction to Subprogram-Level Concurrency</vt:lpstr>
      <vt:lpstr>Two General Categories of Tasks</vt:lpstr>
      <vt:lpstr>Task Synchronization</vt:lpstr>
      <vt:lpstr>Kinds of synchronization</vt:lpstr>
      <vt:lpstr>Need for Competition Synchronization</vt:lpstr>
      <vt:lpstr>Scheduler</vt:lpstr>
      <vt:lpstr>Task Execution States</vt:lpstr>
      <vt:lpstr>Task Execution States (continued)</vt:lpstr>
      <vt:lpstr>Liveness and Deadlock</vt:lpstr>
      <vt:lpstr>Starvation</vt:lpstr>
      <vt:lpstr>Design Issues for Concurrency</vt:lpstr>
      <vt:lpstr>Methods of Providing Synchronization</vt:lpstr>
      <vt:lpstr>Semaphores </vt:lpstr>
      <vt:lpstr>Cooperation Synchronization with Semaphores</vt:lpstr>
      <vt:lpstr>Cooperation Synchronization with Semaphores (continued)</vt:lpstr>
      <vt:lpstr>Cooperation Synchronization with Semaphores (continued)</vt:lpstr>
      <vt:lpstr>Semaphores: Wait and Release Operations</vt:lpstr>
      <vt:lpstr>Producer and Consumer Tasks</vt:lpstr>
      <vt:lpstr>Competition Synchronization with Semaphores </vt:lpstr>
      <vt:lpstr>Producer Code for Semaphores</vt:lpstr>
      <vt:lpstr>Consumer Code for Semaphores</vt:lpstr>
      <vt:lpstr>Evaluation of Semaphores</vt:lpstr>
      <vt:lpstr>Monitors</vt:lpstr>
      <vt:lpstr>Competition Synchronization</vt:lpstr>
      <vt:lpstr>Cooperation Synchronization</vt:lpstr>
      <vt:lpstr>Evaluation of Monitors</vt:lpstr>
      <vt:lpstr>Message Passing</vt:lpstr>
      <vt:lpstr>Message Passing Rendezvous</vt:lpstr>
      <vt:lpstr>Java Threads</vt:lpstr>
      <vt:lpstr>Controlling Thread Execution</vt:lpstr>
      <vt:lpstr>Thread Priorities</vt:lpstr>
      <vt:lpstr>Competition Synchronization with Java Threads</vt:lpstr>
      <vt:lpstr>Cooperation Synchronization with Java Threads</vt:lpstr>
      <vt:lpstr>Java’s Thread Evaluation</vt:lpstr>
      <vt:lpstr>C# Threads</vt:lpstr>
      <vt:lpstr>Synchronizing Threads </vt:lpstr>
      <vt:lpstr>C#’s Concurrency Evaluation </vt:lpstr>
      <vt:lpstr>Statement-Level Concurrency</vt:lpstr>
      <vt:lpstr>High-Performance Fortran</vt:lpstr>
      <vt:lpstr>Primary HPF Specifications</vt:lpstr>
      <vt:lpstr>Statement-Level Concurrency Example</vt:lpstr>
      <vt:lpstr>Statement-Level Concurrency (continued)</vt:lpstr>
      <vt:lpstr>Summary</vt:lpstr>
      <vt:lpstr>Chapter 14</vt:lpstr>
      <vt:lpstr>Chapter 14 Topics</vt:lpstr>
      <vt:lpstr>Introduction to Exception Handling</vt:lpstr>
      <vt:lpstr>Basic Concepts</vt:lpstr>
      <vt:lpstr>Exception Handling Alternatives</vt:lpstr>
      <vt:lpstr>Advantages of Built-in Exception Handling</vt:lpstr>
      <vt:lpstr>Design Issues</vt:lpstr>
      <vt:lpstr>Design Issues (continued)</vt:lpstr>
      <vt:lpstr>Exception Handling Control Flow</vt:lpstr>
      <vt:lpstr>Exception Handling in C++</vt:lpstr>
      <vt:lpstr>C++ Exception Handlers</vt:lpstr>
      <vt:lpstr>The catch Function</vt:lpstr>
      <vt:lpstr>Throwing Exceptions</vt:lpstr>
      <vt:lpstr>Unhandled Exceptions</vt:lpstr>
      <vt:lpstr>Continuation</vt:lpstr>
      <vt:lpstr>Evaluation</vt:lpstr>
      <vt:lpstr>Exception Handling in Java</vt:lpstr>
      <vt:lpstr>Classes of Exceptions</vt:lpstr>
      <vt:lpstr>Java Exception Handlers</vt:lpstr>
      <vt:lpstr>Binding Exceptions to Handlers</vt:lpstr>
      <vt:lpstr>Continuation</vt:lpstr>
      <vt:lpstr>Checked and Unchecked Exceptions</vt:lpstr>
      <vt:lpstr>Other Design Choices</vt:lpstr>
      <vt:lpstr>The finally Clause</vt:lpstr>
      <vt:lpstr>Example</vt:lpstr>
      <vt:lpstr>Assertions</vt:lpstr>
      <vt:lpstr>Evaluation</vt:lpstr>
      <vt:lpstr>Exception Handling in Python</vt:lpstr>
      <vt:lpstr>Exception Handling in Python (continued)</vt:lpstr>
      <vt:lpstr>Exception Handling in Python (continued)</vt:lpstr>
      <vt:lpstr>Exception Handling in Python (continued)</vt:lpstr>
      <vt:lpstr>Exception Handling in Ruby</vt:lpstr>
      <vt:lpstr>Exception Handling in Ruby (continued)</vt:lpstr>
      <vt:lpstr>Exception Handling in Ruby (continued)</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Lars Wildenberg</dc:creator>
  <cp:lastModifiedBy>Arts, Ron</cp:lastModifiedBy>
  <cp:revision>169</cp:revision>
  <dcterms:created xsi:type="dcterms:W3CDTF">2013-11-07T10:07:57Z</dcterms:created>
  <dcterms:modified xsi:type="dcterms:W3CDTF">2020-07-06T09:26:15Z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0x010100E8AB2A5A18D8404DBA73EF508DB4A06C</vt:lpwstr>
  </property>
  <property fmtid="{D5CDD505-2E9C-101B-9397-08002B2CF9AE}" pid="3" name="EducationCourse">
    <vt:lpwstr/>
  </property>
  <property fmtid="{D5CDD505-2E9C-101B-9397-08002B2CF9AE}" pid="4" name="EducationYear">
    <vt:lpwstr/>
  </property>
  <property fmtid="{D5CDD505-2E9C-101B-9397-08002B2CF9AE}" pid="5" name="Order">
    <vt:r8>1600</vt:r8>
  </property>
  <property fmtid="{D5CDD505-2E9C-101B-9397-08002B2CF9AE}" pid="6" name="xd_Signature">
    <vt:bool>false</vt:bool>
  </property>
  <property fmtid="{D5CDD505-2E9C-101B-9397-08002B2CF9AE}" pid="7" name="xd_ProgID">
    <vt:lpwstr/>
  </property>
  <property fmtid="{D5CDD505-2E9C-101B-9397-08002B2CF9AE}" pid="8" name="TriggerFlowInfo">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ies>
</file>