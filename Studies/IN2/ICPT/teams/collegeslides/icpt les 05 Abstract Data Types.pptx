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5" r:id="rId4"/>
  </p:sldMasterIdLst>
  <p:notesMasterIdLst>
    <p:notesMasterId r:id="rId51"/>
  </p:notesMasterIdLst>
  <p:sldIdLst>
    <p:sldId id="256" r:id="rId5"/>
    <p:sldId id="262" r:id="rId6"/>
    <p:sldId id="482" r:id="rId7"/>
    <p:sldId id="483" r:id="rId8"/>
    <p:sldId id="484" r:id="rId9"/>
    <p:sldId id="485" r:id="rId10"/>
    <p:sldId id="486" r:id="rId11"/>
    <p:sldId id="487" r:id="rId12"/>
    <p:sldId id="488" r:id="rId13"/>
    <p:sldId id="489" r:id="rId14"/>
    <p:sldId id="430" r:id="rId15"/>
    <p:sldId id="431" r:id="rId16"/>
    <p:sldId id="432" r:id="rId17"/>
    <p:sldId id="433" r:id="rId18"/>
    <p:sldId id="434" r:id="rId19"/>
    <p:sldId id="435" r:id="rId20"/>
    <p:sldId id="440" r:id="rId21"/>
    <p:sldId id="441" r:id="rId22"/>
    <p:sldId id="442" r:id="rId23"/>
    <p:sldId id="443" r:id="rId24"/>
    <p:sldId id="444" r:id="rId25"/>
    <p:sldId id="445" r:id="rId26"/>
    <p:sldId id="446" r:id="rId27"/>
    <p:sldId id="447" r:id="rId28"/>
    <p:sldId id="457" r:id="rId29"/>
    <p:sldId id="458" r:id="rId30"/>
    <p:sldId id="459" r:id="rId31"/>
    <p:sldId id="460" r:id="rId32"/>
    <p:sldId id="461" r:id="rId33"/>
    <p:sldId id="462" r:id="rId34"/>
    <p:sldId id="463" r:id="rId35"/>
    <p:sldId id="464" r:id="rId36"/>
    <p:sldId id="467" r:id="rId37"/>
    <p:sldId id="468" r:id="rId38"/>
    <p:sldId id="469" r:id="rId39"/>
    <p:sldId id="470" r:id="rId40"/>
    <p:sldId id="471" r:id="rId41"/>
    <p:sldId id="472" r:id="rId42"/>
    <p:sldId id="473" r:id="rId43"/>
    <p:sldId id="474" r:id="rId44"/>
    <p:sldId id="475" r:id="rId45"/>
    <p:sldId id="477" r:id="rId46"/>
    <p:sldId id="478" r:id="rId47"/>
    <p:sldId id="479" r:id="rId48"/>
    <p:sldId id="480" r:id="rId49"/>
    <p:sldId id="481" r:id="rId50"/>
  </p:sldIdLst>
  <p:sldSz cx="9144000" cy="6858000" type="screen4x3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3114C"/>
    <a:srgbClr val="20BD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1248E4-95F4-4E4F-AB56-93BDB24052FD}" v="1" dt="2020-06-11T06:50:47.4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>
      <p:cViewPr varScale="1">
        <p:scale>
          <a:sx n="121" d="100"/>
          <a:sy n="121" d="100"/>
        </p:scale>
        <p:origin x="190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viewProps" Target="viewProps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microsoft.com/office/2016/11/relationships/changesInfo" Target="changesInfos/changesInfo1.xml"/><Relationship Id="rId8" Type="http://schemas.openxmlformats.org/officeDocument/2006/relationships/slide" Target="slides/slide4.xml"/><Relationship Id="rId51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microsoft.com/office/2015/10/relationships/revisionInfo" Target="revisionInfo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ts, Ron" userId="24548d85-388a-4276-9d61-77686c5c648d" providerId="ADAL" clId="{822645D1-9613-3F44-BEF7-55F9807889D6}"/>
    <pc:docChg chg="undo custSel addSld modSld">
      <pc:chgData name="Arts, Ron" userId="24548d85-388a-4276-9d61-77686c5c648d" providerId="ADAL" clId="{822645D1-9613-3F44-BEF7-55F9807889D6}" dt="2019-12-11T22:25:54.494" v="456" actId="207"/>
      <pc:docMkLst>
        <pc:docMk/>
      </pc:docMkLst>
      <pc:sldChg chg="modSp">
        <pc:chgData name="Arts, Ron" userId="24548d85-388a-4276-9d61-77686c5c648d" providerId="ADAL" clId="{822645D1-9613-3F44-BEF7-55F9807889D6}" dt="2019-12-11T22:12:40.637" v="25" actId="12"/>
        <pc:sldMkLst>
          <pc:docMk/>
          <pc:sldMk cId="3558630627" sldId="262"/>
        </pc:sldMkLst>
        <pc:spChg chg="mod">
          <ac:chgData name="Arts, Ron" userId="24548d85-388a-4276-9d61-77686c5c648d" providerId="ADAL" clId="{822645D1-9613-3F44-BEF7-55F9807889D6}" dt="2019-12-11T22:12:40.637" v="25" actId="12"/>
          <ac:spMkLst>
            <pc:docMk/>
            <pc:sldMk cId="3558630627" sldId="262"/>
            <ac:spMk id="3" creationId="{00000000-0000-0000-0000-000000000000}"/>
          </ac:spMkLst>
        </pc:spChg>
      </pc:sldChg>
      <pc:sldChg chg="modSp">
        <pc:chgData name="Arts, Ron" userId="24548d85-388a-4276-9d61-77686c5c648d" providerId="ADAL" clId="{822645D1-9613-3F44-BEF7-55F9807889D6}" dt="2019-12-11T22:24:37.037" v="433" actId="27636"/>
        <pc:sldMkLst>
          <pc:docMk/>
          <pc:sldMk cId="3329457281" sldId="433"/>
        </pc:sldMkLst>
        <pc:spChg chg="mod">
          <ac:chgData name="Arts, Ron" userId="24548d85-388a-4276-9d61-77686c5c648d" providerId="ADAL" clId="{822645D1-9613-3F44-BEF7-55F9807889D6}" dt="2019-12-11T22:24:37.037" v="433" actId="27636"/>
          <ac:spMkLst>
            <pc:docMk/>
            <pc:sldMk cId="3329457281" sldId="433"/>
            <ac:spMk id="7173" creationId="{00000000-0000-0000-0000-000000000000}"/>
          </ac:spMkLst>
        </pc:spChg>
      </pc:sldChg>
      <pc:sldChg chg="modSp">
        <pc:chgData name="Arts, Ron" userId="24548d85-388a-4276-9d61-77686c5c648d" providerId="ADAL" clId="{822645D1-9613-3F44-BEF7-55F9807889D6}" dt="2019-12-11T22:24:56.565" v="437" actId="207"/>
        <pc:sldMkLst>
          <pc:docMk/>
          <pc:sldMk cId="3650099905" sldId="444"/>
        </pc:sldMkLst>
        <pc:spChg chg="mod">
          <ac:chgData name="Arts, Ron" userId="24548d85-388a-4276-9d61-77686c5c648d" providerId="ADAL" clId="{822645D1-9613-3F44-BEF7-55F9807889D6}" dt="2019-12-11T22:24:56.565" v="437" actId="207"/>
          <ac:spMkLst>
            <pc:docMk/>
            <pc:sldMk cId="3650099905" sldId="444"/>
            <ac:spMk id="18437" creationId="{00000000-0000-0000-0000-000000000000}"/>
          </ac:spMkLst>
        </pc:spChg>
      </pc:sldChg>
      <pc:sldChg chg="modSp">
        <pc:chgData name="Arts, Ron" userId="24548d85-388a-4276-9d61-77686c5c648d" providerId="ADAL" clId="{822645D1-9613-3F44-BEF7-55F9807889D6}" dt="2019-12-11T22:25:04.891" v="439" actId="207"/>
        <pc:sldMkLst>
          <pc:docMk/>
          <pc:sldMk cId="1911856261" sldId="445"/>
        </pc:sldMkLst>
        <pc:spChg chg="mod">
          <ac:chgData name="Arts, Ron" userId="24548d85-388a-4276-9d61-77686c5c648d" providerId="ADAL" clId="{822645D1-9613-3F44-BEF7-55F9807889D6}" dt="2019-12-11T22:25:04.891" v="439" actId="207"/>
          <ac:spMkLst>
            <pc:docMk/>
            <pc:sldMk cId="1911856261" sldId="445"/>
            <ac:spMk id="19459" creationId="{00000000-0000-0000-0000-000000000000}"/>
          </ac:spMkLst>
        </pc:spChg>
      </pc:sldChg>
      <pc:sldChg chg="modSp">
        <pc:chgData name="Arts, Ron" userId="24548d85-388a-4276-9d61-77686c5c648d" providerId="ADAL" clId="{822645D1-9613-3F44-BEF7-55F9807889D6}" dt="2019-12-11T22:25:17.839" v="445" actId="207"/>
        <pc:sldMkLst>
          <pc:docMk/>
          <pc:sldMk cId="3284611241" sldId="446"/>
        </pc:sldMkLst>
        <pc:spChg chg="mod">
          <ac:chgData name="Arts, Ron" userId="24548d85-388a-4276-9d61-77686c5c648d" providerId="ADAL" clId="{822645D1-9613-3F44-BEF7-55F9807889D6}" dt="2019-12-11T22:25:17.839" v="445" actId="207"/>
          <ac:spMkLst>
            <pc:docMk/>
            <pc:sldMk cId="3284611241" sldId="446"/>
            <ac:spMk id="20483" creationId="{00000000-0000-0000-0000-000000000000}"/>
          </ac:spMkLst>
        </pc:spChg>
      </pc:sldChg>
      <pc:sldChg chg="modSp">
        <pc:chgData name="Arts, Ron" userId="24548d85-388a-4276-9d61-77686c5c648d" providerId="ADAL" clId="{822645D1-9613-3F44-BEF7-55F9807889D6}" dt="2019-12-11T22:25:25.043" v="446" actId="14100"/>
        <pc:sldMkLst>
          <pc:docMk/>
          <pc:sldMk cId="3372931973" sldId="457"/>
        </pc:sldMkLst>
        <pc:spChg chg="mod">
          <ac:chgData name="Arts, Ron" userId="24548d85-388a-4276-9d61-77686c5c648d" providerId="ADAL" clId="{822645D1-9613-3F44-BEF7-55F9807889D6}" dt="2019-12-11T22:25:25.043" v="446" actId="14100"/>
          <ac:spMkLst>
            <pc:docMk/>
            <pc:sldMk cId="3372931973" sldId="457"/>
            <ac:spMk id="31749" creationId="{00000000-0000-0000-0000-000000000000}"/>
          </ac:spMkLst>
        </pc:spChg>
      </pc:sldChg>
      <pc:sldChg chg="modSp">
        <pc:chgData name="Arts, Ron" userId="24548d85-388a-4276-9d61-77686c5c648d" providerId="ADAL" clId="{822645D1-9613-3F44-BEF7-55F9807889D6}" dt="2019-12-11T22:25:38.389" v="449" actId="207"/>
        <pc:sldMkLst>
          <pc:docMk/>
          <pc:sldMk cId="1002407355" sldId="461"/>
        </pc:sldMkLst>
        <pc:spChg chg="mod">
          <ac:chgData name="Arts, Ron" userId="24548d85-388a-4276-9d61-77686c5c648d" providerId="ADAL" clId="{822645D1-9613-3F44-BEF7-55F9807889D6}" dt="2019-12-11T22:25:38.389" v="449" actId="207"/>
          <ac:spMkLst>
            <pc:docMk/>
            <pc:sldMk cId="1002407355" sldId="461"/>
            <ac:spMk id="35845" creationId="{00000000-0000-0000-0000-000000000000}"/>
          </ac:spMkLst>
        </pc:spChg>
      </pc:sldChg>
      <pc:sldChg chg="modSp">
        <pc:chgData name="Arts, Ron" userId="24548d85-388a-4276-9d61-77686c5c648d" providerId="ADAL" clId="{822645D1-9613-3F44-BEF7-55F9807889D6}" dt="2019-12-11T22:25:54.494" v="456" actId="207"/>
        <pc:sldMkLst>
          <pc:docMk/>
          <pc:sldMk cId="1738621943" sldId="463"/>
        </pc:sldMkLst>
        <pc:spChg chg="mod">
          <ac:chgData name="Arts, Ron" userId="24548d85-388a-4276-9d61-77686c5c648d" providerId="ADAL" clId="{822645D1-9613-3F44-BEF7-55F9807889D6}" dt="2019-12-11T22:25:54.494" v="456" actId="207"/>
          <ac:spMkLst>
            <pc:docMk/>
            <pc:sldMk cId="1738621943" sldId="463"/>
            <ac:spMk id="37893" creationId="{00000000-0000-0000-0000-000000000000}"/>
          </ac:spMkLst>
        </pc:spChg>
      </pc:sldChg>
      <pc:sldChg chg="modSp">
        <pc:chgData name="Arts, Ron" userId="24548d85-388a-4276-9d61-77686c5c648d" providerId="ADAL" clId="{822645D1-9613-3F44-BEF7-55F9807889D6}" dt="2019-12-11T22:13:00.023" v="54" actId="20577"/>
        <pc:sldMkLst>
          <pc:docMk/>
          <pc:sldMk cId="550606979" sldId="482"/>
        </pc:sldMkLst>
        <pc:spChg chg="mod">
          <ac:chgData name="Arts, Ron" userId="24548d85-388a-4276-9d61-77686c5c648d" providerId="ADAL" clId="{822645D1-9613-3F44-BEF7-55F9807889D6}" dt="2019-12-11T22:13:00.023" v="54" actId="20577"/>
          <ac:spMkLst>
            <pc:docMk/>
            <pc:sldMk cId="550606979" sldId="482"/>
            <ac:spMk id="3" creationId="{00000000-0000-0000-0000-000000000000}"/>
          </ac:spMkLst>
        </pc:spChg>
        <pc:spChg chg="mod">
          <ac:chgData name="Arts, Ron" userId="24548d85-388a-4276-9d61-77686c5c648d" providerId="ADAL" clId="{822645D1-9613-3F44-BEF7-55F9807889D6}" dt="2019-12-11T22:12:49.691" v="37" actId="14100"/>
          <ac:spMkLst>
            <pc:docMk/>
            <pc:sldMk cId="550606979" sldId="482"/>
            <ac:spMk id="5" creationId="{00000000-0000-0000-0000-000000000000}"/>
          </ac:spMkLst>
        </pc:spChg>
      </pc:sldChg>
      <pc:sldChg chg="modSp">
        <pc:chgData name="Arts, Ron" userId="24548d85-388a-4276-9d61-77686c5c648d" providerId="ADAL" clId="{822645D1-9613-3F44-BEF7-55F9807889D6}" dt="2019-12-11T22:12:06.763" v="24" actId="15"/>
        <pc:sldMkLst>
          <pc:docMk/>
          <pc:sldMk cId="216917620" sldId="484"/>
        </pc:sldMkLst>
        <pc:spChg chg="mod">
          <ac:chgData name="Arts, Ron" userId="24548d85-388a-4276-9d61-77686c5c648d" providerId="ADAL" clId="{822645D1-9613-3F44-BEF7-55F9807889D6}" dt="2019-12-11T22:12:06.763" v="24" actId="15"/>
          <ac:spMkLst>
            <pc:docMk/>
            <pc:sldMk cId="216917620" sldId="484"/>
            <ac:spMk id="3" creationId="{00000000-0000-0000-0000-000000000000}"/>
          </ac:spMkLst>
        </pc:spChg>
      </pc:sldChg>
      <pc:sldChg chg="modSp add">
        <pc:chgData name="Arts, Ron" userId="24548d85-388a-4276-9d61-77686c5c648d" providerId="ADAL" clId="{822645D1-9613-3F44-BEF7-55F9807889D6}" dt="2019-12-11T22:23:58.883" v="426" actId="20577"/>
        <pc:sldMkLst>
          <pc:docMk/>
          <pc:sldMk cId="727308338" sldId="489"/>
        </pc:sldMkLst>
        <pc:spChg chg="mod">
          <ac:chgData name="Arts, Ron" userId="24548d85-388a-4276-9d61-77686c5c648d" providerId="ADAL" clId="{822645D1-9613-3F44-BEF7-55F9807889D6}" dt="2019-12-11T22:23:58.883" v="426" actId="20577"/>
          <ac:spMkLst>
            <pc:docMk/>
            <pc:sldMk cId="727308338" sldId="489"/>
            <ac:spMk id="3" creationId="{00000000-0000-0000-0000-000000000000}"/>
          </ac:spMkLst>
        </pc:spChg>
        <pc:spChg chg="mod">
          <ac:chgData name="Arts, Ron" userId="24548d85-388a-4276-9d61-77686c5c648d" providerId="ADAL" clId="{822645D1-9613-3F44-BEF7-55F9807889D6}" dt="2019-12-11T22:14:07.103" v="84" actId="20577"/>
          <ac:spMkLst>
            <pc:docMk/>
            <pc:sldMk cId="727308338" sldId="489"/>
            <ac:spMk id="5" creationId="{00000000-0000-0000-0000-000000000000}"/>
          </ac:spMkLst>
        </pc:spChg>
      </pc:sldChg>
    </pc:docChg>
  </pc:docChgLst>
  <pc:docChgLst>
    <pc:chgData name="Arts, Ron" userId="24548d85-388a-4276-9d61-77686c5c648d" providerId="ADAL" clId="{4A1248E4-95F4-4E4F-AB56-93BDB24052FD}"/>
    <pc:docChg chg="modSld sldOrd">
      <pc:chgData name="Arts, Ron" userId="24548d85-388a-4276-9d61-77686c5c648d" providerId="ADAL" clId="{4A1248E4-95F4-4E4F-AB56-93BDB24052FD}" dt="2020-06-11T06:50:47.425" v="0"/>
      <pc:docMkLst>
        <pc:docMk/>
      </pc:docMkLst>
      <pc:sldChg chg="ord">
        <pc:chgData name="Arts, Ron" userId="24548d85-388a-4276-9d61-77686c5c648d" providerId="ADAL" clId="{4A1248E4-95F4-4E4F-AB56-93BDB24052FD}" dt="2020-06-11T06:50:47.425" v="0"/>
        <pc:sldMkLst>
          <pc:docMk/>
          <pc:sldMk cId="3686767091" sldId="483"/>
        </pc:sldMkLst>
      </pc:sldChg>
    </pc:docChg>
  </pc:docChgLst>
  <pc:docChgLst>
    <pc:chgData name="Arts, Ron" userId="S::arts.r@hsleiden.nl::24548d85-388a-4276-9d61-77686c5c648d" providerId="AD" clId="Web-{1A6B26A1-009D-3E25-C0D1-02B7F591884A}"/>
    <pc:docChg chg="modSld">
      <pc:chgData name="Arts, Ron" userId="S::arts.r@hsleiden.nl::24548d85-388a-4276-9d61-77686c5c648d" providerId="AD" clId="Web-{1A6B26A1-009D-3E25-C0D1-02B7F591884A}" dt="2019-12-12T10:21:59.658" v="105" actId="20577"/>
      <pc:docMkLst>
        <pc:docMk/>
      </pc:docMkLst>
      <pc:sldChg chg="modSp">
        <pc:chgData name="Arts, Ron" userId="S::arts.r@hsleiden.nl::24548d85-388a-4276-9d61-77686c5c648d" providerId="AD" clId="Web-{1A6B26A1-009D-3E25-C0D1-02B7F591884A}" dt="2019-12-12T10:21:26.658" v="4" actId="20577"/>
        <pc:sldMkLst>
          <pc:docMk/>
          <pc:sldMk cId="550606979" sldId="482"/>
        </pc:sldMkLst>
        <pc:spChg chg="mod">
          <ac:chgData name="Arts, Ron" userId="S::arts.r@hsleiden.nl::24548d85-388a-4276-9d61-77686c5c648d" providerId="AD" clId="Web-{1A6B26A1-009D-3E25-C0D1-02B7F591884A}" dt="2019-12-12T10:21:26.658" v="4" actId="20577"/>
          <ac:spMkLst>
            <pc:docMk/>
            <pc:sldMk cId="550606979" sldId="482"/>
            <ac:spMk id="3" creationId="{00000000-0000-0000-0000-000000000000}"/>
          </ac:spMkLst>
        </pc:spChg>
      </pc:sldChg>
      <pc:sldChg chg="modSp">
        <pc:chgData name="Arts, Ron" userId="S::arts.r@hsleiden.nl::24548d85-388a-4276-9d61-77686c5c648d" providerId="AD" clId="Web-{1A6B26A1-009D-3E25-C0D1-02B7F591884A}" dt="2019-12-12T10:21:59.658" v="104" actId="20577"/>
        <pc:sldMkLst>
          <pc:docMk/>
          <pc:sldMk cId="727308338" sldId="489"/>
        </pc:sldMkLst>
        <pc:spChg chg="mod">
          <ac:chgData name="Arts, Ron" userId="S::arts.r@hsleiden.nl::24548d85-388a-4276-9d61-77686c5c648d" providerId="AD" clId="Web-{1A6B26A1-009D-3E25-C0D1-02B7F591884A}" dt="2019-12-12T10:21:59.658" v="104" actId="20577"/>
          <ac:spMkLst>
            <pc:docMk/>
            <pc:sldMk cId="727308338" sldId="489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9B5F84-F7A7-46FA-BC08-F661D96BBCA7}" type="datetimeFigureOut">
              <a:rPr lang="nl-NL" smtClean="0"/>
              <a:pPr/>
              <a:t>11-06-2020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78F1AB-29EF-4445-A82D-E8624A7043CE}" type="slidenum">
              <a:rPr lang="nl-NL" smtClean="0"/>
              <a:pPr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99909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fld id="{4D33CFC6-11EC-6D48-8068-E9AFE7A52B7A}" type="slidenum">
              <a:rPr lang="en-US" sz="1200"/>
              <a:pPr/>
              <a:t>11</a:t>
            </a:fld>
            <a:endParaRPr lang="en-US" sz="1200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90004" tIns="45002" rIns="90004" bIns="45002"/>
          <a:lstStyle/>
          <a:p>
            <a:pPr eaLnBrk="1" hangingPunct="1"/>
            <a:endParaRPr lang="nl-NL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fld id="{134EE4C9-28C7-4942-B461-00EEBF44829E}" type="slidenum">
              <a:rPr lang="en-US" sz="1200"/>
              <a:pPr/>
              <a:t>12</a:t>
            </a:fld>
            <a:endParaRPr lang="en-US" sz="1200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nl-NL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fld id="{A9F78D6E-013D-2443-A701-2113E6C4F6DE}" type="slidenum">
              <a:rPr lang="en-US" sz="1200"/>
              <a:pPr/>
              <a:t>13</a:t>
            </a:fld>
            <a:endParaRPr lang="en-US" sz="1200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nl-NL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fld id="{1ABE7595-463A-C44E-A10A-33E740E076D2}" type="slidenum">
              <a:rPr lang="en-US" sz="1200"/>
              <a:pPr/>
              <a:t>14</a:t>
            </a:fld>
            <a:endParaRPr lang="en-US" sz="1200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nl-NL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fld id="{ADDDA29C-4373-D24B-A2FA-38ABCFF12C5D}" type="slidenum">
              <a:rPr lang="en-US" sz="1200"/>
              <a:pPr/>
              <a:t>15</a:t>
            </a:fld>
            <a:endParaRPr lang="en-US" sz="1200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nl-NL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fld id="{3640AE3C-997D-5345-9B6C-8AF31E974FF8}" type="slidenum">
              <a:rPr lang="en-US" sz="1200"/>
              <a:pPr/>
              <a:t>16</a:t>
            </a:fld>
            <a:endParaRPr lang="en-US" sz="120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nl-NL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fld id="{238E0205-7DEB-3C4D-920F-2BB554E5D5E2}" type="slidenum">
              <a:rPr lang="en-US" sz="1200"/>
              <a:pPr/>
              <a:t>17</a:t>
            </a:fld>
            <a:endParaRPr lang="en-US" sz="1200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nl-NL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fld id="{C1C2FE96-6C89-C743-8EF0-F397BC05909B}" type="slidenum">
              <a:rPr lang="en-US" sz="1200"/>
              <a:pPr/>
              <a:t>18</a:t>
            </a:fld>
            <a:endParaRPr lang="en-US" sz="1200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nl-NL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fld id="{F6011969-6232-F24E-B42E-75869E92177A}" type="slidenum">
              <a:rPr lang="en-US" sz="1200"/>
              <a:pPr/>
              <a:t>19</a:t>
            </a:fld>
            <a:endParaRPr lang="en-US" sz="1200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nl-NL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fld id="{6A8AD522-49D8-AF43-A3EE-733230E635FA}" type="slidenum">
              <a:rPr lang="en-US" sz="1200"/>
              <a:pPr/>
              <a:t>20</a:t>
            </a:fld>
            <a:endParaRPr lang="en-US" sz="1200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nl-NL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fld id="{911BE358-5D93-9B4E-ABEA-13D2D9957CB7}" type="slidenum">
              <a:rPr lang="en-US" sz="1200"/>
              <a:pPr/>
              <a:t>21</a:t>
            </a:fld>
            <a:endParaRPr lang="en-US" sz="1200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nl-NL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fld id="{7BBCC6C1-248F-B341-AF3D-C31AE4B92450}" type="slidenum">
              <a:rPr lang="en-US" sz="1200"/>
              <a:pPr/>
              <a:t>25</a:t>
            </a:fld>
            <a:endParaRPr lang="en-US" sz="120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nl-NL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fld id="{054EBC0C-5A66-A44F-9867-60D0DE2FC7E1}" type="slidenum">
              <a:rPr lang="en-US" sz="1200"/>
              <a:pPr/>
              <a:t>26</a:t>
            </a:fld>
            <a:endParaRPr lang="en-US" sz="1200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nl-NL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fld id="{67C394B9-96C5-094C-81D5-3308FB2F9DA8}" type="slidenum">
              <a:rPr lang="en-US" sz="1200"/>
              <a:pPr/>
              <a:t>27</a:t>
            </a:fld>
            <a:endParaRPr lang="en-US" sz="1200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nl-NL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fld id="{F6905F9B-BD79-FB46-9152-98652B13A750}" type="slidenum">
              <a:rPr lang="en-US" sz="1200"/>
              <a:pPr/>
              <a:t>28</a:t>
            </a:fld>
            <a:endParaRPr lang="en-US" sz="1200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nl-NL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fld id="{3921BE30-571D-9844-A0CD-07E8AA2A26DB}" type="slidenum">
              <a:rPr lang="en-US" sz="1200"/>
              <a:pPr/>
              <a:t>29</a:t>
            </a:fld>
            <a:endParaRPr lang="en-US" sz="1200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nl-NL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fld id="{EC1F818E-FB92-7249-9211-C8DC8812D723}" type="slidenum">
              <a:rPr lang="en-US" sz="1200"/>
              <a:pPr/>
              <a:t>30</a:t>
            </a:fld>
            <a:endParaRPr lang="en-US" sz="1200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nl-NL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fld id="{07B5B2F3-65F1-B542-B521-AA28CEC4A8DF}" type="slidenum">
              <a:rPr lang="en-US" sz="1200"/>
              <a:pPr/>
              <a:t>31</a:t>
            </a:fld>
            <a:endParaRPr lang="en-US" sz="1200"/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nl-NL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fld id="{CE981827-6FB2-A447-9A1B-B0DE36AEE250}" type="slidenum">
              <a:rPr lang="en-US" sz="1200"/>
              <a:pPr/>
              <a:t>32</a:t>
            </a:fld>
            <a:endParaRPr lang="en-US" sz="1200"/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nl-NL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fld id="{D3DB86D4-6FFB-A049-897C-7B3FBE6208F1}" type="slidenum">
              <a:rPr lang="en-US" sz="1200"/>
              <a:pPr/>
              <a:t>33</a:t>
            </a:fld>
            <a:endParaRPr lang="en-US" sz="1200"/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nl-NL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fld id="{D5E7FD93-788B-1941-AE9C-8D19E8C0724B}" type="slidenum">
              <a:rPr lang="en-US" sz="1200"/>
              <a:pPr/>
              <a:t>34</a:t>
            </a:fld>
            <a:endParaRPr lang="en-US" sz="1200"/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nl-NL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fld id="{F3659393-E5BB-F448-8356-0002CE54C18D}" type="slidenum">
              <a:rPr lang="en-US" sz="1200"/>
              <a:pPr/>
              <a:t>35</a:t>
            </a:fld>
            <a:endParaRPr lang="en-US" sz="1200"/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nl-NL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fld id="{8D97D5B2-8ED1-A24F-8A2E-E837A361C83C}" type="slidenum">
              <a:rPr lang="en-US" sz="1200"/>
              <a:pPr/>
              <a:t>37</a:t>
            </a:fld>
            <a:endParaRPr lang="en-US" sz="1200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nl-NL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fld id="{A16A27D4-0910-4846-840E-3F6C7B5C7B2C}" type="slidenum">
              <a:rPr lang="en-US" sz="1200"/>
              <a:pPr/>
              <a:t>38</a:t>
            </a:fld>
            <a:endParaRPr lang="en-US" sz="1200"/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nl-NL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fld id="{90CB6A06-5621-A04E-A5A1-627B0EDD191A}" type="slidenum">
              <a:rPr lang="en-US" sz="1200"/>
              <a:pPr/>
              <a:t>39</a:t>
            </a:fld>
            <a:endParaRPr lang="en-US" sz="1200"/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nl-NL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fld id="{D3F3605F-26D1-8C4F-AF39-55FD8CB88B65}" type="slidenum">
              <a:rPr lang="en-US" sz="1200"/>
              <a:pPr/>
              <a:t>40</a:t>
            </a:fld>
            <a:endParaRPr lang="en-US" sz="1200"/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nl-NL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fld id="{1628C17D-728F-2649-A80A-75FF7044D32A}" type="slidenum">
              <a:rPr lang="en-US" sz="1200"/>
              <a:pPr/>
              <a:t>41</a:t>
            </a:fld>
            <a:endParaRPr lang="en-US" sz="1200"/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nl-NL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fld id="{EC0FF54F-4F3F-0E49-8B5F-825C5D31431A}" type="slidenum">
              <a:rPr lang="en-US" sz="1200"/>
              <a:pPr/>
              <a:t>42</a:t>
            </a:fld>
            <a:endParaRPr lang="en-US" sz="1200"/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nl-NL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fld id="{71FBFAC8-B41C-954D-8836-56FC58DAC7AB}" type="slidenum">
              <a:rPr lang="en-US" sz="1200"/>
              <a:pPr/>
              <a:t>43</a:t>
            </a:fld>
            <a:endParaRPr lang="en-US" sz="1200"/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nl-NL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fld id="{D23A8CA9-699E-7C47-BA0A-F5D821887992}" type="slidenum">
              <a:rPr lang="en-US" sz="1200"/>
              <a:pPr/>
              <a:t>44</a:t>
            </a:fld>
            <a:endParaRPr lang="en-US" sz="1200"/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nl-NL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fld id="{94517061-BC6A-D243-BCC9-B647A6CBA6B7}" type="slidenum">
              <a:rPr lang="en-US" sz="1200"/>
              <a:pPr/>
              <a:t>45</a:t>
            </a:fld>
            <a:endParaRPr lang="en-US" sz="1200"/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nl-NL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fld id="{C441B43B-3FD5-0143-9180-DF05B1F2F644}" type="slidenum">
              <a:rPr lang="en-US" sz="1200"/>
              <a:pPr/>
              <a:t>46</a:t>
            </a:fld>
            <a:endParaRPr lang="en-US" sz="1200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nl-NL">
              <a:latin typeface="Times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55984" y="-171400"/>
            <a:ext cx="7772400" cy="1470025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x-none"/>
              <a:t>Titelstijl van model bewerken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331440" y="3429000"/>
            <a:ext cx="6400800" cy="175260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Klik om de titelstijl van het model te bewerken</a:t>
            </a:r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>
          <a:xfrm>
            <a:off x="323528" y="5805264"/>
            <a:ext cx="6120680" cy="57606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nl-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al 9"/>
          <p:cNvSpPr/>
          <p:nvPr userDrawn="1"/>
        </p:nvSpPr>
        <p:spPr>
          <a:xfrm>
            <a:off x="4139952" y="6525344"/>
            <a:ext cx="216024" cy="216024"/>
          </a:xfrm>
          <a:prstGeom prst="ellipse">
            <a:avLst/>
          </a:prstGeom>
          <a:solidFill>
            <a:srgbClr val="20BD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3203848" y="6453336"/>
            <a:ext cx="20882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fld id="{1DAD25AC-3D36-459B-92CD-44DA3A629171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15" name="Tijdelijke aanduiding voor inhoud 2"/>
          <p:cNvSpPr>
            <a:spLocks noGrp="1"/>
          </p:cNvSpPr>
          <p:nvPr>
            <p:ph idx="1"/>
          </p:nvPr>
        </p:nvSpPr>
        <p:spPr>
          <a:xfrm>
            <a:off x="590872" y="1279301"/>
            <a:ext cx="8229600" cy="4309939"/>
          </a:xfrm>
        </p:spPr>
        <p:txBody>
          <a:bodyPr/>
          <a:lstStyle/>
          <a:p>
            <a:pPr lvl="0"/>
            <a:r>
              <a:rPr lang="x-none"/>
              <a:t>Klik om de tekststijl van het model te bewerken</a:t>
            </a:r>
          </a:p>
          <a:p>
            <a:pPr lvl="1"/>
            <a:r>
              <a:rPr lang="x-none"/>
              <a:t>Tweede niveau</a:t>
            </a:r>
          </a:p>
          <a:p>
            <a:pPr lvl="2"/>
            <a:r>
              <a:rPr lang="x-none"/>
              <a:t>Derde niveau</a:t>
            </a:r>
          </a:p>
          <a:p>
            <a:pPr lvl="3"/>
            <a:r>
              <a:rPr lang="x-none"/>
              <a:t>Vierde niveau</a:t>
            </a:r>
          </a:p>
          <a:p>
            <a:pPr lvl="4"/>
            <a:r>
              <a:rPr lang="x-none"/>
              <a:t>Vijfde niveau</a:t>
            </a:r>
            <a:endParaRPr lang="nl-NL" dirty="0"/>
          </a:p>
        </p:txBody>
      </p:sp>
      <p:sp>
        <p:nvSpPr>
          <p:cNvPr id="16" name="Tijdelijke aanduiding voor voettekst 4"/>
          <p:cNvSpPr>
            <a:spLocks noGrp="1"/>
          </p:cNvSpPr>
          <p:nvPr>
            <p:ph type="ftr" sz="quarter" idx="11"/>
          </p:nvPr>
        </p:nvSpPr>
        <p:spPr>
          <a:xfrm>
            <a:off x="2627784" y="5805264"/>
            <a:ext cx="6120680" cy="576064"/>
          </a:xfrm>
          <a:prstGeom prst="rect">
            <a:avLst/>
          </a:prstGeom>
        </p:spPr>
        <p:txBody>
          <a:bodyPr/>
          <a:lstStyle/>
          <a:p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Titelstijl van model bewerken</a:t>
            </a:r>
            <a:endParaRPr lang="nl-N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al 9"/>
          <p:cNvSpPr/>
          <p:nvPr userDrawn="1"/>
        </p:nvSpPr>
        <p:spPr>
          <a:xfrm>
            <a:off x="4139952" y="6525344"/>
            <a:ext cx="216024" cy="216024"/>
          </a:xfrm>
          <a:prstGeom prst="ellipse">
            <a:avLst/>
          </a:prstGeom>
          <a:solidFill>
            <a:srgbClr val="20BD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590872" y="1279301"/>
            <a:ext cx="8229600" cy="4309939"/>
          </a:xfrm>
        </p:spPr>
        <p:txBody>
          <a:bodyPr/>
          <a:lstStyle/>
          <a:p>
            <a:pPr lvl="0"/>
            <a:r>
              <a:rPr lang="x-none"/>
              <a:t>Klik om de tekststijl van het model te bewerken</a:t>
            </a:r>
          </a:p>
          <a:p>
            <a:pPr lvl="1"/>
            <a:r>
              <a:rPr lang="x-none"/>
              <a:t>Tweede niveau</a:t>
            </a:r>
          </a:p>
          <a:p>
            <a:pPr lvl="2"/>
            <a:r>
              <a:rPr lang="x-none"/>
              <a:t>Derde niveau</a:t>
            </a:r>
          </a:p>
          <a:p>
            <a:pPr lvl="3"/>
            <a:r>
              <a:rPr lang="x-none"/>
              <a:t>Vierde niveau</a:t>
            </a:r>
          </a:p>
          <a:p>
            <a:pPr lvl="4"/>
            <a:r>
              <a:rPr lang="x-none"/>
              <a:t>Vijfde niveau</a:t>
            </a:r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>
          <a:xfrm>
            <a:off x="2627784" y="5805264"/>
            <a:ext cx="6120680" cy="576064"/>
          </a:xfrm>
          <a:prstGeom prst="rect">
            <a:avLst/>
          </a:prstGeom>
        </p:spPr>
        <p:txBody>
          <a:bodyPr/>
          <a:lstStyle/>
          <a:p>
            <a:endParaRPr lang="nl-NL" dirty="0"/>
          </a:p>
        </p:txBody>
      </p:sp>
      <p:sp>
        <p:nvSpPr>
          <p:cNvPr id="8" name="Titel 1"/>
          <p:cNvSpPr>
            <a:spLocks noGrp="1"/>
          </p:cNvSpPr>
          <p:nvPr>
            <p:ph type="title"/>
          </p:nvPr>
        </p:nvSpPr>
        <p:spPr>
          <a:xfrm>
            <a:off x="323528" y="-90264"/>
            <a:ext cx="8229600" cy="1143000"/>
          </a:xfrm>
          <a:prstGeom prst="rect">
            <a:avLst/>
          </a:prstGeom>
        </p:spPr>
        <p:txBody>
          <a:bodyPr anchor="b"/>
          <a:lstStyle/>
          <a:p>
            <a:r>
              <a:rPr lang="x-none"/>
              <a:t>Titelstijl van model bewerken</a:t>
            </a:r>
            <a:endParaRPr lang="nl-NL" dirty="0"/>
          </a:p>
        </p:txBody>
      </p:sp>
      <p:sp>
        <p:nvSpPr>
          <p:cNvPr id="9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3203848" y="6453336"/>
            <a:ext cx="20882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fld id="{1DAD25AC-3D36-459B-92CD-44DA3A629171}" type="slidenum">
              <a:rPr lang="nl-NL" smtClean="0"/>
              <a:pPr/>
              <a:t>‹nr.›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lleen titel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al 8"/>
          <p:cNvSpPr/>
          <p:nvPr userDrawn="1"/>
        </p:nvSpPr>
        <p:spPr>
          <a:xfrm>
            <a:off x="4139952" y="6525344"/>
            <a:ext cx="216024" cy="216024"/>
          </a:xfrm>
          <a:prstGeom prst="ellipse">
            <a:avLst/>
          </a:prstGeom>
          <a:solidFill>
            <a:srgbClr val="2311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solidFill>
                <a:srgbClr val="23114C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3528" y="-99392"/>
            <a:ext cx="8229600" cy="1143000"/>
          </a:xfrm>
          <a:prstGeom prst="rect">
            <a:avLst/>
          </a:prstGeom>
        </p:spPr>
        <p:txBody>
          <a:bodyPr anchor="b"/>
          <a:lstStyle/>
          <a:p>
            <a:r>
              <a:rPr lang="x-none"/>
              <a:t>Titelstijl van model bewerken</a:t>
            </a:r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>
          <a:xfrm>
            <a:off x="2123728" y="5805264"/>
            <a:ext cx="6120680" cy="57606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7" name="Tijdelijke aanduiding voor inhoud 2"/>
          <p:cNvSpPr>
            <a:spLocks noGrp="1"/>
          </p:cNvSpPr>
          <p:nvPr>
            <p:ph idx="1"/>
          </p:nvPr>
        </p:nvSpPr>
        <p:spPr>
          <a:xfrm>
            <a:off x="590872" y="1279301"/>
            <a:ext cx="8229600" cy="4237931"/>
          </a:xfrm>
        </p:spPr>
        <p:txBody>
          <a:bodyPr/>
          <a:lstStyle/>
          <a:p>
            <a:pPr lvl="0"/>
            <a:r>
              <a:rPr lang="x-none"/>
              <a:t>Klik om de tekststijl van het model te bewerken</a:t>
            </a:r>
          </a:p>
          <a:p>
            <a:pPr lvl="1"/>
            <a:r>
              <a:rPr lang="x-none"/>
              <a:t>Tweede niveau</a:t>
            </a:r>
          </a:p>
          <a:p>
            <a:pPr lvl="2"/>
            <a:r>
              <a:rPr lang="x-none"/>
              <a:t>Derde niveau</a:t>
            </a:r>
          </a:p>
          <a:p>
            <a:pPr lvl="3"/>
            <a:r>
              <a:rPr lang="x-none"/>
              <a:t>Vierde niveau</a:t>
            </a:r>
          </a:p>
          <a:p>
            <a:pPr lvl="4"/>
            <a:r>
              <a:rPr lang="x-none"/>
              <a:t>Vijfde niveau</a:t>
            </a:r>
            <a:endParaRPr lang="nl-NL" dirty="0"/>
          </a:p>
        </p:txBody>
      </p:sp>
      <p:sp>
        <p:nvSpPr>
          <p:cNvPr id="8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3203848" y="6453336"/>
            <a:ext cx="20882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fld id="{1DAD25AC-3D36-459B-92CD-44DA3A629171}" type="slidenum">
              <a:rPr lang="nl-NL" smtClean="0"/>
              <a:pPr/>
              <a:t>‹nr.›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Copyright © 2012 Addison-Wesley. All rights reserved.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1-</a:t>
            </a:r>
            <a:fld id="{B7A6CB2A-4E6D-984C-A17B-F10D5E490DB0}" type="slidenum">
              <a:rPr lang="en-US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641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7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90872" y="1279301"/>
            <a:ext cx="8229600" cy="42379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Klik om de modelstijlen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3230488" y="64482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rgbClr val="23114C"/>
                </a:solidFill>
              </a:defRPr>
            </a:lvl1pPr>
          </a:lstStyle>
          <a:p>
            <a:fld id="{1DAD25AC-3D36-459B-92CD-44DA3A629171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9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2627784" y="5805264"/>
            <a:ext cx="6120680" cy="57606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200">
                <a:solidFill>
                  <a:srgbClr val="23114C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endParaRPr lang="nl-NL" dirty="0"/>
          </a:p>
        </p:txBody>
      </p:sp>
      <p:sp>
        <p:nvSpPr>
          <p:cNvPr id="10" name="Tijdelijke aanduiding voor titel 9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de stijl te bewerken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61" r:id="rId2"/>
    <p:sldLayoutId id="2147483657" r:id="rId3"/>
    <p:sldLayoutId id="2147483664" r:id="rId4"/>
    <p:sldLayoutId id="2147483665" r:id="rId5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2600" b="1" kern="1200">
          <a:solidFill>
            <a:srgbClr val="20BDBA"/>
          </a:solidFill>
          <a:latin typeface="Verdana" pitchFamily="34" charset="0"/>
          <a:ea typeface="Verdana" pitchFamily="34" charset="0"/>
          <a:cs typeface="Verdana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rgbClr val="23114C"/>
          </a:solidFill>
          <a:latin typeface="Verdana" pitchFamily="34" charset="0"/>
          <a:ea typeface="Verdana" pitchFamily="34" charset="0"/>
          <a:cs typeface="Verdana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200" kern="1200">
          <a:solidFill>
            <a:srgbClr val="23114C"/>
          </a:solidFill>
          <a:latin typeface="Verdana" pitchFamily="34" charset="0"/>
          <a:ea typeface="Verdana" pitchFamily="34" charset="0"/>
          <a:cs typeface="Verdana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900" kern="1200">
          <a:solidFill>
            <a:srgbClr val="23114C"/>
          </a:solidFill>
          <a:latin typeface="Verdana" pitchFamily="34" charset="0"/>
          <a:ea typeface="Verdana" pitchFamily="34" charset="0"/>
          <a:cs typeface="Verdana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700" kern="1200">
          <a:solidFill>
            <a:srgbClr val="23114C"/>
          </a:solidFill>
          <a:latin typeface="Verdana" pitchFamily="34" charset="0"/>
          <a:ea typeface="Verdana" pitchFamily="34" charset="0"/>
          <a:cs typeface="Verdana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400" kern="1200">
          <a:solidFill>
            <a:srgbClr val="23114C"/>
          </a:solidFill>
          <a:latin typeface="Verdana" pitchFamily="34" charset="0"/>
          <a:ea typeface="Verdana" pitchFamily="34" charset="0"/>
          <a:cs typeface="Verdan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ICPT – Concepten in Programmeertalen</a:t>
            </a:r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331440" y="3429000"/>
            <a:ext cx="6400800" cy="1944216"/>
          </a:xfrm>
        </p:spPr>
        <p:txBody>
          <a:bodyPr>
            <a:normAutofit/>
          </a:bodyPr>
          <a:lstStyle/>
          <a:p>
            <a:r>
              <a:rPr lang="nl-NL"/>
              <a:t>Les 4b</a:t>
            </a:r>
            <a:endParaRPr lang="nl-NL" dirty="0"/>
          </a:p>
          <a:p>
            <a:r>
              <a:rPr lang="nl-NL" dirty="0"/>
              <a:t>Abstract datatypes &amp; </a:t>
            </a:r>
            <a:r>
              <a:rPr lang="nl-NL" dirty="0" err="1"/>
              <a:t>encapsulation</a:t>
            </a:r>
            <a:r>
              <a:rPr lang="nl-NL" dirty="0"/>
              <a:t> </a:t>
            </a:r>
            <a:r>
              <a:rPr lang="nl-NL" dirty="0" err="1"/>
              <a:t>constructs</a:t>
            </a:r>
            <a:endParaRPr lang="nl-NL" dirty="0"/>
          </a:p>
          <a:p>
            <a:endParaRPr lang="nl-NL" dirty="0"/>
          </a:p>
          <a:p>
            <a:endParaRPr lang="nl-NL" dirty="0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/>
              <a:t>Opleiding Informatica</a:t>
            </a:r>
          </a:p>
        </p:txBody>
      </p:sp>
    </p:spTree>
    <p:extLst>
      <p:ext uri="{BB962C8B-B14F-4D97-AF65-F5344CB8AC3E}">
        <p14:creationId xmlns:p14="http://schemas.microsoft.com/office/powerpoint/2010/main" val="40304502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DAD25AC-3D36-459B-92CD-44DA3A629171}" type="slidenum">
              <a:rPr lang="nl-NL" smtClean="0"/>
              <a:pPr/>
              <a:t>2</a:t>
            </a:fld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NL" sz="2000" dirty="0"/>
              <a:t>Extra uitleg over het verslag</a:t>
            </a:r>
          </a:p>
          <a:p>
            <a:r>
              <a:rPr lang="nl-NL" sz="2000" dirty="0"/>
              <a:t>Abstract datatypes &amp; </a:t>
            </a:r>
            <a:r>
              <a:rPr lang="nl-NL" sz="2000" dirty="0" err="1"/>
              <a:t>encapsulation</a:t>
            </a:r>
            <a:r>
              <a:rPr lang="nl-NL" sz="2000" dirty="0"/>
              <a:t> </a:t>
            </a:r>
            <a:r>
              <a:rPr lang="nl-NL" sz="2000" dirty="0" err="1"/>
              <a:t>constructs</a:t>
            </a:r>
            <a:endParaRPr lang="nl-NL" sz="2000" dirty="0"/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endParaRPr lang="nl-NL" sz="2000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Planning voor deze les</a:t>
            </a:r>
          </a:p>
        </p:txBody>
      </p:sp>
    </p:spTree>
    <p:extLst>
      <p:ext uri="{BB962C8B-B14F-4D97-AF65-F5344CB8AC3E}">
        <p14:creationId xmlns:p14="http://schemas.microsoft.com/office/powerpoint/2010/main" val="35586306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DAD25AC-3D36-459B-92CD-44DA3A629171}" type="slidenum">
              <a:rPr lang="nl-NL" smtClean="0"/>
              <a:pPr/>
              <a:t>3</a:t>
            </a:fld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755576" y="1279301"/>
            <a:ext cx="8064896" cy="430993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nl-NL" sz="2000" dirty="0">
                <a:latin typeface="Verdana"/>
                <a:ea typeface="Verdana"/>
                <a:cs typeface="Verdana"/>
              </a:rPr>
              <a:t>Aspecten:</a:t>
            </a:r>
          </a:p>
          <a:p>
            <a:r>
              <a:rPr lang="nl-NL" dirty="0"/>
              <a:t>Historie</a:t>
            </a:r>
          </a:p>
          <a:p>
            <a:r>
              <a:rPr lang="en-US" dirty="0" err="1"/>
              <a:t>Taalopbouw</a:t>
            </a:r>
            <a:r>
              <a:rPr lang="en-US" dirty="0"/>
              <a:t>, parsing, toolchain</a:t>
            </a:r>
          </a:p>
          <a:p>
            <a:r>
              <a:rPr lang="en-US" dirty="0"/>
              <a:t>Basis </a:t>
            </a:r>
            <a:r>
              <a:rPr lang="en-US" dirty="0" err="1"/>
              <a:t>concepten</a:t>
            </a:r>
            <a:r>
              <a:rPr lang="en-US" dirty="0"/>
              <a:t> </a:t>
            </a:r>
          </a:p>
          <a:p>
            <a:r>
              <a:rPr lang="en-US" dirty="0" err="1"/>
              <a:t>Geavanceerde</a:t>
            </a:r>
            <a:r>
              <a:rPr lang="en-US" dirty="0"/>
              <a:t> </a:t>
            </a:r>
            <a:r>
              <a:rPr lang="en-US" dirty="0" err="1"/>
              <a:t>concepten</a:t>
            </a:r>
            <a:r>
              <a:rPr lang="en-US" dirty="0"/>
              <a:t> </a:t>
            </a:r>
          </a:p>
          <a:p>
            <a:r>
              <a:rPr lang="en-US" dirty="0" err="1"/>
              <a:t>Paradigma’s</a:t>
            </a:r>
            <a:r>
              <a:rPr lang="en-US" dirty="0"/>
              <a:t> </a:t>
            </a:r>
          </a:p>
          <a:p>
            <a:r>
              <a:rPr lang="en-US" dirty="0" err="1"/>
              <a:t>Reflectie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In het </a:t>
            </a:r>
            <a:r>
              <a:rPr lang="en-US" sz="2000" dirty="0" err="1"/>
              <a:t>algemeen</a:t>
            </a:r>
            <a:r>
              <a:rPr lang="en-US" sz="2000" dirty="0"/>
              <a:t>: </a:t>
            </a:r>
            <a:r>
              <a:rPr lang="en-US" sz="2000" dirty="0" err="1"/>
              <a:t>naast</a:t>
            </a:r>
            <a:r>
              <a:rPr lang="en-US" sz="2000" dirty="0"/>
              <a:t> </a:t>
            </a:r>
            <a:r>
              <a:rPr lang="en-US" sz="2000" dirty="0" err="1"/>
              <a:t>uitleg</a:t>
            </a:r>
            <a:r>
              <a:rPr lang="en-US" sz="2000" dirty="0"/>
              <a:t>, </a:t>
            </a:r>
            <a:r>
              <a:rPr lang="en-US" sz="2000" dirty="0" err="1"/>
              <a:t>vergelijk</a:t>
            </a:r>
            <a:r>
              <a:rPr lang="en-US" sz="2000" dirty="0"/>
              <a:t> </a:t>
            </a:r>
            <a:r>
              <a:rPr lang="en-US" sz="2000" dirty="0" err="1"/>
              <a:t>ook</a:t>
            </a:r>
            <a:r>
              <a:rPr lang="en-US" sz="2000" dirty="0"/>
              <a:t> </a:t>
            </a:r>
            <a:r>
              <a:rPr lang="en-US" sz="2000" dirty="0" err="1"/>
              <a:t>bepaalde</a:t>
            </a:r>
            <a:r>
              <a:rPr lang="en-US" sz="2000" dirty="0"/>
              <a:t> </a:t>
            </a:r>
            <a:r>
              <a:rPr lang="en-US" sz="2000" dirty="0" err="1"/>
              <a:t>aspecten</a:t>
            </a:r>
            <a:r>
              <a:rPr lang="en-US" sz="2000" dirty="0"/>
              <a:t> met </a:t>
            </a:r>
            <a:r>
              <a:rPr lang="en-US" sz="2000" dirty="0" err="1"/>
              <a:t>bekende</a:t>
            </a:r>
            <a:r>
              <a:rPr lang="en-US" sz="2000" dirty="0"/>
              <a:t> </a:t>
            </a:r>
            <a:r>
              <a:rPr lang="en-US" sz="2000" dirty="0" err="1"/>
              <a:t>talen</a:t>
            </a:r>
            <a:r>
              <a:rPr lang="en-US" sz="2000" dirty="0"/>
              <a:t> </a:t>
            </a:r>
            <a:r>
              <a:rPr lang="en-US" sz="2000" dirty="0" err="1"/>
              <a:t>zoals</a:t>
            </a:r>
            <a:r>
              <a:rPr lang="en-US" sz="2000" dirty="0"/>
              <a:t> Java, C#, C++</a:t>
            </a:r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endParaRPr lang="nl-NL" sz="2000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32655"/>
          </a:xfrm>
        </p:spPr>
        <p:txBody>
          <a:bodyPr/>
          <a:lstStyle/>
          <a:p>
            <a:r>
              <a:rPr lang="nl-NL" dirty="0"/>
              <a:t>Over het verslag</a:t>
            </a:r>
          </a:p>
        </p:txBody>
      </p:sp>
    </p:spTree>
    <p:extLst>
      <p:ext uri="{BB962C8B-B14F-4D97-AF65-F5344CB8AC3E}">
        <p14:creationId xmlns:p14="http://schemas.microsoft.com/office/powerpoint/2010/main" val="550606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DAD25AC-3D36-459B-92CD-44DA3A629171}" type="slidenum">
              <a:rPr lang="nl-NL" smtClean="0"/>
              <a:pPr/>
              <a:t>4</a:t>
            </a:fld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nl" sz="2000" dirty="0"/>
          </a:p>
          <a:p>
            <a:r>
              <a:rPr lang="nl" dirty="0"/>
              <a:t>Historie en ontstaan van de taal. </a:t>
            </a:r>
          </a:p>
          <a:p>
            <a:r>
              <a:rPr lang="nl" dirty="0"/>
              <a:t>Toepassingen. </a:t>
            </a:r>
            <a:r>
              <a:rPr lang="nl"/>
              <a:t>Waarvoor is de taal niet geschikt? </a:t>
            </a:r>
            <a:endParaRPr lang="nl" dirty="0"/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endParaRPr lang="nl-NL" sz="2000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Historie</a:t>
            </a:r>
          </a:p>
        </p:txBody>
      </p:sp>
    </p:spTree>
    <p:extLst>
      <p:ext uri="{BB962C8B-B14F-4D97-AF65-F5344CB8AC3E}">
        <p14:creationId xmlns:p14="http://schemas.microsoft.com/office/powerpoint/2010/main" val="36867670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DAD25AC-3D36-459B-92CD-44DA3A629171}" type="slidenum">
              <a:rPr lang="nl-NL" smtClean="0"/>
              <a:pPr/>
              <a:t>5</a:t>
            </a:fld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" dirty="0"/>
              <a:t>Wanneer vindt parsing plaats, op welke manier</a:t>
            </a:r>
          </a:p>
          <a:p>
            <a:r>
              <a:rPr lang="nl" dirty="0"/>
              <a:t>Hoe vindt parsing plaats (volgorde)</a:t>
            </a:r>
          </a:p>
          <a:p>
            <a:r>
              <a:rPr lang="nl" dirty="0"/>
              <a:t>Beschrijf de toolchain:</a:t>
            </a:r>
          </a:p>
          <a:p>
            <a:pPr lvl="1"/>
            <a:r>
              <a:rPr lang="nl" dirty="0"/>
              <a:t>Beschrijf de development omgeving (REPL?)</a:t>
            </a:r>
          </a:p>
          <a:p>
            <a:pPr lvl="1"/>
            <a:r>
              <a:rPr lang="nl" dirty="0"/>
              <a:t>Beschrijf de run-time omgeving (parsing, memory model, intermediate code, Virtual Machine indien van toepassing)</a:t>
            </a:r>
          </a:p>
          <a:p>
            <a:pPr lvl="1"/>
            <a:r>
              <a:rPr lang="nl" dirty="0"/>
              <a:t>In hoeverre en wanneer vindt optimalisatie plaats (speed/size)</a:t>
            </a:r>
            <a:endParaRPr lang="nl-NL" dirty="0"/>
          </a:p>
          <a:p>
            <a:pPr marL="0" indent="0">
              <a:buNone/>
            </a:pPr>
            <a:endParaRPr lang="nl-NL" sz="2000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Taalopbouw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parsing 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6917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DAD25AC-3D36-459B-92CD-44DA3A629171}" type="slidenum">
              <a:rPr lang="nl-NL" smtClean="0"/>
              <a:pPr/>
              <a:t>6</a:t>
            </a:fld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Names, Bindings, and Scopes </a:t>
            </a:r>
          </a:p>
          <a:p>
            <a:r>
              <a:rPr lang="en-US" dirty="0"/>
              <a:t>Data Types </a:t>
            </a:r>
          </a:p>
          <a:p>
            <a:r>
              <a:rPr lang="en-US" dirty="0"/>
              <a:t>Expressions and Assignment Statements </a:t>
            </a:r>
          </a:p>
          <a:p>
            <a:r>
              <a:rPr lang="en-US" dirty="0"/>
              <a:t>Statement-Level Control Structures </a:t>
            </a:r>
          </a:p>
          <a:p>
            <a:endParaRPr lang="en-US" dirty="0"/>
          </a:p>
          <a:p>
            <a:pPr marL="0" indent="0">
              <a:buNone/>
            </a:pPr>
            <a:r>
              <a:rPr lang="nl-NL" sz="2000" dirty="0"/>
              <a:t>Beschrijf met name welke van deze aspecten aandacht verdienen in de beschreven taal, </a:t>
            </a:r>
            <a:r>
              <a:rPr lang="nl-NL" sz="2000" dirty="0" err="1"/>
              <a:t>cq</a:t>
            </a:r>
            <a:r>
              <a:rPr lang="nl-NL" sz="2000" dirty="0"/>
              <a:t> specifiek zijn voor deze taal. Benoem ‘</a:t>
            </a:r>
            <a:r>
              <a:rPr lang="nl-NL" sz="2000" dirty="0" err="1"/>
              <a:t>gotcha’s</a:t>
            </a:r>
            <a:r>
              <a:rPr lang="nl-NL" sz="2000" dirty="0"/>
              <a:t>` voor beginnende en ervaren programmeurs.</a:t>
            </a:r>
            <a:endParaRPr lang="en-US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Basisconcepten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2315821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DAD25AC-3D36-459B-92CD-44DA3A629171}" type="slidenum">
              <a:rPr lang="nl-NL" smtClean="0"/>
              <a:pPr/>
              <a:t>7</a:t>
            </a:fld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Subprograms &amp; Implementing subprograms </a:t>
            </a:r>
          </a:p>
          <a:p>
            <a:r>
              <a:rPr lang="en-US" dirty="0"/>
              <a:t>Abstract Data Types and Encapsulation Constructs </a:t>
            </a:r>
          </a:p>
          <a:p>
            <a:r>
              <a:rPr lang="en-US" dirty="0"/>
              <a:t>Concurrency </a:t>
            </a:r>
          </a:p>
          <a:p>
            <a:r>
              <a:rPr lang="en-US" dirty="0"/>
              <a:t>Exception Handling and Event Handling </a:t>
            </a:r>
          </a:p>
          <a:p>
            <a:endParaRPr lang="en-US" dirty="0"/>
          </a:p>
          <a:p>
            <a:pPr marL="0" indent="0">
              <a:buNone/>
            </a:pPr>
            <a:r>
              <a:rPr lang="nl-NL" sz="2000" dirty="0"/>
              <a:t>Beschrijf met name welke van deze aspecten aandacht verdienen in de beschreven taal, </a:t>
            </a:r>
            <a:r>
              <a:rPr lang="nl-NL" sz="2000" dirty="0" err="1"/>
              <a:t>cq</a:t>
            </a:r>
            <a:r>
              <a:rPr lang="nl-NL" sz="2000" dirty="0"/>
              <a:t> specifiek zijn voor deze taal. Benoem ‘</a:t>
            </a:r>
            <a:r>
              <a:rPr lang="nl-NL" sz="2000" dirty="0" err="1"/>
              <a:t>gotcha’s</a:t>
            </a:r>
            <a:r>
              <a:rPr lang="nl-NL" sz="2000" dirty="0"/>
              <a:t>` voor beginnende en ervaren programmeurs.</a:t>
            </a:r>
            <a:endParaRPr lang="en-US" sz="2000" dirty="0"/>
          </a:p>
          <a:p>
            <a:endParaRPr lang="en-US" dirty="0"/>
          </a:p>
          <a:p>
            <a:pPr marL="0" indent="0">
              <a:buNone/>
            </a:pPr>
            <a:endParaRPr lang="nl-NL" sz="2000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Geavanceerde</a:t>
            </a:r>
            <a:r>
              <a:rPr lang="en-US" dirty="0"/>
              <a:t> </a:t>
            </a:r>
            <a:r>
              <a:rPr lang="en-US" dirty="0" err="1"/>
              <a:t>concepten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1445482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DAD25AC-3D36-459B-92CD-44DA3A629171}" type="slidenum">
              <a:rPr lang="nl-NL" smtClean="0"/>
              <a:pPr/>
              <a:t>8</a:t>
            </a:fld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Object-Oriented programming </a:t>
            </a:r>
          </a:p>
          <a:p>
            <a:pPr lvl="1"/>
            <a:r>
              <a:rPr lang="en-US" sz="1800" dirty="0"/>
              <a:t>Inheritance</a:t>
            </a:r>
          </a:p>
          <a:p>
            <a:pPr lvl="1"/>
            <a:r>
              <a:rPr lang="en-US" sz="1800" dirty="0"/>
              <a:t>Polymorphism</a:t>
            </a:r>
          </a:p>
          <a:p>
            <a:pPr lvl="1"/>
            <a:r>
              <a:rPr lang="en-US" sz="1800" dirty="0"/>
              <a:t>Binding</a:t>
            </a:r>
          </a:p>
          <a:p>
            <a:r>
              <a:rPr lang="en-US" dirty="0"/>
              <a:t>Functional programming </a:t>
            </a:r>
          </a:p>
          <a:p>
            <a:pPr lvl="1"/>
            <a:r>
              <a:rPr lang="en-US" sz="1800" dirty="0"/>
              <a:t>Recursion</a:t>
            </a:r>
          </a:p>
          <a:p>
            <a:pPr lvl="1"/>
            <a:r>
              <a:rPr lang="en-US" sz="1800" dirty="0"/>
              <a:t>Pattern matching</a:t>
            </a:r>
          </a:p>
          <a:p>
            <a:pPr lvl="1"/>
            <a:r>
              <a:rPr lang="en-US" sz="1800" dirty="0"/>
              <a:t>Tail recursion</a:t>
            </a:r>
          </a:p>
          <a:p>
            <a:pPr marL="57150" indent="0">
              <a:buNone/>
            </a:pPr>
            <a:endParaRPr lang="en-US" sz="2000" dirty="0"/>
          </a:p>
          <a:p>
            <a:pPr marL="57150" indent="0">
              <a:buNone/>
            </a:pPr>
            <a:r>
              <a:rPr lang="en-US" sz="2000" dirty="0" err="1"/>
              <a:t>Kies</a:t>
            </a:r>
            <a:r>
              <a:rPr lang="en-US" sz="2000" dirty="0"/>
              <a:t> </a:t>
            </a:r>
            <a:r>
              <a:rPr lang="en-US" sz="2000" dirty="0" err="1"/>
              <a:t>eventueel</a:t>
            </a:r>
            <a:r>
              <a:rPr lang="en-US" sz="2000" dirty="0"/>
              <a:t> </a:t>
            </a:r>
            <a:r>
              <a:rPr lang="en-US" sz="2000" dirty="0" err="1"/>
              <a:t>een</a:t>
            </a:r>
            <a:r>
              <a:rPr lang="en-US" sz="2000" dirty="0"/>
              <a:t> </a:t>
            </a:r>
            <a:r>
              <a:rPr lang="en-US" sz="2000" dirty="0" err="1"/>
              <a:t>andere</a:t>
            </a:r>
            <a:r>
              <a:rPr lang="en-US" sz="2000" dirty="0"/>
              <a:t> </a:t>
            </a:r>
            <a:r>
              <a:rPr lang="en-US" sz="2000" dirty="0" err="1"/>
              <a:t>taal</a:t>
            </a:r>
            <a:r>
              <a:rPr lang="en-US" sz="2000" dirty="0"/>
              <a:t> </a:t>
            </a:r>
            <a:r>
              <a:rPr lang="en-US" sz="2000" dirty="0" err="1"/>
              <a:t>als</a:t>
            </a:r>
            <a:r>
              <a:rPr lang="en-US" sz="2000" dirty="0"/>
              <a:t> </a:t>
            </a:r>
            <a:r>
              <a:rPr lang="en-US" sz="2000" dirty="0" err="1"/>
              <a:t>jouw</a:t>
            </a:r>
            <a:r>
              <a:rPr lang="en-US" sz="2000" dirty="0"/>
              <a:t> </a:t>
            </a:r>
            <a:r>
              <a:rPr lang="en-US" sz="2000" dirty="0" err="1"/>
              <a:t>taal</a:t>
            </a:r>
            <a:r>
              <a:rPr lang="en-US" sz="2000" dirty="0"/>
              <a:t> </a:t>
            </a:r>
            <a:r>
              <a:rPr lang="en-US" sz="2000" dirty="0" err="1"/>
              <a:t>een</a:t>
            </a:r>
            <a:r>
              <a:rPr lang="en-US" sz="2000" dirty="0"/>
              <a:t> </a:t>
            </a:r>
            <a:r>
              <a:rPr lang="en-US" sz="2000" dirty="0" err="1"/>
              <a:t>paradigma</a:t>
            </a:r>
            <a:r>
              <a:rPr lang="en-US" sz="2000" dirty="0"/>
              <a:t> </a:t>
            </a:r>
            <a:r>
              <a:rPr lang="en-US" sz="2000" dirty="0" err="1"/>
              <a:t>niet</a:t>
            </a:r>
            <a:r>
              <a:rPr lang="en-US" sz="2000" dirty="0"/>
              <a:t> </a:t>
            </a:r>
            <a:r>
              <a:rPr lang="en-US" sz="2000" dirty="0" err="1"/>
              <a:t>biedt</a:t>
            </a:r>
            <a:r>
              <a:rPr lang="en-US" sz="2000" dirty="0"/>
              <a:t>, </a:t>
            </a:r>
            <a:r>
              <a:rPr lang="en-US" sz="2000" dirty="0" err="1"/>
              <a:t>zodat</a:t>
            </a:r>
            <a:r>
              <a:rPr lang="en-US" sz="2000" dirty="0"/>
              <a:t> in </a:t>
            </a:r>
            <a:r>
              <a:rPr lang="en-US" sz="2000" dirty="0" err="1"/>
              <a:t>ieder</a:t>
            </a:r>
            <a:r>
              <a:rPr lang="en-US" sz="2000" dirty="0"/>
              <a:t> </a:t>
            </a:r>
            <a:r>
              <a:rPr lang="en-US" sz="2000" dirty="0" err="1"/>
              <a:t>geval</a:t>
            </a:r>
            <a:r>
              <a:rPr lang="en-US" sz="2000" dirty="0"/>
              <a:t> </a:t>
            </a:r>
            <a:r>
              <a:rPr lang="en-US" sz="2000" dirty="0" err="1"/>
              <a:t>duidelijk</a:t>
            </a:r>
            <a:r>
              <a:rPr lang="en-US" sz="2000" dirty="0"/>
              <a:t> is </a:t>
            </a:r>
            <a:r>
              <a:rPr lang="en-US" sz="2000" dirty="0" err="1"/>
              <a:t>dat</a:t>
            </a:r>
            <a:r>
              <a:rPr lang="en-US" sz="2000" dirty="0"/>
              <a:t> </a:t>
            </a:r>
            <a:r>
              <a:rPr lang="en-US" sz="2000" dirty="0" err="1"/>
              <a:t>je</a:t>
            </a:r>
            <a:r>
              <a:rPr lang="en-US" sz="2000" dirty="0"/>
              <a:t> het concept </a:t>
            </a:r>
            <a:r>
              <a:rPr lang="en-US" sz="2000" dirty="0" err="1"/>
              <a:t>begrijpt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endParaRPr lang="nl-NL" sz="2000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Paradigma’s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87979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DAD25AC-3D36-459B-92CD-44DA3A629171}" type="slidenum">
              <a:rPr lang="nl-NL" smtClean="0"/>
              <a:pPr/>
              <a:t>9</a:t>
            </a:fld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" dirty="0"/>
              <a:t>Waarvoor is deze taal volgens jou geschikt en waarom?</a:t>
            </a:r>
          </a:p>
          <a:p>
            <a:r>
              <a:rPr lang="nl" dirty="0"/>
              <a:t>Waarom heb je deze taal gekozen?</a:t>
            </a:r>
          </a:p>
          <a:p>
            <a:r>
              <a:rPr lang="nl" dirty="0"/>
              <a:t>Wat is het meest opvallende wat je geleerd hebt van dit verslag?</a:t>
            </a:r>
          </a:p>
          <a:p>
            <a:r>
              <a:rPr lang="nl" dirty="0"/>
              <a:t>Wat vind je zelf nog belangrijk om te melden m.b.t. deze taal en deze opdracht? </a:t>
            </a:r>
            <a:endParaRPr lang="nl" sz="2000" dirty="0"/>
          </a:p>
          <a:p>
            <a:pPr marL="0" indent="0">
              <a:buNone/>
            </a:pPr>
            <a:endParaRPr lang="nl-NL" sz="2000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Reflectie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2567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DAD25AC-3D36-459B-92CD-44DA3A629171}" type="slidenum">
              <a:rPr lang="nl-NL" smtClean="0"/>
              <a:pPr/>
              <a:t>10</a:t>
            </a:fld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nl-NL" sz="2000" dirty="0"/>
              <a:t>Ze staan allemaal in de module wijzer maar:</a:t>
            </a:r>
          </a:p>
          <a:p>
            <a:pPr marL="0" indent="0">
              <a:buNone/>
            </a:pPr>
            <a:endParaRPr lang="nl-NL" sz="2000" dirty="0"/>
          </a:p>
          <a:p>
            <a:r>
              <a:rPr lang="nl-NL" sz="2000" dirty="0"/>
              <a:t>De naam moet volgens het formaat zijn.</a:t>
            </a:r>
          </a:p>
          <a:p>
            <a:r>
              <a:rPr lang="nl-NL" sz="2000" dirty="0"/>
              <a:t>Ik wil ook het brondocument ontvangen</a:t>
            </a:r>
          </a:p>
          <a:p>
            <a:r>
              <a:rPr lang="nl-NL" sz="2000" dirty="0"/>
              <a:t>Als mijn </a:t>
            </a:r>
            <a:r>
              <a:rPr lang="nl-NL" sz="2000" dirty="0" err="1"/>
              <a:t>spellchecker</a:t>
            </a:r>
            <a:r>
              <a:rPr lang="nl-NL" sz="2000" dirty="0"/>
              <a:t> klaagt, dan is het verslag fout</a:t>
            </a:r>
          </a:p>
          <a:p>
            <a:r>
              <a:rPr lang="nl-NL" sz="2000" dirty="0"/>
              <a:t>Alle voorbeeld code moet ik kunnen knippen en plakken</a:t>
            </a:r>
          </a:p>
          <a:p>
            <a:r>
              <a:rPr lang="nl-NL" sz="2000" dirty="0"/>
              <a:t>In een PDF heb ik graag de inhoudsopgave clickable</a:t>
            </a:r>
          </a:p>
          <a:p>
            <a:r>
              <a:rPr lang="nl-NL" sz="2000" dirty="0">
                <a:latin typeface="Verdana"/>
                <a:ea typeface="Verdana"/>
                <a:cs typeface="Verdana"/>
              </a:rPr>
              <a:t>Houd de hoofdstuk indeling van de </a:t>
            </a:r>
            <a:r>
              <a:rPr lang="nl-NL" sz="2000" err="1">
                <a:latin typeface="Verdana"/>
                <a:ea typeface="Verdana"/>
                <a:cs typeface="Verdana"/>
              </a:rPr>
              <a:t>toetswijzer</a:t>
            </a:r>
            <a:r>
              <a:rPr lang="nl-NL" sz="2000">
                <a:latin typeface="Verdana"/>
                <a:ea typeface="Verdana"/>
                <a:cs typeface="Verdana"/>
              </a:rPr>
              <a:t> aan, en nummer de hoofdstukken.</a:t>
            </a:r>
            <a:endParaRPr lang="nl-NL" sz="2000" dirty="0"/>
          </a:p>
          <a:p>
            <a:endParaRPr lang="nl-NL" sz="2000" dirty="0"/>
          </a:p>
          <a:p>
            <a:pPr marL="0" indent="0">
              <a:buNone/>
            </a:pPr>
            <a:endParaRPr lang="nl-NL" sz="2000" dirty="0"/>
          </a:p>
          <a:p>
            <a:endParaRPr lang="nl-NL" sz="2000" dirty="0"/>
          </a:p>
          <a:p>
            <a:pPr marL="0" indent="0">
              <a:buNone/>
            </a:pPr>
            <a:endParaRPr lang="nl-NL" sz="2000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Verdere</a:t>
            </a:r>
            <a:r>
              <a:rPr lang="en-US" dirty="0"/>
              <a:t> </a:t>
            </a:r>
            <a:r>
              <a:rPr lang="en-US" dirty="0" err="1"/>
              <a:t>eisen</a:t>
            </a:r>
            <a:r>
              <a:rPr lang="en-US" dirty="0"/>
              <a:t> </a:t>
            </a:r>
            <a:r>
              <a:rPr lang="en-US" dirty="0" err="1"/>
              <a:t>aan</a:t>
            </a:r>
            <a:r>
              <a:rPr lang="en-US" dirty="0"/>
              <a:t> het </a:t>
            </a:r>
            <a:r>
              <a:rPr lang="en-US" dirty="0" err="1"/>
              <a:t>verslag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3083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409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7E709A86-9DB3-1644-B78E-DBD1EF40953D}" type="slidenum">
              <a:rPr lang="en-US" sz="1000">
                <a:latin typeface="Arial" charset="0"/>
              </a:rPr>
              <a:pPr/>
              <a:t>11</a:t>
            </a:fld>
            <a:endParaRPr lang="en-US" sz="1000">
              <a:latin typeface="Arial" charset="0"/>
            </a:endParaRPr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Chapter 11 Topics</a:t>
            </a:r>
          </a:p>
        </p:txBody>
      </p:sp>
      <p:sp>
        <p:nvSpPr>
          <p:cNvPr id="410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400" dirty="0">
                <a:latin typeface="Lucida Sans Unicode" charset="0"/>
                <a:cs typeface="Lucida Sans Unicode" charset="0"/>
              </a:rPr>
              <a:t>The Concept of Abstraction</a:t>
            </a:r>
          </a:p>
          <a:p>
            <a:pPr eaLnBrk="1" hangingPunct="1"/>
            <a:r>
              <a:rPr lang="en-US" sz="2400" dirty="0">
                <a:latin typeface="Lucida Sans Unicode" charset="0"/>
                <a:cs typeface="Lucida Sans Unicode" charset="0"/>
              </a:rPr>
              <a:t>Introduction to Data Abstraction</a:t>
            </a:r>
          </a:p>
          <a:p>
            <a:pPr eaLnBrk="1" hangingPunct="1"/>
            <a:r>
              <a:rPr lang="en-US" sz="2400" dirty="0">
                <a:latin typeface="Lucida Sans Unicode" charset="0"/>
                <a:cs typeface="Lucida Sans Unicode" charset="0"/>
              </a:rPr>
              <a:t>Design Issues for Abstract Data Types</a:t>
            </a:r>
          </a:p>
          <a:p>
            <a:pPr eaLnBrk="1" hangingPunct="1"/>
            <a:r>
              <a:rPr lang="en-US" sz="2400" dirty="0">
                <a:latin typeface="Lucida Sans Unicode" charset="0"/>
                <a:cs typeface="Lucida Sans Unicode" charset="0"/>
              </a:rPr>
              <a:t>Language Examples</a:t>
            </a:r>
          </a:p>
          <a:p>
            <a:pPr eaLnBrk="1" hangingPunct="1"/>
            <a:r>
              <a:rPr lang="en-US" sz="2400" dirty="0">
                <a:latin typeface="Lucida Sans Unicode" charset="0"/>
                <a:cs typeface="Lucida Sans Unicode" charset="0"/>
              </a:rPr>
              <a:t>Parameterized Abstract Data Types</a:t>
            </a:r>
          </a:p>
          <a:p>
            <a:pPr eaLnBrk="1" hangingPunct="1"/>
            <a:r>
              <a:rPr lang="en-US" sz="2400" dirty="0">
                <a:latin typeface="Lucida Sans Unicode" charset="0"/>
                <a:cs typeface="Lucida Sans Unicode" charset="0"/>
              </a:rPr>
              <a:t>Encapsulation Constructs</a:t>
            </a:r>
          </a:p>
          <a:p>
            <a:pPr eaLnBrk="1" hangingPunct="1"/>
            <a:r>
              <a:rPr lang="en-US" sz="2400" dirty="0">
                <a:latin typeface="Lucida Sans Unicode" charset="0"/>
                <a:cs typeface="Lucida Sans Unicode" charset="0"/>
              </a:rPr>
              <a:t>Naming Encapsulations</a:t>
            </a:r>
          </a:p>
        </p:txBody>
      </p:sp>
    </p:spTree>
    <p:extLst>
      <p:ext uri="{BB962C8B-B14F-4D97-AF65-F5344CB8AC3E}">
        <p14:creationId xmlns:p14="http://schemas.microsoft.com/office/powerpoint/2010/main" val="8412946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512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594D8FA1-61AD-F040-8311-9B62D94462F6}" type="slidenum">
              <a:rPr lang="en-US" sz="1000">
                <a:latin typeface="Arial" charset="0"/>
              </a:rPr>
              <a:pPr/>
              <a:t>12</a:t>
            </a:fld>
            <a:endParaRPr lang="en-US" sz="1000">
              <a:latin typeface="Arial" charset="0"/>
            </a:endParaRPr>
          </a:p>
        </p:txBody>
      </p:sp>
      <p:sp>
        <p:nvSpPr>
          <p:cNvPr id="51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The Concept of Abstraction</a:t>
            </a:r>
          </a:p>
        </p:txBody>
      </p:sp>
      <p:sp>
        <p:nvSpPr>
          <p:cNvPr id="512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>
                <a:latin typeface="Lucida Sans Unicode" charset="0"/>
                <a:cs typeface="Lucida Sans Unicode" charset="0"/>
              </a:rPr>
              <a:t>An </a:t>
            </a:r>
            <a:r>
              <a:rPr lang="en-US" i="1" dirty="0">
                <a:latin typeface="Lucida Sans Unicode" charset="0"/>
                <a:cs typeface="Lucida Sans Unicode" charset="0"/>
              </a:rPr>
              <a:t>abstraction</a:t>
            </a:r>
            <a:r>
              <a:rPr lang="en-US" dirty="0">
                <a:latin typeface="Lucida Sans Unicode" charset="0"/>
                <a:cs typeface="Lucida Sans Unicode" charset="0"/>
              </a:rPr>
              <a:t> is a view or representation of an entity that includes only the most relevant attributes</a:t>
            </a:r>
          </a:p>
          <a:p>
            <a:pPr eaLnBrk="1" hangingPunct="1">
              <a:lnSpc>
                <a:spcPct val="90000"/>
              </a:lnSpc>
            </a:pPr>
            <a:r>
              <a:rPr lang="en-US" dirty="0">
                <a:latin typeface="Lucida Sans Unicode" charset="0"/>
                <a:cs typeface="Lucida Sans Unicode" charset="0"/>
              </a:rPr>
              <a:t>The concept of abstraction is fundamental in programming (and computer science)</a:t>
            </a:r>
          </a:p>
          <a:p>
            <a:pPr eaLnBrk="1" hangingPunct="1">
              <a:lnSpc>
                <a:spcPct val="90000"/>
              </a:lnSpc>
            </a:pPr>
            <a:r>
              <a:rPr lang="en-US" dirty="0">
                <a:latin typeface="Lucida Sans Unicode" charset="0"/>
                <a:cs typeface="Lucida Sans Unicode" charset="0"/>
              </a:rPr>
              <a:t>Nearly all programming languages support process abstraction with subprograms</a:t>
            </a:r>
          </a:p>
          <a:p>
            <a:pPr eaLnBrk="1" hangingPunct="1">
              <a:lnSpc>
                <a:spcPct val="90000"/>
              </a:lnSpc>
            </a:pPr>
            <a:r>
              <a:rPr lang="en-US" dirty="0">
                <a:latin typeface="Lucida Sans Unicode" charset="0"/>
                <a:cs typeface="Lucida Sans Unicode" charset="0"/>
              </a:rPr>
              <a:t>Nearly all programming languages designed since 1980 support </a:t>
            </a:r>
            <a:r>
              <a:rPr lang="en-US" i="1" dirty="0">
                <a:latin typeface="Lucida Sans Unicode" charset="0"/>
                <a:cs typeface="Lucida Sans Unicode" charset="0"/>
              </a:rPr>
              <a:t>data</a:t>
            </a:r>
            <a:r>
              <a:rPr lang="en-US" dirty="0">
                <a:latin typeface="Lucida Sans Unicode" charset="0"/>
                <a:cs typeface="Lucida Sans Unicode" charset="0"/>
              </a:rPr>
              <a:t> </a:t>
            </a:r>
            <a:r>
              <a:rPr lang="en-US" i="1" dirty="0">
                <a:latin typeface="Lucida Sans Unicode" charset="0"/>
                <a:cs typeface="Lucida Sans Unicode" charset="0"/>
              </a:rPr>
              <a:t>abstraction</a:t>
            </a:r>
            <a:endParaRPr lang="en-US" dirty="0">
              <a:latin typeface="Lucida Sans Unicode" charset="0"/>
              <a:cs typeface="Lucida Sans Unicod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29994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15314026-4182-A844-90F5-7CDA9873E727}" type="slidenum">
              <a:rPr lang="en-US" sz="1000">
                <a:latin typeface="Arial" charset="0"/>
              </a:rPr>
              <a:pPr/>
              <a:t>13</a:t>
            </a:fld>
            <a:endParaRPr lang="en-US" sz="1000">
              <a:latin typeface="Arial" charset="0"/>
            </a:endParaRP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Introduction to Data Abstraction</a:t>
            </a:r>
          </a:p>
        </p:txBody>
      </p:sp>
      <p:sp>
        <p:nvSpPr>
          <p:cNvPr id="614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295400"/>
            <a:ext cx="7924800" cy="4800600"/>
          </a:xfrm>
        </p:spPr>
        <p:txBody>
          <a:bodyPr/>
          <a:lstStyle/>
          <a:p>
            <a:pPr eaLnBrk="1" hangingPunct="1"/>
            <a:r>
              <a:rPr lang="en-US" dirty="0">
                <a:latin typeface="Lucida Sans Unicode" charset="0"/>
                <a:cs typeface="Lucida Sans Unicode" charset="0"/>
              </a:rPr>
              <a:t>An </a:t>
            </a:r>
            <a:r>
              <a:rPr lang="en-US" i="1" dirty="0">
                <a:latin typeface="Lucida Sans Unicode" charset="0"/>
                <a:cs typeface="Lucida Sans Unicode" charset="0"/>
              </a:rPr>
              <a:t>abstract data type</a:t>
            </a:r>
            <a:r>
              <a:rPr lang="en-US" dirty="0">
                <a:latin typeface="Lucida Sans Unicode" charset="0"/>
                <a:cs typeface="Lucida Sans Unicode" charset="0"/>
              </a:rPr>
              <a:t> is a user-defined data type that satisfies the following two conditions:</a:t>
            </a:r>
          </a:p>
          <a:p>
            <a:pPr lvl="1" eaLnBrk="1" hangingPunct="1"/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</a:rPr>
              <a:t>The representation of objects of the type is hidden from the program units that use these objects, so the only operations possible are those provided in the type's definition</a:t>
            </a:r>
          </a:p>
          <a:p>
            <a:pPr lvl="1" eaLnBrk="1" hangingPunct="1"/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</a:rPr>
              <a:t>The declarations of the type and the protocols of the operations on objects of the type are contained in a single syntactic unit. Other program units are allowed to create variables of the defined type.</a:t>
            </a:r>
          </a:p>
        </p:txBody>
      </p:sp>
    </p:spTree>
    <p:extLst>
      <p:ext uri="{BB962C8B-B14F-4D97-AF65-F5344CB8AC3E}">
        <p14:creationId xmlns:p14="http://schemas.microsoft.com/office/powerpoint/2010/main" val="7685426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717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BDCA17A9-1DFD-424B-A204-4B3C1228BA6F}" type="slidenum">
              <a:rPr lang="en-US" sz="1000">
                <a:latin typeface="Arial" charset="0"/>
              </a:rPr>
              <a:pPr/>
              <a:t>14</a:t>
            </a:fld>
            <a:endParaRPr lang="en-US" sz="1000">
              <a:latin typeface="Arial" charset="0"/>
            </a:endParaRPr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Advantages of Data Abstraction</a:t>
            </a:r>
          </a:p>
        </p:txBody>
      </p:sp>
      <p:sp>
        <p:nvSpPr>
          <p:cNvPr id="717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584" y="1295400"/>
            <a:ext cx="7554416" cy="4149824"/>
          </a:xfrm>
        </p:spPr>
        <p:txBody>
          <a:bodyPr>
            <a:normAutofit fontScale="92500" lnSpcReduction="20000"/>
          </a:bodyPr>
          <a:lstStyle/>
          <a:p>
            <a:pPr eaLnBrk="1" hangingPunct="1"/>
            <a:r>
              <a:rPr lang="en-US" dirty="0">
                <a:latin typeface="Lucida Sans Unicode" charset="0"/>
                <a:cs typeface="Lucida Sans Unicode" charset="0"/>
              </a:rPr>
              <a:t>Advantages the first condition </a:t>
            </a:r>
          </a:p>
          <a:p>
            <a:pPr lvl="1" eaLnBrk="1" hangingPunct="1"/>
            <a:r>
              <a:rPr lang="en-US" sz="2000" dirty="0">
                <a:latin typeface="Lucida Sans Unicode" charset="0"/>
                <a:ea typeface="Lucida Sans Unicode" charset="0"/>
                <a:cs typeface="Lucida Sans Unicode" charset="0"/>
              </a:rPr>
              <a:t>Reliability -- by hiding the data representations, user code cannot directly access objects of the type or depend on the representation, allowing the representation to be changed without affecting user code</a:t>
            </a:r>
          </a:p>
          <a:p>
            <a:pPr lvl="1" eaLnBrk="1" hangingPunct="1"/>
            <a:r>
              <a:rPr lang="en-US" sz="2000" dirty="0">
                <a:latin typeface="Lucida Sans Unicode" charset="0"/>
                <a:ea typeface="Lucida Sans Unicode" charset="0"/>
                <a:cs typeface="Lucida Sans Unicode" charset="0"/>
              </a:rPr>
              <a:t>Reduces the range of code and variables of which the programmer must be aware</a:t>
            </a:r>
          </a:p>
          <a:p>
            <a:pPr lvl="1" eaLnBrk="1" hangingPunct="1"/>
            <a:r>
              <a:rPr lang="en-US" sz="2000" dirty="0">
                <a:latin typeface="Lucida Sans Unicode" charset="0"/>
                <a:ea typeface="Lucida Sans Unicode" charset="0"/>
                <a:cs typeface="Lucida Sans Unicode" charset="0"/>
              </a:rPr>
              <a:t>Name conflicts are less likely</a:t>
            </a:r>
          </a:p>
          <a:p>
            <a:pPr eaLnBrk="1" hangingPunct="1"/>
            <a:r>
              <a:rPr lang="en-US" dirty="0">
                <a:latin typeface="Lucida Sans Unicode" charset="0"/>
                <a:cs typeface="Lucida Sans Unicode" charset="0"/>
              </a:rPr>
              <a:t>Advantages of the second condition</a:t>
            </a:r>
          </a:p>
          <a:p>
            <a:pPr lvl="1" eaLnBrk="1" hangingPunct="1"/>
            <a:r>
              <a:rPr lang="en-US" sz="2000" dirty="0">
                <a:latin typeface="Lucida Sans Unicode" charset="0"/>
                <a:ea typeface="Lucida Sans Unicode" charset="0"/>
                <a:cs typeface="Lucida Sans Unicode" charset="0"/>
              </a:rPr>
              <a:t>Provides a method of program organization</a:t>
            </a:r>
          </a:p>
          <a:p>
            <a:pPr lvl="1" eaLnBrk="1" hangingPunct="1"/>
            <a:r>
              <a:rPr lang="en-US" sz="2000" dirty="0">
                <a:latin typeface="Lucida Sans Unicode" charset="0"/>
                <a:ea typeface="Lucida Sans Unicode" charset="0"/>
                <a:cs typeface="Lucida Sans Unicode" charset="0"/>
              </a:rPr>
              <a:t>Aids modifiability (everything associated with a data structure is together)</a:t>
            </a:r>
          </a:p>
          <a:p>
            <a:pPr lvl="1" eaLnBrk="1" hangingPunct="1"/>
            <a:r>
              <a:rPr lang="en-US" sz="2000" dirty="0">
                <a:latin typeface="Lucida Sans Unicode" charset="0"/>
                <a:ea typeface="Lucida Sans Unicode" charset="0"/>
                <a:cs typeface="Lucida Sans Unicode" charset="0"/>
              </a:rPr>
              <a:t>Separate compilation</a:t>
            </a:r>
          </a:p>
        </p:txBody>
      </p:sp>
    </p:spTree>
    <p:extLst>
      <p:ext uri="{BB962C8B-B14F-4D97-AF65-F5344CB8AC3E}">
        <p14:creationId xmlns:p14="http://schemas.microsoft.com/office/powerpoint/2010/main" val="33294572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819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82332322-F45A-CB41-AB15-6D3FAE0A0030}" type="slidenum">
              <a:rPr lang="en-US" sz="1000">
                <a:latin typeface="Arial" charset="0"/>
              </a:rPr>
              <a:pPr/>
              <a:t>15</a:t>
            </a:fld>
            <a:endParaRPr lang="en-US" sz="1000">
              <a:latin typeface="Arial" charset="0"/>
            </a:endParaRPr>
          </a:p>
        </p:txBody>
      </p:sp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153400" cy="1143000"/>
          </a:xfrm>
        </p:spPr>
        <p:txBody>
          <a:bodyPr/>
          <a:lstStyle/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Language Requirements for ADTs</a:t>
            </a:r>
          </a:p>
        </p:txBody>
      </p:sp>
      <p:sp>
        <p:nvSpPr>
          <p:cNvPr id="819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A syntactic unit in which to encapsulate the type definition</a:t>
            </a:r>
          </a:p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A method of making type names and subprogram headers visible to clients, while hiding actual definitions</a:t>
            </a:r>
          </a:p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Some primitive operations must be built into the language processor</a:t>
            </a:r>
          </a:p>
        </p:txBody>
      </p:sp>
    </p:spTree>
    <p:extLst>
      <p:ext uri="{BB962C8B-B14F-4D97-AF65-F5344CB8AC3E}">
        <p14:creationId xmlns:p14="http://schemas.microsoft.com/office/powerpoint/2010/main" val="29913691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921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5FB201FC-9E9C-DF49-842D-387659928B5F}" type="slidenum">
              <a:rPr lang="en-US" sz="1000">
                <a:latin typeface="Arial" charset="0"/>
              </a:rPr>
              <a:pPr/>
              <a:t>16</a:t>
            </a:fld>
            <a:endParaRPr lang="en-US" sz="1000">
              <a:latin typeface="Arial" charset="0"/>
            </a:endParaRPr>
          </a:p>
        </p:txBody>
      </p:sp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Design Issues</a:t>
            </a:r>
          </a:p>
        </p:txBody>
      </p:sp>
      <p:sp>
        <p:nvSpPr>
          <p:cNvPr id="922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What is the form of the container for the interface to the type?</a:t>
            </a:r>
          </a:p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Can abstract types be parameterized?</a:t>
            </a:r>
          </a:p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What access controls are provided?</a:t>
            </a:r>
          </a:p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Is the specification of the type physically separate from its implementation?</a:t>
            </a:r>
          </a:p>
          <a:p>
            <a:pPr eaLnBrk="1" hangingPunct="1">
              <a:buFontTx/>
              <a:buNone/>
            </a:pPr>
            <a:endParaRPr lang="en-US">
              <a:latin typeface="Lucida Sans Unicode" charset="0"/>
              <a:cs typeface="Lucida Sans Unicode" charset="0"/>
            </a:endParaRPr>
          </a:p>
          <a:p>
            <a:pPr eaLnBrk="1" hangingPunct="1">
              <a:buFontTx/>
              <a:buNone/>
            </a:pPr>
            <a:endParaRPr lang="en-US">
              <a:latin typeface="Lucida Sans Unicode" charset="0"/>
              <a:cs typeface="Lucida Sans Unicod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88640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1433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04E2CE98-95B8-8748-B61B-5CCC1EBE0C25}" type="slidenum">
              <a:rPr lang="en-US" sz="1000">
                <a:latin typeface="Arial" charset="0"/>
              </a:rPr>
              <a:pPr/>
              <a:t>17</a:t>
            </a:fld>
            <a:endParaRPr lang="en-US" sz="1000">
              <a:latin typeface="Arial" charset="0"/>
            </a:endParaRPr>
          </a:p>
        </p:txBody>
      </p:sp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Language Examples: C++</a:t>
            </a:r>
          </a:p>
        </p:txBody>
      </p:sp>
      <p:sp>
        <p:nvSpPr>
          <p:cNvPr id="1434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153400" cy="4724400"/>
          </a:xfrm>
        </p:spPr>
        <p:txBody>
          <a:bodyPr/>
          <a:lstStyle/>
          <a:p>
            <a:pPr eaLnBrk="1" hangingPunct="1"/>
            <a:r>
              <a:rPr lang="en-US" dirty="0">
                <a:latin typeface="Lucida Sans Unicode" charset="0"/>
                <a:cs typeface="Lucida Sans Unicode" charset="0"/>
              </a:rPr>
              <a:t>Based on C </a:t>
            </a:r>
            <a:r>
              <a:rPr lang="en-US" b="1" dirty="0">
                <a:latin typeface="Courier New" charset="0"/>
                <a:cs typeface="Lucida Sans Unicode" charset="0"/>
              </a:rPr>
              <a:t>struct</a:t>
            </a:r>
            <a:r>
              <a:rPr lang="en-US" dirty="0">
                <a:latin typeface="Lucida Sans Unicode" charset="0"/>
                <a:cs typeface="Lucida Sans Unicode" charset="0"/>
              </a:rPr>
              <a:t> type and </a:t>
            </a:r>
            <a:r>
              <a:rPr lang="en-US" dirty="0" err="1">
                <a:latin typeface="Lucida Sans Unicode" charset="0"/>
                <a:cs typeface="Lucida Sans Unicode" charset="0"/>
              </a:rPr>
              <a:t>Simula</a:t>
            </a:r>
            <a:r>
              <a:rPr lang="en-US" dirty="0">
                <a:latin typeface="Lucida Sans Unicode" charset="0"/>
                <a:cs typeface="Lucida Sans Unicode" charset="0"/>
              </a:rPr>
              <a:t> 67 classes</a:t>
            </a:r>
          </a:p>
          <a:p>
            <a:pPr eaLnBrk="1" hangingPunct="1"/>
            <a:r>
              <a:rPr lang="en-US" dirty="0">
                <a:latin typeface="Lucida Sans Unicode" charset="0"/>
                <a:cs typeface="Lucida Sans Unicode" charset="0"/>
              </a:rPr>
              <a:t>The class is the encapsulation device</a:t>
            </a:r>
          </a:p>
          <a:p>
            <a:pPr eaLnBrk="1" hangingPunct="1"/>
            <a:r>
              <a:rPr lang="en-US" dirty="0">
                <a:latin typeface="Lucida Sans Unicode" charset="0"/>
                <a:cs typeface="Lucida Sans Unicode" charset="0"/>
              </a:rPr>
              <a:t>A class is a type</a:t>
            </a:r>
          </a:p>
          <a:p>
            <a:pPr eaLnBrk="1" hangingPunct="1"/>
            <a:r>
              <a:rPr lang="en-US" dirty="0">
                <a:latin typeface="Lucida Sans Unicode" charset="0"/>
                <a:cs typeface="Lucida Sans Unicode" charset="0"/>
              </a:rPr>
              <a:t>All of the class instances of a class share a single copy of the member functions</a:t>
            </a:r>
          </a:p>
          <a:p>
            <a:pPr eaLnBrk="1" hangingPunct="1"/>
            <a:r>
              <a:rPr lang="en-US" dirty="0">
                <a:latin typeface="Lucida Sans Unicode" charset="0"/>
                <a:cs typeface="Lucida Sans Unicode" charset="0"/>
              </a:rPr>
              <a:t>Each instance of a class has its own copy of the class data members</a:t>
            </a:r>
          </a:p>
          <a:p>
            <a:pPr eaLnBrk="1" hangingPunct="1"/>
            <a:r>
              <a:rPr lang="en-US" dirty="0">
                <a:latin typeface="Lucida Sans Unicode" charset="0"/>
                <a:cs typeface="Lucida Sans Unicode" charset="0"/>
              </a:rPr>
              <a:t>Instances can be static, stack dynamic, or heap dynamic</a:t>
            </a:r>
          </a:p>
        </p:txBody>
      </p:sp>
    </p:spTree>
    <p:extLst>
      <p:ext uri="{BB962C8B-B14F-4D97-AF65-F5344CB8AC3E}">
        <p14:creationId xmlns:p14="http://schemas.microsoft.com/office/powerpoint/2010/main" val="30703626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1536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AF0389DA-97B8-E344-BC12-9451BE8AEBBB}" type="slidenum">
              <a:rPr lang="en-US" sz="1000">
                <a:latin typeface="Arial" charset="0"/>
              </a:rPr>
              <a:pPr/>
              <a:t>18</a:t>
            </a:fld>
            <a:endParaRPr lang="en-US" sz="1000">
              <a:latin typeface="Arial" charset="0"/>
            </a:endParaRPr>
          </a:p>
        </p:txBody>
      </p:sp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>
                <a:latin typeface="Lucida Sans Unicode" charset="0"/>
                <a:cs typeface="Lucida Sans Unicode" charset="0"/>
              </a:rPr>
              <a:t>Language Examples: C++ </a:t>
            </a:r>
            <a:r>
              <a:rPr lang="en-US" sz="2800">
                <a:latin typeface="Lucida Sans Unicode" charset="0"/>
                <a:cs typeface="Lucida Sans Unicode" charset="0"/>
              </a:rPr>
              <a:t>(continued)</a:t>
            </a:r>
          </a:p>
        </p:txBody>
      </p:sp>
      <p:sp>
        <p:nvSpPr>
          <p:cNvPr id="1536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153400" cy="4572000"/>
          </a:xfrm>
        </p:spPr>
        <p:txBody>
          <a:bodyPr/>
          <a:lstStyle/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Information Hiding</a:t>
            </a:r>
          </a:p>
          <a:p>
            <a:pPr lvl="1" eaLnBrk="1" hangingPunct="1"/>
            <a:r>
              <a:rPr lang="en-US" i="1">
                <a:solidFill>
                  <a:schemeClr val="tx2"/>
                </a:solidFill>
                <a:latin typeface="Lucida Sans Unicode" charset="0"/>
                <a:ea typeface="Lucida Sans Unicode" charset="0"/>
                <a:cs typeface="Lucida Sans Unicode" charset="0"/>
              </a:rPr>
              <a:t>Private</a:t>
            </a:r>
            <a:r>
              <a:rPr lang="en-US">
                <a:solidFill>
                  <a:schemeClr val="tx2"/>
                </a:solidFill>
                <a:latin typeface="Lucida Sans Unicode" charset="0"/>
                <a:ea typeface="Lucida Sans Unicode" charset="0"/>
                <a:cs typeface="Lucida Sans Unicode" charset="0"/>
              </a:rPr>
              <a:t> clause</a:t>
            </a:r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 for hidden entities</a:t>
            </a:r>
          </a:p>
          <a:p>
            <a:pPr lvl="1" eaLnBrk="1" hangingPunct="1"/>
            <a:r>
              <a:rPr lang="en-US" i="1">
                <a:solidFill>
                  <a:schemeClr val="tx2"/>
                </a:solidFill>
                <a:latin typeface="Lucida Sans Unicode" charset="0"/>
                <a:ea typeface="Lucida Sans Unicode" charset="0"/>
                <a:cs typeface="Lucida Sans Unicode" charset="0"/>
              </a:rPr>
              <a:t>Public</a:t>
            </a:r>
            <a:r>
              <a:rPr lang="en-US">
                <a:solidFill>
                  <a:schemeClr val="tx2"/>
                </a:solidFill>
                <a:latin typeface="Lucida Sans Unicode" charset="0"/>
                <a:ea typeface="Lucida Sans Unicode" charset="0"/>
                <a:cs typeface="Lucida Sans Unicode" charset="0"/>
              </a:rPr>
              <a:t> clause</a:t>
            </a:r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 for interface entities</a:t>
            </a:r>
          </a:p>
          <a:p>
            <a:pPr lvl="1" eaLnBrk="1" hangingPunct="1"/>
            <a:r>
              <a:rPr lang="en-US" i="1">
                <a:solidFill>
                  <a:schemeClr val="tx2"/>
                </a:solidFill>
                <a:latin typeface="Lucida Sans Unicode" charset="0"/>
                <a:ea typeface="Lucida Sans Unicode" charset="0"/>
                <a:cs typeface="Lucida Sans Unicode" charset="0"/>
              </a:rPr>
              <a:t>Protected</a:t>
            </a:r>
            <a:r>
              <a:rPr lang="en-US">
                <a:solidFill>
                  <a:schemeClr val="tx2"/>
                </a:solidFill>
                <a:latin typeface="Lucida Sans Unicode" charset="0"/>
                <a:ea typeface="Lucida Sans Unicode" charset="0"/>
                <a:cs typeface="Lucida Sans Unicode" charset="0"/>
              </a:rPr>
              <a:t> clause</a:t>
            </a:r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 for inheritance (Chapter 12) </a:t>
            </a:r>
          </a:p>
        </p:txBody>
      </p:sp>
    </p:spTree>
    <p:extLst>
      <p:ext uri="{BB962C8B-B14F-4D97-AF65-F5344CB8AC3E}">
        <p14:creationId xmlns:p14="http://schemas.microsoft.com/office/powerpoint/2010/main" val="4250772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1638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882E707C-A5BB-544F-A26D-53F105D06200}" type="slidenum">
              <a:rPr lang="en-US" sz="1000">
                <a:latin typeface="Arial" charset="0"/>
              </a:rPr>
              <a:pPr/>
              <a:t>19</a:t>
            </a:fld>
            <a:endParaRPr lang="en-US" sz="1000">
              <a:latin typeface="Arial" charset="0"/>
            </a:endParaRPr>
          </a:p>
        </p:txBody>
      </p:sp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>
                <a:latin typeface="Lucida Sans Unicode" charset="0"/>
                <a:cs typeface="Lucida Sans Unicode" charset="0"/>
              </a:rPr>
              <a:t>Language Examples: C++ (continued)</a:t>
            </a:r>
          </a:p>
        </p:txBody>
      </p:sp>
      <p:sp>
        <p:nvSpPr>
          <p:cNvPr id="1638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7772400" cy="4724400"/>
          </a:xfrm>
        </p:spPr>
        <p:txBody>
          <a:bodyPr/>
          <a:lstStyle/>
          <a:p>
            <a:pPr eaLnBrk="1" hangingPunct="1"/>
            <a:r>
              <a:rPr lang="en-US" dirty="0">
                <a:latin typeface="Lucida Sans Unicode" charset="0"/>
                <a:cs typeface="Lucida Sans Unicode" charset="0"/>
              </a:rPr>
              <a:t>Constructors:</a:t>
            </a:r>
          </a:p>
          <a:p>
            <a:pPr lvl="1" eaLnBrk="1" hangingPunct="1"/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</a:rPr>
              <a:t>Functions to initialize the data members of instances (they </a:t>
            </a:r>
            <a:r>
              <a:rPr lang="en-US" i="1" dirty="0">
                <a:latin typeface="Lucida Sans Unicode" charset="0"/>
                <a:ea typeface="Lucida Sans Unicode" charset="0"/>
                <a:cs typeface="Lucida Sans Unicode" charset="0"/>
              </a:rPr>
              <a:t>do not</a:t>
            </a:r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</a:rPr>
              <a:t> create the objects)</a:t>
            </a:r>
          </a:p>
          <a:p>
            <a:pPr lvl="1" eaLnBrk="1" hangingPunct="1"/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</a:rPr>
              <a:t>May also allocate storage if part of the object is heap-dynamic</a:t>
            </a:r>
          </a:p>
          <a:p>
            <a:pPr lvl="1" eaLnBrk="1" hangingPunct="1"/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</a:rPr>
              <a:t>Can include parameters to provide parameterization of the objects</a:t>
            </a:r>
          </a:p>
          <a:p>
            <a:pPr lvl="1" eaLnBrk="1" hangingPunct="1"/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</a:rPr>
              <a:t>Implicitly called when an instance is created</a:t>
            </a:r>
          </a:p>
          <a:p>
            <a:pPr lvl="1" eaLnBrk="1" hangingPunct="1"/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</a:rPr>
              <a:t>Can be explicitly called</a:t>
            </a:r>
          </a:p>
          <a:p>
            <a:pPr lvl="1" eaLnBrk="1" hangingPunct="1"/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</a:rPr>
              <a:t>Name is the same as the class name</a:t>
            </a:r>
          </a:p>
        </p:txBody>
      </p:sp>
    </p:spTree>
    <p:extLst>
      <p:ext uri="{BB962C8B-B14F-4D97-AF65-F5344CB8AC3E}">
        <p14:creationId xmlns:p14="http://schemas.microsoft.com/office/powerpoint/2010/main" val="834877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1741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E15F38FA-8ED4-F545-A775-8A68D1641F32}" type="slidenum">
              <a:rPr lang="en-US" sz="1000">
                <a:latin typeface="Arial" charset="0"/>
              </a:rPr>
              <a:pPr/>
              <a:t>20</a:t>
            </a:fld>
            <a:endParaRPr lang="en-US" sz="1000">
              <a:latin typeface="Arial" charset="0"/>
            </a:endParaRPr>
          </a:p>
        </p:txBody>
      </p:sp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>
                <a:latin typeface="Lucida Sans Unicode" charset="0"/>
                <a:cs typeface="Lucida Sans Unicode" charset="0"/>
              </a:rPr>
              <a:t>Language Examples: C++ (continued)</a:t>
            </a:r>
          </a:p>
        </p:txBody>
      </p:sp>
      <p:sp>
        <p:nvSpPr>
          <p:cNvPr id="1741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153400" cy="4572000"/>
          </a:xfrm>
        </p:spPr>
        <p:txBody>
          <a:bodyPr/>
          <a:lstStyle/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Destructors</a:t>
            </a:r>
          </a:p>
          <a:p>
            <a:pPr lvl="1" eaLnBrk="1" hangingPunct="1"/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Functions to cleanup after an instance is destroyed; usually just to reclaim heap storage</a:t>
            </a:r>
          </a:p>
          <a:p>
            <a:pPr lvl="1" eaLnBrk="1" hangingPunct="1"/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Implicitly called when the object</a:t>
            </a:r>
            <a:r>
              <a:rPr lang="ja-JP" altLang="en-US">
                <a:latin typeface="Lucida Sans Unicode" charset="0"/>
                <a:ea typeface="Lucida Sans Unicode" charset="0"/>
                <a:cs typeface="Lucida Sans Unicode" charset="0"/>
              </a:rPr>
              <a:t>’</a:t>
            </a:r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s lifetime ends</a:t>
            </a:r>
          </a:p>
          <a:p>
            <a:pPr lvl="1" eaLnBrk="1" hangingPunct="1"/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Can be explicitly called</a:t>
            </a:r>
          </a:p>
          <a:p>
            <a:pPr lvl="1" eaLnBrk="1" hangingPunct="1"/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Name is the class name, preceded by a tilde (~)</a:t>
            </a:r>
          </a:p>
        </p:txBody>
      </p:sp>
    </p:spTree>
    <p:extLst>
      <p:ext uri="{BB962C8B-B14F-4D97-AF65-F5344CB8AC3E}">
        <p14:creationId xmlns:p14="http://schemas.microsoft.com/office/powerpoint/2010/main" val="34364521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1843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011F2845-DE47-4D43-96A0-F4AC2D0794A8}" type="slidenum">
              <a:rPr lang="en-US" sz="1000">
                <a:latin typeface="Arial" charset="0"/>
              </a:rPr>
              <a:pPr/>
              <a:t>21</a:t>
            </a:fld>
            <a:endParaRPr lang="en-US" sz="1000">
              <a:latin typeface="Arial" charset="0"/>
            </a:endParaRPr>
          </a:p>
        </p:txBody>
      </p:sp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An Example in C++</a:t>
            </a:r>
          </a:p>
        </p:txBody>
      </p:sp>
      <p:sp>
        <p:nvSpPr>
          <p:cNvPr id="1843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9592" y="1295400"/>
            <a:ext cx="7863408" cy="4005808"/>
          </a:xfrm>
          <a:solidFill>
            <a:schemeClr val="bg1">
              <a:lumMod val="95000"/>
            </a:schemeClr>
          </a:solidFill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b="1" dirty="0">
                <a:latin typeface="Courier New" charset="0"/>
                <a:cs typeface="Courier New" charset="0"/>
              </a:rPr>
              <a:t>class</a:t>
            </a:r>
            <a:r>
              <a:rPr lang="en-US" sz="1600" dirty="0">
                <a:latin typeface="Courier New" charset="0"/>
                <a:cs typeface="Courier New" charset="0"/>
              </a:rPr>
              <a:t> Stack 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dirty="0">
                <a:latin typeface="Courier New" charset="0"/>
                <a:cs typeface="Courier New" charset="0"/>
              </a:rPr>
              <a:t>	</a:t>
            </a:r>
            <a:r>
              <a:rPr lang="en-US" sz="1600" b="1" dirty="0">
                <a:latin typeface="Courier New" charset="0"/>
                <a:cs typeface="Courier New" charset="0"/>
              </a:rPr>
              <a:t>private</a:t>
            </a:r>
            <a:r>
              <a:rPr lang="en-US" sz="1600" dirty="0">
                <a:latin typeface="Courier New" charset="0"/>
                <a:cs typeface="Courier New" charset="0"/>
              </a:rPr>
              <a:t>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dirty="0">
                <a:latin typeface="Courier New" charset="0"/>
                <a:cs typeface="Courier New" charset="0"/>
              </a:rPr>
              <a:t>		</a:t>
            </a:r>
            <a:r>
              <a:rPr lang="en-US" sz="1600" b="1" dirty="0">
                <a:latin typeface="Courier New" charset="0"/>
                <a:cs typeface="Courier New" charset="0"/>
              </a:rPr>
              <a:t>int</a:t>
            </a:r>
            <a:r>
              <a:rPr lang="en-US" sz="1600" dirty="0">
                <a:latin typeface="Courier New" charset="0"/>
                <a:cs typeface="Courier New" charset="0"/>
              </a:rPr>
              <a:t> *</a:t>
            </a:r>
            <a:r>
              <a:rPr lang="en-US" sz="1600" dirty="0" err="1">
                <a:latin typeface="Courier New" charset="0"/>
                <a:cs typeface="Courier New" charset="0"/>
              </a:rPr>
              <a:t>stackPtr</a:t>
            </a:r>
            <a:r>
              <a:rPr lang="en-US" sz="1600" dirty="0">
                <a:latin typeface="Courier New" charset="0"/>
                <a:cs typeface="Courier New" charset="0"/>
              </a:rPr>
              <a:t>, </a:t>
            </a:r>
            <a:r>
              <a:rPr lang="en-US" sz="1600" dirty="0" err="1">
                <a:latin typeface="Courier New" charset="0"/>
                <a:cs typeface="Courier New" charset="0"/>
              </a:rPr>
              <a:t>maxLen</a:t>
            </a:r>
            <a:r>
              <a:rPr lang="en-US" sz="1600" dirty="0">
                <a:latin typeface="Courier New" charset="0"/>
                <a:cs typeface="Courier New" charset="0"/>
              </a:rPr>
              <a:t>, </a:t>
            </a:r>
            <a:r>
              <a:rPr lang="en-US" sz="1600" dirty="0" err="1">
                <a:latin typeface="Courier New" charset="0"/>
                <a:cs typeface="Courier New" charset="0"/>
              </a:rPr>
              <a:t>topPtr</a:t>
            </a:r>
            <a:r>
              <a:rPr lang="en-US" sz="1600" dirty="0">
                <a:latin typeface="Courier New" charset="0"/>
                <a:cs typeface="Courier New" charset="0"/>
              </a:rPr>
              <a:t>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dirty="0">
                <a:latin typeface="Courier New" charset="0"/>
                <a:cs typeface="Courier New" charset="0"/>
              </a:rPr>
              <a:t>	</a:t>
            </a:r>
            <a:r>
              <a:rPr lang="en-US" sz="1600" b="1" dirty="0">
                <a:latin typeface="Courier New" charset="0"/>
                <a:cs typeface="Courier New" charset="0"/>
              </a:rPr>
              <a:t>public</a:t>
            </a:r>
            <a:r>
              <a:rPr lang="en-US" sz="1600" dirty="0">
                <a:latin typeface="Courier New" charset="0"/>
                <a:cs typeface="Courier New" charset="0"/>
              </a:rPr>
              <a:t>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dirty="0">
                <a:latin typeface="Courier New" charset="0"/>
                <a:cs typeface="Courier New" charset="0"/>
              </a:rPr>
              <a:t>		Stack() { // a constructor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dirty="0">
                <a:latin typeface="Courier New" charset="0"/>
                <a:cs typeface="Courier New" charset="0"/>
              </a:rPr>
              <a:t>			</a:t>
            </a:r>
            <a:r>
              <a:rPr lang="en-US" sz="1600" dirty="0" err="1">
                <a:latin typeface="Courier New" charset="0"/>
                <a:cs typeface="Courier New" charset="0"/>
              </a:rPr>
              <a:t>stackPtr</a:t>
            </a:r>
            <a:r>
              <a:rPr lang="en-US" sz="1600" dirty="0">
                <a:latin typeface="Courier New" charset="0"/>
                <a:cs typeface="Courier New" charset="0"/>
              </a:rPr>
              <a:t> = </a:t>
            </a:r>
            <a:r>
              <a:rPr lang="en-US" sz="1600" b="1" dirty="0">
                <a:latin typeface="Courier New" charset="0"/>
                <a:cs typeface="Courier New" charset="0"/>
              </a:rPr>
              <a:t>new int </a:t>
            </a:r>
            <a:r>
              <a:rPr lang="en-US" sz="1600" dirty="0">
                <a:latin typeface="Courier New" charset="0"/>
                <a:cs typeface="Courier New" charset="0"/>
              </a:rPr>
              <a:t>[100];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dirty="0">
                <a:latin typeface="Courier New" charset="0"/>
                <a:cs typeface="Courier New" charset="0"/>
              </a:rPr>
              <a:t>			</a:t>
            </a:r>
            <a:r>
              <a:rPr lang="en-US" sz="1600" dirty="0" err="1">
                <a:latin typeface="Courier New" charset="0"/>
                <a:cs typeface="Courier New" charset="0"/>
              </a:rPr>
              <a:t>maxLen</a:t>
            </a:r>
            <a:r>
              <a:rPr lang="en-US" sz="1600" dirty="0">
                <a:latin typeface="Courier New" charset="0"/>
                <a:cs typeface="Courier New" charset="0"/>
              </a:rPr>
              <a:t> = 99;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dirty="0">
                <a:latin typeface="Courier New" charset="0"/>
                <a:cs typeface="Courier New" charset="0"/>
              </a:rPr>
              <a:t>			</a:t>
            </a:r>
            <a:r>
              <a:rPr lang="en-US" sz="1600" dirty="0" err="1">
                <a:latin typeface="Courier New" charset="0"/>
                <a:cs typeface="Courier New" charset="0"/>
              </a:rPr>
              <a:t>topPtr</a:t>
            </a:r>
            <a:r>
              <a:rPr lang="en-US" sz="1600" dirty="0">
                <a:latin typeface="Courier New" charset="0"/>
                <a:cs typeface="Courier New" charset="0"/>
              </a:rPr>
              <a:t> = -1;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dirty="0">
                <a:latin typeface="Courier New" charset="0"/>
                <a:cs typeface="Courier New" charset="0"/>
              </a:rPr>
              <a:t>		};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dirty="0">
                <a:latin typeface="Courier New" charset="0"/>
                <a:cs typeface="Courier New" charset="0"/>
              </a:rPr>
              <a:t>		~Stack () {</a:t>
            </a:r>
            <a:r>
              <a:rPr lang="en-US" sz="1600" b="1" dirty="0">
                <a:latin typeface="Courier New" charset="0"/>
                <a:cs typeface="Courier New" charset="0"/>
              </a:rPr>
              <a:t>delete</a:t>
            </a:r>
            <a:r>
              <a:rPr lang="en-US" sz="1600" dirty="0">
                <a:latin typeface="Courier New" charset="0"/>
                <a:cs typeface="Courier New" charset="0"/>
              </a:rPr>
              <a:t> [] </a:t>
            </a:r>
            <a:r>
              <a:rPr lang="en-US" sz="1600" dirty="0" err="1">
                <a:latin typeface="Courier New" charset="0"/>
                <a:cs typeface="Courier New" charset="0"/>
              </a:rPr>
              <a:t>stackPtr</a:t>
            </a:r>
            <a:r>
              <a:rPr lang="en-US" sz="1600" dirty="0">
                <a:latin typeface="Courier New" charset="0"/>
                <a:cs typeface="Courier New" charset="0"/>
              </a:rPr>
              <a:t>;};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dirty="0">
                <a:latin typeface="Courier New" charset="0"/>
                <a:cs typeface="Courier New" charset="0"/>
              </a:rPr>
              <a:t>		</a:t>
            </a:r>
            <a:r>
              <a:rPr lang="en-US" sz="1600" b="1" dirty="0">
                <a:latin typeface="Courier New" charset="0"/>
                <a:cs typeface="Courier New" charset="0"/>
              </a:rPr>
              <a:t>void</a:t>
            </a:r>
            <a:r>
              <a:rPr lang="en-US" sz="1600" dirty="0">
                <a:latin typeface="Courier New" charset="0"/>
                <a:cs typeface="Courier New" charset="0"/>
              </a:rPr>
              <a:t> push (</a:t>
            </a:r>
            <a:r>
              <a:rPr lang="en-US" sz="1600" b="1" dirty="0">
                <a:latin typeface="Courier New" charset="0"/>
                <a:cs typeface="Courier New" charset="0"/>
              </a:rPr>
              <a:t>int</a:t>
            </a:r>
            <a:r>
              <a:rPr lang="en-US" sz="1600" dirty="0">
                <a:latin typeface="Courier New" charset="0"/>
                <a:cs typeface="Courier New" charset="0"/>
              </a:rPr>
              <a:t> number) 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dirty="0">
                <a:latin typeface="Courier New" charset="0"/>
                <a:cs typeface="Courier New" charset="0"/>
              </a:rPr>
              <a:t>          </a:t>
            </a:r>
            <a:r>
              <a:rPr lang="en-US" sz="1600" b="1" dirty="0">
                <a:latin typeface="Courier New" charset="0"/>
                <a:cs typeface="Courier New" charset="0"/>
              </a:rPr>
              <a:t>if</a:t>
            </a:r>
            <a:r>
              <a:rPr lang="en-US" sz="1600" dirty="0">
                <a:latin typeface="Courier New" charset="0"/>
                <a:cs typeface="Courier New" charset="0"/>
              </a:rPr>
              <a:t> (</a:t>
            </a:r>
            <a:r>
              <a:rPr lang="en-US" sz="1600" dirty="0" err="1">
                <a:latin typeface="Courier New" charset="0"/>
                <a:cs typeface="Courier New" charset="0"/>
              </a:rPr>
              <a:t>topSub</a:t>
            </a:r>
            <a:r>
              <a:rPr lang="en-US" sz="1600" dirty="0">
                <a:latin typeface="Courier New" charset="0"/>
                <a:cs typeface="Courier New" charset="0"/>
              </a:rPr>
              <a:t> == </a:t>
            </a:r>
            <a:r>
              <a:rPr lang="en-US" sz="1600" dirty="0" err="1">
                <a:latin typeface="Courier New" charset="0"/>
                <a:cs typeface="Courier New" charset="0"/>
              </a:rPr>
              <a:t>maxLen</a:t>
            </a:r>
            <a:r>
              <a:rPr lang="en-US" sz="1600" dirty="0">
                <a:latin typeface="Courier New" charset="0"/>
                <a:cs typeface="Courier New" charset="0"/>
              </a:rPr>
              <a:t>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dirty="0">
                <a:latin typeface="Courier New" charset="0"/>
                <a:cs typeface="Courier New" charset="0"/>
              </a:rPr>
              <a:t>            </a:t>
            </a:r>
            <a:r>
              <a:rPr lang="en-US" sz="1600" dirty="0" err="1">
                <a:latin typeface="Courier New" charset="0"/>
                <a:cs typeface="Courier New" charset="0"/>
              </a:rPr>
              <a:t>cerr</a:t>
            </a:r>
            <a:r>
              <a:rPr lang="en-US" sz="1600" dirty="0">
                <a:latin typeface="Courier New" charset="0"/>
                <a:cs typeface="Courier New" charset="0"/>
              </a:rPr>
              <a:t> &lt;&lt; ″Error in push - stack is full\n″;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dirty="0">
                <a:latin typeface="Courier New" charset="0"/>
                <a:cs typeface="Courier New" charset="0"/>
              </a:rPr>
              <a:t>          </a:t>
            </a:r>
            <a:r>
              <a:rPr lang="en-US" sz="1600" b="1" dirty="0">
                <a:latin typeface="Courier New" charset="0"/>
                <a:cs typeface="Courier New" charset="0"/>
              </a:rPr>
              <a:t>else</a:t>
            </a:r>
            <a:r>
              <a:rPr lang="en-US" sz="1600" dirty="0">
                <a:latin typeface="Courier New" charset="0"/>
                <a:cs typeface="Courier New" charset="0"/>
              </a:rPr>
              <a:t> </a:t>
            </a:r>
            <a:r>
              <a:rPr lang="en-US" sz="1600" dirty="0" err="1">
                <a:latin typeface="Courier New" charset="0"/>
                <a:cs typeface="Courier New" charset="0"/>
              </a:rPr>
              <a:t>stackPtr</a:t>
            </a:r>
            <a:r>
              <a:rPr lang="en-US" sz="1600" dirty="0">
                <a:latin typeface="Courier New" charset="0"/>
                <a:cs typeface="Courier New" charset="0"/>
              </a:rPr>
              <a:t>[++</a:t>
            </a:r>
            <a:r>
              <a:rPr lang="en-US" sz="1600" dirty="0" err="1">
                <a:latin typeface="Courier New" charset="0"/>
                <a:cs typeface="Courier New" charset="0"/>
              </a:rPr>
              <a:t>topSub</a:t>
            </a:r>
            <a:r>
              <a:rPr lang="en-US" sz="1600" dirty="0">
                <a:latin typeface="Courier New" charset="0"/>
                <a:cs typeface="Courier New" charset="0"/>
              </a:rPr>
              <a:t>] = number;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dirty="0">
                <a:latin typeface="Courier New" charset="0"/>
                <a:cs typeface="Courier New" charset="0"/>
              </a:rPr>
              <a:t>       };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dirty="0">
                <a:latin typeface="Courier New" charset="0"/>
                <a:cs typeface="Courier New" charset="0"/>
              </a:rPr>
              <a:t>		</a:t>
            </a:r>
            <a:r>
              <a:rPr lang="en-US" sz="1600" b="1" dirty="0">
                <a:latin typeface="Courier New" charset="0"/>
                <a:cs typeface="Courier New" charset="0"/>
              </a:rPr>
              <a:t>void</a:t>
            </a:r>
            <a:r>
              <a:rPr lang="en-US" sz="1600" dirty="0">
                <a:latin typeface="Courier New" charset="0"/>
                <a:cs typeface="Courier New" charset="0"/>
              </a:rPr>
              <a:t> pop () {…};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dirty="0">
                <a:latin typeface="Courier New" charset="0"/>
                <a:cs typeface="Courier New" charset="0"/>
              </a:rPr>
              <a:t>		</a:t>
            </a:r>
            <a:r>
              <a:rPr lang="en-US" sz="1600" b="1" dirty="0">
                <a:latin typeface="Courier New" charset="0"/>
                <a:cs typeface="Courier New" charset="0"/>
              </a:rPr>
              <a:t>int</a:t>
            </a:r>
            <a:r>
              <a:rPr lang="en-US" sz="1600" dirty="0">
                <a:latin typeface="Courier New" charset="0"/>
                <a:cs typeface="Courier New" charset="0"/>
              </a:rPr>
              <a:t> top () {…};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dirty="0">
                <a:latin typeface="Courier New" charset="0"/>
                <a:cs typeface="Courier New" charset="0"/>
              </a:rPr>
              <a:t>		</a:t>
            </a:r>
            <a:r>
              <a:rPr lang="en-US" sz="1600" b="1" dirty="0">
                <a:latin typeface="Courier New" charset="0"/>
                <a:cs typeface="Courier New" charset="0"/>
              </a:rPr>
              <a:t>int</a:t>
            </a:r>
            <a:r>
              <a:rPr lang="en-US" sz="1600" dirty="0">
                <a:latin typeface="Courier New" charset="0"/>
                <a:cs typeface="Courier New" charset="0"/>
              </a:rPr>
              <a:t> empty () {…};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dirty="0">
                <a:latin typeface="Courier New" charset="0"/>
                <a:cs typeface="Courier New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500999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A </a:t>
            </a:r>
            <a:r>
              <a:rPr lang="en-US" sz="3200">
                <a:latin typeface="Courier New" charset="0"/>
                <a:cs typeface="Courier New" charset="0"/>
              </a:rPr>
              <a:t>Stack</a:t>
            </a:r>
            <a:r>
              <a:rPr lang="en-US">
                <a:latin typeface="Lucida Sans Unicode" charset="0"/>
                <a:cs typeface="Lucida Sans Unicode" charset="0"/>
              </a:rPr>
              <a:t> class header file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1043608" y="1279301"/>
            <a:ext cx="7776864" cy="4309939"/>
          </a:xfrm>
          <a:solidFill>
            <a:schemeClr val="bg1">
              <a:lumMod val="95000"/>
            </a:schemeClr>
          </a:solidFill>
        </p:spPr>
        <p:txBody>
          <a:bodyPr>
            <a:normAutofit fontScale="92500" lnSpcReduction="10000"/>
          </a:bodyPr>
          <a:lstStyle/>
          <a:p>
            <a:pPr eaLnBrk="1" hangingPunct="1">
              <a:buFontTx/>
              <a:buNone/>
            </a:pPr>
            <a:r>
              <a:rPr lang="en-US" sz="1600" dirty="0">
                <a:latin typeface="Courier New" charset="0"/>
                <a:cs typeface="Courier New" charset="0"/>
              </a:rPr>
              <a:t>// </a:t>
            </a:r>
            <a:r>
              <a:rPr lang="en-US" sz="1600" dirty="0" err="1">
                <a:latin typeface="Courier New" charset="0"/>
                <a:cs typeface="Courier New" charset="0"/>
              </a:rPr>
              <a:t>Stack.h</a:t>
            </a:r>
            <a:r>
              <a:rPr lang="en-US" sz="1600" dirty="0">
                <a:latin typeface="Courier New" charset="0"/>
                <a:cs typeface="Courier New" charset="0"/>
              </a:rPr>
              <a:t> - the header file for the Stack class</a:t>
            </a:r>
          </a:p>
          <a:p>
            <a:pPr eaLnBrk="1" hangingPunct="1">
              <a:buFontTx/>
              <a:buNone/>
            </a:pPr>
            <a:r>
              <a:rPr lang="en-US" sz="1600" dirty="0">
                <a:latin typeface="Courier New" charset="0"/>
                <a:cs typeface="Courier New" charset="0"/>
              </a:rPr>
              <a:t>#include &lt;</a:t>
            </a:r>
            <a:r>
              <a:rPr lang="en-US" sz="1600" dirty="0" err="1">
                <a:latin typeface="Courier New" charset="0"/>
                <a:cs typeface="Courier New" charset="0"/>
              </a:rPr>
              <a:t>iostream.h</a:t>
            </a:r>
            <a:r>
              <a:rPr lang="en-US" sz="1600" dirty="0">
                <a:latin typeface="Courier New" charset="0"/>
                <a:cs typeface="Courier New" charset="0"/>
              </a:rPr>
              <a:t>&gt;</a:t>
            </a:r>
          </a:p>
          <a:p>
            <a:pPr eaLnBrk="1" hangingPunct="1">
              <a:buFontTx/>
              <a:buNone/>
            </a:pPr>
            <a:r>
              <a:rPr lang="en-US" sz="1600" b="1" dirty="0">
                <a:latin typeface="Courier New" charset="0"/>
                <a:cs typeface="Courier New" charset="0"/>
              </a:rPr>
              <a:t>class </a:t>
            </a:r>
            <a:r>
              <a:rPr lang="en-US" sz="1600" dirty="0">
                <a:latin typeface="Courier New" charset="0"/>
                <a:cs typeface="Courier New" charset="0"/>
              </a:rPr>
              <a:t>Stack {</a:t>
            </a:r>
          </a:p>
          <a:p>
            <a:pPr eaLnBrk="1" hangingPunct="1">
              <a:buFontTx/>
              <a:buNone/>
            </a:pPr>
            <a:r>
              <a:rPr lang="en-US" sz="1600" b="1" dirty="0">
                <a:latin typeface="Courier New" charset="0"/>
                <a:cs typeface="Courier New" charset="0"/>
              </a:rPr>
              <a:t>private</a:t>
            </a:r>
            <a:r>
              <a:rPr lang="en-US" sz="1600" dirty="0">
                <a:latin typeface="Courier New" charset="0"/>
                <a:cs typeface="Courier New" charset="0"/>
              </a:rPr>
              <a:t>: //** These members are visible only to other</a:t>
            </a:r>
          </a:p>
          <a:p>
            <a:pPr eaLnBrk="1" hangingPunct="1">
              <a:buFontTx/>
              <a:buNone/>
            </a:pPr>
            <a:r>
              <a:rPr lang="en-US" sz="1600" dirty="0">
                <a:latin typeface="Courier New" charset="0"/>
                <a:cs typeface="Courier New" charset="0"/>
              </a:rPr>
              <a:t>//** members and friends (see Section 11.6.4)</a:t>
            </a:r>
          </a:p>
          <a:p>
            <a:pPr eaLnBrk="1" hangingPunct="1">
              <a:buFontTx/>
              <a:buNone/>
            </a:pPr>
            <a:r>
              <a:rPr lang="en-US" sz="1600" b="1" dirty="0">
                <a:latin typeface="Courier New" charset="0"/>
                <a:cs typeface="Courier New" charset="0"/>
              </a:rPr>
              <a:t>  int </a:t>
            </a:r>
            <a:r>
              <a:rPr lang="en-US" sz="1600" dirty="0">
                <a:latin typeface="Courier New" charset="0"/>
                <a:cs typeface="Courier New" charset="0"/>
              </a:rPr>
              <a:t>*</a:t>
            </a:r>
            <a:r>
              <a:rPr lang="en-US" sz="1600" dirty="0" err="1">
                <a:latin typeface="Courier New" charset="0"/>
                <a:cs typeface="Courier New" charset="0"/>
              </a:rPr>
              <a:t>stackPtr</a:t>
            </a:r>
            <a:r>
              <a:rPr lang="en-US" sz="1600" dirty="0">
                <a:latin typeface="Courier New" charset="0"/>
                <a:cs typeface="Courier New" charset="0"/>
              </a:rPr>
              <a:t>;</a:t>
            </a:r>
          </a:p>
          <a:p>
            <a:pPr eaLnBrk="1" hangingPunct="1">
              <a:buFontTx/>
              <a:buNone/>
            </a:pPr>
            <a:r>
              <a:rPr lang="en-US" sz="1600" b="1" dirty="0">
                <a:latin typeface="Courier New" charset="0"/>
                <a:cs typeface="Courier New" charset="0"/>
              </a:rPr>
              <a:t>  int </a:t>
            </a:r>
            <a:r>
              <a:rPr lang="en-US" sz="1600" dirty="0" err="1">
                <a:latin typeface="Courier New" charset="0"/>
                <a:cs typeface="Courier New" charset="0"/>
              </a:rPr>
              <a:t>maxLen</a:t>
            </a:r>
            <a:r>
              <a:rPr lang="en-US" sz="1600" b="1" dirty="0">
                <a:latin typeface="Courier New" charset="0"/>
                <a:cs typeface="Courier New" charset="0"/>
              </a:rPr>
              <a:t>;</a:t>
            </a:r>
          </a:p>
          <a:p>
            <a:pPr eaLnBrk="1" hangingPunct="1">
              <a:buFontTx/>
              <a:buNone/>
            </a:pPr>
            <a:r>
              <a:rPr lang="en-US" sz="1600" b="1" dirty="0">
                <a:latin typeface="Courier New" charset="0"/>
                <a:cs typeface="Courier New" charset="0"/>
              </a:rPr>
              <a:t>  int </a:t>
            </a:r>
            <a:r>
              <a:rPr lang="en-US" sz="1600" dirty="0" err="1">
                <a:latin typeface="Courier New" charset="0"/>
                <a:cs typeface="Courier New" charset="0"/>
              </a:rPr>
              <a:t>topPtr</a:t>
            </a:r>
            <a:r>
              <a:rPr lang="en-US" sz="1600" b="1" dirty="0">
                <a:latin typeface="Courier New" charset="0"/>
                <a:cs typeface="Courier New" charset="0"/>
              </a:rPr>
              <a:t>;</a:t>
            </a:r>
          </a:p>
          <a:p>
            <a:pPr eaLnBrk="1" hangingPunct="1">
              <a:buFontTx/>
              <a:buNone/>
            </a:pPr>
            <a:r>
              <a:rPr lang="en-US" sz="1600" b="1" dirty="0">
                <a:latin typeface="Courier New" charset="0"/>
                <a:cs typeface="Courier New" charset="0"/>
              </a:rPr>
              <a:t>public</a:t>
            </a:r>
            <a:r>
              <a:rPr lang="en-US" sz="1600" dirty="0">
                <a:latin typeface="Courier New" charset="0"/>
                <a:cs typeface="Courier New" charset="0"/>
              </a:rPr>
              <a:t>: //** These members are visible to clients</a:t>
            </a:r>
          </a:p>
          <a:p>
            <a:pPr eaLnBrk="1" hangingPunct="1">
              <a:buFontTx/>
              <a:buNone/>
            </a:pPr>
            <a:r>
              <a:rPr lang="en-US" sz="1600" dirty="0">
                <a:latin typeface="Courier New" charset="0"/>
                <a:cs typeface="Courier New" charset="0"/>
              </a:rPr>
              <a:t>  Stack(); //** A constructor</a:t>
            </a:r>
          </a:p>
          <a:p>
            <a:pPr eaLnBrk="1" hangingPunct="1">
              <a:buFontTx/>
              <a:buNone/>
            </a:pPr>
            <a:r>
              <a:rPr lang="en-US" sz="1600" dirty="0">
                <a:latin typeface="Courier New" charset="0"/>
                <a:cs typeface="Courier New" charset="0"/>
              </a:rPr>
              <a:t>  ~Stack(); //** A destructor</a:t>
            </a:r>
          </a:p>
          <a:p>
            <a:pPr eaLnBrk="1" hangingPunct="1">
              <a:buFontTx/>
              <a:buNone/>
            </a:pPr>
            <a:r>
              <a:rPr lang="en-US" sz="1600" b="1" dirty="0">
                <a:latin typeface="Courier New" charset="0"/>
                <a:cs typeface="Courier New" charset="0"/>
              </a:rPr>
              <a:t>  void</a:t>
            </a:r>
            <a:r>
              <a:rPr lang="en-US" sz="1600" dirty="0">
                <a:latin typeface="Courier New" charset="0"/>
                <a:cs typeface="Courier New" charset="0"/>
              </a:rPr>
              <a:t> push(</a:t>
            </a:r>
            <a:r>
              <a:rPr lang="en-US" sz="1600" b="1" dirty="0">
                <a:latin typeface="Courier New" charset="0"/>
                <a:cs typeface="Courier New" charset="0"/>
              </a:rPr>
              <a:t>int</a:t>
            </a:r>
            <a:r>
              <a:rPr lang="en-US" sz="1600" dirty="0">
                <a:latin typeface="Courier New" charset="0"/>
                <a:cs typeface="Courier New" charset="0"/>
              </a:rPr>
              <a:t>);</a:t>
            </a:r>
          </a:p>
          <a:p>
            <a:pPr eaLnBrk="1" hangingPunct="1">
              <a:buFontTx/>
              <a:buNone/>
            </a:pPr>
            <a:r>
              <a:rPr lang="en-US" sz="1600" b="1" dirty="0">
                <a:latin typeface="Courier New" charset="0"/>
                <a:cs typeface="Courier New" charset="0"/>
              </a:rPr>
              <a:t>  void</a:t>
            </a:r>
            <a:r>
              <a:rPr lang="en-US" sz="1600" dirty="0">
                <a:latin typeface="Courier New" charset="0"/>
                <a:cs typeface="Courier New" charset="0"/>
              </a:rPr>
              <a:t> pop();</a:t>
            </a:r>
          </a:p>
          <a:p>
            <a:pPr eaLnBrk="1" hangingPunct="1">
              <a:buFontTx/>
              <a:buNone/>
            </a:pPr>
            <a:r>
              <a:rPr lang="en-US" sz="1600" b="1" dirty="0">
                <a:latin typeface="Courier New" charset="0"/>
                <a:cs typeface="Courier New" charset="0"/>
              </a:rPr>
              <a:t>  int</a:t>
            </a:r>
            <a:r>
              <a:rPr lang="en-US" sz="1600" dirty="0">
                <a:latin typeface="Courier New" charset="0"/>
                <a:cs typeface="Courier New" charset="0"/>
              </a:rPr>
              <a:t> top();</a:t>
            </a:r>
          </a:p>
          <a:p>
            <a:pPr eaLnBrk="1" hangingPunct="1">
              <a:buFontTx/>
              <a:buNone/>
            </a:pPr>
            <a:r>
              <a:rPr lang="en-US" sz="1600" b="1" dirty="0">
                <a:latin typeface="Courier New" charset="0"/>
                <a:cs typeface="Courier New" charset="0"/>
              </a:rPr>
              <a:t>  int</a:t>
            </a:r>
            <a:r>
              <a:rPr lang="en-US" sz="1600" dirty="0">
                <a:latin typeface="Courier New" charset="0"/>
                <a:cs typeface="Courier New" charset="0"/>
              </a:rPr>
              <a:t> empty();</a:t>
            </a:r>
          </a:p>
          <a:p>
            <a:pPr eaLnBrk="1" hangingPunct="1">
              <a:buFontTx/>
              <a:buNone/>
            </a:pPr>
            <a:r>
              <a:rPr lang="en-US" sz="1600" dirty="0">
                <a:latin typeface="Courier New" charset="0"/>
                <a:cs typeface="Courier New" charset="0"/>
              </a:rPr>
              <a:t>}</a:t>
            </a:r>
          </a:p>
        </p:txBody>
      </p:sp>
      <p:sp>
        <p:nvSpPr>
          <p:cNvPr id="19460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1946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D4869527-3E74-314F-9886-E936B7861DBE}" type="slidenum">
              <a:rPr lang="en-US" sz="1000">
                <a:latin typeface="Arial" charset="0"/>
              </a:rPr>
              <a:pPr/>
              <a:t>22</a:t>
            </a:fld>
            <a:endParaRPr lang="en-US" sz="100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18562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The code file for </a:t>
            </a:r>
            <a:r>
              <a:rPr lang="en-US" sz="3200">
                <a:latin typeface="Courier New" charset="0"/>
                <a:cs typeface="Courier New" charset="0"/>
              </a:rPr>
              <a:t>Stack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1101080" y="1417638"/>
            <a:ext cx="7647384" cy="4208586"/>
          </a:xfrm>
          <a:solidFill>
            <a:schemeClr val="bg1">
              <a:lumMod val="95000"/>
            </a:schemeClr>
          </a:solidFill>
        </p:spPr>
        <p:txBody>
          <a:bodyPr>
            <a:normAutofit fontScale="92500" lnSpcReduction="10000"/>
          </a:bodyPr>
          <a:lstStyle/>
          <a:p>
            <a:pPr eaLnBrk="1" hangingPunct="1">
              <a:buFontTx/>
              <a:buNone/>
            </a:pPr>
            <a:r>
              <a:rPr lang="en-US" sz="1600" dirty="0">
                <a:latin typeface="Courier New" charset="0"/>
                <a:cs typeface="Courier New" charset="0"/>
              </a:rPr>
              <a:t>// </a:t>
            </a:r>
            <a:r>
              <a:rPr lang="en-US" sz="1600" dirty="0" err="1">
                <a:latin typeface="Courier New" charset="0"/>
                <a:cs typeface="Courier New" charset="0"/>
              </a:rPr>
              <a:t>Stack.cpp</a:t>
            </a:r>
            <a:r>
              <a:rPr lang="en-US" sz="1600" dirty="0">
                <a:latin typeface="Courier New" charset="0"/>
                <a:cs typeface="Courier New" charset="0"/>
              </a:rPr>
              <a:t> - the implementation file for the Stack class</a:t>
            </a:r>
          </a:p>
          <a:p>
            <a:pPr eaLnBrk="1" hangingPunct="1">
              <a:buFontTx/>
              <a:buNone/>
            </a:pPr>
            <a:r>
              <a:rPr lang="en-US" sz="1600" dirty="0">
                <a:latin typeface="Courier New" charset="0"/>
                <a:cs typeface="Courier New" charset="0"/>
              </a:rPr>
              <a:t>#include &lt;</a:t>
            </a:r>
            <a:r>
              <a:rPr lang="en-US" sz="1600" dirty="0" err="1">
                <a:latin typeface="Courier New" charset="0"/>
                <a:cs typeface="Courier New" charset="0"/>
              </a:rPr>
              <a:t>iostream.h</a:t>
            </a:r>
            <a:r>
              <a:rPr lang="en-US" sz="1600" dirty="0">
                <a:latin typeface="Courier New" charset="0"/>
                <a:cs typeface="Courier New" charset="0"/>
              </a:rPr>
              <a:t>&gt;</a:t>
            </a:r>
          </a:p>
          <a:p>
            <a:pPr eaLnBrk="1" hangingPunct="1">
              <a:buFontTx/>
              <a:buNone/>
            </a:pPr>
            <a:r>
              <a:rPr lang="en-US" sz="1600" dirty="0">
                <a:latin typeface="Courier New" charset="0"/>
                <a:cs typeface="Courier New" charset="0"/>
              </a:rPr>
              <a:t>#include "</a:t>
            </a:r>
            <a:r>
              <a:rPr lang="en-US" sz="1600" dirty="0" err="1">
                <a:latin typeface="Courier New" charset="0"/>
                <a:cs typeface="Courier New" charset="0"/>
              </a:rPr>
              <a:t>Stack.h</a:t>
            </a:r>
            <a:r>
              <a:rPr lang="en-US" sz="1600" dirty="0">
                <a:latin typeface="Courier New" charset="0"/>
                <a:cs typeface="Courier New" charset="0"/>
              </a:rPr>
              <a:t>"</a:t>
            </a:r>
          </a:p>
          <a:p>
            <a:pPr eaLnBrk="1" hangingPunct="1">
              <a:buFontTx/>
              <a:buNone/>
            </a:pPr>
            <a:r>
              <a:rPr lang="en-US" sz="1600" dirty="0">
                <a:latin typeface="Courier New" charset="0"/>
                <a:cs typeface="Courier New" charset="0"/>
              </a:rPr>
              <a:t>using std::</a:t>
            </a:r>
            <a:r>
              <a:rPr lang="en-US" sz="1600" dirty="0" err="1">
                <a:latin typeface="Courier New" charset="0"/>
                <a:cs typeface="Courier New" charset="0"/>
              </a:rPr>
              <a:t>cout</a:t>
            </a:r>
            <a:r>
              <a:rPr lang="en-US" sz="1600" dirty="0">
                <a:latin typeface="Courier New" charset="0"/>
                <a:cs typeface="Courier New" charset="0"/>
              </a:rPr>
              <a:t>;</a:t>
            </a:r>
          </a:p>
          <a:p>
            <a:pPr eaLnBrk="1" hangingPunct="1">
              <a:buFontTx/>
              <a:buNone/>
            </a:pPr>
            <a:r>
              <a:rPr lang="en-US" sz="1600" dirty="0">
                <a:latin typeface="Courier New" charset="0"/>
                <a:cs typeface="Courier New" charset="0"/>
              </a:rPr>
              <a:t>Stack::Stack() { //** A constructor</a:t>
            </a:r>
          </a:p>
          <a:p>
            <a:pPr eaLnBrk="1" hangingPunct="1">
              <a:buFontTx/>
              <a:buNone/>
            </a:pPr>
            <a:r>
              <a:rPr lang="en-US" sz="1600" dirty="0">
                <a:latin typeface="Courier New" charset="0"/>
                <a:cs typeface="Courier New" charset="0"/>
              </a:rPr>
              <a:t>  </a:t>
            </a:r>
            <a:r>
              <a:rPr lang="en-US" sz="1600" dirty="0" err="1">
                <a:latin typeface="Courier New" charset="0"/>
                <a:cs typeface="Courier New" charset="0"/>
              </a:rPr>
              <a:t>stackPtr</a:t>
            </a:r>
            <a:r>
              <a:rPr lang="en-US" sz="1600" dirty="0">
                <a:latin typeface="Courier New" charset="0"/>
                <a:cs typeface="Courier New" charset="0"/>
              </a:rPr>
              <a:t> = </a:t>
            </a:r>
            <a:r>
              <a:rPr lang="en-US" sz="1600" b="1" dirty="0">
                <a:latin typeface="Courier New" charset="0"/>
                <a:cs typeface="Courier New" charset="0"/>
              </a:rPr>
              <a:t>new int</a:t>
            </a:r>
            <a:r>
              <a:rPr lang="en-US" sz="1600" dirty="0">
                <a:latin typeface="Courier New" charset="0"/>
                <a:cs typeface="Courier New" charset="0"/>
              </a:rPr>
              <a:t> [100];</a:t>
            </a:r>
          </a:p>
          <a:p>
            <a:pPr eaLnBrk="1" hangingPunct="1">
              <a:buFontTx/>
              <a:buNone/>
            </a:pPr>
            <a:r>
              <a:rPr lang="en-US" sz="1600" dirty="0">
                <a:latin typeface="Courier New" charset="0"/>
                <a:cs typeface="Courier New" charset="0"/>
              </a:rPr>
              <a:t>  </a:t>
            </a:r>
            <a:r>
              <a:rPr lang="en-US" sz="1600" dirty="0" err="1">
                <a:latin typeface="Courier New" charset="0"/>
                <a:cs typeface="Courier New" charset="0"/>
              </a:rPr>
              <a:t>maxLen</a:t>
            </a:r>
            <a:r>
              <a:rPr lang="en-US" sz="1600" dirty="0">
                <a:latin typeface="Courier New" charset="0"/>
                <a:cs typeface="Courier New" charset="0"/>
              </a:rPr>
              <a:t> = 99;</a:t>
            </a:r>
          </a:p>
          <a:p>
            <a:pPr eaLnBrk="1" hangingPunct="1">
              <a:buFontTx/>
              <a:buNone/>
            </a:pPr>
            <a:r>
              <a:rPr lang="en-US" sz="1600" dirty="0">
                <a:latin typeface="Courier New" charset="0"/>
                <a:cs typeface="Courier New" charset="0"/>
              </a:rPr>
              <a:t>  </a:t>
            </a:r>
            <a:r>
              <a:rPr lang="en-US" sz="1600" dirty="0" err="1">
                <a:latin typeface="Courier New" charset="0"/>
                <a:cs typeface="Courier New" charset="0"/>
              </a:rPr>
              <a:t>topPtr</a:t>
            </a:r>
            <a:r>
              <a:rPr lang="en-US" sz="1600" dirty="0">
                <a:latin typeface="Courier New" charset="0"/>
                <a:cs typeface="Courier New" charset="0"/>
              </a:rPr>
              <a:t> = -1;</a:t>
            </a:r>
          </a:p>
          <a:p>
            <a:pPr eaLnBrk="1" hangingPunct="1">
              <a:buFontTx/>
              <a:buNone/>
            </a:pPr>
            <a:r>
              <a:rPr lang="en-US" sz="1600" dirty="0">
                <a:latin typeface="Courier New" charset="0"/>
                <a:cs typeface="Courier New" charset="0"/>
              </a:rPr>
              <a:t>}</a:t>
            </a:r>
          </a:p>
          <a:p>
            <a:pPr eaLnBrk="1" hangingPunct="1">
              <a:buFontTx/>
              <a:buNone/>
            </a:pPr>
            <a:r>
              <a:rPr lang="en-US" sz="1600" dirty="0">
                <a:latin typeface="Courier New" charset="0"/>
                <a:cs typeface="Courier New" charset="0"/>
              </a:rPr>
              <a:t>Stack::~Stack() {</a:t>
            </a:r>
            <a:r>
              <a:rPr lang="en-US" sz="1600" b="1" dirty="0">
                <a:latin typeface="Courier New" charset="0"/>
                <a:cs typeface="Courier New" charset="0"/>
              </a:rPr>
              <a:t>delete</a:t>
            </a:r>
            <a:r>
              <a:rPr lang="en-US" sz="1600" dirty="0">
                <a:latin typeface="Courier New" charset="0"/>
                <a:cs typeface="Courier New" charset="0"/>
              </a:rPr>
              <a:t> [] </a:t>
            </a:r>
            <a:r>
              <a:rPr lang="en-US" sz="1600" dirty="0" err="1">
                <a:latin typeface="Courier New" charset="0"/>
                <a:cs typeface="Courier New" charset="0"/>
              </a:rPr>
              <a:t>stackPtr</a:t>
            </a:r>
            <a:r>
              <a:rPr lang="en-US" sz="1600" dirty="0">
                <a:latin typeface="Courier New" charset="0"/>
                <a:cs typeface="Courier New" charset="0"/>
              </a:rPr>
              <a:t>;}; //** A destructor</a:t>
            </a:r>
          </a:p>
          <a:p>
            <a:pPr eaLnBrk="1" hangingPunct="1">
              <a:buFontTx/>
              <a:buNone/>
            </a:pPr>
            <a:r>
              <a:rPr lang="en-US" sz="1600" b="1" dirty="0">
                <a:latin typeface="Courier New" charset="0"/>
                <a:cs typeface="Courier New" charset="0"/>
              </a:rPr>
              <a:t>void</a:t>
            </a:r>
            <a:r>
              <a:rPr lang="en-US" sz="1600" dirty="0">
                <a:latin typeface="Courier New" charset="0"/>
                <a:cs typeface="Courier New" charset="0"/>
              </a:rPr>
              <a:t> Stack::push(</a:t>
            </a:r>
            <a:r>
              <a:rPr lang="en-US" sz="1600" b="1" dirty="0">
                <a:latin typeface="Courier New" charset="0"/>
                <a:cs typeface="Courier New" charset="0"/>
              </a:rPr>
              <a:t>int</a:t>
            </a:r>
            <a:r>
              <a:rPr lang="en-US" sz="1600" dirty="0">
                <a:latin typeface="Courier New" charset="0"/>
                <a:cs typeface="Courier New" charset="0"/>
              </a:rPr>
              <a:t> number) {</a:t>
            </a:r>
          </a:p>
          <a:p>
            <a:pPr eaLnBrk="1" hangingPunct="1">
              <a:buFontTx/>
              <a:buNone/>
            </a:pPr>
            <a:r>
              <a:rPr lang="en-US" sz="1600" b="1" dirty="0">
                <a:latin typeface="Courier New" charset="0"/>
                <a:cs typeface="Courier New" charset="0"/>
              </a:rPr>
              <a:t>  if</a:t>
            </a:r>
            <a:r>
              <a:rPr lang="en-US" sz="1600" dirty="0">
                <a:latin typeface="Courier New" charset="0"/>
                <a:cs typeface="Courier New" charset="0"/>
              </a:rPr>
              <a:t> (</a:t>
            </a:r>
            <a:r>
              <a:rPr lang="en-US" sz="1600" dirty="0" err="1">
                <a:latin typeface="Courier New" charset="0"/>
                <a:cs typeface="Courier New" charset="0"/>
              </a:rPr>
              <a:t>topPtr</a:t>
            </a:r>
            <a:r>
              <a:rPr lang="en-US" sz="1600" dirty="0">
                <a:latin typeface="Courier New" charset="0"/>
                <a:cs typeface="Courier New" charset="0"/>
              </a:rPr>
              <a:t> == </a:t>
            </a:r>
            <a:r>
              <a:rPr lang="en-US" sz="1600" dirty="0" err="1">
                <a:latin typeface="Courier New" charset="0"/>
                <a:cs typeface="Courier New" charset="0"/>
              </a:rPr>
              <a:t>maxLen</a:t>
            </a:r>
            <a:r>
              <a:rPr lang="en-US" sz="1600" dirty="0">
                <a:latin typeface="Courier New" charset="0"/>
                <a:cs typeface="Courier New" charset="0"/>
              </a:rPr>
              <a:t>)</a:t>
            </a:r>
          </a:p>
          <a:p>
            <a:pPr eaLnBrk="1" hangingPunct="1">
              <a:buFontTx/>
              <a:buNone/>
            </a:pPr>
            <a:r>
              <a:rPr lang="en-US" sz="1600" dirty="0">
                <a:latin typeface="Courier New" charset="0"/>
                <a:cs typeface="Courier New" charset="0"/>
              </a:rPr>
              <a:t>  </a:t>
            </a:r>
            <a:r>
              <a:rPr lang="en-US" sz="1600" dirty="0" err="1">
                <a:latin typeface="Courier New" charset="0"/>
                <a:cs typeface="Courier New" charset="0"/>
              </a:rPr>
              <a:t>cerr</a:t>
            </a:r>
            <a:r>
              <a:rPr lang="en-US" sz="1600" dirty="0">
                <a:latin typeface="Courier New" charset="0"/>
                <a:cs typeface="Courier New" charset="0"/>
              </a:rPr>
              <a:t> &lt;&lt; "Error in push--stack is full\n";</a:t>
            </a:r>
          </a:p>
          <a:p>
            <a:pPr eaLnBrk="1" hangingPunct="1">
              <a:buFontTx/>
              <a:buNone/>
            </a:pPr>
            <a:r>
              <a:rPr lang="en-US" sz="1600" b="1" dirty="0">
                <a:latin typeface="Courier New" charset="0"/>
                <a:cs typeface="Courier New" charset="0"/>
              </a:rPr>
              <a:t>  else</a:t>
            </a:r>
            <a:r>
              <a:rPr lang="en-US" sz="1600" dirty="0">
                <a:latin typeface="Courier New" charset="0"/>
                <a:cs typeface="Courier New" charset="0"/>
              </a:rPr>
              <a:t> </a:t>
            </a:r>
            <a:r>
              <a:rPr lang="en-US" sz="1600" dirty="0" err="1">
                <a:latin typeface="Courier New" charset="0"/>
                <a:cs typeface="Courier New" charset="0"/>
              </a:rPr>
              <a:t>stackPtr</a:t>
            </a:r>
            <a:r>
              <a:rPr lang="en-US" sz="1600" dirty="0">
                <a:latin typeface="Courier New" charset="0"/>
                <a:cs typeface="Courier New" charset="0"/>
              </a:rPr>
              <a:t>[++</a:t>
            </a:r>
            <a:r>
              <a:rPr lang="en-US" sz="1600" dirty="0" err="1">
                <a:latin typeface="Courier New" charset="0"/>
                <a:cs typeface="Courier New" charset="0"/>
              </a:rPr>
              <a:t>topPtr</a:t>
            </a:r>
            <a:r>
              <a:rPr lang="en-US" sz="1600" dirty="0">
                <a:latin typeface="Courier New" charset="0"/>
                <a:cs typeface="Courier New" charset="0"/>
              </a:rPr>
              <a:t>] = number;</a:t>
            </a:r>
          </a:p>
          <a:p>
            <a:pPr eaLnBrk="1" hangingPunct="1">
              <a:buFontTx/>
              <a:buNone/>
            </a:pPr>
            <a:r>
              <a:rPr lang="en-US" sz="1600" dirty="0">
                <a:latin typeface="Courier New" charset="0"/>
                <a:cs typeface="Courier New" charset="0"/>
              </a:rPr>
              <a:t>}</a:t>
            </a:r>
          </a:p>
          <a:p>
            <a:pPr eaLnBrk="1" hangingPunct="1">
              <a:buFontTx/>
              <a:buNone/>
            </a:pPr>
            <a:r>
              <a:rPr lang="en-US" sz="1600" b="1" dirty="0">
                <a:latin typeface="Courier New" charset="0"/>
                <a:cs typeface="Courier New" charset="0"/>
              </a:rPr>
              <a:t>...</a:t>
            </a:r>
          </a:p>
          <a:p>
            <a:pPr eaLnBrk="1" hangingPunct="1">
              <a:buFontTx/>
              <a:buNone/>
            </a:pPr>
            <a:endParaRPr lang="en-US" sz="1400" b="1" dirty="0">
              <a:latin typeface="Courier New" charset="0"/>
              <a:cs typeface="Courier New" charset="0"/>
            </a:endParaRPr>
          </a:p>
        </p:txBody>
      </p:sp>
      <p:sp>
        <p:nvSpPr>
          <p:cNvPr id="20484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2048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0E9C8757-43E9-504F-9514-90B8BDCE1E9E}" type="slidenum">
              <a:rPr lang="en-US" sz="1000">
                <a:latin typeface="Arial" charset="0"/>
              </a:rPr>
              <a:pPr/>
              <a:t>23</a:t>
            </a:fld>
            <a:endParaRPr lang="en-US" sz="100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46112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>
                <a:latin typeface="Lucida Sans Unicode" charset="0"/>
                <a:cs typeface="Lucida Sans Unicode" charset="0"/>
              </a:rPr>
              <a:t>Language Examples: C++ (continued)</a:t>
            </a:r>
            <a:endParaRPr lang="en-US">
              <a:latin typeface="Lucida Sans Unicode" charset="0"/>
              <a:cs typeface="Lucida Sans Unicode" charset="0"/>
            </a:endParaRP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>
                <a:solidFill>
                  <a:schemeClr val="tx2"/>
                </a:solidFill>
                <a:latin typeface="Lucida Sans Unicode" charset="0"/>
                <a:cs typeface="Lucida Sans Unicode" charset="0"/>
              </a:rPr>
              <a:t>Friend functions or classes</a:t>
            </a:r>
            <a:r>
              <a:rPr lang="en-US">
                <a:latin typeface="Lucida Sans Unicode" charset="0"/>
                <a:cs typeface="Lucida Sans Unicode" charset="0"/>
              </a:rPr>
              <a:t> - to provide access to private members to some unrelated units or functions</a:t>
            </a:r>
          </a:p>
          <a:p>
            <a:pPr lvl="1" eaLnBrk="1" hangingPunct="1"/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Necessary in C++</a:t>
            </a:r>
          </a:p>
        </p:txBody>
      </p:sp>
      <p:sp>
        <p:nvSpPr>
          <p:cNvPr id="21508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2150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BC82FDE5-DE2F-3A41-8534-DAC2DA324C2D}" type="slidenum">
              <a:rPr lang="en-US" sz="1000">
                <a:latin typeface="Arial" charset="0"/>
              </a:rPr>
              <a:pPr/>
              <a:t>24</a:t>
            </a:fld>
            <a:endParaRPr lang="en-US" sz="100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91631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3174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40E31359-B3D6-D649-9174-DEBB194539BF}" type="slidenum">
              <a:rPr lang="en-US" sz="1000">
                <a:latin typeface="Arial" charset="0"/>
              </a:rPr>
              <a:pPr/>
              <a:t>25</a:t>
            </a:fld>
            <a:endParaRPr lang="en-US" sz="1000">
              <a:latin typeface="Arial" charset="0"/>
            </a:endParaRPr>
          </a:p>
        </p:txBody>
      </p:sp>
      <p:sp>
        <p:nvSpPr>
          <p:cNvPr id="317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Language Examples: Java</a:t>
            </a:r>
          </a:p>
        </p:txBody>
      </p:sp>
      <p:sp>
        <p:nvSpPr>
          <p:cNvPr id="3174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9592" y="1371600"/>
            <a:ext cx="7253808" cy="4800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>
                <a:latin typeface="Lucida Sans Unicode" charset="0"/>
                <a:cs typeface="Lucida Sans Unicode" charset="0"/>
              </a:rPr>
              <a:t>Similar to C++, except: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</a:rPr>
              <a:t>All user-defined types are classes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</a:rPr>
              <a:t>All objects are allocated from the heap and accessed through reference variables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</a:rPr>
              <a:t>Individual entities in classes have access control modifiers (private or public), rather than clauses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</a:rPr>
              <a:t>Java has a second scoping mechanism, package scope, which can be used in place of friends</a:t>
            </a:r>
          </a:p>
          <a:p>
            <a:pPr lvl="2" eaLnBrk="1" hangingPunct="1">
              <a:lnSpc>
                <a:spcPct val="90000"/>
              </a:lnSpc>
            </a:pPr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</a:rPr>
              <a:t>All entities in all classes in a package that do not have access control modifiers are visible throughout the package</a:t>
            </a:r>
          </a:p>
        </p:txBody>
      </p:sp>
    </p:spTree>
    <p:extLst>
      <p:ext uri="{BB962C8B-B14F-4D97-AF65-F5344CB8AC3E}">
        <p14:creationId xmlns:p14="http://schemas.microsoft.com/office/powerpoint/2010/main" val="33729319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3277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4DFF5BCB-5FCB-8347-A04B-81B8972D1A36}" type="slidenum">
              <a:rPr lang="en-US" sz="1000">
                <a:latin typeface="Arial" charset="0"/>
              </a:rPr>
              <a:pPr/>
              <a:t>26</a:t>
            </a:fld>
            <a:endParaRPr lang="en-US" sz="1000">
              <a:latin typeface="Arial" charset="0"/>
            </a:endParaRPr>
          </a:p>
        </p:txBody>
      </p:sp>
      <p:sp>
        <p:nvSpPr>
          <p:cNvPr id="327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An Example in Java</a:t>
            </a:r>
          </a:p>
        </p:txBody>
      </p:sp>
      <p:sp>
        <p:nvSpPr>
          <p:cNvPr id="3277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295400"/>
            <a:ext cx="8153400" cy="53340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sz="2000" b="1">
                <a:latin typeface="Courier New" charset="0"/>
                <a:cs typeface="Courier New" charset="0"/>
              </a:rPr>
              <a:t>class</a:t>
            </a:r>
            <a:r>
              <a:rPr lang="en-US" sz="2000">
                <a:latin typeface="Courier New" charset="0"/>
                <a:cs typeface="Courier New" charset="0"/>
              </a:rPr>
              <a:t> StackClass {</a:t>
            </a:r>
          </a:p>
          <a:p>
            <a:pPr eaLnBrk="1" hangingPunct="1">
              <a:buFontTx/>
              <a:buNone/>
            </a:pPr>
            <a:r>
              <a:rPr lang="en-US" sz="2000">
                <a:latin typeface="Courier New" charset="0"/>
                <a:cs typeface="Courier New" charset="0"/>
              </a:rPr>
              <a:t>	private:</a:t>
            </a:r>
          </a:p>
          <a:p>
            <a:pPr eaLnBrk="1" hangingPunct="1">
              <a:buFontTx/>
              <a:buNone/>
            </a:pPr>
            <a:r>
              <a:rPr lang="en-US" sz="2000">
                <a:latin typeface="Courier New" charset="0"/>
                <a:cs typeface="Courier New" charset="0"/>
              </a:rPr>
              <a:t>		</a:t>
            </a:r>
            <a:r>
              <a:rPr lang="en-US" sz="2000" b="1">
                <a:latin typeface="Courier New" charset="0"/>
                <a:cs typeface="Courier New" charset="0"/>
              </a:rPr>
              <a:t>private int </a:t>
            </a:r>
            <a:r>
              <a:rPr lang="en-US" sz="2000">
                <a:latin typeface="Courier New" charset="0"/>
                <a:cs typeface="Courier New" charset="0"/>
              </a:rPr>
              <a:t>[] *stackRef;</a:t>
            </a:r>
          </a:p>
          <a:p>
            <a:pPr eaLnBrk="1" hangingPunct="1">
              <a:buFontTx/>
              <a:buNone/>
            </a:pPr>
            <a:r>
              <a:rPr lang="en-US" sz="2000">
                <a:latin typeface="Courier New" charset="0"/>
                <a:cs typeface="Courier New" charset="0"/>
              </a:rPr>
              <a:t>		</a:t>
            </a:r>
            <a:r>
              <a:rPr lang="en-US" sz="2000" b="1">
                <a:latin typeface="Courier New" charset="0"/>
                <a:cs typeface="Courier New" charset="0"/>
              </a:rPr>
              <a:t>private int </a:t>
            </a:r>
            <a:r>
              <a:rPr lang="en-US" sz="2000">
                <a:latin typeface="Courier New" charset="0"/>
                <a:cs typeface="Courier New" charset="0"/>
              </a:rPr>
              <a:t>[] maxLen, topIndex;</a:t>
            </a:r>
          </a:p>
          <a:p>
            <a:pPr eaLnBrk="1" hangingPunct="1">
              <a:buFontTx/>
              <a:buNone/>
            </a:pPr>
            <a:r>
              <a:rPr lang="en-US" sz="2000">
                <a:latin typeface="Courier New" charset="0"/>
                <a:cs typeface="Courier New" charset="0"/>
              </a:rPr>
              <a:t>		</a:t>
            </a:r>
            <a:r>
              <a:rPr lang="en-US" sz="2000" b="1">
                <a:latin typeface="Courier New" charset="0"/>
                <a:cs typeface="Courier New" charset="0"/>
              </a:rPr>
              <a:t>public</a:t>
            </a:r>
            <a:r>
              <a:rPr lang="en-US" sz="2000">
                <a:latin typeface="Courier New" charset="0"/>
                <a:cs typeface="Courier New" charset="0"/>
              </a:rPr>
              <a:t> StackClass() { // a constructor</a:t>
            </a:r>
          </a:p>
          <a:p>
            <a:pPr eaLnBrk="1" hangingPunct="1">
              <a:buFontTx/>
              <a:buNone/>
            </a:pPr>
            <a:r>
              <a:rPr lang="en-US" sz="2000">
                <a:latin typeface="Courier New" charset="0"/>
                <a:cs typeface="Courier New" charset="0"/>
              </a:rPr>
              <a:t>			stackRef = </a:t>
            </a:r>
            <a:r>
              <a:rPr lang="en-US" sz="2000" b="1">
                <a:latin typeface="Courier New" charset="0"/>
                <a:cs typeface="Courier New" charset="0"/>
              </a:rPr>
              <a:t>new int </a:t>
            </a:r>
            <a:r>
              <a:rPr lang="en-US" sz="2000">
                <a:latin typeface="Courier New" charset="0"/>
                <a:cs typeface="Courier New" charset="0"/>
              </a:rPr>
              <a:t>[100];</a:t>
            </a:r>
          </a:p>
          <a:p>
            <a:pPr eaLnBrk="1" hangingPunct="1">
              <a:buFontTx/>
              <a:buNone/>
            </a:pPr>
            <a:r>
              <a:rPr lang="en-US" sz="2000">
                <a:latin typeface="Courier New" charset="0"/>
                <a:cs typeface="Courier New" charset="0"/>
              </a:rPr>
              <a:t>			maxLen = 99;</a:t>
            </a:r>
          </a:p>
          <a:p>
            <a:pPr eaLnBrk="1" hangingPunct="1">
              <a:buFontTx/>
              <a:buNone/>
            </a:pPr>
            <a:r>
              <a:rPr lang="en-US" sz="2000">
                <a:latin typeface="Courier New" charset="0"/>
                <a:cs typeface="Courier New" charset="0"/>
              </a:rPr>
              <a:t>			topPtr = -1;</a:t>
            </a:r>
          </a:p>
          <a:p>
            <a:pPr eaLnBrk="1" hangingPunct="1">
              <a:buFontTx/>
              <a:buNone/>
            </a:pPr>
            <a:r>
              <a:rPr lang="en-US" sz="2000">
                <a:latin typeface="Courier New" charset="0"/>
                <a:cs typeface="Courier New" charset="0"/>
              </a:rPr>
              <a:t>		};</a:t>
            </a:r>
          </a:p>
          <a:p>
            <a:pPr eaLnBrk="1" hangingPunct="1">
              <a:buFontTx/>
              <a:buNone/>
            </a:pPr>
            <a:r>
              <a:rPr lang="en-US" sz="2000">
                <a:latin typeface="Courier New" charset="0"/>
                <a:cs typeface="Courier New" charset="0"/>
              </a:rPr>
              <a:t>		</a:t>
            </a:r>
            <a:r>
              <a:rPr lang="en-US" sz="2000" b="1">
                <a:latin typeface="Courier New" charset="0"/>
                <a:cs typeface="Courier New" charset="0"/>
              </a:rPr>
              <a:t>public void </a:t>
            </a:r>
            <a:r>
              <a:rPr lang="en-US" sz="2000">
                <a:latin typeface="Courier New" charset="0"/>
                <a:cs typeface="Courier New" charset="0"/>
              </a:rPr>
              <a:t>push (</a:t>
            </a:r>
            <a:r>
              <a:rPr lang="en-US" sz="2000" b="1">
                <a:latin typeface="Courier New" charset="0"/>
                <a:cs typeface="Courier New" charset="0"/>
              </a:rPr>
              <a:t>int</a:t>
            </a:r>
            <a:r>
              <a:rPr lang="en-US" sz="2000">
                <a:latin typeface="Courier New" charset="0"/>
                <a:cs typeface="Courier New" charset="0"/>
              </a:rPr>
              <a:t> num) {…};</a:t>
            </a:r>
          </a:p>
          <a:p>
            <a:pPr eaLnBrk="1" hangingPunct="1">
              <a:buFontTx/>
              <a:buNone/>
            </a:pPr>
            <a:r>
              <a:rPr lang="en-US" sz="2000">
                <a:latin typeface="Courier New" charset="0"/>
                <a:cs typeface="Courier New" charset="0"/>
              </a:rPr>
              <a:t>		</a:t>
            </a:r>
            <a:r>
              <a:rPr lang="en-US" sz="2000" b="1">
                <a:latin typeface="Courier New" charset="0"/>
                <a:cs typeface="Courier New" charset="0"/>
              </a:rPr>
              <a:t>public void </a:t>
            </a:r>
            <a:r>
              <a:rPr lang="en-US" sz="2000">
                <a:latin typeface="Courier New" charset="0"/>
                <a:cs typeface="Courier New" charset="0"/>
              </a:rPr>
              <a:t>pop () {…};</a:t>
            </a:r>
          </a:p>
          <a:p>
            <a:pPr eaLnBrk="1" hangingPunct="1">
              <a:buFontTx/>
              <a:buNone/>
            </a:pPr>
            <a:r>
              <a:rPr lang="en-US" sz="2000">
                <a:latin typeface="Courier New" charset="0"/>
                <a:cs typeface="Courier New" charset="0"/>
              </a:rPr>
              <a:t>		</a:t>
            </a:r>
            <a:r>
              <a:rPr lang="en-US" sz="2000" b="1">
                <a:latin typeface="Courier New" charset="0"/>
                <a:cs typeface="Courier New" charset="0"/>
              </a:rPr>
              <a:t>public int </a:t>
            </a:r>
            <a:r>
              <a:rPr lang="en-US" sz="2000">
                <a:latin typeface="Courier New" charset="0"/>
                <a:cs typeface="Courier New" charset="0"/>
              </a:rPr>
              <a:t>top () {…};</a:t>
            </a:r>
          </a:p>
          <a:p>
            <a:pPr eaLnBrk="1" hangingPunct="1">
              <a:buFontTx/>
              <a:buNone/>
            </a:pPr>
            <a:r>
              <a:rPr lang="en-US" sz="2000">
                <a:latin typeface="Courier New" charset="0"/>
                <a:cs typeface="Courier New" charset="0"/>
              </a:rPr>
              <a:t>		</a:t>
            </a:r>
            <a:r>
              <a:rPr lang="en-US" sz="2000" b="1">
                <a:latin typeface="Courier New" charset="0"/>
                <a:cs typeface="Courier New" charset="0"/>
              </a:rPr>
              <a:t>public boolean</a:t>
            </a:r>
            <a:r>
              <a:rPr lang="en-US" sz="2000">
                <a:latin typeface="Courier New" charset="0"/>
                <a:cs typeface="Courier New" charset="0"/>
              </a:rPr>
              <a:t> empty () {…};</a:t>
            </a:r>
          </a:p>
          <a:p>
            <a:pPr eaLnBrk="1" hangingPunct="1">
              <a:buFontTx/>
              <a:buNone/>
            </a:pPr>
            <a:r>
              <a:rPr lang="en-US" sz="2000">
                <a:latin typeface="Courier New" charset="0"/>
                <a:cs typeface="Courier New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004501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3379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2163C8DA-0924-8E44-ACDE-C84D747C5608}" type="slidenum">
              <a:rPr lang="en-US" sz="1000">
                <a:latin typeface="Arial" charset="0"/>
              </a:rPr>
              <a:pPr/>
              <a:t>27</a:t>
            </a:fld>
            <a:endParaRPr lang="en-US" sz="1000">
              <a:latin typeface="Arial" charset="0"/>
            </a:endParaRPr>
          </a:p>
        </p:txBody>
      </p:sp>
      <p:sp>
        <p:nvSpPr>
          <p:cNvPr id="337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Language Examples: C#</a:t>
            </a:r>
          </a:p>
        </p:txBody>
      </p:sp>
      <p:sp>
        <p:nvSpPr>
          <p:cNvPr id="3379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95400"/>
            <a:ext cx="7772400" cy="4800600"/>
          </a:xfrm>
        </p:spPr>
        <p:txBody>
          <a:bodyPr/>
          <a:lstStyle/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Based on C++ and Java</a:t>
            </a:r>
          </a:p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Adds two access modifiers, </a:t>
            </a:r>
            <a:r>
              <a:rPr lang="en-US" i="1">
                <a:latin typeface="Lucida Sans Unicode" charset="0"/>
                <a:cs typeface="Lucida Sans Unicode" charset="0"/>
              </a:rPr>
              <a:t>internal</a:t>
            </a:r>
            <a:r>
              <a:rPr lang="en-US">
                <a:latin typeface="Lucida Sans Unicode" charset="0"/>
                <a:cs typeface="Lucida Sans Unicode" charset="0"/>
              </a:rPr>
              <a:t> and </a:t>
            </a:r>
            <a:r>
              <a:rPr lang="en-US" i="1">
                <a:latin typeface="Lucida Sans Unicode" charset="0"/>
                <a:cs typeface="Lucida Sans Unicode" charset="0"/>
              </a:rPr>
              <a:t>protected internal</a:t>
            </a:r>
          </a:p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All class instances are heap dynamic</a:t>
            </a:r>
          </a:p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Default constructors are available for all classes</a:t>
            </a:r>
          </a:p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Garbage collection is used for most heap objects, so destructors are rarely used</a:t>
            </a:r>
          </a:p>
          <a:p>
            <a:pPr eaLnBrk="1" hangingPunct="1"/>
            <a:r>
              <a:rPr lang="en-US" b="1">
                <a:latin typeface="Courier New" charset="0"/>
                <a:cs typeface="Courier New" charset="0"/>
              </a:rPr>
              <a:t>struct</a:t>
            </a:r>
            <a:r>
              <a:rPr lang="en-US">
                <a:latin typeface="Lucida Sans Unicode" charset="0"/>
                <a:cs typeface="Lucida Sans Unicode" charset="0"/>
              </a:rPr>
              <a:t>s are lightweight classes that do not support inheritance</a:t>
            </a:r>
          </a:p>
          <a:p>
            <a:pPr lvl="2" eaLnBrk="1" hangingPunct="1"/>
            <a:endParaRPr lang="en-US">
              <a:latin typeface="Lucida Sans Unicode" charset="0"/>
              <a:ea typeface="Lucida Sans Unicode" charset="0"/>
              <a:cs typeface="Lucida Sans Unicod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62290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3481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124ADAD1-9EF2-7744-AB35-51B33785B5D2}" type="slidenum">
              <a:rPr lang="en-US" sz="1000">
                <a:latin typeface="Arial" charset="0"/>
              </a:rPr>
              <a:pPr/>
              <a:t>28</a:t>
            </a:fld>
            <a:endParaRPr lang="en-US" sz="1000">
              <a:latin typeface="Arial" charset="0"/>
            </a:endParaRPr>
          </a:p>
        </p:txBody>
      </p:sp>
      <p:sp>
        <p:nvSpPr>
          <p:cNvPr id="348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Language Examples: C# (continued)</a:t>
            </a:r>
          </a:p>
        </p:txBody>
      </p:sp>
      <p:sp>
        <p:nvSpPr>
          <p:cNvPr id="3482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295400"/>
            <a:ext cx="7772400" cy="4800600"/>
          </a:xfrm>
        </p:spPr>
        <p:txBody>
          <a:bodyPr/>
          <a:lstStyle/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Common solution to need for access to data members: accessor methods (getter and setter)</a:t>
            </a:r>
          </a:p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C# provides </a:t>
            </a:r>
            <a:r>
              <a:rPr lang="en-US" i="1">
                <a:latin typeface="Lucida Sans Unicode" charset="0"/>
                <a:cs typeface="Lucida Sans Unicode" charset="0"/>
              </a:rPr>
              <a:t>properties</a:t>
            </a:r>
            <a:r>
              <a:rPr lang="en-US">
                <a:latin typeface="Lucida Sans Unicode" charset="0"/>
                <a:cs typeface="Lucida Sans Unicode" charset="0"/>
              </a:rPr>
              <a:t> as a way of implementing getters and setters without requiring explicit method calls</a:t>
            </a:r>
          </a:p>
          <a:p>
            <a:pPr lvl="1" eaLnBrk="1" hangingPunct="1"/>
            <a:endParaRPr lang="en-US">
              <a:latin typeface="Lucida Sans Unicode" charset="0"/>
              <a:ea typeface="Lucida Sans Unicode" charset="0"/>
              <a:cs typeface="Lucida Sans Unicode" charset="0"/>
            </a:endParaRPr>
          </a:p>
          <a:p>
            <a:pPr lvl="1" eaLnBrk="1" hangingPunct="1"/>
            <a:endParaRPr lang="en-US">
              <a:latin typeface="Lucida Sans Unicode" charset="0"/>
              <a:ea typeface="Lucida Sans Unicode" charset="0"/>
              <a:cs typeface="Lucida Sans Unicod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4966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3584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3B42A57D-5F0C-EB44-9F54-88D260AB4B3B}" type="slidenum">
              <a:rPr lang="en-US" sz="1000">
                <a:latin typeface="Arial" charset="0"/>
              </a:rPr>
              <a:pPr/>
              <a:t>29</a:t>
            </a:fld>
            <a:endParaRPr lang="en-US" sz="1000">
              <a:latin typeface="Arial" charset="0"/>
            </a:endParaRPr>
          </a:p>
        </p:txBody>
      </p:sp>
      <p:sp>
        <p:nvSpPr>
          <p:cNvPr id="358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C# Property Example </a:t>
            </a:r>
          </a:p>
        </p:txBody>
      </p:sp>
      <p:sp>
        <p:nvSpPr>
          <p:cNvPr id="3584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03648" y="1371601"/>
            <a:ext cx="6978352" cy="4073624"/>
          </a:xfrm>
          <a:solidFill>
            <a:schemeClr val="bg1">
              <a:lumMod val="95000"/>
            </a:schemeClr>
          </a:solidFill>
        </p:spPr>
        <p:txBody>
          <a:bodyPr>
            <a:normAutofit fontScale="92500" lnSpcReduction="10000"/>
          </a:bodyPr>
          <a:lstStyle/>
          <a:p>
            <a:pPr marL="0" indent="0" defTabSz="338138" eaLnBrk="1" hangingPunct="1">
              <a:lnSpc>
                <a:spcPct val="80000"/>
              </a:lnSpc>
              <a:buFontTx/>
              <a:buNone/>
            </a:pPr>
            <a:r>
              <a:rPr lang="en-US" sz="1600" b="1" dirty="0">
                <a:latin typeface="Courier New" charset="0"/>
                <a:cs typeface="Lucida Sans Unicode" charset="0"/>
              </a:rPr>
              <a:t>public class </a:t>
            </a:r>
            <a:r>
              <a:rPr lang="en-US" sz="1600" dirty="0">
                <a:latin typeface="Courier New" charset="0"/>
                <a:cs typeface="Lucida Sans Unicode" charset="0"/>
              </a:rPr>
              <a:t>Weather {</a:t>
            </a:r>
          </a:p>
          <a:p>
            <a:pPr marL="0" indent="0" defTabSz="338138" eaLnBrk="1" hangingPunct="1">
              <a:lnSpc>
                <a:spcPct val="80000"/>
              </a:lnSpc>
              <a:buFontTx/>
              <a:buNone/>
            </a:pPr>
            <a:r>
              <a:rPr lang="en-US" sz="1600" dirty="0">
                <a:latin typeface="Courier New" charset="0"/>
                <a:cs typeface="Lucida Sans Unicode" charset="0"/>
              </a:rPr>
              <a:t>	</a:t>
            </a:r>
            <a:r>
              <a:rPr lang="en-US" sz="1600" b="1" dirty="0">
                <a:latin typeface="Courier New" charset="0"/>
                <a:cs typeface="Lucida Sans Unicode" charset="0"/>
              </a:rPr>
              <a:t>public </a:t>
            </a:r>
            <a:r>
              <a:rPr lang="en-US" sz="1600" b="1" dirty="0" err="1">
                <a:latin typeface="Courier New" charset="0"/>
                <a:cs typeface="Lucida Sans Unicode" charset="0"/>
              </a:rPr>
              <a:t>int</a:t>
            </a:r>
            <a:r>
              <a:rPr lang="en-US" sz="1600" b="1" dirty="0">
                <a:latin typeface="Courier New" charset="0"/>
                <a:cs typeface="Lucida Sans Unicode" charset="0"/>
              </a:rPr>
              <a:t> </a:t>
            </a:r>
            <a:r>
              <a:rPr lang="en-US" sz="1600" dirty="0" err="1">
                <a:latin typeface="Courier New" charset="0"/>
                <a:cs typeface="Lucida Sans Unicode" charset="0"/>
              </a:rPr>
              <a:t>DegreeDays</a:t>
            </a:r>
            <a:r>
              <a:rPr lang="en-US" sz="1600" dirty="0">
                <a:latin typeface="Courier New" charset="0"/>
                <a:cs typeface="Lucida Sans Unicode" charset="0"/>
              </a:rPr>
              <a:t> { //** </a:t>
            </a:r>
            <a:r>
              <a:rPr lang="en-US" sz="1600" dirty="0" err="1">
                <a:latin typeface="Courier New" charset="0"/>
                <a:cs typeface="Lucida Sans Unicode" charset="0"/>
              </a:rPr>
              <a:t>DegreeDays</a:t>
            </a:r>
            <a:r>
              <a:rPr lang="en-US" sz="1600" dirty="0">
                <a:latin typeface="Courier New" charset="0"/>
                <a:cs typeface="Lucida Sans Unicode" charset="0"/>
              </a:rPr>
              <a:t> is a property</a:t>
            </a:r>
          </a:p>
          <a:p>
            <a:pPr marL="0" indent="0" defTabSz="338138" eaLnBrk="1" hangingPunct="1">
              <a:lnSpc>
                <a:spcPct val="80000"/>
              </a:lnSpc>
              <a:buFontTx/>
              <a:buNone/>
            </a:pPr>
            <a:r>
              <a:rPr lang="en-US" sz="1600" dirty="0">
                <a:latin typeface="Courier New" charset="0"/>
                <a:cs typeface="Lucida Sans Unicode" charset="0"/>
              </a:rPr>
              <a:t>		get {</a:t>
            </a:r>
            <a:r>
              <a:rPr lang="en-US" sz="1600" b="1" dirty="0">
                <a:latin typeface="Courier New" charset="0"/>
                <a:cs typeface="Lucida Sans Unicode" charset="0"/>
              </a:rPr>
              <a:t>return</a:t>
            </a:r>
            <a:r>
              <a:rPr lang="en-US" sz="1600" dirty="0">
                <a:latin typeface="Courier New" charset="0"/>
                <a:cs typeface="Lucida Sans Unicode" charset="0"/>
              </a:rPr>
              <a:t> </a:t>
            </a:r>
            <a:r>
              <a:rPr lang="en-US" sz="1600" dirty="0" err="1">
                <a:latin typeface="Courier New" charset="0"/>
                <a:cs typeface="Lucida Sans Unicode" charset="0"/>
              </a:rPr>
              <a:t>degreeDays</a:t>
            </a:r>
            <a:r>
              <a:rPr lang="en-US" sz="1600" dirty="0">
                <a:latin typeface="Courier New" charset="0"/>
                <a:cs typeface="Lucida Sans Unicode" charset="0"/>
              </a:rPr>
              <a:t>;} </a:t>
            </a:r>
          </a:p>
          <a:p>
            <a:pPr marL="0" indent="0" defTabSz="338138" eaLnBrk="1" hangingPunct="1">
              <a:lnSpc>
                <a:spcPct val="80000"/>
              </a:lnSpc>
              <a:buFontTx/>
              <a:buNone/>
            </a:pPr>
            <a:r>
              <a:rPr lang="en-US" sz="1600" dirty="0">
                <a:latin typeface="Courier New" charset="0"/>
                <a:cs typeface="Lucida Sans Unicode" charset="0"/>
              </a:rPr>
              <a:t>		set {</a:t>
            </a:r>
          </a:p>
          <a:p>
            <a:pPr marL="0" indent="0" defTabSz="338138" eaLnBrk="1" hangingPunct="1">
              <a:lnSpc>
                <a:spcPct val="80000"/>
              </a:lnSpc>
              <a:buFontTx/>
              <a:buNone/>
            </a:pPr>
            <a:r>
              <a:rPr lang="en-US" sz="1600" dirty="0">
                <a:latin typeface="Courier New" charset="0"/>
                <a:cs typeface="Lucida Sans Unicode" charset="0"/>
              </a:rPr>
              <a:t>       </a:t>
            </a:r>
            <a:r>
              <a:rPr lang="en-US" sz="1600" b="1" dirty="0">
                <a:latin typeface="Courier New" charset="0"/>
                <a:cs typeface="Lucida Sans Unicode" charset="0"/>
              </a:rPr>
              <a:t>if </a:t>
            </a:r>
            <a:r>
              <a:rPr lang="en-US" sz="1600" dirty="0">
                <a:latin typeface="Courier New" charset="0"/>
                <a:cs typeface="Lucida Sans Unicode" charset="0"/>
              </a:rPr>
              <a:t>(value &lt; 0 || value &gt; 30)</a:t>
            </a:r>
          </a:p>
          <a:p>
            <a:pPr marL="0" indent="0" defTabSz="338138" eaLnBrk="1" hangingPunct="1">
              <a:lnSpc>
                <a:spcPct val="80000"/>
              </a:lnSpc>
              <a:buFontTx/>
              <a:buNone/>
            </a:pPr>
            <a:r>
              <a:rPr lang="en-US" sz="1600" dirty="0">
                <a:latin typeface="Courier New" charset="0"/>
                <a:cs typeface="Lucida Sans Unicode" charset="0"/>
              </a:rPr>
              <a:t>         </a:t>
            </a:r>
            <a:r>
              <a:rPr lang="en-US" sz="1600" dirty="0" err="1">
                <a:latin typeface="Courier New" charset="0"/>
                <a:cs typeface="Lucida Sans Unicode" charset="0"/>
              </a:rPr>
              <a:t>Console.WriteLine</a:t>
            </a:r>
            <a:r>
              <a:rPr lang="en-US" sz="1600" dirty="0">
                <a:latin typeface="Courier New" charset="0"/>
                <a:cs typeface="Lucida Sans Unicode" charset="0"/>
              </a:rPr>
              <a:t>(</a:t>
            </a:r>
          </a:p>
          <a:p>
            <a:pPr marL="0" indent="0" defTabSz="338138" eaLnBrk="1" hangingPunct="1">
              <a:lnSpc>
                <a:spcPct val="80000"/>
              </a:lnSpc>
              <a:buFontTx/>
              <a:buNone/>
            </a:pPr>
            <a:r>
              <a:rPr lang="en-US" sz="1600" dirty="0">
                <a:latin typeface="Courier New" charset="0"/>
                <a:cs typeface="Lucida Sans Unicode" charset="0"/>
              </a:rPr>
              <a:t>             </a:t>
            </a:r>
            <a:r>
              <a:rPr lang="en-US" sz="1600" dirty="0">
                <a:latin typeface="Lucida Sans Unicode" charset="0"/>
                <a:cs typeface="Lucida Sans Unicode" charset="0"/>
              </a:rPr>
              <a:t>"</a:t>
            </a:r>
            <a:r>
              <a:rPr lang="en-US" sz="1600" dirty="0">
                <a:latin typeface="Courier New" charset="0"/>
                <a:cs typeface="Lucida Sans Unicode" charset="0"/>
              </a:rPr>
              <a:t>Value is out of range: {0}</a:t>
            </a:r>
            <a:r>
              <a:rPr lang="en-US" sz="1600" dirty="0">
                <a:latin typeface="Lucida Sans Unicode" charset="0"/>
                <a:cs typeface="Lucida Sans Unicode" charset="0"/>
              </a:rPr>
              <a:t>"</a:t>
            </a:r>
            <a:r>
              <a:rPr lang="en-US" sz="1600" dirty="0">
                <a:latin typeface="Courier New" charset="0"/>
                <a:cs typeface="Lucida Sans Unicode" charset="0"/>
              </a:rPr>
              <a:t>, value);</a:t>
            </a:r>
          </a:p>
          <a:p>
            <a:pPr marL="0" indent="0" defTabSz="338138" eaLnBrk="1" hangingPunct="1">
              <a:lnSpc>
                <a:spcPct val="80000"/>
              </a:lnSpc>
              <a:buFontTx/>
              <a:buNone/>
            </a:pPr>
            <a:r>
              <a:rPr lang="en-US" sz="1600" dirty="0">
                <a:latin typeface="Courier New" charset="0"/>
                <a:cs typeface="Lucida Sans Unicode" charset="0"/>
              </a:rPr>
              <a:t>       </a:t>
            </a:r>
            <a:r>
              <a:rPr lang="en-US" sz="1600" b="1" dirty="0">
                <a:latin typeface="Courier New" charset="0"/>
                <a:cs typeface="Lucida Sans Unicode" charset="0"/>
              </a:rPr>
              <a:t>else</a:t>
            </a:r>
            <a:r>
              <a:rPr lang="en-US" sz="1600" dirty="0">
                <a:latin typeface="Courier New" charset="0"/>
                <a:cs typeface="Lucida Sans Unicode" charset="0"/>
              </a:rPr>
              <a:t> </a:t>
            </a:r>
            <a:r>
              <a:rPr lang="en-US" sz="1600" dirty="0" err="1">
                <a:latin typeface="Courier New" charset="0"/>
                <a:cs typeface="Lucida Sans Unicode" charset="0"/>
              </a:rPr>
              <a:t>degreeDays</a:t>
            </a:r>
            <a:r>
              <a:rPr lang="en-US" sz="1600" dirty="0">
                <a:latin typeface="Courier New" charset="0"/>
                <a:cs typeface="Lucida Sans Unicode" charset="0"/>
              </a:rPr>
              <a:t> = value;}</a:t>
            </a:r>
          </a:p>
          <a:p>
            <a:pPr marL="0" indent="0" defTabSz="338138" eaLnBrk="1" hangingPunct="1">
              <a:lnSpc>
                <a:spcPct val="80000"/>
              </a:lnSpc>
              <a:buFontTx/>
              <a:buNone/>
            </a:pPr>
            <a:r>
              <a:rPr lang="en-US" sz="1600" dirty="0">
                <a:latin typeface="Courier New" charset="0"/>
                <a:cs typeface="Lucida Sans Unicode" charset="0"/>
              </a:rPr>
              <a:t>	}</a:t>
            </a:r>
          </a:p>
          <a:p>
            <a:pPr marL="0" indent="0" defTabSz="338138" eaLnBrk="1" hangingPunct="1">
              <a:lnSpc>
                <a:spcPct val="80000"/>
              </a:lnSpc>
              <a:buFontTx/>
              <a:buNone/>
            </a:pPr>
            <a:r>
              <a:rPr lang="en-US" sz="1600" dirty="0">
                <a:latin typeface="Courier New" charset="0"/>
                <a:cs typeface="Lucida Sans Unicode" charset="0"/>
              </a:rPr>
              <a:t>	</a:t>
            </a:r>
            <a:r>
              <a:rPr lang="en-US" sz="1600" b="1" dirty="0">
                <a:latin typeface="Courier New" charset="0"/>
                <a:cs typeface="Lucida Sans Unicode" charset="0"/>
              </a:rPr>
              <a:t>private </a:t>
            </a:r>
            <a:r>
              <a:rPr lang="en-US" sz="1600" b="1" dirty="0" err="1">
                <a:latin typeface="Courier New" charset="0"/>
                <a:cs typeface="Lucida Sans Unicode" charset="0"/>
              </a:rPr>
              <a:t>int</a:t>
            </a:r>
            <a:r>
              <a:rPr lang="en-US" sz="1600" b="1" dirty="0">
                <a:latin typeface="Courier New" charset="0"/>
                <a:cs typeface="Lucida Sans Unicode" charset="0"/>
              </a:rPr>
              <a:t> </a:t>
            </a:r>
            <a:r>
              <a:rPr lang="en-US" sz="1600" dirty="0" err="1">
                <a:latin typeface="Courier New" charset="0"/>
                <a:cs typeface="Lucida Sans Unicode" charset="0"/>
              </a:rPr>
              <a:t>degreeDays</a:t>
            </a:r>
            <a:r>
              <a:rPr lang="en-US" sz="1600" dirty="0">
                <a:latin typeface="Courier New" charset="0"/>
                <a:cs typeface="Lucida Sans Unicode" charset="0"/>
              </a:rPr>
              <a:t>;</a:t>
            </a:r>
          </a:p>
          <a:p>
            <a:pPr marL="0" indent="0" defTabSz="338138" eaLnBrk="1" hangingPunct="1">
              <a:lnSpc>
                <a:spcPct val="80000"/>
              </a:lnSpc>
              <a:buFontTx/>
              <a:buNone/>
            </a:pPr>
            <a:r>
              <a:rPr lang="en-US" sz="1600" dirty="0">
                <a:latin typeface="Courier New" charset="0"/>
                <a:cs typeface="Lucida Sans Unicode" charset="0"/>
              </a:rPr>
              <a:t>	...</a:t>
            </a:r>
          </a:p>
          <a:p>
            <a:pPr marL="0" indent="0" defTabSz="338138" eaLnBrk="1" hangingPunct="1">
              <a:lnSpc>
                <a:spcPct val="80000"/>
              </a:lnSpc>
              <a:buFontTx/>
              <a:buNone/>
            </a:pPr>
            <a:r>
              <a:rPr lang="en-US" sz="1600" dirty="0">
                <a:latin typeface="Courier New" charset="0"/>
                <a:cs typeface="Lucida Sans Unicode" charset="0"/>
              </a:rPr>
              <a:t>	}</a:t>
            </a:r>
          </a:p>
          <a:p>
            <a:pPr marL="0" indent="0" defTabSz="338138" eaLnBrk="1" hangingPunct="1">
              <a:lnSpc>
                <a:spcPct val="80000"/>
              </a:lnSpc>
              <a:buFontTx/>
              <a:buNone/>
            </a:pPr>
            <a:r>
              <a:rPr lang="en-US" sz="1600" dirty="0">
                <a:latin typeface="Courier New" charset="0"/>
                <a:cs typeface="Lucida Sans Unicode" charset="0"/>
              </a:rPr>
              <a:t>...</a:t>
            </a:r>
          </a:p>
          <a:p>
            <a:pPr marL="0" indent="0" defTabSz="338138" eaLnBrk="1" hangingPunct="1">
              <a:lnSpc>
                <a:spcPct val="80000"/>
              </a:lnSpc>
              <a:buFontTx/>
              <a:buNone/>
            </a:pPr>
            <a:r>
              <a:rPr lang="en-US" sz="1600" dirty="0">
                <a:latin typeface="Courier New" charset="0"/>
                <a:cs typeface="Lucida Sans Unicode" charset="0"/>
              </a:rPr>
              <a:t>Weather w = </a:t>
            </a:r>
            <a:r>
              <a:rPr lang="en-US" sz="1600" b="1" dirty="0">
                <a:latin typeface="Courier New" charset="0"/>
                <a:cs typeface="Lucida Sans Unicode" charset="0"/>
              </a:rPr>
              <a:t>new</a:t>
            </a:r>
            <a:r>
              <a:rPr lang="en-US" sz="1600" dirty="0">
                <a:latin typeface="Courier New" charset="0"/>
                <a:cs typeface="Lucida Sans Unicode" charset="0"/>
              </a:rPr>
              <a:t> Weather();</a:t>
            </a:r>
          </a:p>
          <a:p>
            <a:pPr marL="0" indent="0" defTabSz="338138" eaLnBrk="1" hangingPunct="1">
              <a:lnSpc>
                <a:spcPct val="80000"/>
              </a:lnSpc>
              <a:buFontTx/>
              <a:buNone/>
            </a:pPr>
            <a:r>
              <a:rPr lang="en-US" sz="1600" b="1" dirty="0" err="1">
                <a:latin typeface="Courier New" charset="0"/>
                <a:cs typeface="Lucida Sans Unicode" charset="0"/>
              </a:rPr>
              <a:t>int</a:t>
            </a:r>
            <a:r>
              <a:rPr lang="en-US" sz="1600" dirty="0">
                <a:latin typeface="Courier New" charset="0"/>
                <a:cs typeface="Lucida Sans Unicode" charset="0"/>
              </a:rPr>
              <a:t> </a:t>
            </a:r>
            <a:r>
              <a:rPr lang="en-US" sz="1600" dirty="0" err="1">
                <a:latin typeface="Courier New" charset="0"/>
                <a:cs typeface="Lucida Sans Unicode" charset="0"/>
              </a:rPr>
              <a:t>degreeDaysToday</a:t>
            </a:r>
            <a:r>
              <a:rPr lang="en-US" sz="1600" dirty="0">
                <a:latin typeface="Courier New" charset="0"/>
                <a:cs typeface="Lucida Sans Unicode" charset="0"/>
              </a:rPr>
              <a:t>, </a:t>
            </a:r>
            <a:r>
              <a:rPr lang="en-US" sz="1600" dirty="0" err="1">
                <a:latin typeface="Courier New" charset="0"/>
                <a:cs typeface="Lucida Sans Unicode" charset="0"/>
              </a:rPr>
              <a:t>oldDegreeDays</a:t>
            </a:r>
            <a:r>
              <a:rPr lang="en-US" sz="1600" dirty="0">
                <a:latin typeface="Courier New" charset="0"/>
                <a:cs typeface="Lucida Sans Unicode" charset="0"/>
              </a:rPr>
              <a:t>;</a:t>
            </a:r>
          </a:p>
          <a:p>
            <a:pPr marL="0" indent="0" defTabSz="338138" eaLnBrk="1" hangingPunct="1">
              <a:lnSpc>
                <a:spcPct val="80000"/>
              </a:lnSpc>
              <a:buFontTx/>
              <a:buNone/>
            </a:pPr>
            <a:r>
              <a:rPr lang="en-US" sz="1600" dirty="0">
                <a:latin typeface="Courier New" charset="0"/>
                <a:cs typeface="Lucida Sans Unicode" charset="0"/>
              </a:rPr>
              <a:t>...</a:t>
            </a:r>
          </a:p>
          <a:p>
            <a:pPr marL="0" indent="0" defTabSz="338138" eaLnBrk="1" hangingPunct="1">
              <a:lnSpc>
                <a:spcPct val="80000"/>
              </a:lnSpc>
              <a:buFontTx/>
              <a:buNone/>
            </a:pPr>
            <a:r>
              <a:rPr lang="en-US" sz="1600" dirty="0" err="1">
                <a:latin typeface="Courier New" charset="0"/>
                <a:cs typeface="Lucida Sans Unicode" charset="0"/>
              </a:rPr>
              <a:t>w.DegreeDays</a:t>
            </a:r>
            <a:r>
              <a:rPr lang="en-US" sz="1600" dirty="0">
                <a:latin typeface="Courier New" charset="0"/>
                <a:cs typeface="Lucida Sans Unicode" charset="0"/>
              </a:rPr>
              <a:t> = </a:t>
            </a:r>
            <a:r>
              <a:rPr lang="en-US" sz="1600" dirty="0" err="1">
                <a:latin typeface="Courier New" charset="0"/>
                <a:cs typeface="Lucida Sans Unicode" charset="0"/>
              </a:rPr>
              <a:t>degreeDaysToday</a:t>
            </a:r>
            <a:r>
              <a:rPr lang="en-US" sz="1600" dirty="0">
                <a:latin typeface="Courier New" charset="0"/>
                <a:cs typeface="Lucida Sans Unicode" charset="0"/>
              </a:rPr>
              <a:t>;</a:t>
            </a:r>
          </a:p>
          <a:p>
            <a:pPr marL="0" indent="0" defTabSz="338138" eaLnBrk="1" hangingPunct="1">
              <a:lnSpc>
                <a:spcPct val="80000"/>
              </a:lnSpc>
              <a:buFontTx/>
              <a:buNone/>
            </a:pPr>
            <a:r>
              <a:rPr lang="en-US" sz="1600" dirty="0">
                <a:latin typeface="Courier New" charset="0"/>
                <a:cs typeface="Lucida Sans Unicode" charset="0"/>
              </a:rPr>
              <a:t>...</a:t>
            </a:r>
          </a:p>
          <a:p>
            <a:pPr marL="0" indent="0" defTabSz="338138" eaLnBrk="1" hangingPunct="1">
              <a:lnSpc>
                <a:spcPct val="80000"/>
              </a:lnSpc>
              <a:buFontTx/>
              <a:buNone/>
            </a:pPr>
            <a:r>
              <a:rPr lang="en-US" sz="1600" dirty="0" err="1">
                <a:latin typeface="Courier New" charset="0"/>
                <a:cs typeface="Lucida Sans Unicode" charset="0"/>
              </a:rPr>
              <a:t>oldDegreeDays</a:t>
            </a:r>
            <a:r>
              <a:rPr lang="en-US" sz="1600" dirty="0">
                <a:latin typeface="Courier New" charset="0"/>
                <a:cs typeface="Lucida Sans Unicode" charset="0"/>
              </a:rPr>
              <a:t> = </a:t>
            </a:r>
            <a:r>
              <a:rPr lang="en-US" sz="1600" dirty="0" err="1">
                <a:latin typeface="Courier New" charset="0"/>
                <a:cs typeface="Lucida Sans Unicode" charset="0"/>
              </a:rPr>
              <a:t>w.DegreeDays</a:t>
            </a:r>
            <a:r>
              <a:rPr lang="en-US" sz="1600" dirty="0">
                <a:latin typeface="Courier New" charset="0"/>
                <a:cs typeface="Lucida Sans Unicode" charset="0"/>
              </a:rPr>
              <a:t>;</a:t>
            </a:r>
          </a:p>
          <a:p>
            <a:pPr marL="0" indent="0" defTabSz="338138" eaLnBrk="1" hangingPunct="1">
              <a:lnSpc>
                <a:spcPct val="80000"/>
              </a:lnSpc>
              <a:buFontTx/>
              <a:buNone/>
            </a:pPr>
            <a:endParaRPr lang="en-US" sz="1600" dirty="0">
              <a:latin typeface="Courier New" charset="0"/>
              <a:cs typeface="Lucida Sans Unicod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24073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3686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72E23005-90F4-1440-B363-8138874B3B19}" type="slidenum">
              <a:rPr lang="en-US" sz="1000">
                <a:latin typeface="Arial" charset="0"/>
              </a:rPr>
              <a:pPr/>
              <a:t>30</a:t>
            </a:fld>
            <a:endParaRPr lang="en-US" sz="1000">
              <a:latin typeface="Arial" charset="0"/>
            </a:endParaRPr>
          </a:p>
        </p:txBody>
      </p:sp>
      <p:sp>
        <p:nvSpPr>
          <p:cNvPr id="368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Abstract Data Types in Ruby</a:t>
            </a:r>
          </a:p>
        </p:txBody>
      </p:sp>
      <p:sp>
        <p:nvSpPr>
          <p:cNvPr id="3686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295400"/>
            <a:ext cx="8153400" cy="4581872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Lucida Sans Unicode" charset="0"/>
                <a:cs typeface="Lucida Sans Unicode" charset="0"/>
              </a:rPr>
              <a:t>Encapsulation construct is the class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Lucida Sans Unicode" charset="0"/>
                <a:cs typeface="Lucida Sans Unicode" charset="0"/>
              </a:rPr>
              <a:t>Local variables have </a:t>
            </a:r>
            <a:r>
              <a:rPr lang="ja-JP" altLang="en-US" sz="2400">
                <a:latin typeface="Lucida Sans Unicode" charset="0"/>
                <a:cs typeface="Lucida Sans Unicode" charset="0"/>
              </a:rPr>
              <a:t>“</a:t>
            </a:r>
            <a:r>
              <a:rPr lang="en-US" sz="2400" dirty="0">
                <a:latin typeface="Lucida Sans Unicode" charset="0"/>
                <a:cs typeface="Lucida Sans Unicode" charset="0"/>
              </a:rPr>
              <a:t>normal</a:t>
            </a:r>
            <a:r>
              <a:rPr lang="ja-JP" altLang="en-US" sz="2400">
                <a:latin typeface="Lucida Sans Unicode" charset="0"/>
                <a:cs typeface="Lucida Sans Unicode" charset="0"/>
              </a:rPr>
              <a:t>”</a:t>
            </a:r>
            <a:r>
              <a:rPr lang="en-US" sz="2400" dirty="0">
                <a:latin typeface="Lucida Sans Unicode" charset="0"/>
                <a:cs typeface="Lucida Sans Unicode" charset="0"/>
              </a:rPr>
              <a:t> names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Lucida Sans Unicode" charset="0"/>
                <a:cs typeface="Lucida Sans Unicode" charset="0"/>
              </a:rPr>
              <a:t>Instance variable names begin with </a:t>
            </a:r>
            <a:r>
              <a:rPr lang="ja-JP" altLang="en-US" sz="2400">
                <a:latin typeface="Lucida Sans Unicode" charset="0"/>
                <a:cs typeface="Lucida Sans Unicode" charset="0"/>
              </a:rPr>
              <a:t>“</a:t>
            </a:r>
            <a:r>
              <a:rPr lang="en-US" sz="2400" dirty="0">
                <a:latin typeface="Lucida Sans Unicode" charset="0"/>
                <a:cs typeface="Lucida Sans Unicode" charset="0"/>
              </a:rPr>
              <a:t>at</a:t>
            </a:r>
            <a:r>
              <a:rPr lang="ja-JP" altLang="en-US" sz="2400">
                <a:latin typeface="Lucida Sans Unicode" charset="0"/>
                <a:cs typeface="Lucida Sans Unicode" charset="0"/>
              </a:rPr>
              <a:t>”</a:t>
            </a:r>
            <a:r>
              <a:rPr lang="en-US" sz="2400" dirty="0">
                <a:latin typeface="Lucida Sans Unicode" charset="0"/>
                <a:cs typeface="Lucida Sans Unicode" charset="0"/>
              </a:rPr>
              <a:t> signs (</a:t>
            </a:r>
            <a:r>
              <a:rPr lang="en-US" sz="2000" dirty="0">
                <a:latin typeface="Courier New" charset="0"/>
                <a:cs typeface="Lucida Sans Unicode" charset="0"/>
              </a:rPr>
              <a:t>@</a:t>
            </a:r>
            <a:r>
              <a:rPr lang="en-US" sz="2400" dirty="0">
                <a:latin typeface="Lucida Sans Unicode" charset="0"/>
                <a:cs typeface="Lucida Sans Unicode" charset="0"/>
              </a:rPr>
              <a:t>)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Lucida Sans Unicode" charset="0"/>
                <a:cs typeface="Lucida Sans Unicode" charset="0"/>
              </a:rPr>
              <a:t>Class variable names begin with two </a:t>
            </a:r>
            <a:r>
              <a:rPr lang="ja-JP" altLang="en-US" sz="2400">
                <a:latin typeface="Lucida Sans Unicode" charset="0"/>
                <a:cs typeface="Lucida Sans Unicode" charset="0"/>
              </a:rPr>
              <a:t>“</a:t>
            </a:r>
            <a:r>
              <a:rPr lang="en-US" sz="2400" dirty="0">
                <a:latin typeface="Lucida Sans Unicode" charset="0"/>
                <a:cs typeface="Lucida Sans Unicode" charset="0"/>
              </a:rPr>
              <a:t>at</a:t>
            </a:r>
            <a:r>
              <a:rPr lang="ja-JP" altLang="en-US" sz="2400">
                <a:latin typeface="Lucida Sans Unicode" charset="0"/>
                <a:cs typeface="Lucida Sans Unicode" charset="0"/>
              </a:rPr>
              <a:t>”</a:t>
            </a:r>
            <a:r>
              <a:rPr lang="en-US" sz="2400" dirty="0">
                <a:latin typeface="Lucida Sans Unicode" charset="0"/>
                <a:cs typeface="Lucida Sans Unicode" charset="0"/>
              </a:rPr>
              <a:t> signs (</a:t>
            </a:r>
            <a:r>
              <a:rPr lang="en-US" sz="2000" dirty="0">
                <a:latin typeface="Courier New" charset="0"/>
                <a:cs typeface="Lucida Sans Unicode" charset="0"/>
              </a:rPr>
              <a:t>@@</a:t>
            </a:r>
            <a:r>
              <a:rPr lang="en-US" sz="2400" dirty="0">
                <a:latin typeface="Lucida Sans Unicode" charset="0"/>
                <a:cs typeface="Lucida Sans Unicode" charset="0"/>
              </a:rPr>
              <a:t>)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Lucida Sans Unicode" charset="0"/>
                <a:cs typeface="Lucida Sans Unicode" charset="0"/>
              </a:rPr>
              <a:t> Instance methods have the syntax of Ruby functions (</a:t>
            </a:r>
            <a:r>
              <a:rPr lang="en-US" sz="2000" dirty="0">
                <a:latin typeface="Courier New" charset="0"/>
                <a:cs typeface="Lucida Sans Unicode" charset="0"/>
              </a:rPr>
              <a:t>def</a:t>
            </a:r>
            <a:r>
              <a:rPr lang="en-US" sz="2400" dirty="0">
                <a:latin typeface="Lucida Sans Unicode" charset="0"/>
                <a:cs typeface="Lucida Sans Unicode" charset="0"/>
              </a:rPr>
              <a:t> … </a:t>
            </a:r>
            <a:r>
              <a:rPr lang="en-US" sz="2000" dirty="0">
                <a:latin typeface="Courier New" charset="0"/>
                <a:cs typeface="Lucida Sans Unicode" charset="0"/>
              </a:rPr>
              <a:t>end</a:t>
            </a:r>
            <a:r>
              <a:rPr lang="en-US" sz="2400" dirty="0">
                <a:latin typeface="Lucida Sans Unicode" charset="0"/>
                <a:cs typeface="Lucida Sans Unicode" charset="0"/>
              </a:rPr>
              <a:t>)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Lucida Sans Unicode" charset="0"/>
                <a:cs typeface="Lucida Sans Unicode" charset="0"/>
              </a:rPr>
              <a:t>Constructors are named </a:t>
            </a:r>
            <a:r>
              <a:rPr lang="en-US" sz="2000" dirty="0">
                <a:latin typeface="Courier New" charset="0"/>
                <a:cs typeface="Lucida Sans Unicode" charset="0"/>
              </a:rPr>
              <a:t>initialize</a:t>
            </a:r>
            <a:r>
              <a:rPr lang="en-US" sz="2400" dirty="0">
                <a:latin typeface="Lucida Sans Unicode" charset="0"/>
                <a:cs typeface="Lucida Sans Unicode" charset="0"/>
              </a:rPr>
              <a:t> (only one per class)—implicitly called when </a:t>
            </a:r>
            <a:r>
              <a:rPr lang="en-US" sz="2000" dirty="0">
                <a:latin typeface="Courier New" charset="0"/>
                <a:cs typeface="Courier New" charset="0"/>
              </a:rPr>
              <a:t>new</a:t>
            </a:r>
            <a:r>
              <a:rPr lang="en-US" sz="2400" dirty="0">
                <a:latin typeface="Lucida Sans Unicode" charset="0"/>
                <a:cs typeface="Lucida Sans Unicode" charset="0"/>
              </a:rPr>
              <a:t> is called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>
                <a:latin typeface="Lucida Sans Unicode" charset="0"/>
                <a:ea typeface="Lucida Sans Unicode" charset="0"/>
                <a:cs typeface="Lucida Sans Unicode" charset="0"/>
              </a:rPr>
              <a:t>If more constructors are needed, they must have  different names and they must explicitly call </a:t>
            </a:r>
            <a:r>
              <a:rPr lang="en-US" sz="1600" dirty="0">
                <a:latin typeface="Courier New" charset="0"/>
                <a:ea typeface="ＭＳ Ｐゴシック" charset="0"/>
                <a:cs typeface="Courier New" charset="0"/>
              </a:rPr>
              <a:t>new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Lucida Sans Unicode" charset="0"/>
                <a:cs typeface="Lucida Sans Unicode" charset="0"/>
              </a:rPr>
              <a:t>Class members can be marked private or public, with public being the default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Lucida Sans Unicode" charset="0"/>
                <a:cs typeface="Lucida Sans Unicode" charset="0"/>
              </a:rPr>
              <a:t>Classes are dynamic</a:t>
            </a:r>
          </a:p>
        </p:txBody>
      </p:sp>
    </p:spTree>
    <p:extLst>
      <p:ext uri="{BB962C8B-B14F-4D97-AF65-F5344CB8AC3E}">
        <p14:creationId xmlns:p14="http://schemas.microsoft.com/office/powerpoint/2010/main" val="37807534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3789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12085B7C-A989-1341-B97F-415CFC416A26}" type="slidenum">
              <a:rPr lang="en-US" sz="1000">
                <a:latin typeface="Arial" charset="0"/>
              </a:rPr>
              <a:pPr/>
              <a:t>31</a:t>
            </a:fld>
            <a:endParaRPr lang="en-US" sz="1000">
              <a:latin typeface="Arial" charset="0"/>
            </a:endParaRPr>
          </a:p>
        </p:txBody>
      </p:sp>
      <p:sp>
        <p:nvSpPr>
          <p:cNvPr id="378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>
                <a:latin typeface="Lucida Sans Unicode" charset="0"/>
                <a:cs typeface="Lucida Sans Unicode" charset="0"/>
              </a:rPr>
              <a:t>Abstract Data Types in Ruby (continued)</a:t>
            </a:r>
          </a:p>
        </p:txBody>
      </p:sp>
      <p:sp>
        <p:nvSpPr>
          <p:cNvPr id="3789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3503" y="1199024"/>
            <a:ext cx="7503368" cy="4246200"/>
          </a:xfrm>
          <a:solidFill>
            <a:schemeClr val="bg1">
              <a:lumMod val="95000"/>
            </a:schemeClr>
          </a:solidFill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b="1" dirty="0">
                <a:latin typeface="Courier New" charset="0"/>
                <a:cs typeface="Courier New" charset="0"/>
              </a:rPr>
              <a:t>class</a:t>
            </a:r>
            <a:r>
              <a:rPr lang="en-US" sz="1600" dirty="0">
                <a:latin typeface="Courier New" charset="0"/>
                <a:cs typeface="Courier New" charset="0"/>
              </a:rPr>
              <a:t> </a:t>
            </a:r>
            <a:r>
              <a:rPr lang="en-US" sz="1600" dirty="0" err="1">
                <a:latin typeface="Courier New" charset="0"/>
                <a:cs typeface="Courier New" charset="0"/>
              </a:rPr>
              <a:t>StackClass</a:t>
            </a:r>
            <a:r>
              <a:rPr lang="en-US" sz="1600" dirty="0">
                <a:latin typeface="Courier New" charset="0"/>
                <a:cs typeface="Courier New" charset="0"/>
              </a:rPr>
              <a:t> 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dirty="0">
                <a:latin typeface="Courier New" charset="0"/>
                <a:cs typeface="Courier New" charset="0"/>
              </a:rPr>
              <a:t>	</a:t>
            </a:r>
            <a:r>
              <a:rPr lang="en-US" sz="1600" b="1" dirty="0">
                <a:latin typeface="Courier New" charset="0"/>
                <a:cs typeface="Courier New" charset="0"/>
              </a:rPr>
              <a:t>def</a:t>
            </a:r>
            <a:r>
              <a:rPr lang="en-US" sz="1600" dirty="0">
                <a:latin typeface="Courier New" charset="0"/>
                <a:cs typeface="Courier New" charset="0"/>
              </a:rPr>
              <a:t> initialize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dirty="0">
                <a:latin typeface="Courier New" charset="0"/>
                <a:cs typeface="Courier New" charset="0"/>
              </a:rPr>
              <a:t>    @</a:t>
            </a:r>
            <a:r>
              <a:rPr lang="en-US" sz="1600" dirty="0" err="1">
                <a:latin typeface="Courier New" charset="0"/>
                <a:cs typeface="Courier New" charset="0"/>
              </a:rPr>
              <a:t>stackRef</a:t>
            </a:r>
            <a:r>
              <a:rPr lang="en-US" sz="1600" dirty="0">
                <a:latin typeface="Courier New" charset="0"/>
                <a:cs typeface="Courier New" charset="0"/>
              </a:rPr>
              <a:t> = </a:t>
            </a:r>
            <a:r>
              <a:rPr lang="en-US" sz="1600" dirty="0" err="1">
                <a:latin typeface="Courier New" charset="0"/>
                <a:cs typeface="Courier New" charset="0"/>
              </a:rPr>
              <a:t>Array.new</a:t>
            </a:r>
            <a:endParaRPr lang="en-US" sz="1600" dirty="0">
              <a:latin typeface="Courier New" charset="0"/>
              <a:cs typeface="Courier New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dirty="0">
                <a:latin typeface="Courier New" charset="0"/>
                <a:cs typeface="Courier New" charset="0"/>
              </a:rPr>
              <a:t>    @</a:t>
            </a:r>
            <a:r>
              <a:rPr lang="en-US" sz="1600" dirty="0" err="1">
                <a:latin typeface="Courier New" charset="0"/>
                <a:cs typeface="Courier New" charset="0"/>
              </a:rPr>
              <a:t>maxLen</a:t>
            </a:r>
            <a:r>
              <a:rPr lang="en-US" sz="1600" dirty="0">
                <a:latin typeface="Courier New" charset="0"/>
                <a:cs typeface="Courier New" charset="0"/>
              </a:rPr>
              <a:t> = 100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dirty="0">
                <a:latin typeface="Courier New" charset="0"/>
                <a:cs typeface="Courier New" charset="0"/>
              </a:rPr>
              <a:t>    @</a:t>
            </a:r>
            <a:r>
              <a:rPr lang="en-US" sz="1600" dirty="0" err="1">
                <a:latin typeface="Courier New" charset="0"/>
                <a:cs typeface="Courier New" charset="0"/>
              </a:rPr>
              <a:t>topIndex</a:t>
            </a:r>
            <a:r>
              <a:rPr lang="en-US" sz="1600" dirty="0">
                <a:latin typeface="Courier New" charset="0"/>
                <a:cs typeface="Courier New" charset="0"/>
              </a:rPr>
              <a:t> = -1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dirty="0">
                <a:latin typeface="Courier New" charset="0"/>
                <a:cs typeface="Courier New" charset="0"/>
              </a:rPr>
              <a:t>   </a:t>
            </a:r>
            <a:r>
              <a:rPr lang="en-US" sz="1600" b="1" dirty="0">
                <a:latin typeface="Courier New" charset="0"/>
                <a:cs typeface="Courier New" charset="0"/>
              </a:rPr>
              <a:t>end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sz="1600" dirty="0">
              <a:latin typeface="Courier New" charset="0"/>
              <a:cs typeface="Courier New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dirty="0">
                <a:latin typeface="Courier New" charset="0"/>
                <a:cs typeface="Courier New" charset="0"/>
              </a:rPr>
              <a:t>   </a:t>
            </a:r>
            <a:r>
              <a:rPr lang="en-US" sz="1600" b="1" dirty="0">
                <a:latin typeface="Courier New" charset="0"/>
                <a:cs typeface="Courier New" charset="0"/>
              </a:rPr>
              <a:t>def</a:t>
            </a:r>
            <a:r>
              <a:rPr lang="en-US" sz="1600" dirty="0">
                <a:latin typeface="Courier New" charset="0"/>
                <a:cs typeface="Courier New" charset="0"/>
              </a:rPr>
              <a:t> push(number)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dirty="0">
                <a:latin typeface="Courier New" charset="0"/>
                <a:cs typeface="Courier New" charset="0"/>
              </a:rPr>
              <a:t>     </a:t>
            </a:r>
            <a:r>
              <a:rPr lang="en-US" sz="1600" b="1" dirty="0">
                <a:latin typeface="Courier New" charset="0"/>
                <a:cs typeface="Courier New" charset="0"/>
              </a:rPr>
              <a:t>if</a:t>
            </a:r>
            <a:r>
              <a:rPr lang="en-US" sz="1600" dirty="0">
                <a:latin typeface="Courier New" charset="0"/>
                <a:cs typeface="Courier New" charset="0"/>
              </a:rPr>
              <a:t> @</a:t>
            </a:r>
            <a:r>
              <a:rPr lang="en-US" sz="1600" dirty="0" err="1">
                <a:latin typeface="Courier New" charset="0"/>
                <a:cs typeface="Courier New" charset="0"/>
              </a:rPr>
              <a:t>topIndex</a:t>
            </a:r>
            <a:r>
              <a:rPr lang="en-US" sz="1600" dirty="0">
                <a:latin typeface="Courier New" charset="0"/>
                <a:cs typeface="Courier New" charset="0"/>
              </a:rPr>
              <a:t> == @</a:t>
            </a:r>
            <a:r>
              <a:rPr lang="en-US" sz="1600" dirty="0" err="1">
                <a:latin typeface="Courier New" charset="0"/>
                <a:cs typeface="Courier New" charset="0"/>
              </a:rPr>
              <a:t>maxLen</a:t>
            </a:r>
            <a:endParaRPr lang="en-US" sz="1600" dirty="0">
              <a:latin typeface="Courier New" charset="0"/>
              <a:cs typeface="Courier New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dirty="0">
                <a:latin typeface="Courier New" charset="0"/>
                <a:cs typeface="Courier New" charset="0"/>
              </a:rPr>
              <a:t>       puts </a:t>
            </a:r>
            <a:r>
              <a:rPr lang="en-US" sz="1600" dirty="0">
                <a:latin typeface="Lucida Sans Unicode" charset="0"/>
                <a:cs typeface="Lucida Sans Unicode" charset="0"/>
              </a:rPr>
              <a:t>" </a:t>
            </a:r>
            <a:r>
              <a:rPr lang="en-US" sz="1600" dirty="0">
                <a:latin typeface="Courier New" charset="0"/>
                <a:cs typeface="Courier New" charset="0"/>
              </a:rPr>
              <a:t>Error in push – stack is full</a:t>
            </a:r>
            <a:r>
              <a:rPr lang="en-US" sz="1600" dirty="0">
                <a:latin typeface="Lucida Sans Unicode" charset="0"/>
                <a:cs typeface="Lucida Sans Unicode" charset="0"/>
              </a:rPr>
              <a:t>"</a:t>
            </a:r>
            <a:endParaRPr lang="en-US" sz="1600" dirty="0">
              <a:latin typeface="Courier New" charset="0"/>
              <a:cs typeface="Courier New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dirty="0">
                <a:latin typeface="Courier New" charset="0"/>
                <a:cs typeface="Courier New" charset="0"/>
              </a:rPr>
              <a:t>     </a:t>
            </a:r>
            <a:r>
              <a:rPr lang="en-US" sz="1600" b="1" dirty="0">
                <a:latin typeface="Courier New" charset="0"/>
                <a:cs typeface="Courier New" charset="0"/>
              </a:rPr>
              <a:t>else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dirty="0">
                <a:latin typeface="Courier New" charset="0"/>
                <a:cs typeface="Courier New" charset="0"/>
              </a:rPr>
              <a:t>       @</a:t>
            </a:r>
            <a:r>
              <a:rPr lang="en-US" sz="1600" dirty="0" err="1">
                <a:latin typeface="Courier New" charset="0"/>
                <a:cs typeface="Courier New" charset="0"/>
              </a:rPr>
              <a:t>topIndex</a:t>
            </a:r>
            <a:r>
              <a:rPr lang="en-US" sz="1600" dirty="0">
                <a:latin typeface="Courier New" charset="0"/>
                <a:cs typeface="Courier New" charset="0"/>
              </a:rPr>
              <a:t> = @</a:t>
            </a:r>
            <a:r>
              <a:rPr lang="en-US" sz="1600" dirty="0" err="1">
                <a:latin typeface="Courier New" charset="0"/>
                <a:cs typeface="Courier New" charset="0"/>
              </a:rPr>
              <a:t>topIndex</a:t>
            </a:r>
            <a:r>
              <a:rPr lang="en-US" sz="1600" dirty="0">
                <a:latin typeface="Courier New" charset="0"/>
                <a:cs typeface="Courier New" charset="0"/>
              </a:rPr>
              <a:t> + 1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dirty="0">
                <a:latin typeface="Courier New" charset="0"/>
                <a:cs typeface="Courier New" charset="0"/>
              </a:rPr>
              <a:t>       @</a:t>
            </a:r>
            <a:r>
              <a:rPr lang="en-US" sz="1600" dirty="0" err="1">
                <a:latin typeface="Courier New" charset="0"/>
                <a:cs typeface="Courier New" charset="0"/>
              </a:rPr>
              <a:t>stackRef</a:t>
            </a:r>
            <a:r>
              <a:rPr lang="en-US" sz="1600" dirty="0">
                <a:latin typeface="Courier New" charset="0"/>
                <a:cs typeface="Courier New" charset="0"/>
              </a:rPr>
              <a:t>[@</a:t>
            </a:r>
            <a:r>
              <a:rPr lang="en-US" sz="1600" dirty="0" err="1">
                <a:latin typeface="Courier New" charset="0"/>
                <a:cs typeface="Courier New" charset="0"/>
              </a:rPr>
              <a:t>topIndex</a:t>
            </a:r>
            <a:r>
              <a:rPr lang="en-US" sz="1600" dirty="0">
                <a:latin typeface="Courier New" charset="0"/>
                <a:cs typeface="Courier New" charset="0"/>
              </a:rPr>
              <a:t>] = number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dirty="0">
                <a:latin typeface="Courier New" charset="0"/>
                <a:cs typeface="Courier New" charset="0"/>
              </a:rPr>
              <a:t>     </a:t>
            </a:r>
            <a:r>
              <a:rPr lang="en-US" sz="1600" b="1" dirty="0">
                <a:latin typeface="Courier New" charset="0"/>
                <a:cs typeface="Courier New" charset="0"/>
              </a:rPr>
              <a:t>end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b="1" dirty="0">
                <a:latin typeface="Courier New" charset="0"/>
                <a:cs typeface="Courier New" charset="0"/>
              </a:rPr>
              <a:t>   end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dirty="0">
                <a:latin typeface="Courier New" charset="0"/>
                <a:cs typeface="Courier New" charset="0"/>
              </a:rPr>
              <a:t>   </a:t>
            </a:r>
            <a:r>
              <a:rPr lang="en-US" sz="1600" b="1" dirty="0">
                <a:latin typeface="Courier New" charset="0"/>
                <a:cs typeface="Courier New" charset="0"/>
              </a:rPr>
              <a:t>def</a:t>
            </a:r>
            <a:r>
              <a:rPr lang="en-US" sz="1600" dirty="0">
                <a:latin typeface="Courier New" charset="0"/>
                <a:cs typeface="Courier New" charset="0"/>
              </a:rPr>
              <a:t> pop … </a:t>
            </a:r>
            <a:r>
              <a:rPr lang="en-US" sz="1600" b="1" dirty="0">
                <a:latin typeface="Courier New" charset="0"/>
                <a:cs typeface="Courier New" charset="0"/>
              </a:rPr>
              <a:t>end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dirty="0">
                <a:latin typeface="Courier New" charset="0"/>
                <a:cs typeface="Courier New" charset="0"/>
              </a:rPr>
              <a:t>   </a:t>
            </a:r>
            <a:r>
              <a:rPr lang="en-US" sz="1600" b="1" dirty="0">
                <a:latin typeface="Courier New" charset="0"/>
                <a:cs typeface="Courier New" charset="0"/>
              </a:rPr>
              <a:t>def</a:t>
            </a:r>
            <a:r>
              <a:rPr lang="en-US" sz="1600" dirty="0">
                <a:latin typeface="Courier New" charset="0"/>
                <a:cs typeface="Courier New" charset="0"/>
              </a:rPr>
              <a:t> top … </a:t>
            </a:r>
            <a:r>
              <a:rPr lang="en-US" sz="1600" b="1" dirty="0">
                <a:latin typeface="Courier New" charset="0"/>
                <a:cs typeface="Courier New" charset="0"/>
              </a:rPr>
              <a:t>end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dirty="0">
                <a:latin typeface="Courier New" charset="0"/>
                <a:cs typeface="Courier New" charset="0"/>
              </a:rPr>
              <a:t>   </a:t>
            </a:r>
            <a:r>
              <a:rPr lang="en-US" sz="1600" b="1" dirty="0">
                <a:latin typeface="Courier New" charset="0"/>
                <a:cs typeface="Courier New" charset="0"/>
              </a:rPr>
              <a:t>def</a:t>
            </a:r>
            <a:r>
              <a:rPr lang="en-US" sz="1600" dirty="0">
                <a:latin typeface="Courier New" charset="0"/>
                <a:cs typeface="Courier New" charset="0"/>
              </a:rPr>
              <a:t> empty … </a:t>
            </a:r>
            <a:r>
              <a:rPr lang="en-US" sz="1600" b="1" dirty="0">
                <a:latin typeface="Courier New" charset="0"/>
                <a:cs typeface="Courier New" charset="0"/>
              </a:rPr>
              <a:t>end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b="1" dirty="0">
                <a:latin typeface="Courier New" charset="0"/>
                <a:cs typeface="Courier New" charset="0"/>
              </a:rPr>
              <a:t>end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000" dirty="0">
                <a:latin typeface="Courier New" charset="0"/>
                <a:cs typeface="Courier New" charset="0"/>
              </a:rPr>
              <a:t>		</a:t>
            </a:r>
            <a:endParaRPr lang="en-US" sz="2000" dirty="0">
              <a:latin typeface="Lucida Sans Unicode" charset="0"/>
              <a:cs typeface="Lucida Sans Unicod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86219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3891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865FD763-479A-9642-9151-AA6223F5DB0E}" type="slidenum">
              <a:rPr lang="en-US" sz="1000">
                <a:latin typeface="Arial" charset="0"/>
              </a:rPr>
              <a:pPr/>
              <a:t>32</a:t>
            </a:fld>
            <a:endParaRPr lang="en-US" sz="1000">
              <a:latin typeface="Arial" charset="0"/>
            </a:endParaRPr>
          </a:p>
        </p:txBody>
      </p:sp>
      <p:sp>
        <p:nvSpPr>
          <p:cNvPr id="3891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229600" cy="1206500"/>
          </a:xfrm>
        </p:spPr>
        <p:txBody>
          <a:bodyPr/>
          <a:lstStyle/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Parameterized Abstract Data Types</a:t>
            </a:r>
            <a:br>
              <a:rPr lang="en-US">
                <a:latin typeface="Lucida Sans Unicode" charset="0"/>
                <a:cs typeface="Lucida Sans Unicode" charset="0"/>
              </a:rPr>
            </a:br>
            <a:endParaRPr lang="en-US">
              <a:latin typeface="Lucida Sans Unicode" charset="0"/>
              <a:cs typeface="Lucida Sans Unicode" charset="0"/>
            </a:endParaRPr>
          </a:p>
        </p:txBody>
      </p:sp>
      <p:sp>
        <p:nvSpPr>
          <p:cNvPr id="3891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153400" cy="4572000"/>
          </a:xfrm>
        </p:spPr>
        <p:txBody>
          <a:bodyPr/>
          <a:lstStyle/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Parameterized ADTs allow designing an ADT that can store any type elements – only an issue for static typed languages</a:t>
            </a:r>
          </a:p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Also known as generic classes</a:t>
            </a:r>
          </a:p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C++, Ada, Java 5.0, and C# 2005 provide support for parameterized ADTs</a:t>
            </a:r>
          </a:p>
          <a:p>
            <a:pPr eaLnBrk="1" hangingPunct="1">
              <a:buFontTx/>
              <a:buNone/>
            </a:pPr>
            <a:endParaRPr lang="en-US">
              <a:latin typeface="Lucida Sans Unicode" charset="0"/>
              <a:cs typeface="Lucida Sans Unicod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17499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4198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1F8CAEF4-AF8D-D947-814C-D3FC740A4954}" type="slidenum">
              <a:rPr lang="en-US" sz="1000">
                <a:latin typeface="Arial" charset="0"/>
              </a:rPr>
              <a:pPr/>
              <a:t>33</a:t>
            </a:fld>
            <a:endParaRPr lang="en-US" sz="1000">
              <a:latin typeface="Arial" charset="0"/>
            </a:endParaRPr>
          </a:p>
        </p:txBody>
      </p:sp>
      <p:sp>
        <p:nvSpPr>
          <p:cNvPr id="419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Parameterized ADTs in C++</a:t>
            </a:r>
          </a:p>
        </p:txBody>
      </p:sp>
      <p:sp>
        <p:nvSpPr>
          <p:cNvPr id="4198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95400"/>
            <a:ext cx="7772400" cy="4876800"/>
          </a:xfrm>
        </p:spPr>
        <p:txBody>
          <a:bodyPr/>
          <a:lstStyle/>
          <a:p>
            <a:pPr lvl="1" eaLnBrk="1" hangingPunct="1">
              <a:lnSpc>
                <a:spcPct val="80000"/>
              </a:lnSpc>
              <a:buFontTx/>
              <a:buNone/>
            </a:pPr>
            <a:endParaRPr lang="en-US" sz="1600">
              <a:latin typeface="Courier New" charset="0"/>
              <a:ea typeface="Lucida Sans Unicode" charset="0"/>
              <a:cs typeface="Lucida Sans Unicode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3200">
                <a:latin typeface="Lucida Sans Unicode" charset="0"/>
                <a:cs typeface="Lucida Sans Unicode" charset="0"/>
              </a:rPr>
              <a:t>Classes can be somewhat generic by writing parameterized constructor functions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sz="2000">
                <a:latin typeface="Courier New" charset="0"/>
                <a:ea typeface="ＭＳ Ｐゴシック" charset="0"/>
                <a:cs typeface="Courier New" charset="0"/>
              </a:rPr>
              <a:t>	</a:t>
            </a:r>
            <a:r>
              <a:rPr lang="en-US" sz="1600" b="1">
                <a:latin typeface="Courier New" charset="0"/>
                <a:ea typeface="Lucida Sans Unicode" charset="0"/>
                <a:cs typeface="Lucida Sans Unicode" charset="0"/>
              </a:rPr>
              <a:t>	</a:t>
            </a:r>
            <a:r>
              <a:rPr lang="en-US" sz="1600">
                <a:latin typeface="Courier New" charset="0"/>
                <a:ea typeface="Lucida Sans Unicode" charset="0"/>
                <a:cs typeface="Lucida Sans Unicode" charset="0"/>
              </a:rPr>
              <a:t>Stack (</a:t>
            </a:r>
            <a:r>
              <a:rPr lang="en-US" sz="1600" b="1">
                <a:latin typeface="Courier New" charset="0"/>
                <a:ea typeface="Lucida Sans Unicode" charset="0"/>
                <a:cs typeface="Lucida Sans Unicode" charset="0"/>
              </a:rPr>
              <a:t>int</a:t>
            </a:r>
            <a:r>
              <a:rPr lang="en-US" sz="1600">
                <a:latin typeface="Courier New" charset="0"/>
                <a:ea typeface="Lucida Sans Unicode" charset="0"/>
                <a:cs typeface="Lucida Sans Unicode" charset="0"/>
              </a:rPr>
              <a:t> size)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1600">
                <a:latin typeface="Courier New" charset="0"/>
                <a:cs typeface="Lucida Sans Unicode" charset="0"/>
              </a:rPr>
              <a:t>    	  stk_ptr = </a:t>
            </a:r>
            <a:r>
              <a:rPr lang="en-US" sz="1600" b="1">
                <a:latin typeface="Courier New" charset="0"/>
                <a:cs typeface="Lucida Sans Unicode" charset="0"/>
              </a:rPr>
              <a:t>new int </a:t>
            </a:r>
            <a:r>
              <a:rPr lang="en-US" sz="1600">
                <a:latin typeface="Courier New" charset="0"/>
                <a:cs typeface="Lucida Sans Unicode" charset="0"/>
              </a:rPr>
              <a:t>[size]; 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1600">
                <a:latin typeface="Courier New" charset="0"/>
                <a:cs typeface="Lucida Sans Unicode" charset="0"/>
              </a:rPr>
              <a:t>    	  max_len = size - 1;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1600">
                <a:latin typeface="Courier New" charset="0"/>
                <a:cs typeface="Lucida Sans Unicode" charset="0"/>
              </a:rPr>
              <a:t>   	  top = -1;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1600">
                <a:latin typeface="Courier New" charset="0"/>
                <a:cs typeface="Lucida Sans Unicode" charset="0"/>
              </a:rPr>
              <a:t>   	};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1600">
                <a:latin typeface="Courier New" charset="0"/>
                <a:cs typeface="Lucida Sans Unicode" charset="0"/>
              </a:rPr>
              <a:t>	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1600">
                <a:latin typeface="Courier New" charset="0"/>
                <a:cs typeface="Lucida Sans Unicode" charset="0"/>
              </a:rPr>
              <a:t>     </a:t>
            </a:r>
            <a:r>
              <a:rPr lang="en-US" sz="2400">
                <a:latin typeface="Lucida Sans Unicode" charset="0"/>
                <a:cs typeface="Lucida Sans Unicode" charset="0"/>
              </a:rPr>
              <a:t>A declaration of a stack object: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b="1">
                <a:latin typeface="Courier New" charset="0"/>
                <a:cs typeface="Lucida Sans Unicode" charset="0"/>
              </a:rPr>
              <a:t>  	</a:t>
            </a:r>
            <a:r>
              <a:rPr lang="en-US" sz="2000">
                <a:latin typeface="Courier New" charset="0"/>
                <a:cs typeface="Lucida Sans Unicode" charset="0"/>
              </a:rPr>
              <a:t>Stack stk(150);</a:t>
            </a:r>
          </a:p>
        </p:txBody>
      </p:sp>
    </p:spTree>
    <p:extLst>
      <p:ext uri="{BB962C8B-B14F-4D97-AF65-F5344CB8AC3E}">
        <p14:creationId xmlns:p14="http://schemas.microsoft.com/office/powerpoint/2010/main" val="34997944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4301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F571B01B-8A67-F949-B5D5-D7E756F28A49}" type="slidenum">
              <a:rPr lang="en-US" sz="1000">
                <a:latin typeface="Arial" charset="0"/>
              </a:rPr>
              <a:pPr/>
              <a:t>34</a:t>
            </a:fld>
            <a:endParaRPr lang="en-US" sz="1000">
              <a:latin typeface="Arial" charset="0"/>
            </a:endParaRPr>
          </a:p>
        </p:txBody>
      </p:sp>
      <p:sp>
        <p:nvSpPr>
          <p:cNvPr id="430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>
                <a:latin typeface="Lucida Sans Unicode" charset="0"/>
                <a:cs typeface="Lucida Sans Unicode" charset="0"/>
              </a:rPr>
              <a:t>Parameterized ADTs in C++ (continued)</a:t>
            </a:r>
          </a:p>
        </p:txBody>
      </p:sp>
      <p:sp>
        <p:nvSpPr>
          <p:cNvPr id="4301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295400"/>
            <a:ext cx="8153400" cy="4221832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Lucida Sans Unicode" charset="0"/>
                <a:cs typeface="Lucida Sans Unicode" charset="0"/>
              </a:rPr>
              <a:t>The stack element type can be parameterized by making the class a templated class</a:t>
            </a:r>
            <a:br>
              <a:rPr lang="en-US" sz="2000" dirty="0">
                <a:latin typeface="Lucida Sans Unicode" charset="0"/>
                <a:cs typeface="Lucida Sans Unicode" charset="0"/>
              </a:rPr>
            </a:br>
            <a:r>
              <a:rPr lang="en-US" sz="1400" b="1" dirty="0">
                <a:latin typeface="Courier New" charset="0"/>
                <a:cs typeface="Lucida Sans Unicode" charset="0"/>
              </a:rPr>
              <a:t>template</a:t>
            </a:r>
            <a:r>
              <a:rPr lang="en-US" sz="1400" dirty="0">
                <a:latin typeface="Courier New" charset="0"/>
                <a:cs typeface="Lucida Sans Unicode" charset="0"/>
              </a:rPr>
              <a:t> &lt;</a:t>
            </a:r>
            <a:r>
              <a:rPr lang="en-US" sz="1400" b="1" dirty="0">
                <a:latin typeface="Courier New" charset="0"/>
                <a:cs typeface="Lucida Sans Unicode" charset="0"/>
              </a:rPr>
              <a:t>class</a:t>
            </a:r>
            <a:r>
              <a:rPr lang="en-US" sz="1400" dirty="0">
                <a:latin typeface="Courier New" charset="0"/>
                <a:cs typeface="Lucida Sans Unicode" charset="0"/>
              </a:rPr>
              <a:t> Type&gt;</a:t>
            </a:r>
            <a:br>
              <a:rPr lang="en-US" sz="1400" dirty="0">
                <a:latin typeface="Courier New" charset="0"/>
                <a:cs typeface="Lucida Sans Unicode" charset="0"/>
              </a:rPr>
            </a:br>
            <a:r>
              <a:rPr lang="en-US" sz="1400" b="1" dirty="0">
                <a:latin typeface="Courier New" charset="0"/>
                <a:cs typeface="Lucida Sans Unicode" charset="0"/>
              </a:rPr>
              <a:t>class</a:t>
            </a:r>
            <a:r>
              <a:rPr lang="en-US" sz="1400" dirty="0">
                <a:latin typeface="Courier New" charset="0"/>
                <a:cs typeface="Lucida Sans Unicode" charset="0"/>
              </a:rPr>
              <a:t> Stack {</a:t>
            </a:r>
            <a:br>
              <a:rPr lang="en-US" sz="1400" dirty="0">
                <a:latin typeface="Courier New" charset="0"/>
                <a:cs typeface="Lucida Sans Unicode" charset="0"/>
              </a:rPr>
            </a:br>
            <a:r>
              <a:rPr lang="en-US" sz="1400" dirty="0">
                <a:latin typeface="Courier New" charset="0"/>
                <a:cs typeface="Lucida Sans Unicode" charset="0"/>
              </a:rPr>
              <a:t>  </a:t>
            </a:r>
            <a:r>
              <a:rPr lang="en-US" sz="1400" b="1" dirty="0">
                <a:latin typeface="Courier New" charset="0"/>
                <a:cs typeface="Lucida Sans Unicode" charset="0"/>
              </a:rPr>
              <a:t>private</a:t>
            </a:r>
            <a:r>
              <a:rPr lang="en-US" sz="1400" dirty="0">
                <a:latin typeface="Courier New" charset="0"/>
                <a:cs typeface="Lucida Sans Unicode" charset="0"/>
              </a:rPr>
              <a:t>:</a:t>
            </a:r>
            <a:br>
              <a:rPr lang="en-US" sz="1400" dirty="0">
                <a:latin typeface="Courier New" charset="0"/>
                <a:cs typeface="Lucida Sans Unicode" charset="0"/>
              </a:rPr>
            </a:br>
            <a:r>
              <a:rPr lang="en-US" sz="1400" dirty="0">
                <a:latin typeface="Courier New" charset="0"/>
                <a:cs typeface="Lucida Sans Unicode" charset="0"/>
              </a:rPr>
              <a:t>    Type *</a:t>
            </a:r>
            <a:r>
              <a:rPr lang="en-US" sz="1400" dirty="0" err="1">
                <a:latin typeface="Courier New" charset="0"/>
                <a:cs typeface="Lucida Sans Unicode" charset="0"/>
              </a:rPr>
              <a:t>stackPtr</a:t>
            </a:r>
            <a:r>
              <a:rPr lang="en-US" sz="1400" dirty="0">
                <a:latin typeface="Courier New" charset="0"/>
                <a:cs typeface="Lucida Sans Unicode" charset="0"/>
              </a:rPr>
              <a:t>;</a:t>
            </a:r>
            <a:br>
              <a:rPr lang="en-US" sz="1400" dirty="0">
                <a:latin typeface="Courier New" charset="0"/>
                <a:cs typeface="Lucida Sans Unicode" charset="0"/>
              </a:rPr>
            </a:br>
            <a:r>
              <a:rPr lang="en-US" sz="1400" dirty="0">
                <a:latin typeface="Courier New" charset="0"/>
                <a:cs typeface="Lucida Sans Unicode" charset="0"/>
              </a:rPr>
              <a:t>    </a:t>
            </a:r>
            <a:r>
              <a:rPr lang="en-US" sz="1400" b="1" dirty="0" err="1">
                <a:latin typeface="Courier New" charset="0"/>
                <a:cs typeface="Lucida Sans Unicode" charset="0"/>
              </a:rPr>
              <a:t>const</a:t>
            </a:r>
            <a:r>
              <a:rPr lang="en-US" sz="1400" b="1" dirty="0">
                <a:latin typeface="Courier New" charset="0"/>
                <a:cs typeface="Lucida Sans Unicode" charset="0"/>
              </a:rPr>
              <a:t> </a:t>
            </a:r>
            <a:r>
              <a:rPr lang="en-US" sz="1400" b="1" dirty="0" err="1">
                <a:latin typeface="Courier New" charset="0"/>
                <a:cs typeface="Lucida Sans Unicode" charset="0"/>
              </a:rPr>
              <a:t>int</a:t>
            </a:r>
            <a:r>
              <a:rPr lang="en-US" sz="1400" b="1" dirty="0">
                <a:latin typeface="Courier New" charset="0"/>
                <a:cs typeface="Lucida Sans Unicode" charset="0"/>
              </a:rPr>
              <a:t> </a:t>
            </a:r>
            <a:r>
              <a:rPr lang="en-US" sz="1400" dirty="0" err="1">
                <a:latin typeface="Courier New" charset="0"/>
                <a:cs typeface="Lucida Sans Unicode" charset="0"/>
              </a:rPr>
              <a:t>maxLen</a:t>
            </a:r>
            <a:r>
              <a:rPr lang="en-US" sz="1400" dirty="0">
                <a:latin typeface="Courier New" charset="0"/>
                <a:cs typeface="Lucida Sans Unicode" charset="0"/>
              </a:rPr>
              <a:t>;</a:t>
            </a:r>
            <a:br>
              <a:rPr lang="en-US" sz="1400" dirty="0">
                <a:latin typeface="Courier New" charset="0"/>
                <a:cs typeface="Lucida Sans Unicode" charset="0"/>
              </a:rPr>
            </a:br>
            <a:r>
              <a:rPr lang="en-US" sz="1400" dirty="0">
                <a:latin typeface="Courier New" charset="0"/>
                <a:cs typeface="Lucida Sans Unicode" charset="0"/>
              </a:rPr>
              <a:t>    </a:t>
            </a:r>
            <a:r>
              <a:rPr lang="en-US" sz="1400" i="1" dirty="0" err="1">
                <a:latin typeface="Courier New" charset="0"/>
                <a:cs typeface="Lucida Sans Unicode" charset="0"/>
              </a:rPr>
              <a:t>int</a:t>
            </a:r>
            <a:r>
              <a:rPr lang="en-US" sz="1400" dirty="0">
                <a:latin typeface="Courier New" charset="0"/>
                <a:cs typeface="Lucida Sans Unicode" charset="0"/>
              </a:rPr>
              <a:t> </a:t>
            </a:r>
            <a:r>
              <a:rPr lang="en-US" sz="1400" dirty="0" err="1">
                <a:latin typeface="Courier New" charset="0"/>
                <a:cs typeface="Lucida Sans Unicode" charset="0"/>
              </a:rPr>
              <a:t>topPtr</a:t>
            </a:r>
            <a:r>
              <a:rPr lang="en-US" sz="1400" dirty="0">
                <a:latin typeface="Courier New" charset="0"/>
                <a:cs typeface="Lucida Sans Unicode" charset="0"/>
              </a:rPr>
              <a:t>;</a:t>
            </a:r>
            <a:br>
              <a:rPr lang="en-US" sz="1400" dirty="0">
                <a:latin typeface="Courier New" charset="0"/>
                <a:cs typeface="Lucida Sans Unicode" charset="0"/>
              </a:rPr>
            </a:br>
            <a:r>
              <a:rPr lang="en-US" sz="1400" dirty="0">
                <a:latin typeface="Courier New" charset="0"/>
                <a:cs typeface="Lucida Sans Unicode" charset="0"/>
              </a:rPr>
              <a:t>  </a:t>
            </a:r>
            <a:r>
              <a:rPr lang="en-US" sz="1400" b="1" dirty="0">
                <a:latin typeface="Courier New" charset="0"/>
                <a:cs typeface="Lucida Sans Unicode" charset="0"/>
              </a:rPr>
              <a:t>public</a:t>
            </a:r>
            <a:r>
              <a:rPr lang="en-US" sz="1400" dirty="0">
                <a:latin typeface="Courier New" charset="0"/>
                <a:cs typeface="Lucida Sans Unicode" charset="0"/>
              </a:rPr>
              <a:t>:</a:t>
            </a:r>
            <a:br>
              <a:rPr lang="en-US" sz="1400" dirty="0">
                <a:latin typeface="Courier New" charset="0"/>
                <a:cs typeface="Lucida Sans Unicode" charset="0"/>
              </a:rPr>
            </a:br>
            <a:r>
              <a:rPr lang="en-US" sz="1400" dirty="0">
                <a:latin typeface="Courier New" charset="0"/>
                <a:cs typeface="Lucida Sans Unicode" charset="0"/>
              </a:rPr>
              <a:t>    Stack() {  // Constructor for 100 elements</a:t>
            </a:r>
            <a:br>
              <a:rPr lang="en-US" sz="1400" dirty="0">
                <a:latin typeface="Courier New" charset="0"/>
                <a:cs typeface="Lucida Sans Unicode" charset="0"/>
              </a:rPr>
            </a:br>
            <a:r>
              <a:rPr lang="en-US" sz="1400" dirty="0">
                <a:latin typeface="Courier New" charset="0"/>
                <a:cs typeface="Lucida Sans Unicode" charset="0"/>
              </a:rPr>
              <a:t>      </a:t>
            </a:r>
            <a:r>
              <a:rPr lang="en-US" sz="1400" dirty="0" err="1">
                <a:latin typeface="Courier New" charset="0"/>
                <a:cs typeface="Lucida Sans Unicode" charset="0"/>
              </a:rPr>
              <a:t>stackPtr</a:t>
            </a:r>
            <a:r>
              <a:rPr lang="en-US" sz="1400" dirty="0">
                <a:latin typeface="Courier New" charset="0"/>
                <a:cs typeface="Lucida Sans Unicode" charset="0"/>
              </a:rPr>
              <a:t> = </a:t>
            </a:r>
            <a:r>
              <a:rPr lang="en-US" sz="1400" b="1" dirty="0">
                <a:latin typeface="Courier New" charset="0"/>
                <a:cs typeface="Lucida Sans Unicode" charset="0"/>
              </a:rPr>
              <a:t>new</a:t>
            </a:r>
            <a:r>
              <a:rPr lang="en-US" sz="1400" dirty="0">
                <a:latin typeface="Courier New" charset="0"/>
                <a:cs typeface="Lucida Sans Unicode" charset="0"/>
              </a:rPr>
              <a:t> Type[100];</a:t>
            </a:r>
            <a:br>
              <a:rPr lang="en-US" sz="1400" dirty="0">
                <a:latin typeface="Courier New" charset="0"/>
                <a:cs typeface="Lucida Sans Unicode" charset="0"/>
              </a:rPr>
            </a:br>
            <a:r>
              <a:rPr lang="en-US" sz="1400" dirty="0">
                <a:latin typeface="Courier New" charset="0"/>
                <a:cs typeface="Lucida Sans Unicode" charset="0"/>
              </a:rPr>
              <a:t>      </a:t>
            </a:r>
            <a:r>
              <a:rPr lang="en-US" sz="1400" dirty="0" err="1">
                <a:latin typeface="Courier New" charset="0"/>
                <a:cs typeface="Lucida Sans Unicode" charset="0"/>
              </a:rPr>
              <a:t>maxLen</a:t>
            </a:r>
            <a:r>
              <a:rPr lang="en-US" sz="1400" dirty="0">
                <a:latin typeface="Courier New" charset="0"/>
                <a:cs typeface="Lucida Sans Unicode" charset="0"/>
              </a:rPr>
              <a:t> = 99;</a:t>
            </a:r>
            <a:br>
              <a:rPr lang="en-US" sz="1400" dirty="0">
                <a:latin typeface="Courier New" charset="0"/>
                <a:cs typeface="Lucida Sans Unicode" charset="0"/>
              </a:rPr>
            </a:br>
            <a:r>
              <a:rPr lang="en-US" sz="1400" dirty="0">
                <a:latin typeface="Courier New" charset="0"/>
                <a:cs typeface="Lucida Sans Unicode" charset="0"/>
              </a:rPr>
              <a:t>      </a:t>
            </a:r>
            <a:r>
              <a:rPr lang="en-US" sz="1400" dirty="0" err="1">
                <a:latin typeface="Courier New" charset="0"/>
                <a:cs typeface="Lucida Sans Unicode" charset="0"/>
              </a:rPr>
              <a:t>topPtr</a:t>
            </a:r>
            <a:r>
              <a:rPr lang="en-US" sz="1400" dirty="0">
                <a:latin typeface="Courier New" charset="0"/>
                <a:cs typeface="Lucida Sans Unicode" charset="0"/>
              </a:rPr>
              <a:t> = -1;</a:t>
            </a:r>
            <a:br>
              <a:rPr lang="en-US" sz="1400" dirty="0">
                <a:latin typeface="Courier New" charset="0"/>
                <a:cs typeface="Lucida Sans Unicode" charset="0"/>
              </a:rPr>
            </a:br>
            <a:r>
              <a:rPr lang="en-US" sz="1400" dirty="0">
                <a:latin typeface="Courier New" charset="0"/>
                <a:cs typeface="Lucida Sans Unicode" charset="0"/>
              </a:rPr>
              <a:t>    }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400" dirty="0">
                <a:latin typeface="Courier New" charset="0"/>
                <a:cs typeface="Lucida Sans Unicode" charset="0"/>
              </a:rPr>
              <a:t>       Stack(</a:t>
            </a:r>
            <a:r>
              <a:rPr lang="en-US" sz="1400" b="1" dirty="0" err="1">
                <a:latin typeface="Courier New" charset="0"/>
                <a:cs typeface="Lucida Sans Unicode" charset="0"/>
              </a:rPr>
              <a:t>int</a:t>
            </a:r>
            <a:r>
              <a:rPr lang="en-US" sz="1400" dirty="0">
                <a:latin typeface="Courier New" charset="0"/>
                <a:cs typeface="Lucida Sans Unicode" charset="0"/>
              </a:rPr>
              <a:t> size) {  // Constructor for a given number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400" dirty="0">
                <a:latin typeface="Courier New" charset="0"/>
                <a:cs typeface="Lucida Sans Unicode" charset="0"/>
              </a:rPr>
              <a:t>         </a:t>
            </a:r>
            <a:r>
              <a:rPr lang="en-US" sz="1400" dirty="0" err="1">
                <a:latin typeface="Courier New" charset="0"/>
                <a:cs typeface="Lucida Sans Unicode" charset="0"/>
              </a:rPr>
              <a:t>stackPtr</a:t>
            </a:r>
            <a:r>
              <a:rPr lang="en-US" sz="1400" dirty="0">
                <a:latin typeface="Courier New" charset="0"/>
                <a:cs typeface="Lucida Sans Unicode" charset="0"/>
              </a:rPr>
              <a:t> = </a:t>
            </a:r>
            <a:r>
              <a:rPr lang="en-US" sz="1400" b="1" dirty="0">
                <a:latin typeface="Courier New" charset="0"/>
                <a:cs typeface="Lucida Sans Unicode" charset="0"/>
              </a:rPr>
              <a:t>new</a:t>
            </a:r>
            <a:r>
              <a:rPr lang="en-US" sz="1400" dirty="0">
                <a:latin typeface="Courier New" charset="0"/>
                <a:cs typeface="Lucida Sans Unicode" charset="0"/>
              </a:rPr>
              <a:t> Type[size];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400" dirty="0">
                <a:latin typeface="Courier New" charset="0"/>
                <a:cs typeface="Lucida Sans Unicode" charset="0"/>
              </a:rPr>
              <a:t>         </a:t>
            </a:r>
            <a:r>
              <a:rPr lang="en-US" sz="1400" dirty="0" err="1">
                <a:latin typeface="Courier New" charset="0"/>
                <a:cs typeface="Lucida Sans Unicode" charset="0"/>
              </a:rPr>
              <a:t>maxLen</a:t>
            </a:r>
            <a:r>
              <a:rPr lang="en-US" sz="1400" dirty="0">
                <a:latin typeface="Courier New" charset="0"/>
                <a:cs typeface="Lucida Sans Unicode" charset="0"/>
              </a:rPr>
              <a:t> = size – 1;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400" dirty="0">
                <a:latin typeface="Courier New" charset="0"/>
                <a:cs typeface="Lucida Sans Unicode" charset="0"/>
              </a:rPr>
              <a:t>         </a:t>
            </a:r>
            <a:r>
              <a:rPr lang="en-US" sz="1400" dirty="0" err="1">
                <a:latin typeface="Courier New" charset="0"/>
                <a:cs typeface="Lucida Sans Unicode" charset="0"/>
              </a:rPr>
              <a:t>topSub</a:t>
            </a:r>
            <a:r>
              <a:rPr lang="en-US" sz="1400" dirty="0">
                <a:latin typeface="Courier New" charset="0"/>
                <a:cs typeface="Lucida Sans Unicode" charset="0"/>
              </a:rPr>
              <a:t> = -1;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400" dirty="0">
                <a:latin typeface="Courier New" charset="0"/>
                <a:cs typeface="Lucida Sans Unicode" charset="0"/>
              </a:rPr>
              <a:t>       }</a:t>
            </a:r>
            <a:br>
              <a:rPr lang="en-US" sz="1400" dirty="0">
                <a:latin typeface="Courier New" charset="0"/>
                <a:cs typeface="Lucida Sans Unicode" charset="0"/>
              </a:rPr>
            </a:br>
            <a:r>
              <a:rPr lang="en-US" sz="1400" dirty="0">
                <a:latin typeface="Courier New" charset="0"/>
                <a:cs typeface="Lucida Sans Unicode" charset="0"/>
              </a:rPr>
              <a:t>  ...</a:t>
            </a:r>
            <a:br>
              <a:rPr lang="en-US" sz="1400" dirty="0">
                <a:latin typeface="Courier New" charset="0"/>
                <a:cs typeface="Lucida Sans Unicode" charset="0"/>
              </a:rPr>
            </a:br>
            <a:r>
              <a:rPr lang="en-US" sz="1400" dirty="0">
                <a:latin typeface="Courier New" charset="0"/>
                <a:cs typeface="Lucida Sans Unicode" charset="0"/>
              </a:rPr>
              <a:t>}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400" dirty="0">
                <a:latin typeface="Courier New" charset="0"/>
                <a:cs typeface="Lucida Sans Unicode" charset="0"/>
              </a:rPr>
              <a:t>    - </a:t>
            </a:r>
            <a:r>
              <a:rPr lang="en-US" sz="2000" dirty="0">
                <a:latin typeface="Lucida Sans Unicode" charset="0"/>
                <a:cs typeface="Lucida Sans Unicode" charset="0"/>
              </a:rPr>
              <a:t>Instantiation: </a:t>
            </a:r>
            <a:r>
              <a:rPr lang="en-US" sz="1400" dirty="0">
                <a:latin typeface="Courier New" charset="0"/>
                <a:cs typeface="Lucida Sans Unicode" charset="0"/>
              </a:rPr>
              <a:t>Stack&lt;</a:t>
            </a:r>
            <a:r>
              <a:rPr lang="en-US" sz="1400" b="1" dirty="0" err="1">
                <a:latin typeface="Courier New" charset="0"/>
                <a:cs typeface="Lucida Sans Unicode" charset="0"/>
              </a:rPr>
              <a:t>int</a:t>
            </a:r>
            <a:r>
              <a:rPr lang="en-US" sz="1400" dirty="0">
                <a:latin typeface="Courier New" charset="0"/>
                <a:cs typeface="Lucida Sans Unicode" charset="0"/>
              </a:rPr>
              <a:t>&gt; </a:t>
            </a:r>
            <a:r>
              <a:rPr lang="en-US" sz="1400" dirty="0" err="1">
                <a:latin typeface="Courier New" charset="0"/>
                <a:cs typeface="Lucida Sans Unicode" charset="0"/>
              </a:rPr>
              <a:t>myIntStack</a:t>
            </a:r>
            <a:r>
              <a:rPr lang="en-US" sz="1400" dirty="0">
                <a:latin typeface="Courier New" charset="0"/>
                <a:cs typeface="Lucida Sans Unicode" charset="0"/>
              </a:rPr>
              <a:t>;</a:t>
            </a:r>
          </a:p>
          <a:p>
            <a:pPr eaLnBrk="1" hangingPunct="1">
              <a:lnSpc>
                <a:spcPct val="90000"/>
              </a:lnSpc>
            </a:pPr>
            <a:endParaRPr lang="en-US" sz="2000" dirty="0">
              <a:latin typeface="Courier New" charset="0"/>
              <a:cs typeface="Lucida Sans Unicod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86023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4403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323CB9D6-ED42-6346-A07E-8F555BC4AAA1}" type="slidenum">
              <a:rPr lang="en-US" sz="1000">
                <a:latin typeface="Arial" charset="0"/>
              </a:rPr>
              <a:pPr/>
              <a:t>35</a:t>
            </a:fld>
            <a:endParaRPr lang="en-US" sz="1000">
              <a:latin typeface="Arial" charset="0"/>
            </a:endParaRPr>
          </a:p>
        </p:txBody>
      </p:sp>
      <p:sp>
        <p:nvSpPr>
          <p:cNvPr id="440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Parameterized Classes in Java 5.0</a:t>
            </a:r>
          </a:p>
        </p:txBody>
      </p:sp>
      <p:sp>
        <p:nvSpPr>
          <p:cNvPr id="4403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295400"/>
            <a:ext cx="8153400" cy="4149824"/>
          </a:xfrm>
        </p:spPr>
        <p:txBody>
          <a:bodyPr>
            <a:normAutofit fontScale="92500"/>
          </a:bodyPr>
          <a:lstStyle/>
          <a:p>
            <a:pPr eaLnBrk="1" hangingPunct="1"/>
            <a:r>
              <a:rPr lang="en-US" sz="2200" dirty="0">
                <a:latin typeface="Lucida Sans Unicode" charset="0"/>
                <a:cs typeface="Lucida Sans Unicode" charset="0"/>
              </a:rPr>
              <a:t>Generic parameters must be classes</a:t>
            </a:r>
          </a:p>
          <a:p>
            <a:pPr eaLnBrk="1" hangingPunct="1"/>
            <a:r>
              <a:rPr lang="en-US" sz="2200" dirty="0">
                <a:latin typeface="Lucida Sans Unicode" charset="0"/>
                <a:cs typeface="Lucida Sans Unicode" charset="0"/>
              </a:rPr>
              <a:t>Most common generic types are the collection types, such as </a:t>
            </a:r>
            <a:r>
              <a:rPr lang="en-US" sz="2200" dirty="0">
                <a:latin typeface="Courier New" charset="0"/>
                <a:cs typeface="Lucida Sans Unicode" charset="0"/>
              </a:rPr>
              <a:t>LinkedList</a:t>
            </a:r>
            <a:r>
              <a:rPr lang="en-US" sz="2200" dirty="0">
                <a:latin typeface="Lucida Sans Unicode" charset="0"/>
                <a:cs typeface="Lucida Sans Unicode" charset="0"/>
              </a:rPr>
              <a:t> and </a:t>
            </a:r>
            <a:r>
              <a:rPr lang="en-US" sz="2200" dirty="0" err="1">
                <a:latin typeface="Courier New" charset="0"/>
                <a:cs typeface="Lucida Sans Unicode" charset="0"/>
              </a:rPr>
              <a:t>ArrayList</a:t>
            </a:r>
            <a:endParaRPr lang="en-US" sz="2200" dirty="0">
              <a:latin typeface="Courier New" charset="0"/>
              <a:cs typeface="Lucida Sans Unicode" charset="0"/>
            </a:endParaRPr>
          </a:p>
          <a:p>
            <a:pPr eaLnBrk="1" hangingPunct="1"/>
            <a:r>
              <a:rPr lang="en-US" sz="2200" dirty="0">
                <a:latin typeface="Lucida Sans Unicode" charset="0"/>
                <a:cs typeface="Lucida Sans Unicode" charset="0"/>
              </a:rPr>
              <a:t>Eliminate the need to cast objects that are removed</a:t>
            </a:r>
          </a:p>
          <a:p>
            <a:pPr eaLnBrk="1" hangingPunct="1"/>
            <a:r>
              <a:rPr lang="en-US" sz="2200" dirty="0">
                <a:latin typeface="Lucida Sans Unicode" charset="0"/>
                <a:cs typeface="Lucida Sans Unicode" charset="0"/>
              </a:rPr>
              <a:t>Eliminate the problem of having multiple types in a structure</a:t>
            </a:r>
          </a:p>
          <a:p>
            <a:pPr eaLnBrk="1" hangingPunct="1"/>
            <a:r>
              <a:rPr lang="en-US" sz="2200" dirty="0">
                <a:latin typeface="Lucida Sans Unicode" charset="0"/>
                <a:cs typeface="Lucida Sans Unicode" charset="0"/>
              </a:rPr>
              <a:t>Users can define generic classes</a:t>
            </a:r>
          </a:p>
          <a:p>
            <a:pPr eaLnBrk="1" hangingPunct="1"/>
            <a:r>
              <a:rPr lang="en-US" sz="2200" dirty="0">
                <a:latin typeface="Lucida Sans Unicode" charset="0"/>
                <a:cs typeface="Lucida Sans Unicode" charset="0"/>
              </a:rPr>
              <a:t>Generic collection classes cannot store primitives</a:t>
            </a:r>
          </a:p>
          <a:p>
            <a:pPr eaLnBrk="1" hangingPunct="1"/>
            <a:r>
              <a:rPr lang="en-US" sz="2200" dirty="0">
                <a:latin typeface="Lucida Sans Unicode" charset="0"/>
                <a:cs typeface="Lucida Sans Unicode" charset="0"/>
              </a:rPr>
              <a:t>Indexing is not supported </a:t>
            </a:r>
          </a:p>
          <a:p>
            <a:pPr eaLnBrk="1" hangingPunct="1"/>
            <a:r>
              <a:rPr lang="en-US" sz="2200" dirty="0">
                <a:latin typeface="Lucida Sans Unicode" charset="0"/>
                <a:cs typeface="Lucida Sans Unicode" charset="0"/>
              </a:rPr>
              <a:t>Example of the use of a predefined generic class:</a:t>
            </a:r>
          </a:p>
          <a:p>
            <a:pPr eaLnBrk="1" hangingPunct="1">
              <a:buFontTx/>
              <a:buNone/>
            </a:pPr>
            <a:r>
              <a:rPr lang="en-US" dirty="0">
                <a:latin typeface="Lucida Sans Unicode" charset="0"/>
                <a:cs typeface="Lucida Sans Unicode" charset="0"/>
              </a:rPr>
              <a:t>    </a:t>
            </a:r>
            <a:r>
              <a:rPr lang="en-US" sz="1600" dirty="0" err="1">
                <a:latin typeface="Courier New" charset="0"/>
                <a:cs typeface="Courier New" charset="0"/>
              </a:rPr>
              <a:t>ArrayList</a:t>
            </a:r>
            <a:r>
              <a:rPr lang="en-US" sz="1600" dirty="0">
                <a:latin typeface="Courier New" charset="0"/>
                <a:cs typeface="Courier New" charset="0"/>
              </a:rPr>
              <a:t> &lt;Integer&gt; </a:t>
            </a:r>
            <a:r>
              <a:rPr lang="en-US" sz="1600" dirty="0" err="1">
                <a:latin typeface="Courier New" charset="0"/>
                <a:cs typeface="Courier New" charset="0"/>
              </a:rPr>
              <a:t>myArray</a:t>
            </a:r>
            <a:r>
              <a:rPr lang="en-US" sz="1600" dirty="0">
                <a:latin typeface="Courier New" charset="0"/>
                <a:cs typeface="Courier New" charset="0"/>
              </a:rPr>
              <a:t> = </a:t>
            </a:r>
            <a:r>
              <a:rPr lang="en-US" sz="1600" b="1" dirty="0">
                <a:latin typeface="Courier New" charset="0"/>
                <a:cs typeface="Courier New" charset="0"/>
              </a:rPr>
              <a:t>new</a:t>
            </a:r>
            <a:r>
              <a:rPr lang="en-US" sz="1600" dirty="0">
                <a:latin typeface="Courier New" charset="0"/>
                <a:cs typeface="Courier New" charset="0"/>
              </a:rPr>
              <a:t> </a:t>
            </a:r>
            <a:r>
              <a:rPr lang="en-US" sz="1600" dirty="0" err="1">
                <a:latin typeface="Courier New" charset="0"/>
                <a:cs typeface="Courier New" charset="0"/>
              </a:rPr>
              <a:t>ArrayList</a:t>
            </a:r>
            <a:r>
              <a:rPr lang="en-US" sz="1600" dirty="0">
                <a:latin typeface="Courier New" charset="0"/>
                <a:cs typeface="Courier New" charset="0"/>
              </a:rPr>
              <a:t> &lt;Integer&gt; ();  </a:t>
            </a:r>
          </a:p>
          <a:p>
            <a:pPr eaLnBrk="1" hangingPunct="1">
              <a:buFontTx/>
              <a:buNone/>
            </a:pPr>
            <a:r>
              <a:rPr lang="en-US" sz="1600" dirty="0">
                <a:latin typeface="Courier New" charset="0"/>
                <a:cs typeface="Courier New" charset="0"/>
              </a:rPr>
              <a:t>    </a:t>
            </a:r>
            <a:r>
              <a:rPr lang="en-US" sz="1600" dirty="0" err="1">
                <a:latin typeface="Courier New" charset="0"/>
                <a:cs typeface="Courier New" charset="0"/>
              </a:rPr>
              <a:t>myArray.add</a:t>
            </a:r>
            <a:r>
              <a:rPr lang="en-US" sz="1600" dirty="0">
                <a:latin typeface="Courier New" charset="0"/>
                <a:cs typeface="Courier New" charset="0"/>
              </a:rPr>
              <a:t>(0, 47);  // Put an element with subscript 0 in it</a:t>
            </a:r>
          </a:p>
        </p:txBody>
      </p:sp>
    </p:spTree>
    <p:extLst>
      <p:ext uri="{BB962C8B-B14F-4D97-AF65-F5344CB8AC3E}">
        <p14:creationId xmlns:p14="http://schemas.microsoft.com/office/powerpoint/2010/main" val="40700590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1143000"/>
          </a:xfrm>
        </p:spPr>
        <p:txBody>
          <a:bodyPr/>
          <a:lstStyle/>
          <a:p>
            <a:r>
              <a:rPr lang="en-US">
                <a:latin typeface="Lucida Sans Unicode" charset="0"/>
                <a:cs typeface="Lucida Sans Unicode" charset="0"/>
              </a:rPr>
              <a:t>Parameterized Classes in Java 5.0 </a:t>
            </a:r>
            <a:r>
              <a:rPr lang="en-US" sz="2800">
                <a:latin typeface="Lucida Sans Unicode" charset="0"/>
                <a:cs typeface="Lucida Sans Unicode" charset="0"/>
              </a:rPr>
              <a:t>(continued)</a:t>
            </a:r>
          </a:p>
        </p:txBody>
      </p:sp>
      <p:sp>
        <p:nvSpPr>
          <p:cNvPr id="45059" name="Content Placeholder 2"/>
          <p:cNvSpPr>
            <a:spLocks noGrp="1"/>
          </p:cNvSpPr>
          <p:nvPr>
            <p:ph idx="1"/>
          </p:nvPr>
        </p:nvSpPr>
        <p:spPr>
          <a:xfrm>
            <a:off x="609600" y="1295400"/>
            <a:ext cx="8153400" cy="4293840"/>
          </a:xfrm>
        </p:spPr>
        <p:txBody>
          <a:bodyPr>
            <a:normAutofit fontScale="92500" lnSpcReduction="20000"/>
          </a:bodyPr>
          <a:lstStyle/>
          <a:p>
            <a:pPr>
              <a:buFontTx/>
              <a:buNone/>
            </a:pPr>
            <a:r>
              <a:rPr lang="en-US" sz="1600" dirty="0">
                <a:latin typeface="Courier New" charset="0"/>
                <a:cs typeface="Courier New" charset="0"/>
              </a:rPr>
              <a:t>  </a:t>
            </a:r>
            <a:r>
              <a:rPr lang="en-US" sz="1600" b="1" dirty="0">
                <a:latin typeface="Courier New" charset="0"/>
                <a:cs typeface="Courier New" charset="0"/>
              </a:rPr>
              <a:t>import</a:t>
            </a:r>
            <a:r>
              <a:rPr lang="en-US" sz="1600" dirty="0">
                <a:latin typeface="Courier New" charset="0"/>
                <a:cs typeface="Courier New" charset="0"/>
              </a:rPr>
              <a:t> </a:t>
            </a:r>
            <a:r>
              <a:rPr lang="en-US" sz="1600" dirty="0" err="1">
                <a:latin typeface="Courier New" charset="0"/>
                <a:cs typeface="Courier New" charset="0"/>
              </a:rPr>
              <a:t>java.util</a:t>
            </a:r>
            <a:r>
              <a:rPr lang="en-US" sz="1600" dirty="0">
                <a:latin typeface="Courier New" charset="0"/>
                <a:cs typeface="Courier New" charset="0"/>
              </a:rPr>
              <a:t>.*;</a:t>
            </a:r>
          </a:p>
          <a:p>
            <a:pPr>
              <a:buFontTx/>
              <a:buNone/>
            </a:pPr>
            <a:r>
              <a:rPr lang="en-US" sz="1600" dirty="0">
                <a:latin typeface="Courier New" charset="0"/>
                <a:cs typeface="Courier New" charset="0"/>
              </a:rPr>
              <a:t>  </a:t>
            </a:r>
            <a:r>
              <a:rPr lang="en-US" sz="1600" b="1" dirty="0">
                <a:latin typeface="Courier New" charset="0"/>
                <a:cs typeface="Courier New" charset="0"/>
              </a:rPr>
              <a:t>public class </a:t>
            </a:r>
            <a:r>
              <a:rPr lang="en-US" sz="1600" dirty="0">
                <a:latin typeface="Courier New" charset="0"/>
                <a:cs typeface="Courier New" charset="0"/>
              </a:rPr>
              <a:t>Stack2&lt;T&gt; {</a:t>
            </a:r>
          </a:p>
          <a:p>
            <a:pPr>
              <a:buFontTx/>
              <a:buNone/>
            </a:pPr>
            <a:r>
              <a:rPr lang="en-US" sz="1600" dirty="0">
                <a:latin typeface="Courier New" charset="0"/>
                <a:cs typeface="Courier New" charset="0"/>
              </a:rPr>
              <a:t>    </a:t>
            </a:r>
            <a:r>
              <a:rPr lang="en-US" sz="1600" b="1" dirty="0">
                <a:latin typeface="Courier New" charset="0"/>
                <a:cs typeface="Courier New" charset="0"/>
              </a:rPr>
              <a:t>private</a:t>
            </a:r>
            <a:r>
              <a:rPr lang="en-US" sz="1600" dirty="0">
                <a:latin typeface="Courier New" charset="0"/>
                <a:cs typeface="Courier New" charset="0"/>
              </a:rPr>
              <a:t> </a:t>
            </a:r>
            <a:r>
              <a:rPr lang="en-US" sz="1600" dirty="0" err="1">
                <a:latin typeface="Courier New" charset="0"/>
                <a:cs typeface="Courier New" charset="0"/>
              </a:rPr>
              <a:t>ArrayList</a:t>
            </a:r>
            <a:r>
              <a:rPr lang="en-US" sz="1600" dirty="0">
                <a:latin typeface="Courier New" charset="0"/>
                <a:cs typeface="Courier New" charset="0"/>
              </a:rPr>
              <a:t>&lt;T&gt; </a:t>
            </a:r>
            <a:r>
              <a:rPr lang="en-US" sz="1600" dirty="0" err="1">
                <a:latin typeface="Courier New" charset="0"/>
                <a:cs typeface="Courier New" charset="0"/>
              </a:rPr>
              <a:t>stackRef</a:t>
            </a:r>
            <a:r>
              <a:rPr lang="en-US" sz="1600" dirty="0">
                <a:latin typeface="Courier New" charset="0"/>
                <a:cs typeface="Courier New" charset="0"/>
              </a:rPr>
              <a:t>;</a:t>
            </a:r>
          </a:p>
          <a:p>
            <a:pPr>
              <a:buFontTx/>
              <a:buNone/>
            </a:pPr>
            <a:r>
              <a:rPr lang="en-US" sz="1600" dirty="0">
                <a:latin typeface="Courier New" charset="0"/>
                <a:cs typeface="Courier New" charset="0"/>
              </a:rPr>
              <a:t>    </a:t>
            </a:r>
            <a:r>
              <a:rPr lang="en-US" sz="1600" b="1" dirty="0">
                <a:latin typeface="Courier New" charset="0"/>
                <a:cs typeface="Courier New" charset="0"/>
              </a:rPr>
              <a:t>private </a:t>
            </a:r>
            <a:r>
              <a:rPr lang="en-US" sz="1600" b="1" dirty="0" err="1">
                <a:latin typeface="Courier New" charset="0"/>
                <a:cs typeface="Courier New" charset="0"/>
              </a:rPr>
              <a:t>int</a:t>
            </a:r>
            <a:r>
              <a:rPr lang="en-US" sz="1600" b="1" dirty="0">
                <a:latin typeface="Courier New" charset="0"/>
                <a:cs typeface="Courier New" charset="0"/>
              </a:rPr>
              <a:t> </a:t>
            </a:r>
            <a:r>
              <a:rPr lang="en-US" sz="1600" dirty="0" err="1">
                <a:latin typeface="Courier New" charset="0"/>
                <a:cs typeface="Courier New" charset="0"/>
              </a:rPr>
              <a:t>maxLen</a:t>
            </a:r>
            <a:r>
              <a:rPr lang="en-US" sz="1600" dirty="0">
                <a:latin typeface="Courier New" charset="0"/>
                <a:cs typeface="Courier New" charset="0"/>
              </a:rPr>
              <a:t>;</a:t>
            </a:r>
          </a:p>
          <a:p>
            <a:pPr>
              <a:buFontTx/>
              <a:buNone/>
            </a:pPr>
            <a:r>
              <a:rPr lang="en-US" sz="1600" dirty="0">
                <a:latin typeface="Courier New" charset="0"/>
                <a:cs typeface="Courier New" charset="0"/>
              </a:rPr>
              <a:t>    </a:t>
            </a:r>
            <a:r>
              <a:rPr lang="en-US" sz="1600" b="1" dirty="0">
                <a:latin typeface="Courier New" charset="0"/>
                <a:cs typeface="Courier New" charset="0"/>
              </a:rPr>
              <a:t>public</a:t>
            </a:r>
            <a:r>
              <a:rPr lang="en-US" sz="1600" dirty="0">
                <a:latin typeface="Courier New" charset="0"/>
                <a:cs typeface="Courier New" charset="0"/>
              </a:rPr>
              <a:t> Stack2)( {</a:t>
            </a:r>
          </a:p>
          <a:p>
            <a:pPr>
              <a:buFontTx/>
              <a:buNone/>
            </a:pPr>
            <a:r>
              <a:rPr lang="en-US" sz="1600" dirty="0">
                <a:latin typeface="Courier New" charset="0"/>
                <a:cs typeface="Courier New" charset="0"/>
              </a:rPr>
              <a:t>      </a:t>
            </a:r>
            <a:r>
              <a:rPr lang="en-US" sz="1600" dirty="0" err="1">
                <a:latin typeface="Courier New" charset="0"/>
                <a:cs typeface="Courier New" charset="0"/>
              </a:rPr>
              <a:t>stackRef</a:t>
            </a:r>
            <a:r>
              <a:rPr lang="en-US" sz="1600" dirty="0">
                <a:latin typeface="Courier New" charset="0"/>
                <a:cs typeface="Courier New" charset="0"/>
              </a:rPr>
              <a:t> = </a:t>
            </a:r>
            <a:r>
              <a:rPr lang="en-US" sz="1600" b="1" dirty="0">
                <a:latin typeface="Courier New" charset="0"/>
                <a:cs typeface="Courier New" charset="0"/>
              </a:rPr>
              <a:t>new</a:t>
            </a:r>
            <a:r>
              <a:rPr lang="en-US" sz="1600" dirty="0">
                <a:latin typeface="Courier New" charset="0"/>
                <a:cs typeface="Courier New" charset="0"/>
              </a:rPr>
              <a:t> </a:t>
            </a:r>
            <a:r>
              <a:rPr lang="en-US" sz="1600" dirty="0" err="1">
                <a:latin typeface="Courier New" charset="0"/>
                <a:cs typeface="Courier New" charset="0"/>
              </a:rPr>
              <a:t>ArrayList</a:t>
            </a:r>
            <a:r>
              <a:rPr lang="en-US" sz="1600" dirty="0">
                <a:latin typeface="Courier New" charset="0"/>
                <a:cs typeface="Courier New" charset="0"/>
              </a:rPr>
              <a:t>&lt;T&gt; ();</a:t>
            </a:r>
          </a:p>
          <a:p>
            <a:pPr>
              <a:buFontTx/>
              <a:buNone/>
            </a:pPr>
            <a:r>
              <a:rPr lang="en-US" sz="1600" dirty="0">
                <a:latin typeface="Courier New" charset="0"/>
                <a:cs typeface="Courier New" charset="0"/>
              </a:rPr>
              <a:t>      </a:t>
            </a:r>
            <a:r>
              <a:rPr lang="en-US" sz="1600" dirty="0" err="1">
                <a:latin typeface="Courier New" charset="0"/>
                <a:cs typeface="Courier New" charset="0"/>
              </a:rPr>
              <a:t>maxLen</a:t>
            </a:r>
            <a:r>
              <a:rPr lang="en-US" sz="1600" dirty="0">
                <a:latin typeface="Courier New" charset="0"/>
                <a:cs typeface="Courier New" charset="0"/>
              </a:rPr>
              <a:t> = 99;</a:t>
            </a:r>
          </a:p>
          <a:p>
            <a:pPr>
              <a:buFontTx/>
              <a:buNone/>
            </a:pPr>
            <a:r>
              <a:rPr lang="en-US" sz="1600" dirty="0">
                <a:latin typeface="Courier New" charset="0"/>
                <a:cs typeface="Courier New" charset="0"/>
              </a:rPr>
              <a:t>    }</a:t>
            </a:r>
          </a:p>
          <a:p>
            <a:pPr>
              <a:buFontTx/>
              <a:buNone/>
            </a:pPr>
            <a:r>
              <a:rPr lang="en-US" sz="1600" dirty="0">
                <a:latin typeface="Courier New" charset="0"/>
                <a:cs typeface="Courier New" charset="0"/>
              </a:rPr>
              <a:t>    </a:t>
            </a:r>
            <a:r>
              <a:rPr lang="en-US" sz="1600" b="1" dirty="0">
                <a:latin typeface="Courier New" charset="0"/>
                <a:cs typeface="Courier New" charset="0"/>
              </a:rPr>
              <a:t>public void </a:t>
            </a:r>
            <a:r>
              <a:rPr lang="en-US" sz="1600" dirty="0">
                <a:latin typeface="Courier New" charset="0"/>
                <a:cs typeface="Courier New" charset="0"/>
              </a:rPr>
              <a:t>push(T </a:t>
            </a:r>
            <a:r>
              <a:rPr lang="en-US" sz="1600" dirty="0" err="1">
                <a:latin typeface="Courier New" charset="0"/>
                <a:cs typeface="Courier New" charset="0"/>
              </a:rPr>
              <a:t>newValue</a:t>
            </a:r>
            <a:r>
              <a:rPr lang="en-US" sz="1600" dirty="0">
                <a:latin typeface="Courier New" charset="0"/>
                <a:cs typeface="Courier New" charset="0"/>
              </a:rPr>
              <a:t>) {</a:t>
            </a:r>
          </a:p>
          <a:p>
            <a:pPr>
              <a:buFontTx/>
              <a:buNone/>
            </a:pPr>
            <a:r>
              <a:rPr lang="en-US" sz="1600" dirty="0">
                <a:latin typeface="Courier New" charset="0"/>
                <a:cs typeface="Courier New" charset="0"/>
              </a:rPr>
              <a:t>      </a:t>
            </a:r>
            <a:r>
              <a:rPr lang="en-US" sz="1600" b="1" dirty="0">
                <a:latin typeface="Courier New" charset="0"/>
                <a:cs typeface="Courier New" charset="0"/>
              </a:rPr>
              <a:t>if</a:t>
            </a:r>
            <a:r>
              <a:rPr lang="en-US" sz="1600" dirty="0">
                <a:latin typeface="Courier New" charset="0"/>
                <a:cs typeface="Courier New" charset="0"/>
              </a:rPr>
              <a:t> (</a:t>
            </a:r>
            <a:r>
              <a:rPr lang="en-US" sz="1600" dirty="0" err="1">
                <a:latin typeface="Courier New" charset="0"/>
                <a:cs typeface="Courier New" charset="0"/>
              </a:rPr>
              <a:t>stackRef.size</a:t>
            </a:r>
            <a:r>
              <a:rPr lang="en-US" sz="1600" dirty="0">
                <a:latin typeface="Courier New" charset="0"/>
                <a:cs typeface="Courier New" charset="0"/>
              </a:rPr>
              <a:t>() == </a:t>
            </a:r>
            <a:r>
              <a:rPr lang="en-US" sz="1600" dirty="0" err="1">
                <a:latin typeface="Courier New" charset="0"/>
                <a:cs typeface="Courier New" charset="0"/>
              </a:rPr>
              <a:t>maxLen</a:t>
            </a:r>
            <a:r>
              <a:rPr lang="en-US" sz="1600" dirty="0">
                <a:latin typeface="Courier New" charset="0"/>
                <a:cs typeface="Courier New" charset="0"/>
              </a:rPr>
              <a:t>)</a:t>
            </a:r>
          </a:p>
          <a:p>
            <a:pPr>
              <a:buFontTx/>
              <a:buNone/>
            </a:pPr>
            <a:r>
              <a:rPr lang="en-US" sz="1600" dirty="0">
                <a:latin typeface="Courier New" charset="0"/>
                <a:cs typeface="Courier New" charset="0"/>
              </a:rPr>
              <a:t>        </a:t>
            </a:r>
            <a:r>
              <a:rPr lang="en-US" sz="1600" dirty="0" err="1">
                <a:latin typeface="Courier New" charset="0"/>
                <a:cs typeface="Courier New" charset="0"/>
              </a:rPr>
              <a:t>System.out.println</a:t>
            </a:r>
            <a:r>
              <a:rPr lang="en-US" sz="1600" dirty="0">
                <a:latin typeface="Courier New" charset="0"/>
                <a:cs typeface="Courier New" charset="0"/>
              </a:rPr>
              <a:t>(</a:t>
            </a:r>
            <a:r>
              <a:rPr lang="en-US" sz="1600" dirty="0">
                <a:latin typeface="Lucida Sans Unicode" charset="0"/>
                <a:cs typeface="Lucida Sans Unicode" charset="0"/>
              </a:rPr>
              <a:t>" </a:t>
            </a:r>
            <a:r>
              <a:rPr lang="en-US" sz="1600" dirty="0">
                <a:latin typeface="Courier New" charset="0"/>
                <a:cs typeface="Courier New" charset="0"/>
              </a:rPr>
              <a:t>Error in push – stack is full</a:t>
            </a:r>
            <a:r>
              <a:rPr lang="en-US" sz="1600" dirty="0">
                <a:latin typeface="Lucida Sans Unicode" charset="0"/>
                <a:cs typeface="Lucida Sans Unicode" charset="0"/>
              </a:rPr>
              <a:t>"</a:t>
            </a:r>
            <a:r>
              <a:rPr lang="en-US" sz="1600" dirty="0">
                <a:latin typeface="Courier New" charset="0"/>
                <a:cs typeface="Courier New" charset="0"/>
              </a:rPr>
              <a:t>);</a:t>
            </a:r>
          </a:p>
          <a:p>
            <a:pPr>
              <a:buFontTx/>
              <a:buNone/>
            </a:pPr>
            <a:r>
              <a:rPr lang="en-US" sz="1600" dirty="0">
                <a:latin typeface="Courier New" charset="0"/>
                <a:cs typeface="Courier New" charset="0"/>
              </a:rPr>
              <a:t>      </a:t>
            </a:r>
            <a:r>
              <a:rPr lang="en-US" sz="1600" b="1" dirty="0">
                <a:latin typeface="Courier New" charset="0"/>
                <a:cs typeface="Courier New" charset="0"/>
              </a:rPr>
              <a:t>else</a:t>
            </a:r>
          </a:p>
          <a:p>
            <a:pPr>
              <a:buFontTx/>
              <a:buNone/>
            </a:pPr>
            <a:r>
              <a:rPr lang="en-US" sz="1600" dirty="0">
                <a:latin typeface="Courier New" charset="0"/>
                <a:cs typeface="Courier New" charset="0"/>
              </a:rPr>
              <a:t>        </a:t>
            </a:r>
            <a:r>
              <a:rPr lang="en-US" sz="1600" dirty="0" err="1">
                <a:latin typeface="Courier New" charset="0"/>
                <a:cs typeface="Courier New" charset="0"/>
              </a:rPr>
              <a:t>stackRef.add</a:t>
            </a:r>
            <a:r>
              <a:rPr lang="en-US" sz="1600" dirty="0">
                <a:latin typeface="Courier New" charset="0"/>
                <a:cs typeface="Courier New" charset="0"/>
              </a:rPr>
              <a:t>(</a:t>
            </a:r>
            <a:r>
              <a:rPr lang="en-US" sz="1600" dirty="0" err="1">
                <a:latin typeface="Courier New" charset="0"/>
                <a:cs typeface="Courier New" charset="0"/>
              </a:rPr>
              <a:t>newValue</a:t>
            </a:r>
            <a:r>
              <a:rPr lang="en-US" sz="1600" dirty="0">
                <a:latin typeface="Courier New" charset="0"/>
                <a:cs typeface="Courier New" charset="0"/>
              </a:rPr>
              <a:t>);</a:t>
            </a:r>
          </a:p>
          <a:p>
            <a:pPr>
              <a:buFontTx/>
              <a:buNone/>
            </a:pPr>
            <a:r>
              <a:rPr lang="en-US" sz="1600" dirty="0">
                <a:latin typeface="Courier New" charset="0"/>
                <a:cs typeface="Courier New" charset="0"/>
              </a:rPr>
              <a:t>    ...</a:t>
            </a:r>
          </a:p>
          <a:p>
            <a:pPr>
              <a:buFontTx/>
              <a:buNone/>
            </a:pPr>
            <a:r>
              <a:rPr lang="en-US" sz="1600" dirty="0">
                <a:latin typeface="Courier New" charset="0"/>
                <a:cs typeface="Courier New" charset="0"/>
              </a:rPr>
              <a:t>  }</a:t>
            </a:r>
          </a:p>
          <a:p>
            <a:pPr>
              <a:buFontTx/>
              <a:buNone/>
            </a:pPr>
            <a:endParaRPr lang="en-US" sz="1600" dirty="0">
              <a:latin typeface="Courier New" charset="0"/>
              <a:cs typeface="Courier New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urier New" charset="0"/>
                <a:cs typeface="Courier New" charset="0"/>
              </a:rPr>
              <a:t>   </a:t>
            </a:r>
            <a:r>
              <a:rPr lang="en-US" sz="1600" dirty="0">
                <a:latin typeface="Lucida Sans Unicode" charset="0"/>
                <a:cs typeface="Courier New" charset="0"/>
              </a:rPr>
              <a:t>- Instantiation: </a:t>
            </a:r>
            <a:r>
              <a:rPr lang="en-US" sz="1600" dirty="0">
                <a:latin typeface="Courier New" charset="0"/>
                <a:cs typeface="Courier New" charset="0"/>
              </a:rPr>
              <a:t>Stack2&lt;string&gt; </a:t>
            </a:r>
            <a:r>
              <a:rPr lang="en-US" sz="1600" dirty="0" err="1">
                <a:latin typeface="Courier New" charset="0"/>
                <a:cs typeface="Courier New" charset="0"/>
              </a:rPr>
              <a:t>myStack</a:t>
            </a:r>
            <a:r>
              <a:rPr lang="en-US" sz="1600" dirty="0">
                <a:latin typeface="Courier New" charset="0"/>
                <a:cs typeface="Courier New" charset="0"/>
              </a:rPr>
              <a:t> = </a:t>
            </a:r>
            <a:r>
              <a:rPr lang="en-US" sz="1600" b="1" dirty="0">
                <a:latin typeface="Courier New" charset="0"/>
                <a:cs typeface="Courier New" charset="0"/>
              </a:rPr>
              <a:t>new</a:t>
            </a:r>
            <a:r>
              <a:rPr lang="en-US" sz="1600" dirty="0">
                <a:latin typeface="Courier New" charset="0"/>
                <a:cs typeface="Courier New" charset="0"/>
              </a:rPr>
              <a:t> Stack2&lt;string&gt; ();</a:t>
            </a:r>
          </a:p>
        </p:txBody>
      </p:sp>
      <p:sp>
        <p:nvSpPr>
          <p:cNvPr id="45060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4506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42A2C715-5CB5-4547-8612-87E1E31F0557}" type="slidenum">
              <a:rPr lang="en-US" sz="1000">
                <a:latin typeface="Arial" charset="0"/>
              </a:rPr>
              <a:pPr/>
              <a:t>36</a:t>
            </a:fld>
            <a:endParaRPr lang="en-US" sz="100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1244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4608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6ED4008E-F341-C643-A5DC-EEFDF4348B59}" type="slidenum">
              <a:rPr lang="en-US" sz="1000">
                <a:latin typeface="Arial" charset="0"/>
              </a:rPr>
              <a:pPr/>
              <a:t>37</a:t>
            </a:fld>
            <a:endParaRPr lang="en-US" sz="1000">
              <a:latin typeface="Arial" charset="0"/>
            </a:endParaRPr>
          </a:p>
        </p:txBody>
      </p:sp>
      <p:sp>
        <p:nvSpPr>
          <p:cNvPr id="460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Parameterized Classes in C# 2005</a:t>
            </a:r>
          </a:p>
        </p:txBody>
      </p:sp>
      <p:sp>
        <p:nvSpPr>
          <p:cNvPr id="4608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Similar to those of Java 5.0, except no wildcard classes</a:t>
            </a:r>
          </a:p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Predefined for Array, List, Stack, Queue, and Dictionary</a:t>
            </a:r>
          </a:p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Elements of parameterized structures can be accessed through indexing</a:t>
            </a:r>
          </a:p>
        </p:txBody>
      </p:sp>
    </p:spTree>
    <p:extLst>
      <p:ext uri="{BB962C8B-B14F-4D97-AF65-F5344CB8AC3E}">
        <p14:creationId xmlns:p14="http://schemas.microsoft.com/office/powerpoint/2010/main" val="14028410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4710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5D99EF0F-6FA7-F44F-B4D7-AF57FD57A419}" type="slidenum">
              <a:rPr lang="en-US" sz="1000">
                <a:latin typeface="Arial" charset="0"/>
              </a:rPr>
              <a:pPr/>
              <a:t>38</a:t>
            </a:fld>
            <a:endParaRPr lang="en-US" sz="1000">
              <a:latin typeface="Arial" charset="0"/>
            </a:endParaRPr>
          </a:p>
        </p:txBody>
      </p:sp>
      <p:sp>
        <p:nvSpPr>
          <p:cNvPr id="4710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Encapsulation Constructs</a:t>
            </a:r>
          </a:p>
        </p:txBody>
      </p:sp>
      <p:sp>
        <p:nvSpPr>
          <p:cNvPr id="4710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Lucida Sans Unicode" charset="0"/>
                <a:cs typeface="Lucida Sans Unicode" charset="0"/>
              </a:rPr>
              <a:t>Large programs have two special needs:</a:t>
            </a:r>
          </a:p>
          <a:p>
            <a:pPr lvl="1" eaLnBrk="1" hangingPunct="1"/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</a:rPr>
              <a:t>Some means of organization, other than simply division into subprograms</a:t>
            </a:r>
          </a:p>
          <a:p>
            <a:pPr lvl="1" eaLnBrk="1" hangingPunct="1"/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</a:rPr>
              <a:t>Some means of partial compilation (compilation units that are smaller than the whole program)</a:t>
            </a:r>
          </a:p>
          <a:p>
            <a:pPr eaLnBrk="1" hangingPunct="1"/>
            <a:r>
              <a:rPr lang="en-US" dirty="0">
                <a:latin typeface="Lucida Sans Unicode" charset="0"/>
                <a:cs typeface="Lucida Sans Unicode" charset="0"/>
              </a:rPr>
              <a:t>Obvious solution: a grouping of subprograms that are logically related into a unit that can be separately compiled (compilation units)</a:t>
            </a:r>
          </a:p>
          <a:p>
            <a:pPr eaLnBrk="1" hangingPunct="1"/>
            <a:r>
              <a:rPr lang="en-US" dirty="0">
                <a:latin typeface="Lucida Sans Unicode" charset="0"/>
                <a:cs typeface="Lucida Sans Unicode" charset="0"/>
              </a:rPr>
              <a:t>Such collections are called </a:t>
            </a:r>
            <a:r>
              <a:rPr lang="en-US" i="1" dirty="0">
                <a:latin typeface="Lucida Sans Unicode" charset="0"/>
                <a:cs typeface="Lucida Sans Unicode" charset="0"/>
              </a:rPr>
              <a:t>encapsulation</a:t>
            </a:r>
          </a:p>
        </p:txBody>
      </p:sp>
    </p:spTree>
    <p:extLst>
      <p:ext uri="{BB962C8B-B14F-4D97-AF65-F5344CB8AC3E}">
        <p14:creationId xmlns:p14="http://schemas.microsoft.com/office/powerpoint/2010/main" val="51230160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4813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2B7E82EA-69C4-0744-84C5-92857BEB7DF9}" type="slidenum">
              <a:rPr lang="en-US" sz="1000">
                <a:latin typeface="Arial" charset="0"/>
              </a:rPr>
              <a:pPr/>
              <a:t>39</a:t>
            </a:fld>
            <a:endParaRPr lang="en-US" sz="1000">
              <a:latin typeface="Arial" charset="0"/>
            </a:endParaRPr>
          </a:p>
        </p:txBody>
      </p:sp>
      <p:sp>
        <p:nvSpPr>
          <p:cNvPr id="4813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Nested Subprograms</a:t>
            </a:r>
          </a:p>
        </p:txBody>
      </p:sp>
      <p:sp>
        <p:nvSpPr>
          <p:cNvPr id="4813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153400" cy="4572000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</a:pPr>
            <a:r>
              <a:rPr lang="en-US">
                <a:latin typeface="Lucida Sans Unicode" charset="0"/>
                <a:cs typeface="Lucida Sans Unicode" charset="0"/>
              </a:rPr>
              <a:t>Organizing programs by nesting subprogram definitions inside the logically larger subprograms that use them</a:t>
            </a:r>
          </a:p>
          <a:p>
            <a:pPr marL="533400" indent="-533400" eaLnBrk="1" hangingPunct="1">
              <a:lnSpc>
                <a:spcPct val="90000"/>
              </a:lnSpc>
            </a:pPr>
            <a:r>
              <a:rPr lang="en-US">
                <a:latin typeface="Lucida Sans Unicode" charset="0"/>
                <a:cs typeface="Lucida Sans Unicode" charset="0"/>
              </a:rPr>
              <a:t>Nested subprograms are supported in Ada, Fortran 95+, Python, JavaScript, and Ruby</a:t>
            </a:r>
          </a:p>
        </p:txBody>
      </p:sp>
    </p:spTree>
    <p:extLst>
      <p:ext uri="{BB962C8B-B14F-4D97-AF65-F5344CB8AC3E}">
        <p14:creationId xmlns:p14="http://schemas.microsoft.com/office/powerpoint/2010/main" val="32951573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4915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741FE375-568E-EB40-8858-B8C556CE4C49}" type="slidenum">
              <a:rPr lang="en-US" sz="1000">
                <a:latin typeface="Arial" charset="0"/>
              </a:rPr>
              <a:pPr/>
              <a:t>40</a:t>
            </a:fld>
            <a:endParaRPr lang="en-US" sz="1000">
              <a:latin typeface="Arial" charset="0"/>
            </a:endParaRPr>
          </a:p>
        </p:txBody>
      </p:sp>
      <p:sp>
        <p:nvSpPr>
          <p:cNvPr id="491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Encapsulation in C</a:t>
            </a:r>
          </a:p>
        </p:txBody>
      </p:sp>
      <p:sp>
        <p:nvSpPr>
          <p:cNvPr id="4915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Files containing one or more subprograms can be independently compiled</a:t>
            </a:r>
          </a:p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The interface is placed in a </a:t>
            </a:r>
            <a:r>
              <a:rPr lang="en-US" i="1">
                <a:latin typeface="Lucida Sans Unicode" charset="0"/>
                <a:cs typeface="Lucida Sans Unicode" charset="0"/>
              </a:rPr>
              <a:t>header file</a:t>
            </a:r>
          </a:p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Problem: the linker does not check types between a header and associated implementation</a:t>
            </a:r>
          </a:p>
          <a:p>
            <a:pPr eaLnBrk="1" hangingPunct="1"/>
            <a:r>
              <a:rPr lang="en-US">
                <a:latin typeface="Courier New" charset="0"/>
                <a:cs typeface="Courier New" charset="0"/>
              </a:rPr>
              <a:t>#include</a:t>
            </a:r>
            <a:r>
              <a:rPr lang="en-US">
                <a:latin typeface="Lucida Sans Unicode" charset="0"/>
                <a:cs typeface="Lucida Sans Unicode" charset="0"/>
              </a:rPr>
              <a:t> preprocessor specification – used to include header files in applications</a:t>
            </a:r>
          </a:p>
          <a:p>
            <a:pPr eaLnBrk="1" hangingPunct="1"/>
            <a:endParaRPr lang="en-US">
              <a:latin typeface="Lucida Sans Unicode" charset="0"/>
              <a:cs typeface="Lucida Sans Unicod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57226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5017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56EB02E7-B791-5048-8B81-F4728E17C0FE}" type="slidenum">
              <a:rPr lang="en-US" sz="1000">
                <a:latin typeface="Arial" charset="0"/>
              </a:rPr>
              <a:pPr/>
              <a:t>41</a:t>
            </a:fld>
            <a:endParaRPr lang="en-US" sz="1000">
              <a:latin typeface="Arial" charset="0"/>
            </a:endParaRPr>
          </a:p>
        </p:txBody>
      </p:sp>
      <p:sp>
        <p:nvSpPr>
          <p:cNvPr id="5018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Encapsulation in C++</a:t>
            </a:r>
          </a:p>
        </p:txBody>
      </p:sp>
      <p:sp>
        <p:nvSpPr>
          <p:cNvPr id="5018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Can define header and code files, similar to those of C</a:t>
            </a:r>
          </a:p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Or, classes can be used for encapsulation</a:t>
            </a:r>
          </a:p>
          <a:p>
            <a:pPr lvl="1" eaLnBrk="1" hangingPunct="1"/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The class is used as the interface (prototypes)</a:t>
            </a:r>
          </a:p>
          <a:p>
            <a:pPr lvl="1" eaLnBrk="1" hangingPunct="1"/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The member definitions are defined in a separate file</a:t>
            </a:r>
          </a:p>
          <a:p>
            <a:pPr eaLnBrk="1" hangingPunct="1"/>
            <a:r>
              <a:rPr lang="en-US" i="1">
                <a:latin typeface="Lucida Sans Unicode" charset="0"/>
                <a:cs typeface="Lucida Sans Unicode" charset="0"/>
              </a:rPr>
              <a:t>Friend</a:t>
            </a:r>
            <a:r>
              <a:rPr lang="en-US">
                <a:latin typeface="Lucida Sans Unicode" charset="0"/>
                <a:cs typeface="Lucida Sans Unicode" charset="0"/>
              </a:rPr>
              <a:t>s provide a way to grant access to private members of a class</a:t>
            </a:r>
          </a:p>
          <a:p>
            <a:pPr eaLnBrk="1" hangingPunct="1"/>
            <a:endParaRPr lang="en-US">
              <a:latin typeface="Lucida Sans Unicode" charset="0"/>
              <a:cs typeface="Lucida Sans Unicod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819102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5222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E20FA8B4-75EC-8C43-8D45-8962AA381065}" type="slidenum">
              <a:rPr lang="en-US" sz="1000">
                <a:latin typeface="Arial" charset="0"/>
              </a:rPr>
              <a:pPr/>
              <a:t>42</a:t>
            </a:fld>
            <a:endParaRPr lang="en-US" sz="1000">
              <a:latin typeface="Arial" charset="0"/>
            </a:endParaRPr>
          </a:p>
        </p:txBody>
      </p:sp>
      <p:sp>
        <p:nvSpPr>
          <p:cNvPr id="5222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>
                <a:latin typeface="Lucida Sans Unicode" charset="0"/>
                <a:cs typeface="Lucida Sans Unicode" charset="0"/>
              </a:rPr>
              <a:t>C# Assemblies</a:t>
            </a:r>
            <a:br>
              <a:rPr lang="en-US" sz="3200">
                <a:latin typeface="Lucida Sans Unicode" charset="0"/>
                <a:cs typeface="Lucida Sans Unicode" charset="0"/>
              </a:rPr>
            </a:br>
            <a:endParaRPr lang="en-US" sz="3200">
              <a:latin typeface="Lucida Sans Unicode" charset="0"/>
              <a:cs typeface="Lucida Sans Unicode" charset="0"/>
            </a:endParaRPr>
          </a:p>
        </p:txBody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8153400" cy="4876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>
                <a:latin typeface="Lucida Sans Unicode" charset="0"/>
                <a:cs typeface="Lucida Sans Unicode" charset="0"/>
              </a:rPr>
              <a:t>A collection of files that appears to application programs to be a single dynamic link library or executable</a:t>
            </a:r>
          </a:p>
          <a:p>
            <a:pPr eaLnBrk="1" hangingPunct="1">
              <a:lnSpc>
                <a:spcPct val="90000"/>
              </a:lnSpc>
            </a:pPr>
            <a:r>
              <a:rPr lang="en-US">
                <a:latin typeface="Lucida Sans Unicode" charset="0"/>
                <a:cs typeface="Lucida Sans Unicode" charset="0"/>
              </a:rPr>
              <a:t>Each file contains a module that can be separately compiled</a:t>
            </a:r>
          </a:p>
          <a:p>
            <a:pPr eaLnBrk="1" hangingPunct="1">
              <a:lnSpc>
                <a:spcPct val="90000"/>
              </a:lnSpc>
            </a:pPr>
            <a:r>
              <a:rPr lang="en-US">
                <a:latin typeface="Lucida Sans Unicode" charset="0"/>
                <a:cs typeface="Lucida Sans Unicode" charset="0"/>
              </a:rPr>
              <a:t>A DLL is a collection of classes and methods that are individually linked to an executing program</a:t>
            </a:r>
          </a:p>
          <a:p>
            <a:pPr eaLnBrk="1" hangingPunct="1">
              <a:lnSpc>
                <a:spcPct val="90000"/>
              </a:lnSpc>
            </a:pPr>
            <a:r>
              <a:rPr lang="en-US">
                <a:latin typeface="Lucida Sans Unicode" charset="0"/>
                <a:cs typeface="Lucida Sans Unicode" charset="0"/>
              </a:rPr>
              <a:t>C# has an access modifier called </a:t>
            </a:r>
            <a:r>
              <a:rPr lang="en-US">
                <a:latin typeface="Courier New" charset="0"/>
                <a:cs typeface="Courier New" charset="0"/>
              </a:rPr>
              <a:t>internal</a:t>
            </a:r>
            <a:r>
              <a:rPr lang="en-US">
                <a:latin typeface="Lucida Sans Unicode" charset="0"/>
                <a:cs typeface="Lucida Sans Unicode" charset="0"/>
              </a:rPr>
              <a:t>; an </a:t>
            </a:r>
            <a:r>
              <a:rPr lang="en-US">
                <a:latin typeface="Courier New" charset="0"/>
                <a:cs typeface="Courier New" charset="0"/>
              </a:rPr>
              <a:t>internal</a:t>
            </a:r>
            <a:r>
              <a:rPr lang="en-US">
                <a:latin typeface="Lucida Sans Unicode" charset="0"/>
                <a:cs typeface="Lucida Sans Unicode" charset="0"/>
              </a:rPr>
              <a:t> member of a class is visible to all classes in the assembly in which it appears</a:t>
            </a:r>
          </a:p>
          <a:p>
            <a:pPr eaLnBrk="1" hangingPunct="1">
              <a:lnSpc>
                <a:spcPct val="90000"/>
              </a:lnSpc>
            </a:pPr>
            <a:endParaRPr lang="en-US">
              <a:latin typeface="Lucida Sans Unicode" charset="0"/>
              <a:cs typeface="Lucida Sans Unicod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544514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5325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F33192E3-4544-4C4B-9A84-DFB9DC14CF7E}" type="slidenum">
              <a:rPr lang="en-US" sz="1000">
                <a:latin typeface="Arial" charset="0"/>
              </a:rPr>
              <a:pPr/>
              <a:t>43</a:t>
            </a:fld>
            <a:endParaRPr lang="en-US" sz="1000">
              <a:latin typeface="Arial" charset="0"/>
            </a:endParaRPr>
          </a:p>
        </p:txBody>
      </p:sp>
      <p:sp>
        <p:nvSpPr>
          <p:cNvPr id="532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Naming Encapsulations</a:t>
            </a:r>
          </a:p>
        </p:txBody>
      </p:sp>
      <p:sp>
        <p:nvSpPr>
          <p:cNvPr id="5325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Large programs define many global names; need a way to divide into logical groupings</a:t>
            </a:r>
          </a:p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A </a:t>
            </a:r>
            <a:r>
              <a:rPr lang="en-US" i="1">
                <a:latin typeface="Lucida Sans Unicode" charset="0"/>
                <a:cs typeface="Lucida Sans Unicode" charset="0"/>
              </a:rPr>
              <a:t>naming encapsulation</a:t>
            </a:r>
            <a:r>
              <a:rPr lang="en-US">
                <a:latin typeface="Lucida Sans Unicode" charset="0"/>
                <a:cs typeface="Lucida Sans Unicode" charset="0"/>
              </a:rPr>
              <a:t> is used to create a new scope for names</a:t>
            </a:r>
          </a:p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C++ Namespaces</a:t>
            </a:r>
          </a:p>
          <a:p>
            <a:pPr lvl="1" eaLnBrk="1" hangingPunct="1"/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Can place each library in its own namespace and qualify names used outside with the namespace</a:t>
            </a:r>
          </a:p>
          <a:p>
            <a:pPr lvl="1" eaLnBrk="1" hangingPunct="1"/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C# also includes namespaces</a:t>
            </a:r>
          </a:p>
        </p:txBody>
      </p:sp>
    </p:spTree>
    <p:extLst>
      <p:ext uri="{BB962C8B-B14F-4D97-AF65-F5344CB8AC3E}">
        <p14:creationId xmlns:p14="http://schemas.microsoft.com/office/powerpoint/2010/main" val="296296505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5427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60B109CC-F419-1243-BEBE-C5C71A88E043}" type="slidenum">
              <a:rPr lang="en-US" sz="1000">
                <a:latin typeface="Arial" charset="0"/>
              </a:rPr>
              <a:pPr/>
              <a:t>44</a:t>
            </a:fld>
            <a:endParaRPr lang="en-US" sz="1000">
              <a:latin typeface="Arial" charset="0"/>
            </a:endParaRPr>
          </a:p>
        </p:txBody>
      </p:sp>
      <p:sp>
        <p:nvSpPr>
          <p:cNvPr id="542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Naming Encapsulations (continued)</a:t>
            </a:r>
          </a:p>
        </p:txBody>
      </p:sp>
      <p:sp>
        <p:nvSpPr>
          <p:cNvPr id="5427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Java Packages</a:t>
            </a:r>
          </a:p>
          <a:p>
            <a:pPr lvl="1" eaLnBrk="1" hangingPunct="1"/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Packages can contain more than one class definition; classes in a package are </a:t>
            </a:r>
            <a:r>
              <a:rPr lang="en-US" i="1">
                <a:latin typeface="Lucida Sans Unicode" charset="0"/>
                <a:ea typeface="Lucida Sans Unicode" charset="0"/>
                <a:cs typeface="Lucida Sans Unicode" charset="0"/>
              </a:rPr>
              <a:t>partial</a:t>
            </a:r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 friends</a:t>
            </a:r>
          </a:p>
          <a:p>
            <a:pPr lvl="1" eaLnBrk="1" hangingPunct="1"/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Clients of a package can use fully qualified name or use the </a:t>
            </a:r>
            <a:r>
              <a:rPr lang="en-US" b="1" i="1">
                <a:latin typeface="Courier New" charset="0"/>
                <a:ea typeface="Lucida Sans Unicode" charset="0"/>
                <a:cs typeface="Lucida Sans Unicode" charset="0"/>
              </a:rPr>
              <a:t>import</a:t>
            </a:r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 declaration</a:t>
            </a:r>
          </a:p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Ada Packages</a:t>
            </a:r>
          </a:p>
          <a:p>
            <a:pPr lvl="1" eaLnBrk="1" hangingPunct="1"/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Packages are defined in hierarchies which correspond to file hierarchies</a:t>
            </a:r>
          </a:p>
          <a:p>
            <a:pPr lvl="1" eaLnBrk="1" hangingPunct="1"/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Visibility from a program unit is gained with the </a:t>
            </a:r>
            <a:r>
              <a:rPr lang="en-US">
                <a:latin typeface="Courier New" charset="0"/>
                <a:ea typeface="Lucida Sans Unicode" charset="0"/>
                <a:cs typeface="Lucida Sans Unicode" charset="0"/>
              </a:rPr>
              <a:t>with</a:t>
            </a:r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 clause</a:t>
            </a:r>
          </a:p>
        </p:txBody>
      </p:sp>
    </p:spTree>
    <p:extLst>
      <p:ext uri="{BB962C8B-B14F-4D97-AF65-F5344CB8AC3E}">
        <p14:creationId xmlns:p14="http://schemas.microsoft.com/office/powerpoint/2010/main" val="128960653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5529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68D6B7DB-ACF3-3E49-BF46-E693129F4D66}" type="slidenum">
              <a:rPr lang="en-US" sz="1000">
                <a:latin typeface="Arial" charset="0"/>
              </a:rPr>
              <a:pPr/>
              <a:t>45</a:t>
            </a:fld>
            <a:endParaRPr lang="en-US" sz="1000">
              <a:latin typeface="Arial" charset="0"/>
            </a:endParaRPr>
          </a:p>
        </p:txBody>
      </p:sp>
      <p:sp>
        <p:nvSpPr>
          <p:cNvPr id="553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Naming Encapsulations (continued)</a:t>
            </a:r>
          </a:p>
        </p:txBody>
      </p:sp>
      <p:sp>
        <p:nvSpPr>
          <p:cNvPr id="5530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sz="2400">
                <a:latin typeface="Lucida Sans Unicode" charset="0"/>
                <a:cs typeface="Lucida Sans Unicode" charset="0"/>
              </a:rPr>
              <a:t>Ruby classes are name encapsulations, but Ruby also has modules</a:t>
            </a:r>
          </a:p>
          <a:p>
            <a:pPr eaLnBrk="1" hangingPunct="1"/>
            <a:r>
              <a:rPr lang="en-US" sz="2400">
                <a:latin typeface="Lucida Sans Unicode" charset="0"/>
                <a:cs typeface="Lucida Sans Unicode" charset="0"/>
              </a:rPr>
              <a:t>Typically encapsulate collections of constants and methods</a:t>
            </a:r>
          </a:p>
          <a:p>
            <a:pPr eaLnBrk="1" hangingPunct="1"/>
            <a:r>
              <a:rPr lang="en-US" sz="2400">
                <a:latin typeface="Lucida Sans Unicode" charset="0"/>
                <a:cs typeface="Lucida Sans Unicode" charset="0"/>
              </a:rPr>
              <a:t>Modules cannot be instantiated or subclassed, and they cannot define variables</a:t>
            </a:r>
          </a:p>
          <a:p>
            <a:pPr eaLnBrk="1" hangingPunct="1"/>
            <a:r>
              <a:rPr lang="en-US" sz="2400">
                <a:latin typeface="Lucida Sans Unicode" charset="0"/>
                <a:cs typeface="Lucida Sans Unicode" charset="0"/>
              </a:rPr>
              <a:t>Methods defined in a module must include the module</a:t>
            </a:r>
            <a:r>
              <a:rPr lang="ja-JP" altLang="en-US" sz="2400">
                <a:latin typeface="Lucida Sans Unicode" charset="0"/>
                <a:cs typeface="Lucida Sans Unicode" charset="0"/>
              </a:rPr>
              <a:t>’</a:t>
            </a:r>
            <a:r>
              <a:rPr lang="en-US" sz="2400">
                <a:latin typeface="Lucida Sans Unicode" charset="0"/>
                <a:cs typeface="Lucida Sans Unicode" charset="0"/>
              </a:rPr>
              <a:t>s name</a:t>
            </a:r>
          </a:p>
          <a:p>
            <a:pPr eaLnBrk="1" hangingPunct="1"/>
            <a:r>
              <a:rPr lang="en-US" sz="2400">
                <a:latin typeface="Lucida Sans Unicode" charset="0"/>
                <a:cs typeface="Lucida Sans Unicode" charset="0"/>
              </a:rPr>
              <a:t>Access to the contents of a module is requested with the </a:t>
            </a:r>
            <a:r>
              <a:rPr lang="en-US" sz="2000">
                <a:latin typeface="Courier New" charset="0"/>
                <a:cs typeface="Lucida Sans Unicode" charset="0"/>
              </a:rPr>
              <a:t>require</a:t>
            </a:r>
            <a:r>
              <a:rPr lang="en-US" sz="2400">
                <a:latin typeface="Lucida Sans Unicode" charset="0"/>
                <a:cs typeface="Lucida Sans Unicode" charset="0"/>
              </a:rPr>
              <a:t> method</a:t>
            </a:r>
            <a:br>
              <a:rPr lang="en-US" sz="2400">
                <a:latin typeface="Lucida Sans Unicode" charset="0"/>
                <a:cs typeface="Lucida Sans Unicode" charset="0"/>
              </a:rPr>
            </a:br>
            <a:r>
              <a:rPr lang="en-US" sz="2400">
                <a:latin typeface="Lucida Sans Unicode" charset="0"/>
                <a:cs typeface="Lucida Sans Unicode" charset="0"/>
              </a:rPr>
              <a:t>- </a:t>
            </a:r>
          </a:p>
        </p:txBody>
      </p:sp>
    </p:spTree>
    <p:extLst>
      <p:ext uri="{BB962C8B-B14F-4D97-AF65-F5344CB8AC3E}">
        <p14:creationId xmlns:p14="http://schemas.microsoft.com/office/powerpoint/2010/main" val="116490550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5632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4D7E3A12-772E-4548-8B20-26076A9F9ADB}" type="slidenum">
              <a:rPr lang="en-US" sz="1000">
                <a:latin typeface="Arial" charset="0"/>
              </a:rPr>
              <a:pPr/>
              <a:t>46</a:t>
            </a:fld>
            <a:endParaRPr lang="en-US" sz="1000">
              <a:latin typeface="Arial" charset="0"/>
            </a:endParaRPr>
          </a:p>
        </p:txBody>
      </p:sp>
      <p:sp>
        <p:nvSpPr>
          <p:cNvPr id="563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Summary</a:t>
            </a:r>
          </a:p>
        </p:txBody>
      </p:sp>
      <p:sp>
        <p:nvSpPr>
          <p:cNvPr id="5632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</a:pPr>
            <a:r>
              <a:rPr lang="en-US" sz="2400">
                <a:latin typeface="Lucida Sans Unicode" charset="0"/>
                <a:cs typeface="Lucida Sans Unicode" charset="0"/>
              </a:rPr>
              <a:t>The concept of  ADTs and their use in program design was a milestone in the development of languages</a:t>
            </a:r>
          </a:p>
          <a:p>
            <a:pPr eaLnBrk="1" hangingPunct="1">
              <a:lnSpc>
                <a:spcPct val="80000"/>
              </a:lnSpc>
            </a:pPr>
            <a:r>
              <a:rPr lang="en-US" sz="2400">
                <a:latin typeface="Lucida Sans Unicode" charset="0"/>
                <a:cs typeface="Lucida Sans Unicode" charset="0"/>
              </a:rPr>
              <a:t>Two primary features of ADTs are the packaging of data with their associated operations and information hiding</a:t>
            </a:r>
          </a:p>
          <a:p>
            <a:pPr eaLnBrk="1" hangingPunct="1">
              <a:lnSpc>
                <a:spcPct val="80000"/>
              </a:lnSpc>
            </a:pPr>
            <a:r>
              <a:rPr lang="en-US" sz="2400">
                <a:latin typeface="Lucida Sans Unicode" charset="0"/>
                <a:cs typeface="Lucida Sans Unicode" charset="0"/>
              </a:rPr>
              <a:t>Ada provides packages that simulate ADTs</a:t>
            </a:r>
          </a:p>
          <a:p>
            <a:pPr eaLnBrk="1" hangingPunct="1">
              <a:lnSpc>
                <a:spcPct val="80000"/>
              </a:lnSpc>
            </a:pPr>
            <a:r>
              <a:rPr lang="en-US" sz="2400">
                <a:latin typeface="Lucida Sans Unicode" charset="0"/>
                <a:cs typeface="Lucida Sans Unicode" charset="0"/>
              </a:rPr>
              <a:t>C++ data abstraction is provided by classes</a:t>
            </a:r>
          </a:p>
          <a:p>
            <a:pPr eaLnBrk="1" hangingPunct="1">
              <a:lnSpc>
                <a:spcPct val="80000"/>
              </a:lnSpc>
            </a:pPr>
            <a:r>
              <a:rPr lang="en-US" sz="2400">
                <a:latin typeface="Lucida Sans Unicode" charset="0"/>
                <a:cs typeface="Lucida Sans Unicode" charset="0"/>
              </a:rPr>
              <a:t>Java</a:t>
            </a:r>
            <a:r>
              <a:rPr lang="ja-JP" altLang="en-US" sz="2400">
                <a:latin typeface="Lucida Sans Unicode" charset="0"/>
                <a:cs typeface="Lucida Sans Unicode" charset="0"/>
              </a:rPr>
              <a:t>’</a:t>
            </a:r>
            <a:r>
              <a:rPr lang="en-US" sz="2400">
                <a:latin typeface="Lucida Sans Unicode" charset="0"/>
                <a:cs typeface="Lucida Sans Unicode" charset="0"/>
              </a:rPr>
              <a:t>s data abstraction is similar to C++</a:t>
            </a:r>
          </a:p>
          <a:p>
            <a:pPr eaLnBrk="1" hangingPunct="1">
              <a:lnSpc>
                <a:spcPct val="80000"/>
              </a:lnSpc>
            </a:pPr>
            <a:r>
              <a:rPr lang="en-US" sz="2400">
                <a:latin typeface="Lucida Sans Unicode" charset="0"/>
                <a:cs typeface="Lucida Sans Unicode" charset="0"/>
              </a:rPr>
              <a:t>Ada, C++, Java 5.0, and C# 2005 support parameterized ADTs</a:t>
            </a:r>
          </a:p>
          <a:p>
            <a:pPr eaLnBrk="1" hangingPunct="1">
              <a:lnSpc>
                <a:spcPct val="80000"/>
              </a:lnSpc>
            </a:pPr>
            <a:r>
              <a:rPr lang="en-US" sz="2400">
                <a:latin typeface="Lucida Sans Unicode" charset="0"/>
                <a:cs typeface="Lucida Sans Unicode" charset="0"/>
              </a:rPr>
              <a:t>C++, C#, Java, Ada, and Ruby provide naming encapsulations</a:t>
            </a:r>
          </a:p>
          <a:p>
            <a:pPr eaLnBrk="1" hangingPunct="1">
              <a:lnSpc>
                <a:spcPct val="80000"/>
              </a:lnSpc>
            </a:pPr>
            <a:endParaRPr lang="en-US" sz="2400">
              <a:latin typeface="Lucida Sans Unicode" charset="0"/>
              <a:cs typeface="Lucida Sans Unicod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2324726"/>
      </p:ext>
    </p:extLst>
  </p:cSld>
  <p:clrMapOvr>
    <a:masterClrMapping/>
  </p:clrMapOvr>
</p:sld>
</file>

<file path=ppt/theme/theme1.xml><?xml version="1.0" encoding="utf-8"?>
<a:theme xmlns:a="http://schemas.openxmlformats.org/drawingml/2006/main" name="hsleiden_nl">
  <a:themeElements>
    <a:clrScheme name="Kanto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-thema">
  <a:themeElements>
    <a:clrScheme name="Kanto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8AB2A5A18D8404DBA73EF508DB4A06C" ma:contentTypeVersion="10" ma:contentTypeDescription="Een nieuw document maken." ma:contentTypeScope="" ma:versionID="373d39ad46615713677e9c3b89cd816b">
  <xsd:schema xmlns:xsd="http://www.w3.org/2001/XMLSchema" xmlns:xs="http://www.w3.org/2001/XMLSchema" xmlns:p="http://schemas.microsoft.com/office/2006/metadata/properties" xmlns:ns2="29d2fd08-a643-4874-a881-64648cdec31e" xmlns:ns3="65ea3e1d-5866-4f28-856d-8de3ded6bbfa" targetNamespace="http://schemas.microsoft.com/office/2006/metadata/properties" ma:root="true" ma:fieldsID="d9c0c6368d671c97b5cbddb522b225cb" ns2:_="" ns3:_="">
    <xsd:import namespace="29d2fd08-a643-4874-a881-64648cdec31e"/>
    <xsd:import namespace="65ea3e1d-5866-4f28-856d-8de3ded6bbf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d2fd08-a643-4874-a881-64648cdec3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ea3e1d-5866-4f28-856d-8de3ded6bbfa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E96846-0210-4949-8015-CDFF29064AA5}">
  <ds:schemaRefs>
    <ds:schemaRef ds:uri="f52a8cb6-32e1-4109-bdde-d03590b9ac52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www.w3.org/XML/1998/namespace"/>
    <ds:schemaRef ds:uri="http://purl.org/dc/terms/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3f324c65-194c-423d-8180-759e3972f2c1"/>
  </ds:schemaRefs>
</ds:datastoreItem>
</file>

<file path=customXml/itemProps2.xml><?xml version="1.0" encoding="utf-8"?>
<ds:datastoreItem xmlns:ds="http://schemas.openxmlformats.org/officeDocument/2006/customXml" ds:itemID="{EC9362A8-55A2-4EC1-BE45-2A4D4D2089C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5AD2A57-6DAE-412F-BD65-6BDC8AED0089}"/>
</file>

<file path=docProps/app.xml><?xml version="1.0" encoding="utf-8"?>
<Properties xmlns="http://schemas.openxmlformats.org/officeDocument/2006/extended-properties" xmlns:vt="http://schemas.openxmlformats.org/officeDocument/2006/docPropsVTypes">
  <Template>hsleiden_nl.potx</Template>
  <TotalTime>8338</TotalTime>
  <Words>3347</Words>
  <Application>Microsoft Macintosh PowerPoint</Application>
  <PresentationFormat>Diavoorstelling (4:3)</PresentationFormat>
  <Paragraphs>491</Paragraphs>
  <Slides>46</Slides>
  <Notes>32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6</vt:i4>
      </vt:variant>
      <vt:variant>
        <vt:lpstr>Thema</vt:lpstr>
      </vt:variant>
      <vt:variant>
        <vt:i4>1</vt:i4>
      </vt:variant>
      <vt:variant>
        <vt:lpstr>Diatitels</vt:lpstr>
      </vt:variant>
      <vt:variant>
        <vt:i4>46</vt:i4>
      </vt:variant>
    </vt:vector>
  </HeadingPairs>
  <TitlesOfParts>
    <vt:vector size="53" baseType="lpstr">
      <vt:lpstr>Arial</vt:lpstr>
      <vt:lpstr>Calibri</vt:lpstr>
      <vt:lpstr>Courier New</vt:lpstr>
      <vt:lpstr>Lucida Sans Unicode</vt:lpstr>
      <vt:lpstr>Times</vt:lpstr>
      <vt:lpstr>Verdana</vt:lpstr>
      <vt:lpstr>hsleiden_nl</vt:lpstr>
      <vt:lpstr>ICPT – Concepten in Programmeertalen</vt:lpstr>
      <vt:lpstr>Planning voor deze les</vt:lpstr>
      <vt:lpstr>Over het verslag</vt:lpstr>
      <vt:lpstr>Historie</vt:lpstr>
      <vt:lpstr>Taalopbouw en parsing </vt:lpstr>
      <vt:lpstr>Basisconcepten</vt:lpstr>
      <vt:lpstr>Geavanceerde concepten</vt:lpstr>
      <vt:lpstr>Paradigma’s</vt:lpstr>
      <vt:lpstr>Reflectie</vt:lpstr>
      <vt:lpstr>Verdere eisen aan het verslag</vt:lpstr>
      <vt:lpstr>Chapter 11 Topics</vt:lpstr>
      <vt:lpstr>The Concept of Abstraction</vt:lpstr>
      <vt:lpstr>Introduction to Data Abstraction</vt:lpstr>
      <vt:lpstr>Advantages of Data Abstraction</vt:lpstr>
      <vt:lpstr>Language Requirements for ADTs</vt:lpstr>
      <vt:lpstr>Design Issues</vt:lpstr>
      <vt:lpstr>Language Examples: C++</vt:lpstr>
      <vt:lpstr>Language Examples: C++ (continued)</vt:lpstr>
      <vt:lpstr>Language Examples: C++ (continued)</vt:lpstr>
      <vt:lpstr>Language Examples: C++ (continued)</vt:lpstr>
      <vt:lpstr>An Example in C++</vt:lpstr>
      <vt:lpstr>A Stack class header file</vt:lpstr>
      <vt:lpstr>The code file for Stack</vt:lpstr>
      <vt:lpstr>Language Examples: C++ (continued)</vt:lpstr>
      <vt:lpstr>Language Examples: Java</vt:lpstr>
      <vt:lpstr>An Example in Java</vt:lpstr>
      <vt:lpstr>Language Examples: C#</vt:lpstr>
      <vt:lpstr>Language Examples: C# (continued)</vt:lpstr>
      <vt:lpstr>C# Property Example </vt:lpstr>
      <vt:lpstr>Abstract Data Types in Ruby</vt:lpstr>
      <vt:lpstr>Abstract Data Types in Ruby (continued)</vt:lpstr>
      <vt:lpstr>Parameterized Abstract Data Types </vt:lpstr>
      <vt:lpstr>Parameterized ADTs in C++</vt:lpstr>
      <vt:lpstr>Parameterized ADTs in C++ (continued)</vt:lpstr>
      <vt:lpstr>Parameterized Classes in Java 5.0</vt:lpstr>
      <vt:lpstr>Parameterized Classes in Java 5.0 (continued)</vt:lpstr>
      <vt:lpstr>Parameterized Classes in C# 2005</vt:lpstr>
      <vt:lpstr>Encapsulation Constructs</vt:lpstr>
      <vt:lpstr>Nested Subprograms</vt:lpstr>
      <vt:lpstr>Encapsulation in C</vt:lpstr>
      <vt:lpstr>Encapsulation in C++</vt:lpstr>
      <vt:lpstr>C# Assemblies </vt:lpstr>
      <vt:lpstr>Naming Encapsulations</vt:lpstr>
      <vt:lpstr>Naming Encapsulations (continued)</vt:lpstr>
      <vt:lpstr>Naming Encapsulations (continued)</vt:lpstr>
      <vt:lpstr>Summary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Lars Wildenberg</dc:creator>
  <cp:lastModifiedBy>Arts, Ron</cp:lastModifiedBy>
  <cp:revision>111</cp:revision>
  <dcterms:created xsi:type="dcterms:W3CDTF">2013-11-07T10:07:57Z</dcterms:created>
  <dcterms:modified xsi:type="dcterms:W3CDTF">2020-06-11T06:50:58Z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0x010100E8AB2A5A18D8404DBA73EF508DB4A06C</vt:lpwstr>
  </property>
  <property fmtid="{D5CDD505-2E9C-101B-9397-08002B2CF9AE}" pid="3" name="EducationCourse">
    <vt:lpwstr/>
  </property>
  <property fmtid="{D5CDD505-2E9C-101B-9397-08002B2CF9AE}" pid="4" name="EducationYear">
    <vt:lpwstr/>
  </property>
  <property fmtid="{D5CDD505-2E9C-101B-9397-08002B2CF9AE}" pid="5" name="Order">
    <vt:r8>1200</vt:r8>
  </property>
  <property fmtid="{D5CDD505-2E9C-101B-9397-08002B2CF9AE}" pid="6" name="xd_Signature">
    <vt:bool>false</vt:bool>
  </property>
  <property fmtid="{D5CDD505-2E9C-101B-9397-08002B2CF9AE}" pid="7" name="xd_ProgID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_SourceUrl">
    <vt:lpwstr/>
  </property>
  <property fmtid="{D5CDD505-2E9C-101B-9397-08002B2CF9AE}" pid="11" name="_SharedFileIndex">
    <vt:lpwstr/>
  </property>
  <property fmtid="{D5CDD505-2E9C-101B-9397-08002B2CF9AE}" pid="12" name="ComplianceAssetId">
    <vt:lpwstr/>
  </property>
  <property fmtid="{D5CDD505-2E9C-101B-9397-08002B2CF9AE}" pid="13" name="TemplateUrl">
    <vt:lpwstr/>
  </property>
</Properties>
</file>