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5" r:id="rId4"/>
  </p:sldMasterIdLst>
  <p:notesMasterIdLst>
    <p:notesMasterId r:id="rId35"/>
  </p:notesMasterIdLst>
  <p:sldIdLst>
    <p:sldId id="256" r:id="rId5"/>
    <p:sldId id="262" r:id="rId6"/>
    <p:sldId id="421" r:id="rId7"/>
    <p:sldId id="359" r:id="rId8"/>
    <p:sldId id="364" r:id="rId9"/>
    <p:sldId id="365" r:id="rId10"/>
    <p:sldId id="413" r:id="rId11"/>
    <p:sldId id="366" r:id="rId12"/>
    <p:sldId id="414" r:id="rId13"/>
    <p:sldId id="367" r:id="rId14"/>
    <p:sldId id="368" r:id="rId15"/>
    <p:sldId id="369" r:id="rId16"/>
    <p:sldId id="370" r:id="rId17"/>
    <p:sldId id="371" r:id="rId18"/>
    <p:sldId id="372" r:id="rId19"/>
    <p:sldId id="422" r:id="rId20"/>
    <p:sldId id="423" r:id="rId21"/>
    <p:sldId id="424" r:id="rId22"/>
    <p:sldId id="373" r:id="rId23"/>
    <p:sldId id="374" r:id="rId24"/>
    <p:sldId id="375" r:id="rId25"/>
    <p:sldId id="376" r:id="rId26"/>
    <p:sldId id="377" r:id="rId27"/>
    <p:sldId id="378" r:id="rId28"/>
    <p:sldId id="379" r:id="rId29"/>
    <p:sldId id="380" r:id="rId30"/>
    <p:sldId id="381" r:id="rId31"/>
    <p:sldId id="382" r:id="rId32"/>
    <p:sldId id="383" r:id="rId33"/>
    <p:sldId id="384" r:id="rId34"/>
  </p:sldIdLst>
  <p:sldSz cx="9144000" cy="6858000" type="screen4x3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3114C"/>
    <a:srgbClr val="20BD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90"/>
    <p:restoredTop sz="94762"/>
  </p:normalViewPr>
  <p:slideViewPr>
    <p:cSldViewPr>
      <p:cViewPr varScale="1">
        <p:scale>
          <a:sx n="121" d="100"/>
          <a:sy n="121" d="100"/>
        </p:scale>
        <p:origin x="194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ableStyles" Target="tableStyle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ts, Ron" userId="24548d85-388a-4276-9d61-77686c5c648d" providerId="ADAL" clId="{392B3689-83D7-8F47-A986-65C9AA05DD68}"/>
    <pc:docChg chg="undo addSld delSld modSld">
      <pc:chgData name="Arts, Ron" userId="24548d85-388a-4276-9d61-77686c5c648d" providerId="ADAL" clId="{392B3689-83D7-8F47-A986-65C9AA05DD68}" dt="2020-07-03T08:38:35.391" v="86" actId="20577"/>
      <pc:docMkLst>
        <pc:docMk/>
      </pc:docMkLst>
      <pc:sldChg chg="modSp">
        <pc:chgData name="Arts, Ron" userId="24548d85-388a-4276-9d61-77686c5c648d" providerId="ADAL" clId="{392B3689-83D7-8F47-A986-65C9AA05DD68}" dt="2020-07-03T08:38:35.391" v="86" actId="20577"/>
        <pc:sldMkLst>
          <pc:docMk/>
          <pc:sldMk cId="3918197338" sldId="375"/>
        </pc:sldMkLst>
        <pc:spChg chg="mod">
          <ac:chgData name="Arts, Ron" userId="24548d85-388a-4276-9d61-77686c5c648d" providerId="ADAL" clId="{392B3689-83D7-8F47-A986-65C9AA05DD68}" dt="2020-07-03T08:38:35.391" v="86" actId="20577"/>
          <ac:spMkLst>
            <pc:docMk/>
            <pc:sldMk cId="3918197338" sldId="375"/>
            <ac:spMk id="16389" creationId="{00000000-0000-0000-0000-000000000000}"/>
          </ac:spMkLst>
        </pc:spChg>
      </pc:sldChg>
      <pc:sldChg chg="add del">
        <pc:chgData name="Arts, Ron" userId="24548d85-388a-4276-9d61-77686c5c648d" providerId="ADAL" clId="{392B3689-83D7-8F47-A986-65C9AA05DD68}" dt="2020-07-03T08:37:22.776" v="1" actId="2696"/>
        <pc:sldMkLst>
          <pc:docMk/>
          <pc:sldMk cId="1310077300" sldId="413"/>
        </pc:sldMkLst>
      </pc:sldChg>
    </pc:docChg>
  </pc:docChgLst>
  <pc:docChgLst>
    <pc:chgData name="Arts, Ron" userId="24548d85-388a-4276-9d61-77686c5c648d" providerId="ADAL" clId="{811346F2-C589-5F42-9BAA-87AC1737B267}"/>
    <pc:docChg chg="custSel addSld modSld">
      <pc:chgData name="Arts, Ron" userId="24548d85-388a-4276-9d61-77686c5c648d" providerId="ADAL" clId="{811346F2-C589-5F42-9BAA-87AC1737B267}" dt="2020-02-08T20:40:24.764" v="1159" actId="20577"/>
      <pc:docMkLst>
        <pc:docMk/>
      </pc:docMkLst>
      <pc:sldChg chg="modSp add">
        <pc:chgData name="Arts, Ron" userId="24548d85-388a-4276-9d61-77686c5c648d" providerId="ADAL" clId="{811346F2-C589-5F42-9BAA-87AC1737B267}" dt="2020-02-06T10:53:11.884" v="567" actId="20577"/>
        <pc:sldMkLst>
          <pc:docMk/>
          <pc:sldMk cId="1706298692" sldId="422"/>
        </pc:sldMkLst>
        <pc:spChg chg="mod">
          <ac:chgData name="Arts, Ron" userId="24548d85-388a-4276-9d61-77686c5c648d" providerId="ADAL" clId="{811346F2-C589-5F42-9BAA-87AC1737B267}" dt="2020-02-06T10:49:41.443" v="67" actId="20577"/>
          <ac:spMkLst>
            <pc:docMk/>
            <pc:sldMk cId="1706298692" sldId="422"/>
            <ac:spMk id="13316" creationId="{00000000-0000-0000-0000-000000000000}"/>
          </ac:spMkLst>
        </pc:spChg>
        <pc:spChg chg="mod">
          <ac:chgData name="Arts, Ron" userId="24548d85-388a-4276-9d61-77686c5c648d" providerId="ADAL" clId="{811346F2-C589-5F42-9BAA-87AC1737B267}" dt="2020-02-06T10:53:11.884" v="567" actId="20577"/>
          <ac:spMkLst>
            <pc:docMk/>
            <pc:sldMk cId="1706298692" sldId="422"/>
            <ac:spMk id="13317" creationId="{00000000-0000-0000-0000-000000000000}"/>
          </ac:spMkLst>
        </pc:spChg>
      </pc:sldChg>
      <pc:sldChg chg="modSp add">
        <pc:chgData name="Arts, Ron" userId="24548d85-388a-4276-9d61-77686c5c648d" providerId="ADAL" clId="{811346F2-C589-5F42-9BAA-87AC1737B267}" dt="2020-02-08T20:40:24.764" v="1159" actId="20577"/>
        <pc:sldMkLst>
          <pc:docMk/>
          <pc:sldMk cId="69873485" sldId="423"/>
        </pc:sldMkLst>
        <pc:spChg chg="mod">
          <ac:chgData name="Arts, Ron" userId="24548d85-388a-4276-9d61-77686c5c648d" providerId="ADAL" clId="{811346F2-C589-5F42-9BAA-87AC1737B267}" dt="2020-02-06T10:55:17.817" v="587" actId="20577"/>
          <ac:spMkLst>
            <pc:docMk/>
            <pc:sldMk cId="69873485" sldId="423"/>
            <ac:spMk id="13316" creationId="{00000000-0000-0000-0000-000000000000}"/>
          </ac:spMkLst>
        </pc:spChg>
        <pc:spChg chg="mod">
          <ac:chgData name="Arts, Ron" userId="24548d85-388a-4276-9d61-77686c5c648d" providerId="ADAL" clId="{811346F2-C589-5F42-9BAA-87AC1737B267}" dt="2020-02-08T20:40:24.764" v="1159" actId="20577"/>
          <ac:spMkLst>
            <pc:docMk/>
            <pc:sldMk cId="69873485" sldId="423"/>
            <ac:spMk id="13317" creationId="{00000000-0000-0000-0000-000000000000}"/>
          </ac:spMkLst>
        </pc:spChg>
      </pc:sldChg>
      <pc:sldChg chg="modSp add">
        <pc:chgData name="Arts, Ron" userId="24548d85-388a-4276-9d61-77686c5c648d" providerId="ADAL" clId="{811346F2-C589-5F42-9BAA-87AC1737B267}" dt="2020-02-08T20:39:28.528" v="1136" actId="20577"/>
        <pc:sldMkLst>
          <pc:docMk/>
          <pc:sldMk cId="4240327468" sldId="424"/>
        </pc:sldMkLst>
        <pc:spChg chg="mod">
          <ac:chgData name="Arts, Ron" userId="24548d85-388a-4276-9d61-77686c5c648d" providerId="ADAL" clId="{811346F2-C589-5F42-9BAA-87AC1737B267}" dt="2020-02-08T20:29:43.159" v="785" actId="20577"/>
          <ac:spMkLst>
            <pc:docMk/>
            <pc:sldMk cId="4240327468" sldId="424"/>
            <ac:spMk id="13316" creationId="{00000000-0000-0000-0000-000000000000}"/>
          </ac:spMkLst>
        </pc:spChg>
        <pc:spChg chg="mod">
          <ac:chgData name="Arts, Ron" userId="24548d85-388a-4276-9d61-77686c5c648d" providerId="ADAL" clId="{811346F2-C589-5F42-9BAA-87AC1737B267}" dt="2020-02-08T20:39:28.528" v="1136" actId="20577"/>
          <ac:spMkLst>
            <pc:docMk/>
            <pc:sldMk cId="4240327468" sldId="424"/>
            <ac:spMk id="13317" creationId="{00000000-0000-0000-0000-000000000000}"/>
          </ac:spMkLst>
        </pc:spChg>
      </pc:sldChg>
    </pc:docChg>
  </pc:docChgLst>
  <pc:docChgLst>
    <pc:chgData name="Arts, Ron" userId="24548d85-388a-4276-9d61-77686c5c648d" providerId="ADAL" clId="{044FEEE9-875E-8848-B940-FED46FE0EA98}"/>
    <pc:docChg chg="undo custSel modSld">
      <pc:chgData name="Arts, Ron" userId="24548d85-388a-4276-9d61-77686c5c648d" providerId="ADAL" clId="{044FEEE9-875E-8848-B940-FED46FE0EA98}" dt="2020-05-28T07:00:23.045" v="24" actId="5793"/>
      <pc:docMkLst>
        <pc:docMk/>
      </pc:docMkLst>
      <pc:sldChg chg="modSp">
        <pc:chgData name="Arts, Ron" userId="24548d85-388a-4276-9d61-77686c5c648d" providerId="ADAL" clId="{044FEEE9-875E-8848-B940-FED46FE0EA98}" dt="2020-05-28T07:00:23.045" v="24" actId="5793"/>
        <pc:sldMkLst>
          <pc:docMk/>
          <pc:sldMk cId="3558630627" sldId="262"/>
        </pc:sldMkLst>
        <pc:spChg chg="mod">
          <ac:chgData name="Arts, Ron" userId="24548d85-388a-4276-9d61-77686c5c648d" providerId="ADAL" clId="{044FEEE9-875E-8848-B940-FED46FE0EA98}" dt="2020-05-28T07:00:23.045" v="24" actId="5793"/>
          <ac:spMkLst>
            <pc:docMk/>
            <pc:sldMk cId="3558630627" sldId="262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9B5F84-F7A7-46FA-BC08-F661D96BBCA7}" type="datetimeFigureOut">
              <a:rPr lang="nl-NL" smtClean="0"/>
              <a:pPr/>
              <a:t>03-07-2020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78F1AB-29EF-4445-A82D-E8624A7043CE}" type="slidenum">
              <a:rPr lang="nl-NL" smtClean="0"/>
              <a:pPr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999096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fld id="{AFD954D5-FD02-CA48-9011-70262DDC60B5}" type="slidenum">
              <a:rPr lang="en-US" sz="1200"/>
              <a:pPr/>
              <a:t>5</a:t>
            </a:fld>
            <a:endParaRPr lang="en-US" sz="1200"/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s-MX">
              <a:latin typeface="Times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fld id="{91098966-C243-A44D-AC6C-A6410407D69C}" type="slidenum">
              <a:rPr lang="en-US" sz="1200"/>
              <a:pPr/>
              <a:t>6</a:t>
            </a:fld>
            <a:endParaRPr lang="en-US" sz="1200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s-MX">
              <a:latin typeface="Times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fld id="{91098966-C243-A44D-AC6C-A6410407D69C}" type="slidenum">
              <a:rPr lang="en-US" sz="1200"/>
              <a:pPr/>
              <a:t>7</a:t>
            </a:fld>
            <a:endParaRPr lang="en-US" sz="1200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s-MX">
              <a:latin typeface="Times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fld id="{7E8CC9DB-9673-A84B-AC81-FF237C73B4CE}" type="slidenum">
              <a:rPr lang="en-US" sz="1200"/>
              <a:pPr/>
              <a:t>8</a:t>
            </a:fld>
            <a:endParaRPr lang="en-US" sz="1200"/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s-MX">
              <a:latin typeface="Times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fld id="{E909E486-D727-3E4E-872C-F34503D9015C}" type="slidenum">
              <a:rPr lang="en-US" sz="1200"/>
              <a:pPr/>
              <a:t>10</a:t>
            </a:fld>
            <a:endParaRPr lang="en-US" sz="1200"/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s-MX">
              <a:latin typeface="Times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fld id="{ADDCCB7C-5570-354D-984A-365A6B230426}" type="slidenum">
              <a:rPr lang="en-US" sz="1200"/>
              <a:pPr/>
              <a:t>12</a:t>
            </a:fld>
            <a:endParaRPr lang="en-US" sz="1200"/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s-MX">
              <a:latin typeface="Times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fld id="{6960AF6B-AE01-4F46-AD09-7A469B49E8AB}" type="slidenum">
              <a:rPr lang="en-US" sz="1200"/>
              <a:pPr/>
              <a:t>13</a:t>
            </a:fld>
            <a:endParaRPr lang="en-US" sz="1200"/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s-MX">
              <a:latin typeface="Times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fld id="{0E07371E-355C-3F4B-B2B5-8FBABC87ED9E}" type="slidenum">
              <a:rPr lang="en-US" sz="1200"/>
              <a:pPr/>
              <a:t>14</a:t>
            </a:fld>
            <a:endParaRPr lang="en-US" sz="1200"/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s-MX">
              <a:latin typeface="Times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fld id="{789C1A73-096E-9044-841B-FFF375E69DF6}" type="slidenum">
              <a:rPr lang="en-US" sz="1200"/>
              <a:pPr/>
              <a:t>15</a:t>
            </a:fld>
            <a:endParaRPr lang="en-US" sz="1200"/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s-MX">
              <a:latin typeface="Times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fld id="{789C1A73-096E-9044-841B-FFF375E69DF6}" type="slidenum">
              <a:rPr lang="en-US" sz="1200"/>
              <a:pPr/>
              <a:t>16</a:t>
            </a:fld>
            <a:endParaRPr lang="en-US" sz="1200"/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s-MX">
              <a:latin typeface="Time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75091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fld id="{789C1A73-096E-9044-841B-FFF375E69DF6}" type="slidenum">
              <a:rPr lang="en-US" sz="1200"/>
              <a:pPr/>
              <a:t>17</a:t>
            </a:fld>
            <a:endParaRPr lang="en-US" sz="1200"/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s-MX">
              <a:latin typeface="Time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90354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fld id="{789C1A73-096E-9044-841B-FFF375E69DF6}" type="slidenum">
              <a:rPr lang="en-US" sz="1200"/>
              <a:pPr/>
              <a:t>18</a:t>
            </a:fld>
            <a:endParaRPr lang="en-US" sz="1200"/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s-MX">
              <a:latin typeface="Time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99583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fld id="{606B3C63-E813-264A-B903-79EE955A752E}" type="slidenum">
              <a:rPr lang="en-US" sz="1200"/>
              <a:pPr/>
              <a:t>19</a:t>
            </a:fld>
            <a:endParaRPr lang="en-US" sz="1200"/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s-MX">
              <a:latin typeface="Times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fld id="{AECB1DBC-2793-D34B-AC33-E3AE06B2F7D6}" type="slidenum">
              <a:rPr lang="en-US" sz="1200"/>
              <a:pPr/>
              <a:t>20</a:t>
            </a:fld>
            <a:endParaRPr lang="en-US" sz="1200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s-MX">
              <a:latin typeface="Times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fld id="{E3941222-F7F5-4F4F-84BF-1AA3AAC5E8D4}" type="slidenum">
              <a:rPr lang="en-US" sz="1200"/>
              <a:pPr/>
              <a:t>21</a:t>
            </a:fld>
            <a:endParaRPr lang="en-US" sz="1200"/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s-MX">
              <a:latin typeface="Times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fld id="{4F230CB3-1963-E445-9DF2-B99FAF95A785}" type="slidenum">
              <a:rPr lang="en-US" sz="1200"/>
              <a:pPr/>
              <a:t>22</a:t>
            </a:fld>
            <a:endParaRPr lang="en-US" sz="1200"/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s-MX">
              <a:latin typeface="Times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fld id="{1B8F1765-B5E1-DC4E-98E1-C1E85BB0EA02}" type="slidenum">
              <a:rPr lang="en-US" sz="1200"/>
              <a:pPr/>
              <a:t>23</a:t>
            </a:fld>
            <a:endParaRPr lang="en-US" sz="1200"/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s-MX">
              <a:latin typeface="Times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fld id="{205BD567-F286-204A-A31B-4E7DD56F6516}" type="slidenum">
              <a:rPr lang="en-US" sz="1200"/>
              <a:pPr/>
              <a:t>25</a:t>
            </a:fld>
            <a:endParaRPr lang="en-US" sz="1200"/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s-MX">
              <a:latin typeface="Times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fld id="{1E8227E0-8802-884E-846E-F8C6DFDDC9F4}" type="slidenum">
              <a:rPr lang="en-US" sz="1200"/>
              <a:pPr/>
              <a:t>26</a:t>
            </a:fld>
            <a:endParaRPr lang="en-US" sz="1200"/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s-MX">
              <a:latin typeface="Times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fld id="{35072CDF-FF1A-BE4A-BCF9-1CF6ED95C687}" type="slidenum">
              <a:rPr lang="en-US" sz="1200"/>
              <a:pPr/>
              <a:t>27</a:t>
            </a:fld>
            <a:endParaRPr lang="en-US" sz="120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s-MX">
              <a:latin typeface="Times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fld id="{51AE377B-4A54-FF4F-A9F9-DEF12E3FDD25}" type="slidenum">
              <a:rPr lang="en-US" sz="1200"/>
              <a:pPr/>
              <a:t>28</a:t>
            </a:fld>
            <a:endParaRPr lang="en-US" sz="1200"/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s-MX">
              <a:latin typeface="Times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fld id="{265DAA51-3792-7D4B-856D-0114ABB6D064}" type="slidenum">
              <a:rPr lang="en-US" sz="1200"/>
              <a:pPr/>
              <a:t>29</a:t>
            </a:fld>
            <a:endParaRPr lang="en-US" sz="1200"/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s-MX">
              <a:latin typeface="Times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fld id="{C0433B83-A85A-9543-8787-7FCEF8DF0F0B}" type="slidenum">
              <a:rPr lang="en-US" sz="1200"/>
              <a:pPr/>
              <a:t>30</a:t>
            </a:fld>
            <a:endParaRPr lang="en-US" sz="1200"/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s-MX">
              <a:latin typeface="Times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255984" y="-171400"/>
            <a:ext cx="7772400" cy="1470025"/>
          </a:xfrm>
          <a:prstGeom prst="rect">
            <a:avLst/>
          </a:prstGeo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x-none"/>
              <a:t>Titelstijl van model bewerken</a:t>
            </a:r>
            <a:endParaRPr lang="nl-NL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331440" y="3429000"/>
            <a:ext cx="6400800" cy="1752600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Klik om de titelstijl van het model te bewerken</a:t>
            </a:r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>
          <a:xfrm>
            <a:off x="323528" y="5805264"/>
            <a:ext cx="6120680" cy="57606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nl-NL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al 9"/>
          <p:cNvSpPr/>
          <p:nvPr userDrawn="1"/>
        </p:nvSpPr>
        <p:spPr>
          <a:xfrm>
            <a:off x="4139952" y="6525344"/>
            <a:ext cx="216024" cy="216024"/>
          </a:xfrm>
          <a:prstGeom prst="ellipse">
            <a:avLst/>
          </a:prstGeom>
          <a:solidFill>
            <a:srgbClr val="20BD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3203848" y="6453336"/>
            <a:ext cx="20882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bg1"/>
                </a:solidFill>
              </a:defRPr>
            </a:lvl1pPr>
          </a:lstStyle>
          <a:p>
            <a:fld id="{1DAD25AC-3D36-459B-92CD-44DA3A629171}" type="slidenum">
              <a:rPr lang="nl-NL" smtClean="0"/>
              <a:pPr/>
              <a:t>‹nr.›</a:t>
            </a:fld>
            <a:endParaRPr lang="nl-NL" dirty="0"/>
          </a:p>
        </p:txBody>
      </p:sp>
      <p:sp>
        <p:nvSpPr>
          <p:cNvPr id="15" name="Tijdelijke aanduiding voor inhoud 2"/>
          <p:cNvSpPr>
            <a:spLocks noGrp="1"/>
          </p:cNvSpPr>
          <p:nvPr>
            <p:ph idx="1"/>
          </p:nvPr>
        </p:nvSpPr>
        <p:spPr>
          <a:xfrm>
            <a:off x="590872" y="1279301"/>
            <a:ext cx="8229600" cy="4309939"/>
          </a:xfrm>
        </p:spPr>
        <p:txBody>
          <a:bodyPr/>
          <a:lstStyle/>
          <a:p>
            <a:pPr lvl="0"/>
            <a:r>
              <a:rPr lang="x-none"/>
              <a:t>Klik om de tekststijl van het model te bewerken</a:t>
            </a:r>
          </a:p>
          <a:p>
            <a:pPr lvl="1"/>
            <a:r>
              <a:rPr lang="x-none"/>
              <a:t>Tweede niveau</a:t>
            </a:r>
          </a:p>
          <a:p>
            <a:pPr lvl="2"/>
            <a:r>
              <a:rPr lang="x-none"/>
              <a:t>Derde niveau</a:t>
            </a:r>
          </a:p>
          <a:p>
            <a:pPr lvl="3"/>
            <a:r>
              <a:rPr lang="x-none"/>
              <a:t>Vierde niveau</a:t>
            </a:r>
          </a:p>
          <a:p>
            <a:pPr lvl="4"/>
            <a:r>
              <a:rPr lang="x-none"/>
              <a:t>Vijfde niveau</a:t>
            </a:r>
            <a:endParaRPr lang="nl-NL" dirty="0"/>
          </a:p>
        </p:txBody>
      </p:sp>
      <p:sp>
        <p:nvSpPr>
          <p:cNvPr id="16" name="Tijdelijke aanduiding voor voettekst 4"/>
          <p:cNvSpPr>
            <a:spLocks noGrp="1"/>
          </p:cNvSpPr>
          <p:nvPr>
            <p:ph type="ftr" sz="quarter" idx="11"/>
          </p:nvPr>
        </p:nvSpPr>
        <p:spPr>
          <a:xfrm>
            <a:off x="2627784" y="5805264"/>
            <a:ext cx="6120680" cy="576064"/>
          </a:xfrm>
          <a:prstGeom prst="rect">
            <a:avLst/>
          </a:prstGeom>
        </p:spPr>
        <p:txBody>
          <a:bodyPr/>
          <a:lstStyle/>
          <a:p>
            <a:endParaRPr lang="nl-NL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Titelstijl van model bewerken</a:t>
            </a:r>
            <a:endParaRPr lang="nl-NL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al 9"/>
          <p:cNvSpPr/>
          <p:nvPr userDrawn="1"/>
        </p:nvSpPr>
        <p:spPr>
          <a:xfrm>
            <a:off x="4139952" y="6525344"/>
            <a:ext cx="216024" cy="216024"/>
          </a:xfrm>
          <a:prstGeom prst="ellipse">
            <a:avLst/>
          </a:prstGeom>
          <a:solidFill>
            <a:srgbClr val="20BD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590872" y="1279301"/>
            <a:ext cx="8229600" cy="4309939"/>
          </a:xfrm>
        </p:spPr>
        <p:txBody>
          <a:bodyPr/>
          <a:lstStyle/>
          <a:p>
            <a:pPr lvl="0"/>
            <a:r>
              <a:rPr lang="x-none"/>
              <a:t>Klik om de tekststijl van het model te bewerken</a:t>
            </a:r>
          </a:p>
          <a:p>
            <a:pPr lvl="1"/>
            <a:r>
              <a:rPr lang="x-none"/>
              <a:t>Tweede niveau</a:t>
            </a:r>
          </a:p>
          <a:p>
            <a:pPr lvl="2"/>
            <a:r>
              <a:rPr lang="x-none"/>
              <a:t>Derde niveau</a:t>
            </a:r>
          </a:p>
          <a:p>
            <a:pPr lvl="3"/>
            <a:r>
              <a:rPr lang="x-none"/>
              <a:t>Vierde niveau</a:t>
            </a:r>
          </a:p>
          <a:p>
            <a:pPr lvl="4"/>
            <a:r>
              <a:rPr lang="x-none"/>
              <a:t>Vijfde niveau</a:t>
            </a:r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>
          <a:xfrm>
            <a:off x="2627784" y="5805264"/>
            <a:ext cx="6120680" cy="576064"/>
          </a:xfrm>
          <a:prstGeom prst="rect">
            <a:avLst/>
          </a:prstGeom>
        </p:spPr>
        <p:txBody>
          <a:bodyPr/>
          <a:lstStyle/>
          <a:p>
            <a:endParaRPr lang="nl-NL" dirty="0"/>
          </a:p>
        </p:txBody>
      </p:sp>
      <p:sp>
        <p:nvSpPr>
          <p:cNvPr id="8" name="Titel 1"/>
          <p:cNvSpPr>
            <a:spLocks noGrp="1"/>
          </p:cNvSpPr>
          <p:nvPr>
            <p:ph type="title"/>
          </p:nvPr>
        </p:nvSpPr>
        <p:spPr>
          <a:xfrm>
            <a:off x="323528" y="-90264"/>
            <a:ext cx="8229600" cy="1143000"/>
          </a:xfrm>
          <a:prstGeom prst="rect">
            <a:avLst/>
          </a:prstGeom>
        </p:spPr>
        <p:txBody>
          <a:bodyPr anchor="b"/>
          <a:lstStyle/>
          <a:p>
            <a:r>
              <a:rPr lang="x-none"/>
              <a:t>Titelstijl van model bewerken</a:t>
            </a:r>
            <a:endParaRPr lang="nl-NL" dirty="0"/>
          </a:p>
        </p:txBody>
      </p:sp>
      <p:sp>
        <p:nvSpPr>
          <p:cNvPr id="9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3203848" y="6453336"/>
            <a:ext cx="20882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bg1"/>
                </a:solidFill>
              </a:defRPr>
            </a:lvl1pPr>
          </a:lstStyle>
          <a:p>
            <a:fld id="{1DAD25AC-3D36-459B-92CD-44DA3A629171}" type="slidenum">
              <a:rPr lang="nl-NL" smtClean="0"/>
              <a:pPr/>
              <a:t>‹nr.›</a:t>
            </a:fld>
            <a:endParaRPr lang="nl-NL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lleen titel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al 8"/>
          <p:cNvSpPr/>
          <p:nvPr userDrawn="1"/>
        </p:nvSpPr>
        <p:spPr>
          <a:xfrm>
            <a:off x="4139952" y="6525344"/>
            <a:ext cx="216024" cy="216024"/>
          </a:xfrm>
          <a:prstGeom prst="ellipse">
            <a:avLst/>
          </a:prstGeom>
          <a:solidFill>
            <a:srgbClr val="2311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solidFill>
                <a:srgbClr val="23114C"/>
              </a:solidFill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23528" y="-99392"/>
            <a:ext cx="8229600" cy="1143000"/>
          </a:xfrm>
          <a:prstGeom prst="rect">
            <a:avLst/>
          </a:prstGeom>
        </p:spPr>
        <p:txBody>
          <a:bodyPr anchor="b"/>
          <a:lstStyle/>
          <a:p>
            <a:r>
              <a:rPr lang="x-none"/>
              <a:t>Titelstijl van model bewerken</a:t>
            </a:r>
            <a:endParaRPr lang="nl-NL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>
          <a:xfrm>
            <a:off x="2123728" y="5805264"/>
            <a:ext cx="6120680" cy="57606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7" name="Tijdelijke aanduiding voor inhoud 2"/>
          <p:cNvSpPr>
            <a:spLocks noGrp="1"/>
          </p:cNvSpPr>
          <p:nvPr>
            <p:ph idx="1"/>
          </p:nvPr>
        </p:nvSpPr>
        <p:spPr>
          <a:xfrm>
            <a:off x="590872" y="1279301"/>
            <a:ext cx="8229600" cy="4237931"/>
          </a:xfrm>
        </p:spPr>
        <p:txBody>
          <a:bodyPr/>
          <a:lstStyle/>
          <a:p>
            <a:pPr lvl="0"/>
            <a:r>
              <a:rPr lang="x-none"/>
              <a:t>Klik om de tekststijl van het model te bewerken</a:t>
            </a:r>
          </a:p>
          <a:p>
            <a:pPr lvl="1"/>
            <a:r>
              <a:rPr lang="x-none"/>
              <a:t>Tweede niveau</a:t>
            </a:r>
          </a:p>
          <a:p>
            <a:pPr lvl="2"/>
            <a:r>
              <a:rPr lang="x-none"/>
              <a:t>Derde niveau</a:t>
            </a:r>
          </a:p>
          <a:p>
            <a:pPr lvl="3"/>
            <a:r>
              <a:rPr lang="x-none"/>
              <a:t>Vierde niveau</a:t>
            </a:r>
          </a:p>
          <a:p>
            <a:pPr lvl="4"/>
            <a:r>
              <a:rPr lang="x-none"/>
              <a:t>Vijfde niveau</a:t>
            </a:r>
            <a:endParaRPr lang="nl-NL" dirty="0"/>
          </a:p>
        </p:txBody>
      </p:sp>
      <p:sp>
        <p:nvSpPr>
          <p:cNvPr id="8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3203848" y="6453336"/>
            <a:ext cx="20882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bg1"/>
                </a:solidFill>
              </a:defRPr>
            </a:lvl1pPr>
          </a:lstStyle>
          <a:p>
            <a:fld id="{1DAD25AC-3D36-459B-92CD-44DA3A629171}" type="slidenum">
              <a:rPr lang="nl-NL" smtClean="0"/>
              <a:pPr/>
              <a:t>‹nr.›</a:t>
            </a:fld>
            <a:endParaRPr lang="nl-NL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Copyright © 2012 Addison-Wesley. All rights reserved.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1-</a:t>
            </a:r>
            <a:fld id="{81B6E379-F4F0-E34F-8DAF-0A4A148E88F6}" type="slidenum">
              <a:rPr lang="en-US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407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7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90872" y="1279301"/>
            <a:ext cx="8229600" cy="42379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/>
              <a:t>Klik om de modelstijlen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3230488" y="64482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rgbClr val="23114C"/>
                </a:solidFill>
              </a:defRPr>
            </a:lvl1pPr>
          </a:lstStyle>
          <a:p>
            <a:fld id="{1DAD25AC-3D36-459B-92CD-44DA3A629171}" type="slidenum">
              <a:rPr lang="nl-NL" smtClean="0"/>
              <a:pPr/>
              <a:t>‹nr.›</a:t>
            </a:fld>
            <a:endParaRPr lang="nl-NL" dirty="0"/>
          </a:p>
        </p:txBody>
      </p:sp>
      <p:sp>
        <p:nvSpPr>
          <p:cNvPr id="9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2627784" y="5805264"/>
            <a:ext cx="6120680" cy="57606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200">
                <a:solidFill>
                  <a:srgbClr val="23114C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endParaRPr lang="nl-NL" dirty="0"/>
          </a:p>
        </p:txBody>
      </p:sp>
      <p:sp>
        <p:nvSpPr>
          <p:cNvPr id="10" name="Tijdelijke aanduiding voor titel 9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de stijl te bewerken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61" r:id="rId2"/>
    <p:sldLayoutId id="2147483657" r:id="rId3"/>
    <p:sldLayoutId id="2147483664" r:id="rId4"/>
    <p:sldLayoutId id="2147483665" r:id="rId5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2600" b="1" kern="1200">
          <a:solidFill>
            <a:srgbClr val="20BDBA"/>
          </a:solidFill>
          <a:latin typeface="Verdana" pitchFamily="34" charset="0"/>
          <a:ea typeface="Verdana" pitchFamily="34" charset="0"/>
          <a:cs typeface="Verdana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rgbClr val="23114C"/>
          </a:solidFill>
          <a:latin typeface="Verdana" pitchFamily="34" charset="0"/>
          <a:ea typeface="Verdana" pitchFamily="34" charset="0"/>
          <a:cs typeface="Verdana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200" kern="1200">
          <a:solidFill>
            <a:srgbClr val="23114C"/>
          </a:solidFill>
          <a:latin typeface="Verdana" pitchFamily="34" charset="0"/>
          <a:ea typeface="Verdana" pitchFamily="34" charset="0"/>
          <a:cs typeface="Verdana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900" kern="1200">
          <a:solidFill>
            <a:srgbClr val="23114C"/>
          </a:solidFill>
          <a:latin typeface="Verdana" pitchFamily="34" charset="0"/>
          <a:ea typeface="Verdana" pitchFamily="34" charset="0"/>
          <a:cs typeface="Verdana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700" kern="1200">
          <a:solidFill>
            <a:srgbClr val="23114C"/>
          </a:solidFill>
          <a:latin typeface="Verdana" pitchFamily="34" charset="0"/>
          <a:ea typeface="Verdana" pitchFamily="34" charset="0"/>
          <a:cs typeface="Verdana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400" kern="1200">
          <a:solidFill>
            <a:srgbClr val="23114C"/>
          </a:solidFill>
          <a:latin typeface="Verdana" pitchFamily="34" charset="0"/>
          <a:ea typeface="Verdana" pitchFamily="34" charset="0"/>
          <a:cs typeface="Verdana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/>
              <a:t>ICPT – Concepten in Programmeertalen</a:t>
            </a:r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NL" dirty="0"/>
              <a:t>Les 3a </a:t>
            </a:r>
          </a:p>
          <a:p>
            <a:r>
              <a:rPr lang="nl-NL" dirty="0" err="1"/>
              <a:t>Names</a:t>
            </a:r>
            <a:r>
              <a:rPr lang="nl-NL" dirty="0"/>
              <a:t>, Binding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dirty="0"/>
              <a:t>Opleiding Informatica</a:t>
            </a:r>
          </a:p>
        </p:txBody>
      </p:sp>
    </p:spTree>
    <p:extLst>
      <p:ext uri="{BB962C8B-B14F-4D97-AF65-F5344CB8AC3E}">
        <p14:creationId xmlns:p14="http://schemas.microsoft.com/office/powerpoint/2010/main" val="40304502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DAD25AC-3D36-459B-92CD-44DA3A629171}" type="slidenum">
              <a:rPr lang="nl-NL" smtClean="0"/>
              <a:pPr/>
              <a:t>2</a:t>
            </a:fld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nl-NL" sz="2000" dirty="0"/>
          </a:p>
          <a:p>
            <a:endParaRPr lang="nl-NL" sz="2000" dirty="0"/>
          </a:p>
          <a:p>
            <a:r>
              <a:rPr lang="nl-NL" sz="2000" dirty="0" err="1"/>
              <a:t>Names</a:t>
            </a:r>
            <a:r>
              <a:rPr lang="nl-NL" sz="2000" dirty="0"/>
              <a:t> &amp; </a:t>
            </a:r>
            <a:r>
              <a:rPr lang="nl-NL" sz="2000" dirty="0" err="1"/>
              <a:t>Bindings</a:t>
            </a:r>
            <a:endParaRPr lang="nl-NL" sz="2000" dirty="0"/>
          </a:p>
          <a:p>
            <a:r>
              <a:rPr lang="nl-NL" sz="2000" dirty="0"/>
              <a:t>Variables</a:t>
            </a:r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Planning voor deze les</a:t>
            </a:r>
          </a:p>
        </p:txBody>
      </p:sp>
    </p:spTree>
    <p:extLst>
      <p:ext uri="{BB962C8B-B14F-4D97-AF65-F5344CB8AC3E}">
        <p14:creationId xmlns:p14="http://schemas.microsoft.com/office/powerpoint/2010/main" val="35586306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DAD25AC-3D36-459B-92CD-44DA3A629171}" type="slidenum">
              <a:rPr lang="nl-NL" smtClean="0"/>
              <a:pPr/>
              <a:t>3</a:t>
            </a:fld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nl-NL" dirty="0"/>
              <a:t>var getal = "12";</a:t>
            </a:r>
          </a:p>
          <a:p>
            <a:pPr marL="0" indent="0">
              <a:buNone/>
            </a:pPr>
            <a:endParaRPr lang="nl-NL" dirty="0"/>
          </a:p>
          <a:p>
            <a:pPr marL="0" indent="0">
              <a:buNone/>
            </a:pPr>
            <a:r>
              <a:rPr lang="nl-NL" dirty="0"/>
              <a:t>var naam = '</a:t>
            </a:r>
            <a:r>
              <a:rPr lang="nl-NL" dirty="0" err="1"/>
              <a:t>Alex</a:t>
            </a:r>
            <a:r>
              <a:rPr lang="nl-NL" dirty="0"/>
              <a:t>';</a:t>
            </a:r>
          </a:p>
          <a:p>
            <a:pPr marL="0" indent="0">
              <a:buNone/>
            </a:pPr>
            <a:r>
              <a:rPr lang="nl-NL" dirty="0" err="1"/>
              <a:t>if</a:t>
            </a:r>
            <a:r>
              <a:rPr lang="nl-NL" dirty="0"/>
              <a:t> (getal &lt; 20) {</a:t>
            </a:r>
          </a:p>
          <a:p>
            <a:pPr marL="0" indent="0">
              <a:buNone/>
            </a:pPr>
            <a:r>
              <a:rPr lang="nl-NL" dirty="0"/>
              <a:t>    var naam = 'Charlotte'; </a:t>
            </a:r>
          </a:p>
          <a:p>
            <a:pPr marL="0" indent="0">
              <a:buNone/>
            </a:pPr>
            <a:r>
              <a:rPr lang="nl-NL" dirty="0"/>
              <a:t>}</a:t>
            </a:r>
          </a:p>
          <a:p>
            <a:pPr marL="0" indent="0">
              <a:buNone/>
            </a:pPr>
            <a:endParaRPr lang="nl-NL" dirty="0"/>
          </a:p>
          <a:p>
            <a:pPr marL="0" indent="0">
              <a:buNone/>
            </a:pPr>
            <a:r>
              <a:rPr lang="nl-NL" dirty="0" err="1"/>
              <a:t>console.log</a:t>
            </a:r>
            <a:r>
              <a:rPr lang="nl-NL" dirty="0"/>
              <a:t>(name);</a:t>
            </a:r>
          </a:p>
          <a:p>
            <a:pPr marL="0" indent="0">
              <a:buNone/>
            </a:pPr>
            <a:r>
              <a:rPr lang="nl-NL" dirty="0" err="1"/>
              <a:t>console.log</a:t>
            </a:r>
            <a:r>
              <a:rPr lang="nl-NL" dirty="0"/>
              <a:t>(naam);</a:t>
            </a:r>
          </a:p>
          <a:p>
            <a:pPr marL="0" indent="0">
              <a:buNone/>
            </a:pPr>
            <a:endParaRPr lang="nl-NL" dirty="0"/>
          </a:p>
          <a:p>
            <a:pPr marL="0" indent="0">
              <a:buNone/>
            </a:pPr>
            <a:endParaRPr lang="nl-NL" dirty="0"/>
          </a:p>
          <a:p>
            <a:pPr marL="0" indent="0">
              <a:buNone/>
            </a:pPr>
            <a:r>
              <a:rPr lang="nl-NL" dirty="0" err="1"/>
              <a:t>if</a:t>
            </a:r>
            <a:r>
              <a:rPr lang="nl-NL" dirty="0"/>
              <a:t> ("20" == 20) {</a:t>
            </a:r>
          </a:p>
          <a:p>
            <a:pPr marL="0" indent="0">
              <a:buNone/>
            </a:pPr>
            <a:r>
              <a:rPr lang="nl-NL" dirty="0"/>
              <a:t>  </a:t>
            </a:r>
            <a:r>
              <a:rPr lang="nl-NL" dirty="0" err="1"/>
              <a:t>console.log</a:t>
            </a:r>
            <a:r>
              <a:rPr lang="nl-NL" dirty="0"/>
              <a:t>('gelijk')</a:t>
            </a:r>
          </a:p>
          <a:p>
            <a:pPr marL="0" indent="0">
              <a:buNone/>
            </a:pPr>
            <a:r>
              <a:rPr lang="nl-NL" dirty="0"/>
              <a:t>}</a:t>
            </a:r>
          </a:p>
          <a:p>
            <a:pPr marL="0" indent="0">
              <a:buNone/>
            </a:pPr>
            <a:endParaRPr lang="nl-NL" dirty="0"/>
          </a:p>
          <a:p>
            <a:pPr marL="0" indent="0">
              <a:buNone/>
            </a:pPr>
            <a:endParaRPr lang="nl-NL" dirty="0"/>
          </a:p>
          <a:p>
            <a:pPr marL="0" indent="0">
              <a:buNone/>
            </a:pPr>
            <a:r>
              <a:rPr lang="nl-NL" dirty="0" err="1"/>
              <a:t>if</a:t>
            </a:r>
            <a:r>
              <a:rPr lang="nl-NL" dirty="0"/>
              <a:t> ("20" === 20) {</a:t>
            </a:r>
          </a:p>
          <a:p>
            <a:pPr marL="0" indent="0">
              <a:buNone/>
            </a:pPr>
            <a:r>
              <a:rPr lang="nl-NL" dirty="0"/>
              <a:t>  </a:t>
            </a:r>
            <a:r>
              <a:rPr lang="nl-NL" dirty="0" err="1"/>
              <a:t>console.log</a:t>
            </a:r>
            <a:r>
              <a:rPr lang="nl-NL" dirty="0"/>
              <a:t>('gelijk')</a:t>
            </a:r>
          </a:p>
          <a:p>
            <a:pPr marL="0" indent="0">
              <a:buNone/>
            </a:pPr>
            <a:r>
              <a:rPr lang="nl-NL" dirty="0"/>
              <a:t>}</a:t>
            </a:r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Wat doet deze code</a:t>
            </a:r>
          </a:p>
        </p:txBody>
      </p:sp>
      <p:sp>
        <p:nvSpPr>
          <p:cNvPr id="6" name="Rechthoek 5"/>
          <p:cNvSpPr/>
          <p:nvPr/>
        </p:nvSpPr>
        <p:spPr>
          <a:xfrm>
            <a:off x="2286000" y="889843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481685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DAD25AC-3D36-459B-92CD-44DA3A629171}" type="slidenum">
              <a:rPr lang="nl-NL" smtClean="0"/>
              <a:pPr/>
              <a:t>4</a:t>
            </a:fld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nl-NL" dirty="0"/>
              <a:t>int a = 3;</a:t>
            </a:r>
          </a:p>
          <a:p>
            <a:pPr marL="0" indent="0">
              <a:buNone/>
            </a:pPr>
            <a:endParaRPr lang="nl-NL" dirty="0"/>
          </a:p>
          <a:p>
            <a:pPr marL="0" indent="0">
              <a:buNone/>
            </a:pPr>
            <a:r>
              <a:rPr lang="nl-NL" dirty="0"/>
              <a:t>{</a:t>
            </a:r>
          </a:p>
          <a:p>
            <a:pPr marL="0" indent="0">
              <a:buNone/>
            </a:pPr>
            <a:r>
              <a:rPr lang="nl-NL" dirty="0"/>
              <a:t>   int b = 5;</a:t>
            </a:r>
          </a:p>
          <a:p>
            <a:pPr marL="0" indent="0">
              <a:buNone/>
            </a:pPr>
            <a:r>
              <a:rPr lang="nl-NL" dirty="0"/>
              <a:t>   int c = a + b;</a:t>
            </a:r>
          </a:p>
          <a:p>
            <a:pPr marL="0" indent="0">
              <a:buNone/>
            </a:pPr>
            <a:endParaRPr lang="nl-NL" dirty="0"/>
          </a:p>
          <a:p>
            <a:pPr marL="0" indent="0">
              <a:buNone/>
            </a:pPr>
            <a:r>
              <a:rPr lang="nl-NL" dirty="0"/>
              <a:t>}</a:t>
            </a:r>
          </a:p>
          <a:p>
            <a:pPr marL="0" indent="0">
              <a:buNone/>
            </a:pPr>
            <a:endParaRPr lang="nl-NL" dirty="0"/>
          </a:p>
          <a:p>
            <a:pPr marL="0" indent="0">
              <a:buNone/>
            </a:pPr>
            <a:r>
              <a:rPr lang="nl-NL" dirty="0"/>
              <a:t>int d = a + c;</a:t>
            </a:r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Names</a:t>
            </a:r>
            <a:r>
              <a:rPr lang="nl-NL" dirty="0"/>
              <a:t>, Binding &amp; Scope</a:t>
            </a:r>
          </a:p>
        </p:txBody>
      </p:sp>
    </p:spTree>
    <p:extLst>
      <p:ext uri="{BB962C8B-B14F-4D97-AF65-F5344CB8AC3E}">
        <p14:creationId xmlns:p14="http://schemas.microsoft.com/office/powerpoint/2010/main" val="4009660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r>
              <a:rPr lang="en-US" sz="1000">
                <a:latin typeface="Arial" charset="0"/>
              </a:rPr>
              <a:t>Copyright © 2012 Addison-Wesley. All rights reserved.</a:t>
            </a:r>
          </a:p>
        </p:txBody>
      </p:sp>
      <p:sp>
        <p:nvSpPr>
          <p:cNvPr id="5123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r>
              <a:rPr lang="en-US" sz="1000">
                <a:latin typeface="Arial" charset="0"/>
              </a:rPr>
              <a:t>1-</a:t>
            </a:r>
            <a:fld id="{30F69296-7BCC-C249-AF7D-7CA1CC28CF91}" type="slidenum">
              <a:rPr lang="en-US" sz="1000">
                <a:latin typeface="Arial" charset="0"/>
              </a:rPr>
              <a:pPr/>
              <a:t>5</a:t>
            </a:fld>
            <a:endParaRPr lang="en-US" sz="1000">
              <a:latin typeface="Arial" charset="0"/>
            </a:endParaRPr>
          </a:p>
        </p:txBody>
      </p:sp>
      <p:sp>
        <p:nvSpPr>
          <p:cNvPr id="512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Lucida Sans Unicode" charset="0"/>
                <a:cs typeface="Lucida Sans Unicode" charset="0"/>
              </a:rPr>
              <a:t>Introduction</a:t>
            </a:r>
          </a:p>
        </p:txBody>
      </p:sp>
      <p:sp>
        <p:nvSpPr>
          <p:cNvPr id="512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Lucida Sans Unicode" charset="0"/>
                <a:cs typeface="Lucida Sans Unicode" charset="0"/>
              </a:rPr>
              <a:t>Imperative languages are abstractions of von Neumann architecture</a:t>
            </a:r>
          </a:p>
          <a:p>
            <a:pPr lvl="1" eaLnBrk="1" hangingPunct="1"/>
            <a:r>
              <a:rPr lang="en-US">
                <a:latin typeface="Lucida Sans Unicode" charset="0"/>
                <a:ea typeface="Lucida Sans Unicode" charset="0"/>
                <a:cs typeface="Lucida Sans Unicode" charset="0"/>
              </a:rPr>
              <a:t>Memory</a:t>
            </a:r>
          </a:p>
          <a:p>
            <a:pPr lvl="1" eaLnBrk="1" hangingPunct="1"/>
            <a:r>
              <a:rPr lang="en-US">
                <a:latin typeface="Lucida Sans Unicode" charset="0"/>
                <a:ea typeface="Lucida Sans Unicode" charset="0"/>
                <a:cs typeface="Lucida Sans Unicode" charset="0"/>
              </a:rPr>
              <a:t>Processor</a:t>
            </a:r>
          </a:p>
          <a:p>
            <a:pPr eaLnBrk="1" hangingPunct="1"/>
            <a:r>
              <a:rPr lang="en-US">
                <a:latin typeface="Lucida Sans Unicode" charset="0"/>
                <a:cs typeface="Lucida Sans Unicode" charset="0"/>
              </a:rPr>
              <a:t>Variables are characterized by attributes</a:t>
            </a:r>
          </a:p>
          <a:p>
            <a:pPr lvl="1" eaLnBrk="1" hangingPunct="1"/>
            <a:r>
              <a:rPr lang="en-US">
                <a:latin typeface="Lucida Sans Unicode" charset="0"/>
                <a:ea typeface="Lucida Sans Unicode" charset="0"/>
                <a:cs typeface="Lucida Sans Unicode" charset="0"/>
              </a:rPr>
              <a:t>To design a type, must consider scope, lifetime, type checking, initialization, and type compatibility</a:t>
            </a:r>
          </a:p>
        </p:txBody>
      </p:sp>
    </p:spTree>
    <p:extLst>
      <p:ext uri="{BB962C8B-B14F-4D97-AF65-F5344CB8AC3E}">
        <p14:creationId xmlns:p14="http://schemas.microsoft.com/office/powerpoint/2010/main" val="25350138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r>
              <a:rPr lang="en-US" sz="1000">
                <a:latin typeface="Arial" charset="0"/>
              </a:rPr>
              <a:t>Copyright © 2012 Addison-Wesley. All rights reserved.</a:t>
            </a:r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r>
              <a:rPr lang="en-US" sz="1000">
                <a:latin typeface="Arial" charset="0"/>
              </a:rPr>
              <a:t>1-</a:t>
            </a:r>
            <a:fld id="{E5B5ECF4-63D7-FB4B-BE7F-285E2D8B8D42}" type="slidenum">
              <a:rPr lang="en-US" sz="1000">
                <a:latin typeface="Arial" charset="0"/>
              </a:rPr>
              <a:pPr/>
              <a:t>6</a:t>
            </a:fld>
            <a:endParaRPr lang="en-US" sz="1000">
              <a:latin typeface="Arial" charset="0"/>
            </a:endParaRP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Lucida Sans Unicode" charset="0"/>
                <a:cs typeface="Lucida Sans Unicode" charset="0"/>
              </a:rPr>
              <a:t>Names</a:t>
            </a:r>
          </a:p>
        </p:txBody>
      </p:sp>
      <p:sp>
        <p:nvSpPr>
          <p:cNvPr id="614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None/>
            </a:pPr>
            <a:r>
              <a:rPr lang="en-US" dirty="0" err="1">
                <a:latin typeface="Lucida Sans Unicode" charset="0"/>
                <a:cs typeface="Lucida Sans Unicode" charset="0"/>
              </a:rPr>
              <a:t>Ontwerp</a:t>
            </a:r>
            <a:r>
              <a:rPr lang="en-US" dirty="0">
                <a:latin typeface="Lucida Sans Unicode" charset="0"/>
                <a:cs typeface="Lucida Sans Unicode" charset="0"/>
              </a:rPr>
              <a:t> </a:t>
            </a:r>
            <a:r>
              <a:rPr lang="en-US" dirty="0" err="1">
                <a:latin typeface="Lucida Sans Unicode" charset="0"/>
                <a:cs typeface="Lucida Sans Unicode" charset="0"/>
              </a:rPr>
              <a:t>afwegingen</a:t>
            </a:r>
            <a:r>
              <a:rPr lang="en-US" dirty="0">
                <a:latin typeface="Lucida Sans Unicode" charset="0"/>
                <a:cs typeface="Lucida Sans Unicode" charset="0"/>
              </a:rPr>
              <a:t> </a:t>
            </a:r>
            <a:r>
              <a:rPr lang="en-US" dirty="0" err="1">
                <a:latin typeface="Lucida Sans Unicode" charset="0"/>
                <a:cs typeface="Lucida Sans Unicode" charset="0"/>
              </a:rPr>
              <a:t>bij</a:t>
            </a:r>
            <a:r>
              <a:rPr lang="en-US" dirty="0">
                <a:latin typeface="Lucida Sans Unicode" charset="0"/>
                <a:cs typeface="Lucida Sans Unicode" charset="0"/>
              </a:rPr>
              <a:t> </a:t>
            </a:r>
            <a:r>
              <a:rPr lang="en-US" dirty="0" err="1">
                <a:latin typeface="Lucida Sans Unicode" charset="0"/>
                <a:cs typeface="Lucida Sans Unicode" charset="0"/>
              </a:rPr>
              <a:t>namen</a:t>
            </a:r>
            <a:r>
              <a:rPr lang="en-US" dirty="0">
                <a:latin typeface="Lucida Sans Unicode" charset="0"/>
                <a:cs typeface="Lucida Sans Unicode" charset="0"/>
              </a:rPr>
              <a:t>:</a:t>
            </a:r>
          </a:p>
          <a:p>
            <a:pPr lvl="1" eaLnBrk="1" hangingPunct="1"/>
            <a:r>
              <a:rPr lang="en-US" dirty="0" err="1">
                <a:latin typeface="Lucida Sans Unicode" charset="0"/>
                <a:ea typeface="Lucida Sans Unicode" charset="0"/>
                <a:cs typeface="Lucida Sans Unicode" charset="0"/>
              </a:rPr>
              <a:t>Zijn</a:t>
            </a:r>
            <a:r>
              <a:rPr lang="en-US" dirty="0">
                <a:latin typeface="Lucida Sans Unicode" charset="0"/>
                <a:ea typeface="Lucida Sans Unicode" charset="0"/>
                <a:cs typeface="Lucida Sans Unicode" charset="0"/>
              </a:rPr>
              <a:t> de </a:t>
            </a:r>
            <a:r>
              <a:rPr lang="en-US" dirty="0" err="1">
                <a:latin typeface="Lucida Sans Unicode" charset="0"/>
                <a:ea typeface="Lucida Sans Unicode" charset="0"/>
                <a:cs typeface="Lucida Sans Unicode" charset="0"/>
              </a:rPr>
              <a:t>namen</a:t>
            </a:r>
            <a:r>
              <a:rPr lang="en-US" dirty="0">
                <a:latin typeface="Lucida Sans Unicode" charset="0"/>
                <a:ea typeface="Lucida Sans Unicode" charset="0"/>
                <a:cs typeface="Lucida Sans Unicode" charset="0"/>
              </a:rPr>
              <a:t> </a:t>
            </a:r>
            <a:r>
              <a:rPr lang="en-US" dirty="0" err="1">
                <a:latin typeface="Lucida Sans Unicode" charset="0"/>
                <a:ea typeface="Lucida Sans Unicode" charset="0"/>
                <a:cs typeface="Lucida Sans Unicode" charset="0"/>
              </a:rPr>
              <a:t>hoofdletter</a:t>
            </a:r>
            <a:r>
              <a:rPr lang="en-US" dirty="0">
                <a:latin typeface="Lucida Sans Unicode" charset="0"/>
                <a:ea typeface="Lucida Sans Unicode" charset="0"/>
                <a:cs typeface="Lucida Sans Unicode" charset="0"/>
              </a:rPr>
              <a:t> </a:t>
            </a:r>
            <a:r>
              <a:rPr lang="en-US" dirty="0" err="1">
                <a:latin typeface="Lucida Sans Unicode" charset="0"/>
                <a:ea typeface="Lucida Sans Unicode" charset="0"/>
                <a:cs typeface="Lucida Sans Unicode" charset="0"/>
              </a:rPr>
              <a:t>gevoelig</a:t>
            </a:r>
            <a:r>
              <a:rPr lang="en-US" dirty="0">
                <a:latin typeface="Lucida Sans Unicode" charset="0"/>
                <a:ea typeface="Lucida Sans Unicode" charset="0"/>
                <a:cs typeface="Lucida Sans Unicode" charset="0"/>
              </a:rPr>
              <a:t>?</a:t>
            </a:r>
          </a:p>
          <a:p>
            <a:pPr lvl="1" eaLnBrk="1" hangingPunct="1"/>
            <a:r>
              <a:rPr lang="en-US" dirty="0" err="1">
                <a:latin typeface="Lucida Sans Unicode" charset="0"/>
                <a:ea typeface="Lucida Sans Unicode" charset="0"/>
                <a:cs typeface="Lucida Sans Unicode" charset="0"/>
              </a:rPr>
              <a:t>Zijn</a:t>
            </a:r>
            <a:r>
              <a:rPr lang="en-US" dirty="0">
                <a:latin typeface="Lucida Sans Unicode" charset="0"/>
                <a:ea typeface="Lucida Sans Unicode" charset="0"/>
                <a:cs typeface="Lucida Sans Unicode" charset="0"/>
              </a:rPr>
              <a:t> </a:t>
            </a:r>
            <a:r>
              <a:rPr lang="en-US" dirty="0" err="1">
                <a:latin typeface="Lucida Sans Unicode" charset="0"/>
                <a:ea typeface="Lucida Sans Unicode" charset="0"/>
                <a:cs typeface="Lucida Sans Unicode" charset="0"/>
              </a:rPr>
              <a:t>er</a:t>
            </a:r>
            <a:r>
              <a:rPr lang="en-US" dirty="0">
                <a:latin typeface="Lucida Sans Unicode" charset="0"/>
                <a:ea typeface="Lucida Sans Unicode" charset="0"/>
                <a:cs typeface="Lucida Sans Unicode" charset="0"/>
              </a:rPr>
              <a:t> </a:t>
            </a:r>
            <a:r>
              <a:rPr lang="en-US" dirty="0" err="1">
                <a:latin typeface="Lucida Sans Unicode" charset="0"/>
                <a:ea typeface="Lucida Sans Unicode" charset="0"/>
                <a:cs typeface="Lucida Sans Unicode" charset="0"/>
              </a:rPr>
              <a:t>speciale</a:t>
            </a:r>
            <a:r>
              <a:rPr lang="en-US" dirty="0">
                <a:latin typeface="Lucida Sans Unicode" charset="0"/>
                <a:ea typeface="Lucida Sans Unicode" charset="0"/>
                <a:cs typeface="Lucida Sans Unicode" charset="0"/>
              </a:rPr>
              <a:t> </a:t>
            </a:r>
            <a:r>
              <a:rPr lang="en-US" dirty="0" err="1">
                <a:latin typeface="Lucida Sans Unicode" charset="0"/>
                <a:ea typeface="Lucida Sans Unicode" charset="0"/>
                <a:cs typeface="Lucida Sans Unicode" charset="0"/>
              </a:rPr>
              <a:t>woorden</a:t>
            </a:r>
            <a:r>
              <a:rPr lang="en-US" dirty="0">
                <a:latin typeface="Lucida Sans Unicode" charset="0"/>
                <a:ea typeface="Lucida Sans Unicode" charset="0"/>
                <a:cs typeface="Lucida Sans Unicode" charset="0"/>
              </a:rPr>
              <a:t> </a:t>
            </a:r>
            <a:r>
              <a:rPr lang="en-US" dirty="0" err="1">
                <a:latin typeface="Lucida Sans Unicode" charset="0"/>
                <a:ea typeface="Lucida Sans Unicode" charset="0"/>
                <a:cs typeface="Lucida Sans Unicode" charset="0"/>
              </a:rPr>
              <a:t>gereserveerd</a:t>
            </a:r>
            <a:r>
              <a:rPr lang="en-US" dirty="0">
                <a:latin typeface="Lucida Sans Unicode" charset="0"/>
                <a:ea typeface="Lucida Sans Unicode" charset="0"/>
                <a:cs typeface="Lucida Sans Unicode" charset="0"/>
              </a:rPr>
              <a:t> of </a:t>
            </a:r>
            <a:r>
              <a:rPr lang="en-US" dirty="0" err="1">
                <a:latin typeface="Lucida Sans Unicode" charset="0"/>
                <a:ea typeface="Lucida Sans Unicode" charset="0"/>
                <a:cs typeface="Lucida Sans Unicode" charset="0"/>
              </a:rPr>
              <a:t>bepaalde</a:t>
            </a:r>
            <a:r>
              <a:rPr lang="en-US" dirty="0">
                <a:latin typeface="Lucida Sans Unicode" charset="0"/>
                <a:ea typeface="Lucida Sans Unicode" charset="0"/>
                <a:cs typeface="Lucida Sans Unicode" charset="0"/>
              </a:rPr>
              <a:t> keywords?</a:t>
            </a:r>
          </a:p>
        </p:txBody>
      </p:sp>
    </p:spTree>
    <p:extLst>
      <p:ext uri="{BB962C8B-B14F-4D97-AF65-F5344CB8AC3E}">
        <p14:creationId xmlns:p14="http://schemas.microsoft.com/office/powerpoint/2010/main" val="26076095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r>
              <a:rPr lang="en-US" sz="1000">
                <a:latin typeface="Arial" charset="0"/>
              </a:rPr>
              <a:t>Copyright © 2012 Addison-Wesley. All rights reserved.</a:t>
            </a:r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r>
              <a:rPr lang="en-US" sz="1000">
                <a:latin typeface="Arial" charset="0"/>
              </a:rPr>
              <a:t>1-</a:t>
            </a:r>
            <a:fld id="{E5B5ECF4-63D7-FB4B-BE7F-285E2D8B8D42}" type="slidenum">
              <a:rPr lang="en-US" sz="1000">
                <a:latin typeface="Arial" charset="0"/>
              </a:rPr>
              <a:pPr/>
              <a:t>7</a:t>
            </a:fld>
            <a:endParaRPr lang="en-US" sz="1000">
              <a:latin typeface="Arial" charset="0"/>
            </a:endParaRP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err="1">
                <a:latin typeface="Lucida Sans Unicode" charset="0"/>
                <a:cs typeface="Lucida Sans Unicode" charset="0"/>
              </a:rPr>
              <a:t>Wat</a:t>
            </a:r>
            <a:r>
              <a:rPr lang="en-US" dirty="0">
                <a:latin typeface="Lucida Sans Unicode" charset="0"/>
                <a:cs typeface="Lucida Sans Unicode" charset="0"/>
              </a:rPr>
              <a:t> is de </a:t>
            </a:r>
            <a:r>
              <a:rPr lang="en-US" dirty="0" err="1">
                <a:latin typeface="Lucida Sans Unicode" charset="0"/>
                <a:cs typeface="Lucida Sans Unicode" charset="0"/>
              </a:rPr>
              <a:t>maximale</a:t>
            </a:r>
            <a:r>
              <a:rPr lang="en-US" dirty="0">
                <a:latin typeface="Lucida Sans Unicode" charset="0"/>
                <a:cs typeface="Lucida Sans Unicode" charset="0"/>
              </a:rPr>
              <a:t> </a:t>
            </a:r>
            <a:r>
              <a:rPr lang="en-US" dirty="0" err="1">
                <a:latin typeface="Lucida Sans Unicode" charset="0"/>
                <a:cs typeface="Lucida Sans Unicode" charset="0"/>
              </a:rPr>
              <a:t>lengte</a:t>
            </a:r>
            <a:r>
              <a:rPr lang="en-US" dirty="0">
                <a:latin typeface="Lucida Sans Unicode" charset="0"/>
                <a:cs typeface="Lucida Sans Unicode" charset="0"/>
              </a:rPr>
              <a:t> van </a:t>
            </a:r>
            <a:r>
              <a:rPr lang="en-US" dirty="0" err="1">
                <a:latin typeface="Lucida Sans Unicode" charset="0"/>
                <a:cs typeface="Lucida Sans Unicode" charset="0"/>
              </a:rPr>
              <a:t>een</a:t>
            </a:r>
            <a:r>
              <a:rPr lang="en-US" dirty="0">
                <a:latin typeface="Lucida Sans Unicode" charset="0"/>
                <a:cs typeface="Lucida Sans Unicode" charset="0"/>
              </a:rPr>
              <a:t> </a:t>
            </a:r>
            <a:r>
              <a:rPr lang="en-US" dirty="0" err="1">
                <a:latin typeface="Lucida Sans Unicode" charset="0"/>
                <a:cs typeface="Lucida Sans Unicode" charset="0"/>
              </a:rPr>
              <a:t>variabele</a:t>
            </a:r>
            <a:r>
              <a:rPr lang="en-US" dirty="0">
                <a:latin typeface="Lucida Sans Unicode" charset="0"/>
                <a:cs typeface="Lucida Sans Unicode" charset="0"/>
              </a:rPr>
              <a:t>?</a:t>
            </a:r>
          </a:p>
        </p:txBody>
      </p:sp>
      <p:sp>
        <p:nvSpPr>
          <p:cNvPr id="614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None/>
            </a:pPr>
            <a:endParaRPr lang="en-US" dirty="0">
              <a:latin typeface="Lucida Sans Unicode" charset="0"/>
              <a:ea typeface="Lucida Sans Unicode" charset="0"/>
              <a:cs typeface="Lucida Sans Unicode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00773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r>
              <a:rPr lang="en-US" sz="1000">
                <a:latin typeface="Arial" charset="0"/>
              </a:rPr>
              <a:t>Copyright © 2012 Addison-Wesley. All rights reserved.</a:t>
            </a:r>
          </a:p>
        </p:txBody>
      </p:sp>
      <p:sp>
        <p:nvSpPr>
          <p:cNvPr id="717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r>
              <a:rPr lang="en-US" sz="1000">
                <a:latin typeface="Arial" charset="0"/>
              </a:rPr>
              <a:t>1-</a:t>
            </a:r>
            <a:fld id="{3411E9A7-7914-DB4D-879D-3E97D6E5FF8A}" type="slidenum">
              <a:rPr lang="en-US" sz="1000">
                <a:latin typeface="Arial" charset="0"/>
              </a:rPr>
              <a:pPr/>
              <a:t>8</a:t>
            </a:fld>
            <a:endParaRPr lang="en-US" sz="1000">
              <a:latin typeface="Arial" charset="0"/>
            </a:endParaRPr>
          </a:p>
        </p:txBody>
      </p:sp>
      <p:sp>
        <p:nvSpPr>
          <p:cNvPr id="717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Lucida Sans Unicode" charset="0"/>
                <a:cs typeface="Lucida Sans Unicode" charset="0"/>
              </a:rPr>
              <a:t>Names (continued)</a:t>
            </a:r>
          </a:p>
        </p:txBody>
      </p:sp>
      <p:sp>
        <p:nvSpPr>
          <p:cNvPr id="717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>
                <a:solidFill>
                  <a:schemeClr val="tx1"/>
                </a:solidFill>
                <a:latin typeface="Lucida Sans Unicode" charset="0"/>
                <a:cs typeface="Lucida Sans Unicode" charset="0"/>
              </a:rPr>
              <a:t>Length</a:t>
            </a:r>
          </a:p>
          <a:p>
            <a:pPr lvl="1" eaLnBrk="1" hangingPunct="1"/>
            <a:r>
              <a:rPr lang="en-US" dirty="0">
                <a:latin typeface="Lucida Sans Unicode" charset="0"/>
                <a:ea typeface="Lucida Sans Unicode" charset="0"/>
                <a:cs typeface="Lucida Sans Unicode" charset="0"/>
              </a:rPr>
              <a:t>If too short, they cannot be connotative</a:t>
            </a:r>
          </a:p>
          <a:p>
            <a:pPr lvl="1" eaLnBrk="1" hangingPunct="1"/>
            <a:r>
              <a:rPr lang="en-US" dirty="0">
                <a:latin typeface="Lucida Sans Unicode" charset="0"/>
                <a:ea typeface="Lucida Sans Unicode" charset="0"/>
                <a:cs typeface="Lucida Sans Unicode" charset="0"/>
              </a:rPr>
              <a:t>Language examples:</a:t>
            </a:r>
          </a:p>
          <a:p>
            <a:pPr lvl="2" eaLnBrk="1" hangingPunct="1"/>
            <a:r>
              <a:rPr lang="en-US" dirty="0">
                <a:latin typeface="Lucida Sans Unicode" charset="0"/>
                <a:ea typeface="Lucida Sans Unicode" charset="0"/>
                <a:cs typeface="Lucida Sans Unicode" charset="0"/>
              </a:rPr>
              <a:t>FORTRAN 95: maximum of 31</a:t>
            </a:r>
          </a:p>
          <a:p>
            <a:pPr lvl="2" eaLnBrk="1" hangingPunct="1"/>
            <a:r>
              <a:rPr lang="en-US" dirty="0">
                <a:latin typeface="Lucida Sans Unicode" charset="0"/>
                <a:ea typeface="Lucida Sans Unicode" charset="0"/>
                <a:cs typeface="Lucida Sans Unicode" charset="0"/>
              </a:rPr>
              <a:t>C99: no limit but only the first 63 are significant; also, external names are limited to a maximum of 31</a:t>
            </a:r>
          </a:p>
          <a:p>
            <a:pPr lvl="2" eaLnBrk="1" hangingPunct="1"/>
            <a:r>
              <a:rPr lang="en-US" dirty="0">
                <a:latin typeface="Lucida Sans Unicode" charset="0"/>
                <a:ea typeface="Lucida Sans Unicode" charset="0"/>
                <a:cs typeface="Lucida Sans Unicode" charset="0"/>
              </a:rPr>
              <a:t>C#, Ada, and Java: no limit, and all are significant</a:t>
            </a:r>
          </a:p>
          <a:p>
            <a:pPr lvl="2" eaLnBrk="1" hangingPunct="1"/>
            <a:r>
              <a:rPr lang="en-US" dirty="0">
                <a:latin typeface="Lucida Sans Unicode" charset="0"/>
                <a:ea typeface="Lucida Sans Unicode" charset="0"/>
                <a:cs typeface="Lucida Sans Unicode" charset="0"/>
              </a:rPr>
              <a:t>C++: no limit, but implementers often impose one</a:t>
            </a:r>
          </a:p>
        </p:txBody>
      </p:sp>
    </p:spTree>
    <p:extLst>
      <p:ext uri="{BB962C8B-B14F-4D97-AF65-F5344CB8AC3E}">
        <p14:creationId xmlns:p14="http://schemas.microsoft.com/office/powerpoint/2010/main" val="39058820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Met welke karakters kan/mag je een variabele beginnen?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Copyright © 2012 Addison-Wesley. All rights reserved.</a:t>
            </a:r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1-</a:t>
            </a:r>
            <a:fld id="{81B6E379-F4F0-E34F-8DAF-0A4A148E88F6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1165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r>
              <a:rPr lang="en-US" sz="1000">
                <a:latin typeface="Arial" charset="0"/>
              </a:rPr>
              <a:t>Copyright © 2012 Addison-Wesley. All rights reserved.</a:t>
            </a:r>
          </a:p>
        </p:txBody>
      </p:sp>
      <p:sp>
        <p:nvSpPr>
          <p:cNvPr id="8195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r>
              <a:rPr lang="en-US" sz="1000">
                <a:latin typeface="Arial" charset="0"/>
              </a:rPr>
              <a:t>1-</a:t>
            </a:r>
            <a:fld id="{98C7B1E7-8855-084C-8FE9-F2823E1A1460}" type="slidenum">
              <a:rPr lang="en-US" sz="1000">
                <a:latin typeface="Arial" charset="0"/>
              </a:rPr>
              <a:pPr/>
              <a:t>10</a:t>
            </a:fld>
            <a:endParaRPr lang="en-US" sz="1000">
              <a:latin typeface="Arial" charset="0"/>
            </a:endParaRPr>
          </a:p>
        </p:txBody>
      </p:sp>
      <p:sp>
        <p:nvSpPr>
          <p:cNvPr id="819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Lucida Sans Unicode" charset="0"/>
                <a:cs typeface="Lucida Sans Unicode" charset="0"/>
              </a:rPr>
              <a:t>Names (continued)</a:t>
            </a:r>
          </a:p>
        </p:txBody>
      </p:sp>
      <p:sp>
        <p:nvSpPr>
          <p:cNvPr id="819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>
                <a:solidFill>
                  <a:schemeClr val="tx2"/>
                </a:solidFill>
                <a:latin typeface="Lucida Sans Unicode" charset="0"/>
                <a:cs typeface="Lucida Sans Unicode" charset="0"/>
              </a:rPr>
              <a:t>Special characters</a:t>
            </a:r>
          </a:p>
          <a:p>
            <a:pPr lvl="1" eaLnBrk="1" hangingPunct="1"/>
            <a:r>
              <a:rPr lang="en-US" dirty="0">
                <a:latin typeface="Lucida Sans Unicode" charset="0"/>
                <a:ea typeface="Lucida Sans Unicode" charset="0"/>
                <a:cs typeface="Lucida Sans Unicode" charset="0"/>
              </a:rPr>
              <a:t>PHP: all variable names must begin with dollar signs</a:t>
            </a:r>
          </a:p>
          <a:p>
            <a:pPr lvl="1" eaLnBrk="1" hangingPunct="1"/>
            <a:r>
              <a:rPr lang="en-US" dirty="0">
                <a:latin typeface="Lucida Sans Unicode" charset="0"/>
                <a:ea typeface="Lucida Sans Unicode" charset="0"/>
                <a:cs typeface="Lucida Sans Unicode" charset="0"/>
              </a:rPr>
              <a:t>Perl: all variable names begin with special characters, which specify the variable</a:t>
            </a:r>
            <a:r>
              <a:rPr lang="ja-JP" altLang="en-US" dirty="0">
                <a:latin typeface="Lucida Sans Unicode" charset="0"/>
                <a:ea typeface="Lucida Sans Unicode" charset="0"/>
                <a:cs typeface="Lucida Sans Unicode" charset="0"/>
              </a:rPr>
              <a:t>’</a:t>
            </a:r>
            <a:r>
              <a:rPr lang="en-US" dirty="0">
                <a:latin typeface="Lucida Sans Unicode" charset="0"/>
                <a:ea typeface="Lucida Sans Unicode" charset="0"/>
                <a:cs typeface="Lucida Sans Unicode" charset="0"/>
              </a:rPr>
              <a:t>s type</a:t>
            </a:r>
          </a:p>
          <a:p>
            <a:pPr lvl="1" eaLnBrk="1" hangingPunct="1"/>
            <a:r>
              <a:rPr lang="en-US" dirty="0">
                <a:latin typeface="Lucida Sans Unicode" charset="0"/>
                <a:ea typeface="Lucida Sans Unicode" charset="0"/>
                <a:cs typeface="Lucida Sans Unicode" charset="0"/>
              </a:rPr>
              <a:t>Ruby: variable names that begin with </a:t>
            </a:r>
            <a:r>
              <a:rPr lang="en-US" dirty="0">
                <a:latin typeface="Courier New" charset="0"/>
                <a:ea typeface="ＭＳ Ｐゴシック" charset="0"/>
                <a:cs typeface="Courier New" charset="0"/>
              </a:rPr>
              <a:t>@</a:t>
            </a:r>
            <a:r>
              <a:rPr lang="en-US" dirty="0">
                <a:latin typeface="Lucida Sans Unicode" charset="0"/>
                <a:ea typeface="Lucida Sans Unicode" charset="0"/>
                <a:cs typeface="Lucida Sans Unicode" charset="0"/>
              </a:rPr>
              <a:t> are instance variables; those that begin with </a:t>
            </a:r>
            <a:r>
              <a:rPr lang="en-US" sz="2000" dirty="0">
                <a:latin typeface="Courier New" charset="0"/>
                <a:ea typeface="ＭＳ Ｐゴシック" charset="0"/>
                <a:cs typeface="Courier New" charset="0"/>
              </a:rPr>
              <a:t>@@</a:t>
            </a:r>
            <a:r>
              <a:rPr lang="en-US" dirty="0">
                <a:latin typeface="Lucida Sans Unicode" charset="0"/>
                <a:ea typeface="Lucida Sans Unicode" charset="0"/>
                <a:cs typeface="Lucida Sans Unicode" charset="0"/>
              </a:rPr>
              <a:t> are class variables</a:t>
            </a:r>
          </a:p>
        </p:txBody>
      </p:sp>
    </p:spTree>
    <p:extLst>
      <p:ext uri="{BB962C8B-B14F-4D97-AF65-F5344CB8AC3E}">
        <p14:creationId xmlns:p14="http://schemas.microsoft.com/office/powerpoint/2010/main" val="33210355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Lucida Sans Unicode" charset="0"/>
                <a:cs typeface="Lucida Sans Unicode" charset="0"/>
              </a:rPr>
              <a:t>Names (continued)</a:t>
            </a:r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>
                <a:solidFill>
                  <a:schemeClr val="tx2"/>
                </a:solidFill>
                <a:latin typeface="Lucida Sans Unicode" charset="0"/>
                <a:cs typeface="Lucida Sans Unicode" charset="0"/>
              </a:rPr>
              <a:t>Case sensitivity</a:t>
            </a:r>
          </a:p>
          <a:p>
            <a:pPr lvl="1" eaLnBrk="1" hangingPunct="1"/>
            <a:r>
              <a:rPr lang="en-US">
                <a:latin typeface="Lucida Sans Unicode" charset="0"/>
                <a:ea typeface="Lucida Sans Unicode" charset="0"/>
                <a:cs typeface="Lucida Sans Unicode" charset="0"/>
              </a:rPr>
              <a:t>Disadvantage: readability (names that look alike are different)</a:t>
            </a:r>
          </a:p>
          <a:p>
            <a:pPr lvl="2" eaLnBrk="1" hangingPunct="1"/>
            <a:r>
              <a:rPr lang="en-US">
                <a:latin typeface="Lucida Sans Unicode" charset="0"/>
                <a:ea typeface="Lucida Sans Unicode" charset="0"/>
                <a:cs typeface="Lucida Sans Unicode" charset="0"/>
              </a:rPr>
              <a:t>Names in the C-based languages are case sensitive</a:t>
            </a:r>
          </a:p>
          <a:p>
            <a:pPr lvl="2" eaLnBrk="1" hangingPunct="1"/>
            <a:r>
              <a:rPr lang="en-US">
                <a:latin typeface="Lucida Sans Unicode" charset="0"/>
                <a:ea typeface="Lucida Sans Unicode" charset="0"/>
                <a:cs typeface="Lucida Sans Unicode" charset="0"/>
              </a:rPr>
              <a:t>Names in others are not</a:t>
            </a:r>
          </a:p>
          <a:p>
            <a:pPr lvl="2" eaLnBrk="1" hangingPunct="1"/>
            <a:r>
              <a:rPr lang="en-US">
                <a:latin typeface="Lucida Sans Unicode" charset="0"/>
                <a:ea typeface="Lucida Sans Unicode" charset="0"/>
                <a:cs typeface="Lucida Sans Unicode" charset="0"/>
              </a:rPr>
              <a:t>Worse in C++, Java, and C#  because predefined  names are mixed case  (e.g. </a:t>
            </a:r>
            <a:r>
              <a:rPr lang="en-US">
                <a:latin typeface="Courier New" charset="0"/>
                <a:ea typeface="Lucida Sans Unicode" charset="0"/>
                <a:cs typeface="Lucida Sans Unicode" charset="0"/>
              </a:rPr>
              <a:t>IndexOutOfBoundsException</a:t>
            </a:r>
            <a:r>
              <a:rPr lang="en-US">
                <a:latin typeface="Lucida Sans Unicode" charset="0"/>
                <a:ea typeface="Lucida Sans Unicode" charset="0"/>
                <a:cs typeface="Lucida Sans Unicode" charset="0"/>
              </a:rPr>
              <a:t>)</a:t>
            </a:r>
          </a:p>
          <a:p>
            <a:pPr lvl="1" eaLnBrk="1" hangingPunct="1">
              <a:buFontTx/>
              <a:buNone/>
            </a:pPr>
            <a:endParaRPr lang="en-US">
              <a:latin typeface="Lucida Sans Unicode" charset="0"/>
              <a:ea typeface="Lucida Sans Unicode" charset="0"/>
              <a:cs typeface="Lucida Sans Unicode" charset="0"/>
            </a:endParaRPr>
          </a:p>
        </p:txBody>
      </p:sp>
      <p:sp>
        <p:nvSpPr>
          <p:cNvPr id="9220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r>
              <a:rPr lang="en-US" sz="1000">
                <a:latin typeface="Arial" charset="0"/>
              </a:rPr>
              <a:t>Copyright © 2012 Addison-Wesley. All rights reserved.</a:t>
            </a:r>
          </a:p>
        </p:txBody>
      </p:sp>
      <p:sp>
        <p:nvSpPr>
          <p:cNvPr id="922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r>
              <a:rPr lang="en-US" sz="1000">
                <a:latin typeface="Arial" charset="0"/>
              </a:rPr>
              <a:t>1-</a:t>
            </a:r>
            <a:fld id="{1BE989E4-A65D-5A4E-BA48-657C6B3A1870}" type="slidenum">
              <a:rPr lang="en-US" sz="1000">
                <a:latin typeface="Arial" charset="0"/>
              </a:rPr>
              <a:pPr/>
              <a:t>11</a:t>
            </a:fld>
            <a:endParaRPr lang="en-US" sz="100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19058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r>
              <a:rPr lang="en-US" sz="1000">
                <a:latin typeface="Arial" charset="0"/>
              </a:rPr>
              <a:t>Copyright © 2012 Addison-Wesley. All rights reserved.</a:t>
            </a:r>
          </a:p>
        </p:txBody>
      </p:sp>
      <p:sp>
        <p:nvSpPr>
          <p:cNvPr id="10243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r>
              <a:rPr lang="en-US" sz="1000">
                <a:latin typeface="Arial" charset="0"/>
              </a:rPr>
              <a:t>1-</a:t>
            </a:r>
            <a:fld id="{678D65DB-9C1D-6845-9BCB-ABBD991CA5BC}" type="slidenum">
              <a:rPr lang="en-US" sz="1000">
                <a:latin typeface="Arial" charset="0"/>
              </a:rPr>
              <a:pPr/>
              <a:t>12</a:t>
            </a:fld>
            <a:endParaRPr lang="en-US" sz="1000">
              <a:latin typeface="Arial" charset="0"/>
            </a:endParaRPr>
          </a:p>
        </p:txBody>
      </p:sp>
      <p:sp>
        <p:nvSpPr>
          <p:cNvPr id="1024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Lucida Sans Unicode" charset="0"/>
                <a:cs typeface="Lucida Sans Unicode" charset="0"/>
              </a:rPr>
              <a:t>Names (continued)</a:t>
            </a:r>
          </a:p>
        </p:txBody>
      </p:sp>
      <p:sp>
        <p:nvSpPr>
          <p:cNvPr id="1024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>
                <a:solidFill>
                  <a:schemeClr val="tx2"/>
                </a:solidFill>
                <a:latin typeface="Lucida Sans Unicode" charset="0"/>
                <a:cs typeface="Lucida Sans Unicode" charset="0"/>
              </a:rPr>
              <a:t>Special words</a:t>
            </a:r>
          </a:p>
          <a:p>
            <a:pPr lvl="1" eaLnBrk="1" hangingPunct="1">
              <a:lnSpc>
                <a:spcPct val="90000"/>
              </a:lnSpc>
            </a:pPr>
            <a:r>
              <a:rPr lang="en-US">
                <a:latin typeface="Lucida Sans Unicode" charset="0"/>
                <a:ea typeface="Lucida Sans Unicode" charset="0"/>
                <a:cs typeface="Lucida Sans Unicode" charset="0"/>
              </a:rPr>
              <a:t>An aid to readability; used to delimit or separate statement clauses</a:t>
            </a:r>
          </a:p>
          <a:p>
            <a:pPr lvl="2" eaLnBrk="1" hangingPunct="1">
              <a:lnSpc>
                <a:spcPct val="90000"/>
              </a:lnSpc>
            </a:pPr>
            <a:r>
              <a:rPr lang="en-US">
                <a:latin typeface="Lucida Sans Unicode" charset="0"/>
                <a:ea typeface="Lucida Sans Unicode" charset="0"/>
                <a:cs typeface="Lucida Sans Unicode" charset="0"/>
              </a:rPr>
              <a:t>A </a:t>
            </a:r>
            <a:r>
              <a:rPr lang="en-US" i="1">
                <a:latin typeface="Lucida Sans Unicode" charset="0"/>
                <a:ea typeface="Lucida Sans Unicode" charset="0"/>
                <a:cs typeface="Lucida Sans Unicode" charset="0"/>
              </a:rPr>
              <a:t>keyword</a:t>
            </a:r>
            <a:r>
              <a:rPr lang="en-US">
                <a:latin typeface="Lucida Sans Unicode" charset="0"/>
                <a:ea typeface="Lucida Sans Unicode" charset="0"/>
                <a:cs typeface="Lucida Sans Unicode" charset="0"/>
              </a:rPr>
              <a:t> is a word that is special only in certain contexts, e.g., in Fortran</a:t>
            </a:r>
          </a:p>
          <a:p>
            <a:pPr lvl="3" eaLnBrk="1" hangingPunct="1">
              <a:lnSpc>
                <a:spcPct val="90000"/>
              </a:lnSpc>
            </a:pPr>
            <a:r>
              <a:rPr lang="en-US">
                <a:latin typeface="Courier New" charset="0"/>
                <a:ea typeface="ＭＳ Ｐゴシック" charset="0"/>
                <a:cs typeface="Courier New" charset="0"/>
              </a:rPr>
              <a:t>Real VarName</a:t>
            </a:r>
            <a:r>
              <a:rPr lang="en-US">
                <a:latin typeface="Lucida Sans Unicode" charset="0"/>
                <a:ea typeface="Lucida Sans Unicode" charset="0"/>
                <a:cs typeface="Lucida Sans Unicode" charset="0"/>
              </a:rPr>
              <a:t>  </a:t>
            </a:r>
            <a:r>
              <a:rPr lang="en-US" sz="1600">
                <a:latin typeface="Lucida Sans Unicode" charset="0"/>
                <a:ea typeface="Lucida Sans Unicode" charset="0"/>
                <a:cs typeface="Lucida Sans Unicode" charset="0"/>
              </a:rPr>
              <a:t>(</a:t>
            </a:r>
            <a:r>
              <a:rPr lang="en-US" sz="1600">
                <a:latin typeface="Courier New" charset="0"/>
                <a:ea typeface="ＭＳ Ｐゴシック" charset="0"/>
                <a:cs typeface="Courier New" charset="0"/>
              </a:rPr>
              <a:t>Real</a:t>
            </a:r>
            <a:r>
              <a:rPr lang="en-US" sz="1600" i="1">
                <a:latin typeface="Lucida Sans Unicode" charset="0"/>
                <a:ea typeface="Lucida Sans Unicode" charset="0"/>
                <a:cs typeface="Lucida Sans Unicode" charset="0"/>
              </a:rPr>
              <a:t> is a data type followed with a name, therefore </a:t>
            </a:r>
            <a:r>
              <a:rPr lang="en-US" sz="1600">
                <a:latin typeface="Courier New" charset="0"/>
                <a:ea typeface="ＭＳ Ｐゴシック" charset="0"/>
                <a:cs typeface="Courier New" charset="0"/>
              </a:rPr>
              <a:t>Real</a:t>
            </a:r>
            <a:r>
              <a:rPr lang="en-US" sz="1600" i="1">
                <a:latin typeface="Lucida Sans Unicode" charset="0"/>
                <a:ea typeface="Lucida Sans Unicode" charset="0"/>
                <a:cs typeface="Lucida Sans Unicode" charset="0"/>
              </a:rPr>
              <a:t> is a keyword)</a:t>
            </a:r>
          </a:p>
          <a:p>
            <a:pPr lvl="3" eaLnBrk="1" hangingPunct="1">
              <a:lnSpc>
                <a:spcPct val="90000"/>
              </a:lnSpc>
            </a:pPr>
            <a:r>
              <a:rPr lang="en-US">
                <a:latin typeface="Courier New" charset="0"/>
                <a:ea typeface="ＭＳ Ｐゴシック" charset="0"/>
                <a:cs typeface="Courier New" charset="0"/>
              </a:rPr>
              <a:t>Real = 3.4</a:t>
            </a:r>
            <a:r>
              <a:rPr lang="en-US">
                <a:latin typeface="Lucida Sans Unicode" charset="0"/>
                <a:ea typeface="Lucida Sans Unicode" charset="0"/>
                <a:cs typeface="Lucida Sans Unicode" charset="0"/>
              </a:rPr>
              <a:t> </a:t>
            </a:r>
            <a:r>
              <a:rPr lang="en-US" sz="1600">
                <a:latin typeface="Lucida Sans Unicode" charset="0"/>
                <a:ea typeface="Lucida Sans Unicode" charset="0"/>
                <a:cs typeface="Lucida Sans Unicode" charset="0"/>
              </a:rPr>
              <a:t>(</a:t>
            </a:r>
            <a:r>
              <a:rPr lang="en-US" sz="1600" i="1">
                <a:latin typeface="Courier New" charset="0"/>
                <a:ea typeface="ＭＳ Ｐゴシック" charset="0"/>
                <a:cs typeface="Courier New" charset="0"/>
              </a:rPr>
              <a:t>Real</a:t>
            </a:r>
            <a:r>
              <a:rPr lang="en-US" sz="1600" i="1">
                <a:latin typeface="Lucida Sans Unicode" charset="0"/>
                <a:ea typeface="Lucida Sans Unicode" charset="0"/>
                <a:cs typeface="Lucida Sans Unicode" charset="0"/>
              </a:rPr>
              <a:t> is a variable)	                                                      </a:t>
            </a:r>
          </a:p>
          <a:p>
            <a:pPr lvl="1" eaLnBrk="1" hangingPunct="1">
              <a:lnSpc>
                <a:spcPct val="90000"/>
              </a:lnSpc>
            </a:pPr>
            <a:r>
              <a:rPr lang="en-US">
                <a:latin typeface="Lucida Sans Unicode" charset="0"/>
                <a:ea typeface="Lucida Sans Unicode" charset="0"/>
                <a:cs typeface="Lucida Sans Unicode" charset="0"/>
              </a:rPr>
              <a:t> A </a:t>
            </a:r>
            <a:r>
              <a:rPr lang="en-US" i="1">
                <a:latin typeface="Lucida Sans Unicode" charset="0"/>
                <a:ea typeface="Lucida Sans Unicode" charset="0"/>
                <a:cs typeface="Lucida Sans Unicode" charset="0"/>
              </a:rPr>
              <a:t>reserved word</a:t>
            </a:r>
            <a:r>
              <a:rPr lang="en-US">
                <a:latin typeface="Lucida Sans Unicode" charset="0"/>
                <a:ea typeface="Lucida Sans Unicode" charset="0"/>
                <a:cs typeface="Lucida Sans Unicode" charset="0"/>
              </a:rPr>
              <a:t> is a special word that cannot be used as a user-defined name</a:t>
            </a:r>
          </a:p>
          <a:p>
            <a:pPr lvl="1" eaLnBrk="1" hangingPunct="1">
              <a:lnSpc>
                <a:spcPct val="90000"/>
              </a:lnSpc>
            </a:pPr>
            <a:r>
              <a:rPr lang="en-US">
                <a:latin typeface="Lucida Sans Unicode" charset="0"/>
                <a:ea typeface="Lucida Sans Unicode" charset="0"/>
                <a:cs typeface="Lucida Sans Unicode" charset="0"/>
              </a:rPr>
              <a:t>Potential problem with reserved words: If there are too many, many collisions occur (e.g., COBOL has 300 reserved words!)</a:t>
            </a:r>
          </a:p>
        </p:txBody>
      </p:sp>
    </p:spTree>
    <p:extLst>
      <p:ext uri="{BB962C8B-B14F-4D97-AF65-F5344CB8AC3E}">
        <p14:creationId xmlns:p14="http://schemas.microsoft.com/office/powerpoint/2010/main" val="20008309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r>
              <a:rPr lang="en-US" sz="1000">
                <a:latin typeface="Arial" charset="0"/>
              </a:rPr>
              <a:t>Copyright © 2012 Addison-Wesley. All rights reserved.</a:t>
            </a:r>
          </a:p>
        </p:txBody>
      </p:sp>
      <p:sp>
        <p:nvSpPr>
          <p:cNvPr id="11267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r>
              <a:rPr lang="en-US" sz="1000">
                <a:latin typeface="Arial" charset="0"/>
              </a:rPr>
              <a:t>1-</a:t>
            </a:r>
            <a:fld id="{9C993BD7-B041-0847-81F2-1C850471F1A1}" type="slidenum">
              <a:rPr lang="en-US" sz="1000">
                <a:latin typeface="Arial" charset="0"/>
              </a:rPr>
              <a:pPr/>
              <a:t>13</a:t>
            </a:fld>
            <a:endParaRPr lang="en-US" sz="1000">
              <a:latin typeface="Arial" charset="0"/>
            </a:endParaRPr>
          </a:p>
        </p:txBody>
      </p:sp>
      <p:sp>
        <p:nvSpPr>
          <p:cNvPr id="1126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Lucida Sans Unicode" charset="0"/>
                <a:cs typeface="Lucida Sans Unicode" charset="0"/>
              </a:rPr>
              <a:t>Variables</a:t>
            </a:r>
          </a:p>
        </p:txBody>
      </p:sp>
      <p:sp>
        <p:nvSpPr>
          <p:cNvPr id="1126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Lucida Sans Unicode" charset="0"/>
                <a:cs typeface="Lucida Sans Unicode" charset="0"/>
              </a:rPr>
              <a:t>A </a:t>
            </a:r>
            <a:r>
              <a:rPr lang="en-US">
                <a:solidFill>
                  <a:schemeClr val="tx2"/>
                </a:solidFill>
                <a:latin typeface="Lucida Sans Unicode" charset="0"/>
                <a:cs typeface="Lucida Sans Unicode" charset="0"/>
              </a:rPr>
              <a:t>variable</a:t>
            </a:r>
            <a:r>
              <a:rPr lang="en-US">
                <a:latin typeface="Lucida Sans Unicode" charset="0"/>
                <a:cs typeface="Lucida Sans Unicode" charset="0"/>
              </a:rPr>
              <a:t> is an abstraction of a memory cell</a:t>
            </a:r>
          </a:p>
          <a:p>
            <a:pPr eaLnBrk="1" hangingPunct="1"/>
            <a:r>
              <a:rPr lang="en-US">
                <a:latin typeface="Lucida Sans Unicode" charset="0"/>
                <a:cs typeface="Lucida Sans Unicode" charset="0"/>
              </a:rPr>
              <a:t>Variables can be characterized as a sextuple of attributes:</a:t>
            </a:r>
          </a:p>
          <a:p>
            <a:pPr lvl="1" eaLnBrk="1" hangingPunct="1"/>
            <a:r>
              <a:rPr lang="en-US">
                <a:latin typeface="Lucida Sans Unicode" charset="0"/>
                <a:ea typeface="Lucida Sans Unicode" charset="0"/>
                <a:cs typeface="Lucida Sans Unicode" charset="0"/>
              </a:rPr>
              <a:t>Name</a:t>
            </a:r>
          </a:p>
          <a:p>
            <a:pPr lvl="1" eaLnBrk="1" hangingPunct="1"/>
            <a:r>
              <a:rPr lang="en-US">
                <a:latin typeface="Lucida Sans Unicode" charset="0"/>
                <a:ea typeface="Lucida Sans Unicode" charset="0"/>
                <a:cs typeface="Lucida Sans Unicode" charset="0"/>
              </a:rPr>
              <a:t>Address</a:t>
            </a:r>
          </a:p>
          <a:p>
            <a:pPr lvl="1" eaLnBrk="1" hangingPunct="1"/>
            <a:r>
              <a:rPr lang="en-US">
                <a:latin typeface="Lucida Sans Unicode" charset="0"/>
                <a:ea typeface="Lucida Sans Unicode" charset="0"/>
                <a:cs typeface="Lucida Sans Unicode" charset="0"/>
              </a:rPr>
              <a:t>Value</a:t>
            </a:r>
          </a:p>
          <a:p>
            <a:pPr lvl="1" eaLnBrk="1" hangingPunct="1"/>
            <a:r>
              <a:rPr lang="en-US">
                <a:latin typeface="Lucida Sans Unicode" charset="0"/>
                <a:ea typeface="Lucida Sans Unicode" charset="0"/>
                <a:cs typeface="Lucida Sans Unicode" charset="0"/>
              </a:rPr>
              <a:t>Type</a:t>
            </a:r>
          </a:p>
          <a:p>
            <a:pPr lvl="1" eaLnBrk="1" hangingPunct="1"/>
            <a:r>
              <a:rPr lang="en-US">
                <a:latin typeface="Lucida Sans Unicode" charset="0"/>
                <a:ea typeface="Lucida Sans Unicode" charset="0"/>
                <a:cs typeface="Lucida Sans Unicode" charset="0"/>
              </a:rPr>
              <a:t>Lifetime</a:t>
            </a:r>
          </a:p>
          <a:p>
            <a:pPr lvl="1" eaLnBrk="1" hangingPunct="1"/>
            <a:r>
              <a:rPr lang="en-US">
                <a:latin typeface="Lucida Sans Unicode" charset="0"/>
                <a:ea typeface="Lucida Sans Unicode" charset="0"/>
                <a:cs typeface="Lucida Sans Unicode" charset="0"/>
              </a:rPr>
              <a:t>Scope</a:t>
            </a:r>
          </a:p>
        </p:txBody>
      </p:sp>
    </p:spTree>
    <p:extLst>
      <p:ext uri="{BB962C8B-B14F-4D97-AF65-F5344CB8AC3E}">
        <p14:creationId xmlns:p14="http://schemas.microsoft.com/office/powerpoint/2010/main" val="3457229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r>
              <a:rPr lang="en-US" sz="1000">
                <a:latin typeface="Arial" charset="0"/>
              </a:rPr>
              <a:t>Copyright © 2012 Addison-Wesley. All rights reserved.</a:t>
            </a:r>
          </a:p>
        </p:txBody>
      </p:sp>
      <p:sp>
        <p:nvSpPr>
          <p:cNvPr id="1229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r>
              <a:rPr lang="en-US" sz="1000">
                <a:latin typeface="Arial" charset="0"/>
              </a:rPr>
              <a:t>1-</a:t>
            </a:r>
            <a:fld id="{C90C9494-FA1A-FF41-9904-7DB87C87A409}" type="slidenum">
              <a:rPr lang="en-US" sz="1000">
                <a:latin typeface="Arial" charset="0"/>
              </a:rPr>
              <a:pPr/>
              <a:t>14</a:t>
            </a:fld>
            <a:endParaRPr lang="en-US" sz="1000">
              <a:latin typeface="Arial" charset="0"/>
            </a:endParaRPr>
          </a:p>
        </p:txBody>
      </p:sp>
      <p:sp>
        <p:nvSpPr>
          <p:cNvPr id="1229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Lucida Sans Unicode" charset="0"/>
                <a:cs typeface="Lucida Sans Unicode" charset="0"/>
              </a:rPr>
              <a:t>Variables Attributes</a:t>
            </a:r>
          </a:p>
        </p:txBody>
      </p:sp>
      <p:sp>
        <p:nvSpPr>
          <p:cNvPr id="1229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2400">
                <a:solidFill>
                  <a:schemeClr val="tx2"/>
                </a:solidFill>
                <a:latin typeface="Lucida Sans Unicode" charset="0"/>
                <a:cs typeface="Lucida Sans Unicode" charset="0"/>
              </a:rPr>
              <a:t>Name</a:t>
            </a:r>
            <a:r>
              <a:rPr lang="en-US" sz="2400">
                <a:latin typeface="Lucida Sans Unicode" charset="0"/>
                <a:cs typeface="Lucida Sans Unicode" charset="0"/>
              </a:rPr>
              <a:t> - not all variables have them</a:t>
            </a:r>
          </a:p>
          <a:p>
            <a:pPr eaLnBrk="1" hangingPunct="1">
              <a:lnSpc>
                <a:spcPct val="90000"/>
              </a:lnSpc>
            </a:pPr>
            <a:r>
              <a:rPr lang="en-US" sz="2400">
                <a:solidFill>
                  <a:schemeClr val="tx2"/>
                </a:solidFill>
                <a:latin typeface="Lucida Sans Unicode" charset="0"/>
                <a:cs typeface="Lucida Sans Unicode" charset="0"/>
              </a:rPr>
              <a:t>Address</a:t>
            </a:r>
            <a:r>
              <a:rPr lang="en-US" sz="2400">
                <a:latin typeface="Lucida Sans Unicode" charset="0"/>
                <a:cs typeface="Lucida Sans Unicode" charset="0"/>
              </a:rPr>
              <a:t> - the memory address with which it is associated 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>
                <a:latin typeface="Lucida Sans Unicode" charset="0"/>
                <a:ea typeface="Lucida Sans Unicode" charset="0"/>
                <a:cs typeface="Lucida Sans Unicode" charset="0"/>
              </a:rPr>
              <a:t>A variable may have different addresses at different times during execution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>
                <a:latin typeface="Lucida Sans Unicode" charset="0"/>
                <a:ea typeface="Lucida Sans Unicode" charset="0"/>
                <a:cs typeface="Lucida Sans Unicode" charset="0"/>
              </a:rPr>
              <a:t>A variable may have different addresses at different places in a program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>
                <a:latin typeface="Lucida Sans Unicode" charset="0"/>
                <a:ea typeface="Lucida Sans Unicode" charset="0"/>
                <a:cs typeface="Lucida Sans Unicode" charset="0"/>
              </a:rPr>
              <a:t>If two variable names can be used to access the same memory location, they are called </a:t>
            </a:r>
            <a:r>
              <a:rPr lang="en-US" sz="2000">
                <a:solidFill>
                  <a:schemeClr val="tx2"/>
                </a:solidFill>
                <a:latin typeface="Lucida Sans Unicode" charset="0"/>
                <a:ea typeface="Lucida Sans Unicode" charset="0"/>
                <a:cs typeface="Lucida Sans Unicode" charset="0"/>
              </a:rPr>
              <a:t>aliases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>
                <a:latin typeface="Lucida Sans Unicode" charset="0"/>
                <a:ea typeface="Lucida Sans Unicode" charset="0"/>
                <a:cs typeface="Lucida Sans Unicode" charset="0"/>
              </a:rPr>
              <a:t>Aliases are created via pointers, reference variables, C and C++ unions</a:t>
            </a:r>
            <a:endParaRPr lang="en-US" sz="2000">
              <a:solidFill>
                <a:schemeClr val="tx2"/>
              </a:solidFill>
              <a:latin typeface="Lucida Sans Unicode" charset="0"/>
              <a:ea typeface="Lucida Sans Unicode" charset="0"/>
              <a:cs typeface="Lucida Sans Unicode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>
                <a:latin typeface="Lucida Sans Unicode" charset="0"/>
                <a:ea typeface="Lucida Sans Unicode" charset="0"/>
                <a:cs typeface="Lucida Sans Unicode" charset="0"/>
              </a:rPr>
              <a:t>Aliases are harmful to readability (program readers must remember all of them) </a:t>
            </a:r>
          </a:p>
        </p:txBody>
      </p:sp>
    </p:spTree>
    <p:extLst>
      <p:ext uri="{BB962C8B-B14F-4D97-AF65-F5344CB8AC3E}">
        <p14:creationId xmlns:p14="http://schemas.microsoft.com/office/powerpoint/2010/main" val="31118596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r>
              <a:rPr lang="en-US" sz="1000">
                <a:latin typeface="Arial" charset="0"/>
              </a:rPr>
              <a:t>Copyright © 2012 Addison-Wesley. All rights reserved.</a:t>
            </a:r>
          </a:p>
        </p:txBody>
      </p:sp>
      <p:sp>
        <p:nvSpPr>
          <p:cNvPr id="13315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r>
              <a:rPr lang="en-US" sz="1000">
                <a:latin typeface="Arial" charset="0"/>
              </a:rPr>
              <a:t>1-</a:t>
            </a:r>
            <a:fld id="{B81CB094-C88F-AE4E-8AA1-0CE9F63EAFC7}" type="slidenum">
              <a:rPr lang="en-US" sz="1000">
                <a:latin typeface="Arial" charset="0"/>
              </a:rPr>
              <a:pPr/>
              <a:t>15</a:t>
            </a:fld>
            <a:endParaRPr lang="en-US" sz="1000">
              <a:latin typeface="Arial" charset="0"/>
            </a:endParaRPr>
          </a:p>
        </p:txBody>
      </p:sp>
      <p:sp>
        <p:nvSpPr>
          <p:cNvPr id="1331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Lucida Sans Unicode" charset="0"/>
                <a:cs typeface="Lucida Sans Unicode" charset="0"/>
              </a:rPr>
              <a:t>Variables Attributes (continued)</a:t>
            </a:r>
          </a:p>
        </p:txBody>
      </p:sp>
      <p:sp>
        <p:nvSpPr>
          <p:cNvPr id="1331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400" i="1">
                <a:latin typeface="Lucida Sans Unicode" charset="0"/>
                <a:cs typeface="Lucida Sans Unicode" charset="0"/>
              </a:rPr>
              <a:t>Type</a:t>
            </a:r>
            <a:r>
              <a:rPr lang="en-US" sz="2400">
                <a:latin typeface="Lucida Sans Unicode" charset="0"/>
                <a:cs typeface="Lucida Sans Unicode" charset="0"/>
              </a:rPr>
              <a:t> - determines the range of values of variables and the set of operations that are defined for values of that type; in the case of floating point, type also determines the precision</a:t>
            </a:r>
          </a:p>
          <a:p>
            <a:pPr eaLnBrk="1" hangingPunct="1"/>
            <a:r>
              <a:rPr lang="en-US" sz="2400" i="1">
                <a:latin typeface="Lucida Sans Unicode" charset="0"/>
                <a:cs typeface="Lucida Sans Unicode" charset="0"/>
              </a:rPr>
              <a:t>Value</a:t>
            </a:r>
            <a:r>
              <a:rPr lang="en-US" sz="2400">
                <a:latin typeface="Lucida Sans Unicode" charset="0"/>
                <a:cs typeface="Lucida Sans Unicode" charset="0"/>
              </a:rPr>
              <a:t> - the contents of the location with which the variable is associated</a:t>
            </a:r>
          </a:p>
          <a:p>
            <a:pPr eaLnBrk="1" hangingPunct="1">
              <a:buFontTx/>
              <a:buNone/>
            </a:pPr>
            <a:r>
              <a:rPr lang="en-US" sz="2400">
                <a:latin typeface="Lucida Sans Unicode" charset="0"/>
                <a:cs typeface="Lucida Sans Unicode" charset="0"/>
              </a:rPr>
              <a:t>   - The l-value of a variable is its address</a:t>
            </a:r>
          </a:p>
          <a:p>
            <a:pPr eaLnBrk="1" hangingPunct="1">
              <a:buFontTx/>
              <a:buNone/>
            </a:pPr>
            <a:r>
              <a:rPr lang="en-US" sz="2400">
                <a:latin typeface="Lucida Sans Unicode" charset="0"/>
                <a:cs typeface="Lucida Sans Unicode" charset="0"/>
              </a:rPr>
              <a:t>   - The r-value of a variable is its value</a:t>
            </a:r>
          </a:p>
          <a:p>
            <a:pPr eaLnBrk="1" hangingPunct="1"/>
            <a:r>
              <a:rPr lang="en-US" sz="2400" i="1">
                <a:latin typeface="Lucida Sans Unicode" charset="0"/>
                <a:cs typeface="Lucida Sans Unicode" charset="0"/>
              </a:rPr>
              <a:t>Abstract memory cell</a:t>
            </a:r>
            <a:r>
              <a:rPr lang="en-US" sz="2400">
                <a:latin typeface="Lucida Sans Unicode" charset="0"/>
                <a:cs typeface="Lucida Sans Unicode" charset="0"/>
              </a:rPr>
              <a:t> - the physical cell or collection of cells associated with a variable   </a:t>
            </a:r>
          </a:p>
        </p:txBody>
      </p:sp>
    </p:spTree>
    <p:extLst>
      <p:ext uri="{BB962C8B-B14F-4D97-AF65-F5344CB8AC3E}">
        <p14:creationId xmlns:p14="http://schemas.microsoft.com/office/powerpoint/2010/main" val="39882316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r>
              <a:rPr lang="en-US" sz="1000">
                <a:latin typeface="Arial" charset="0"/>
              </a:rPr>
              <a:t>Copyright © 2012 Addison-Wesley. All rights reserved.</a:t>
            </a:r>
          </a:p>
        </p:txBody>
      </p:sp>
      <p:sp>
        <p:nvSpPr>
          <p:cNvPr id="13315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r>
              <a:rPr lang="en-US" sz="1000">
                <a:latin typeface="Arial" charset="0"/>
              </a:rPr>
              <a:t>1-</a:t>
            </a:r>
            <a:fld id="{B81CB094-C88F-AE4E-8AA1-0CE9F63EAFC7}" type="slidenum">
              <a:rPr lang="en-US" sz="1000">
                <a:latin typeface="Arial" charset="0"/>
              </a:rPr>
              <a:pPr/>
              <a:t>16</a:t>
            </a:fld>
            <a:endParaRPr lang="en-US" sz="1000">
              <a:latin typeface="Arial" charset="0"/>
            </a:endParaRPr>
          </a:p>
        </p:txBody>
      </p:sp>
      <p:sp>
        <p:nvSpPr>
          <p:cNvPr id="1331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Lucida Sans Unicode" charset="0"/>
                <a:cs typeface="Lucida Sans Unicode" charset="0"/>
              </a:rPr>
              <a:t>Intermezzo: why do variables exist</a:t>
            </a:r>
          </a:p>
        </p:txBody>
      </p:sp>
      <p:sp>
        <p:nvSpPr>
          <p:cNvPr id="1331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Lucida Sans Unicode" charset="0"/>
                <a:cs typeface="Lucida Sans Unicode" charset="0"/>
              </a:rPr>
              <a:t>At the lower level, it's all bits and bytes</a:t>
            </a:r>
          </a:p>
          <a:p>
            <a:pPr eaLnBrk="1" hangingPunct="1"/>
            <a:r>
              <a:rPr lang="en-US" dirty="0" err="1">
                <a:latin typeface="Lucida Sans Unicode" charset="0"/>
                <a:cs typeface="Lucida Sans Unicode" charset="0"/>
              </a:rPr>
              <a:t>Machinecode</a:t>
            </a:r>
            <a:r>
              <a:rPr lang="en-US" dirty="0">
                <a:latin typeface="Lucida Sans Unicode" charset="0"/>
                <a:cs typeface="Lucida Sans Unicode" charset="0"/>
              </a:rPr>
              <a:t> specifies how to process in the CPU</a:t>
            </a:r>
          </a:p>
          <a:p>
            <a:pPr eaLnBrk="1" hangingPunct="1"/>
            <a:r>
              <a:rPr lang="en-US" sz="2400" dirty="0">
                <a:latin typeface="Lucida Sans Unicode" charset="0"/>
                <a:cs typeface="Lucida Sans Unicode" charset="0"/>
              </a:rPr>
              <a:t>Higher level language is translated to </a:t>
            </a:r>
            <a:r>
              <a:rPr lang="en-US" sz="2400" dirty="0" err="1">
                <a:latin typeface="Lucida Sans Unicode" charset="0"/>
                <a:cs typeface="Lucida Sans Unicode" charset="0"/>
              </a:rPr>
              <a:t>machinecode</a:t>
            </a:r>
            <a:endParaRPr lang="en-US" sz="2400" dirty="0">
              <a:latin typeface="Lucida Sans Unicode" charset="0"/>
              <a:cs typeface="Lucida Sans Unicode" charset="0"/>
            </a:endParaRPr>
          </a:p>
          <a:p>
            <a:pPr eaLnBrk="1" hangingPunct="1"/>
            <a:r>
              <a:rPr lang="en-US" dirty="0">
                <a:latin typeface="Lucida Sans Unicode" charset="0"/>
                <a:cs typeface="Lucida Sans Unicode" charset="0"/>
              </a:rPr>
              <a:t>Compiler needs to know what code to generate</a:t>
            </a:r>
          </a:p>
          <a:p>
            <a:pPr eaLnBrk="1" hangingPunct="1"/>
            <a:r>
              <a:rPr lang="en-US" dirty="0">
                <a:latin typeface="Lucida Sans Unicode" charset="0"/>
                <a:cs typeface="Lucida Sans Unicode" charset="0"/>
              </a:rPr>
              <a:t>This is why types exist</a:t>
            </a:r>
          </a:p>
          <a:p>
            <a:pPr lvl="1"/>
            <a:r>
              <a:rPr lang="en-US" dirty="0">
                <a:latin typeface="Lucida Sans Unicode" charset="0"/>
                <a:cs typeface="Lucida Sans Unicode" charset="0"/>
              </a:rPr>
              <a:t>Primitive types (contiguous, single type)</a:t>
            </a:r>
          </a:p>
          <a:p>
            <a:pPr lvl="1"/>
            <a:r>
              <a:rPr lang="en-US" dirty="0">
                <a:latin typeface="Lucida Sans Unicode" charset="0"/>
                <a:cs typeface="Lucida Sans Unicode" charset="0"/>
              </a:rPr>
              <a:t>Language specific complex types</a:t>
            </a:r>
          </a:p>
          <a:p>
            <a:pPr lvl="1"/>
            <a:r>
              <a:rPr lang="en-US" dirty="0">
                <a:latin typeface="Lucida Sans Unicode" charset="0"/>
                <a:cs typeface="Lucida Sans Unicode" charset="0"/>
              </a:rPr>
              <a:t>User-defined types</a:t>
            </a:r>
          </a:p>
          <a:p>
            <a:pPr eaLnBrk="1" hangingPunct="1"/>
            <a:endParaRPr lang="en-US" sz="2400" dirty="0">
              <a:latin typeface="Lucida Sans Unicode" charset="0"/>
              <a:cs typeface="Lucida Sans Unicode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62986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r>
              <a:rPr lang="en-US" sz="1000">
                <a:latin typeface="Arial" charset="0"/>
              </a:rPr>
              <a:t>Copyright © 2012 Addison-Wesley. All rights reserved.</a:t>
            </a:r>
          </a:p>
        </p:txBody>
      </p:sp>
      <p:sp>
        <p:nvSpPr>
          <p:cNvPr id="13315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r>
              <a:rPr lang="en-US" sz="1000">
                <a:latin typeface="Arial" charset="0"/>
              </a:rPr>
              <a:t>1-</a:t>
            </a:r>
            <a:fld id="{B81CB094-C88F-AE4E-8AA1-0CE9F63EAFC7}" type="slidenum">
              <a:rPr lang="en-US" sz="1000">
                <a:latin typeface="Arial" charset="0"/>
              </a:rPr>
              <a:pPr/>
              <a:t>17</a:t>
            </a:fld>
            <a:endParaRPr lang="en-US" sz="1000">
              <a:latin typeface="Arial" charset="0"/>
            </a:endParaRPr>
          </a:p>
        </p:txBody>
      </p:sp>
      <p:sp>
        <p:nvSpPr>
          <p:cNvPr id="1331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Lucida Sans Unicode" charset="0"/>
                <a:cs typeface="Lucida Sans Unicode" charset="0"/>
              </a:rPr>
              <a:t>Primitive types</a:t>
            </a:r>
          </a:p>
        </p:txBody>
      </p:sp>
      <p:sp>
        <p:nvSpPr>
          <p:cNvPr id="1331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Lucida Sans Unicode" charset="0"/>
                <a:cs typeface="Lucida Sans Unicode" charset="0"/>
              </a:rPr>
              <a:t>integers (byte/word/long, signed/unsigned)</a:t>
            </a:r>
          </a:p>
          <a:p>
            <a:pPr eaLnBrk="1" hangingPunct="1"/>
            <a:r>
              <a:rPr lang="en-US" sz="2400" dirty="0" err="1">
                <a:latin typeface="Lucida Sans Unicode" charset="0"/>
                <a:cs typeface="Lucida Sans Unicode" charset="0"/>
              </a:rPr>
              <a:t>boolean</a:t>
            </a:r>
            <a:endParaRPr lang="en-US" sz="2400" dirty="0">
              <a:latin typeface="Lucida Sans Unicode" charset="0"/>
              <a:cs typeface="Lucida Sans Unicode" charset="0"/>
            </a:endParaRPr>
          </a:p>
          <a:p>
            <a:pPr eaLnBrk="1" hangingPunct="1"/>
            <a:r>
              <a:rPr lang="en-US" sz="2400" dirty="0">
                <a:latin typeface="Lucida Sans Unicode" charset="0"/>
                <a:cs typeface="Lucida Sans Unicode" charset="0"/>
              </a:rPr>
              <a:t>float (and double)</a:t>
            </a:r>
          </a:p>
          <a:p>
            <a:pPr eaLnBrk="1" hangingPunct="1"/>
            <a:r>
              <a:rPr lang="en-US" sz="2400" dirty="0">
                <a:latin typeface="Lucida Sans Unicode" charset="0"/>
                <a:cs typeface="Lucida Sans Unicode" charset="0"/>
              </a:rPr>
              <a:t>char (</a:t>
            </a:r>
            <a:r>
              <a:rPr lang="en-US" sz="2400" dirty="0" err="1">
                <a:latin typeface="Lucida Sans Unicode" charset="0"/>
                <a:cs typeface="Lucida Sans Unicode" charset="0"/>
              </a:rPr>
              <a:t>unicode</a:t>
            </a:r>
            <a:r>
              <a:rPr lang="en-US" sz="2400" dirty="0">
                <a:latin typeface="Lucida Sans Unicode" charset="0"/>
                <a:cs typeface="Lucida Sans Unicode" charset="0"/>
              </a:rPr>
              <a:t> </a:t>
            </a:r>
            <a:r>
              <a:rPr lang="en-US" sz="2400">
                <a:latin typeface="Lucida Sans Unicode" charset="0"/>
                <a:cs typeface="Lucida Sans Unicode" charset="0"/>
              </a:rPr>
              <a:t>special case)</a:t>
            </a:r>
            <a:endParaRPr lang="en-US" sz="2400" dirty="0">
              <a:latin typeface="Lucida Sans Unicode" charset="0"/>
              <a:cs typeface="Lucida Sans Unicode" charset="0"/>
            </a:endParaRPr>
          </a:p>
          <a:p>
            <a:pPr eaLnBrk="1" hangingPunct="1"/>
            <a:r>
              <a:rPr lang="en-US" dirty="0">
                <a:latin typeface="Lucida Sans Unicode" charset="0"/>
                <a:cs typeface="Lucida Sans Unicode" charset="0"/>
              </a:rPr>
              <a:t>string (sometimes)</a:t>
            </a:r>
          </a:p>
          <a:p>
            <a:pPr eaLnBrk="1" hangingPunct="1"/>
            <a:r>
              <a:rPr lang="en-US" sz="2400" dirty="0">
                <a:latin typeface="Lucida Sans Unicode" charset="0"/>
                <a:cs typeface="Lucida Sans Unicode" charset="0"/>
              </a:rPr>
              <a:t>decimal (sometimes)</a:t>
            </a:r>
          </a:p>
        </p:txBody>
      </p:sp>
    </p:spTree>
    <p:extLst>
      <p:ext uri="{BB962C8B-B14F-4D97-AF65-F5344CB8AC3E}">
        <p14:creationId xmlns:p14="http://schemas.microsoft.com/office/powerpoint/2010/main" val="698734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r>
              <a:rPr lang="en-US" sz="1000">
                <a:latin typeface="Arial" charset="0"/>
              </a:rPr>
              <a:t>Copyright © 2012 Addison-Wesley. All rights reserved.</a:t>
            </a:r>
          </a:p>
        </p:txBody>
      </p:sp>
      <p:sp>
        <p:nvSpPr>
          <p:cNvPr id="13315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r>
              <a:rPr lang="en-US" sz="1000">
                <a:latin typeface="Arial" charset="0"/>
              </a:rPr>
              <a:t>1-</a:t>
            </a:r>
            <a:fld id="{B81CB094-C88F-AE4E-8AA1-0CE9F63EAFC7}" type="slidenum">
              <a:rPr lang="en-US" sz="1000">
                <a:latin typeface="Arial" charset="0"/>
              </a:rPr>
              <a:pPr/>
              <a:t>18</a:t>
            </a:fld>
            <a:endParaRPr lang="en-US" sz="1000">
              <a:latin typeface="Arial" charset="0"/>
            </a:endParaRPr>
          </a:p>
        </p:txBody>
      </p:sp>
      <p:sp>
        <p:nvSpPr>
          <p:cNvPr id="1331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Lucida Sans Unicode" charset="0"/>
                <a:cs typeface="Lucida Sans Unicode" charset="0"/>
              </a:rPr>
              <a:t>Language Specific Complex Types</a:t>
            </a:r>
          </a:p>
        </p:txBody>
      </p:sp>
      <p:sp>
        <p:nvSpPr>
          <p:cNvPr id="1331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sz="2400" dirty="0">
                <a:latin typeface="Lucida Sans Unicode" charset="0"/>
                <a:cs typeface="Lucida Sans Unicode" charset="0"/>
              </a:rPr>
              <a:t>Java: Collections, Class, Interface</a:t>
            </a:r>
          </a:p>
          <a:p>
            <a:pPr eaLnBrk="1" hangingPunct="1"/>
            <a:r>
              <a:rPr lang="en-US" dirty="0">
                <a:latin typeface="Lucida Sans Unicode" charset="0"/>
                <a:cs typeface="Lucida Sans Unicode" charset="0"/>
              </a:rPr>
              <a:t>Python: List, Tuple, Dictionary</a:t>
            </a:r>
          </a:p>
          <a:p>
            <a:pPr eaLnBrk="1" hangingPunct="1"/>
            <a:r>
              <a:rPr lang="en-US" sz="2400" dirty="0">
                <a:latin typeface="Lucida Sans Unicode" charset="0"/>
                <a:cs typeface="Lucida Sans Unicode" charset="0"/>
              </a:rPr>
              <a:t>C: </a:t>
            </a:r>
            <a:r>
              <a:rPr lang="en-US" dirty="0">
                <a:latin typeface="Lucida Sans Unicode" charset="0"/>
                <a:cs typeface="Lucida Sans Unicode" charset="0"/>
              </a:rPr>
              <a:t>struct, union</a:t>
            </a:r>
            <a:endParaRPr lang="en-US" sz="2400" dirty="0">
              <a:latin typeface="Lucida Sans Unicode" charset="0"/>
              <a:cs typeface="Lucida Sans Unicode" charset="0"/>
            </a:endParaRPr>
          </a:p>
          <a:p>
            <a:pPr eaLnBrk="1" hangingPunct="1"/>
            <a:r>
              <a:rPr lang="en-US" dirty="0">
                <a:latin typeface="Lucida Sans Unicode" charset="0"/>
                <a:cs typeface="Lucida Sans Unicode" charset="0"/>
              </a:rPr>
              <a:t>C++: struct, union, class, STL</a:t>
            </a:r>
          </a:p>
          <a:p>
            <a:pPr eaLnBrk="1" hangingPunct="1"/>
            <a:r>
              <a:rPr lang="en-US" sz="2400" dirty="0">
                <a:latin typeface="Lucida Sans Unicode" charset="0"/>
                <a:cs typeface="Lucida Sans Unicode" charset="0"/>
              </a:rPr>
              <a:t>Java</a:t>
            </a:r>
            <a:r>
              <a:rPr lang="en-US" dirty="0">
                <a:latin typeface="Lucida Sans Unicode" charset="0"/>
                <a:cs typeface="Lucida Sans Unicode" charset="0"/>
              </a:rPr>
              <a:t>Script: objects, arrays</a:t>
            </a:r>
          </a:p>
          <a:p>
            <a:r>
              <a:rPr lang="en-US" sz="2400" dirty="0">
                <a:latin typeface="Lucida Sans Unicode" charset="0"/>
                <a:cs typeface="Lucida Sans Unicode" charset="0"/>
              </a:rPr>
              <a:t>Ruby: </a:t>
            </a:r>
            <a:r>
              <a:rPr lang="en-US" dirty="0">
                <a:latin typeface="Lucida Sans Unicode" charset="0"/>
                <a:cs typeface="Lucida Sans Unicode" charset="0"/>
              </a:rPr>
              <a:t>Booleans, Symbols, Numbers, Strings, Arrays, Hashes</a:t>
            </a:r>
          </a:p>
          <a:p>
            <a:r>
              <a:rPr lang="en-US" sz="2400" dirty="0">
                <a:latin typeface="Lucida Sans Unicode" charset="0"/>
                <a:cs typeface="Lucida Sans Unicode" charset="0"/>
              </a:rPr>
              <a:t>Go: array, struct, complex64, complex128, array, slice, </a:t>
            </a:r>
            <a:r>
              <a:rPr lang="en-US" dirty="0">
                <a:latin typeface="Lucida Sans Unicode" charset="0"/>
                <a:cs typeface="Lucida Sans Unicode" charset="0"/>
              </a:rPr>
              <a:t>s</a:t>
            </a:r>
            <a:r>
              <a:rPr lang="en-US" sz="2400" dirty="0">
                <a:latin typeface="Lucida Sans Unicode" charset="0"/>
                <a:cs typeface="Lucida Sans Unicode" charset="0"/>
              </a:rPr>
              <a:t>tructure</a:t>
            </a:r>
          </a:p>
        </p:txBody>
      </p:sp>
    </p:spTree>
    <p:extLst>
      <p:ext uri="{BB962C8B-B14F-4D97-AF65-F5344CB8AC3E}">
        <p14:creationId xmlns:p14="http://schemas.microsoft.com/office/powerpoint/2010/main" val="42403274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r>
              <a:rPr lang="en-US" sz="1000">
                <a:latin typeface="Arial" charset="0"/>
              </a:rPr>
              <a:t>Copyright © 2012 Addison-Wesley. All rights reserved.</a:t>
            </a:r>
          </a:p>
        </p:txBody>
      </p:sp>
      <p:sp>
        <p:nvSpPr>
          <p:cNvPr id="14339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r>
              <a:rPr lang="en-US" sz="1000">
                <a:latin typeface="Arial" charset="0"/>
              </a:rPr>
              <a:t>1-</a:t>
            </a:r>
            <a:fld id="{50F6FE06-5E00-F147-8CAD-39DA58AEA8FC}" type="slidenum">
              <a:rPr lang="en-US" sz="1000">
                <a:latin typeface="Arial" charset="0"/>
              </a:rPr>
              <a:pPr/>
              <a:t>19</a:t>
            </a:fld>
            <a:endParaRPr lang="en-US" sz="1000">
              <a:latin typeface="Arial" charset="0"/>
            </a:endParaRPr>
          </a:p>
        </p:txBody>
      </p:sp>
      <p:sp>
        <p:nvSpPr>
          <p:cNvPr id="1434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Lucida Sans Unicode" charset="0"/>
                <a:cs typeface="Lucida Sans Unicode" charset="0"/>
              </a:rPr>
              <a:t>The Concept of Binding</a:t>
            </a:r>
          </a:p>
        </p:txBody>
      </p:sp>
      <p:sp>
        <p:nvSpPr>
          <p:cNvPr id="1434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>
                <a:latin typeface="Lucida Sans Unicode" charset="0"/>
                <a:cs typeface="Lucida Sans Unicode" charset="0"/>
              </a:rPr>
              <a:t>   A </a:t>
            </a:r>
            <a:r>
              <a:rPr lang="en-US" i="1">
                <a:latin typeface="Lucida Sans Unicode" charset="0"/>
                <a:cs typeface="Lucida Sans Unicode" charset="0"/>
              </a:rPr>
              <a:t>binding</a:t>
            </a:r>
            <a:r>
              <a:rPr lang="en-US">
                <a:latin typeface="Lucida Sans Unicode" charset="0"/>
                <a:cs typeface="Lucida Sans Unicode" charset="0"/>
              </a:rPr>
              <a:t> is an association between an entity and an attribute, such as between a variable and its type or value, or between an operation and a symbol</a:t>
            </a:r>
          </a:p>
          <a:p>
            <a:pPr eaLnBrk="1" hangingPunct="1"/>
            <a:r>
              <a:rPr lang="en-US" i="1">
                <a:latin typeface="Lucida Sans Unicode" charset="0"/>
                <a:cs typeface="Lucida Sans Unicode" charset="0"/>
              </a:rPr>
              <a:t>Binding time</a:t>
            </a:r>
            <a:r>
              <a:rPr lang="en-US">
                <a:latin typeface="Lucida Sans Unicode" charset="0"/>
                <a:cs typeface="Lucida Sans Unicode" charset="0"/>
              </a:rPr>
              <a:t> is the time at which a binding takes place.</a:t>
            </a:r>
          </a:p>
        </p:txBody>
      </p:sp>
    </p:spTree>
    <p:extLst>
      <p:ext uri="{BB962C8B-B14F-4D97-AF65-F5344CB8AC3E}">
        <p14:creationId xmlns:p14="http://schemas.microsoft.com/office/powerpoint/2010/main" val="28583611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r>
              <a:rPr lang="en-US" sz="1000">
                <a:latin typeface="Arial" charset="0"/>
              </a:rPr>
              <a:t>Copyright © 2012 Addison-Wesley. All rights reserved.</a:t>
            </a:r>
          </a:p>
        </p:txBody>
      </p:sp>
      <p:sp>
        <p:nvSpPr>
          <p:cNvPr id="15363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r>
              <a:rPr lang="en-US" sz="1000">
                <a:latin typeface="Arial" charset="0"/>
              </a:rPr>
              <a:t>1-</a:t>
            </a:r>
            <a:fld id="{D008BAFB-CB2F-364C-B24C-746AC8180D5C}" type="slidenum">
              <a:rPr lang="en-US" sz="1000">
                <a:latin typeface="Arial" charset="0"/>
              </a:rPr>
              <a:pPr/>
              <a:t>20</a:t>
            </a:fld>
            <a:endParaRPr lang="en-US" sz="1000">
              <a:latin typeface="Arial" charset="0"/>
            </a:endParaRPr>
          </a:p>
        </p:txBody>
      </p:sp>
      <p:sp>
        <p:nvSpPr>
          <p:cNvPr id="1536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Lucida Sans Unicode" charset="0"/>
                <a:cs typeface="Lucida Sans Unicode" charset="0"/>
              </a:rPr>
              <a:t>Possible Binding Times</a:t>
            </a:r>
          </a:p>
        </p:txBody>
      </p:sp>
      <p:sp>
        <p:nvSpPr>
          <p:cNvPr id="1536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447800"/>
            <a:ext cx="7772400" cy="4724400"/>
          </a:xfrm>
        </p:spPr>
        <p:txBody>
          <a:bodyPr/>
          <a:lstStyle/>
          <a:p>
            <a:pPr eaLnBrk="1" hangingPunct="1"/>
            <a:r>
              <a:rPr lang="en-US">
                <a:solidFill>
                  <a:schemeClr val="tx2"/>
                </a:solidFill>
                <a:latin typeface="Lucida Sans Unicode" charset="0"/>
                <a:cs typeface="Lucida Sans Unicode" charset="0"/>
              </a:rPr>
              <a:t>Language design time </a:t>
            </a:r>
            <a:r>
              <a:rPr lang="en-US">
                <a:latin typeface="Lucida Sans Unicode" charset="0"/>
                <a:cs typeface="Lucida Sans Unicode" charset="0"/>
              </a:rPr>
              <a:t>--  bind operator symbols to operations</a:t>
            </a:r>
          </a:p>
          <a:p>
            <a:pPr eaLnBrk="1" hangingPunct="1"/>
            <a:r>
              <a:rPr lang="en-US">
                <a:solidFill>
                  <a:schemeClr val="tx2"/>
                </a:solidFill>
                <a:latin typeface="Lucida Sans Unicode" charset="0"/>
                <a:cs typeface="Lucida Sans Unicode" charset="0"/>
              </a:rPr>
              <a:t>Language implementation time</a:t>
            </a:r>
            <a:r>
              <a:rPr lang="en-US">
                <a:latin typeface="Lucida Sans Unicode" charset="0"/>
                <a:cs typeface="Lucida Sans Unicode" charset="0"/>
              </a:rPr>
              <a:t>-- bind floating point type to a representation</a:t>
            </a:r>
          </a:p>
          <a:p>
            <a:pPr eaLnBrk="1" hangingPunct="1"/>
            <a:r>
              <a:rPr lang="en-US">
                <a:solidFill>
                  <a:schemeClr val="tx2"/>
                </a:solidFill>
                <a:latin typeface="Lucida Sans Unicode" charset="0"/>
                <a:cs typeface="Lucida Sans Unicode" charset="0"/>
              </a:rPr>
              <a:t>Compile time </a:t>
            </a:r>
            <a:r>
              <a:rPr lang="en-US">
                <a:latin typeface="Lucida Sans Unicode" charset="0"/>
                <a:cs typeface="Lucida Sans Unicode" charset="0"/>
              </a:rPr>
              <a:t>-- bind a variable to a type in C or Java</a:t>
            </a:r>
          </a:p>
          <a:p>
            <a:pPr eaLnBrk="1" hangingPunct="1"/>
            <a:r>
              <a:rPr lang="en-US">
                <a:solidFill>
                  <a:schemeClr val="tx2"/>
                </a:solidFill>
                <a:latin typeface="Lucida Sans Unicode" charset="0"/>
                <a:cs typeface="Lucida Sans Unicode" charset="0"/>
              </a:rPr>
              <a:t>Load time </a:t>
            </a:r>
            <a:r>
              <a:rPr lang="en-US">
                <a:latin typeface="Lucida Sans Unicode" charset="0"/>
                <a:cs typeface="Lucida Sans Unicode" charset="0"/>
              </a:rPr>
              <a:t>-- bind a C or C++ </a:t>
            </a:r>
            <a:r>
              <a:rPr lang="en-US">
                <a:latin typeface="Courier New" charset="0"/>
                <a:cs typeface="Lucida Sans Unicode" charset="0"/>
              </a:rPr>
              <a:t>static</a:t>
            </a:r>
            <a:r>
              <a:rPr lang="en-US">
                <a:latin typeface="Lucida Sans Unicode" charset="0"/>
                <a:cs typeface="Lucida Sans Unicode" charset="0"/>
              </a:rPr>
              <a:t> variable to a memory cell)</a:t>
            </a:r>
          </a:p>
          <a:p>
            <a:pPr eaLnBrk="1" hangingPunct="1"/>
            <a:r>
              <a:rPr lang="en-US">
                <a:solidFill>
                  <a:schemeClr val="tx2"/>
                </a:solidFill>
                <a:latin typeface="Lucida Sans Unicode" charset="0"/>
                <a:cs typeface="Lucida Sans Unicode" charset="0"/>
              </a:rPr>
              <a:t>Runtime </a:t>
            </a:r>
            <a:r>
              <a:rPr lang="en-US">
                <a:latin typeface="Lucida Sans Unicode" charset="0"/>
                <a:cs typeface="Lucida Sans Unicode" charset="0"/>
              </a:rPr>
              <a:t>-- bind a nonstatic local variable to a memory cell</a:t>
            </a:r>
          </a:p>
        </p:txBody>
      </p:sp>
    </p:spTree>
    <p:extLst>
      <p:ext uri="{BB962C8B-B14F-4D97-AF65-F5344CB8AC3E}">
        <p14:creationId xmlns:p14="http://schemas.microsoft.com/office/powerpoint/2010/main" val="35959074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r>
              <a:rPr lang="en-US" sz="1000">
                <a:latin typeface="Arial" charset="0"/>
              </a:rPr>
              <a:t>Copyright © 2012 Addison-Wesley. All rights reserved.</a:t>
            </a:r>
          </a:p>
        </p:txBody>
      </p:sp>
      <p:sp>
        <p:nvSpPr>
          <p:cNvPr id="16387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r>
              <a:rPr lang="en-US" sz="1000">
                <a:latin typeface="Arial" charset="0"/>
              </a:rPr>
              <a:t>1-</a:t>
            </a:r>
            <a:fld id="{2BD6C41A-BCDA-0448-BB58-5C62F64DDBE4}" type="slidenum">
              <a:rPr lang="en-US" sz="1000">
                <a:latin typeface="Arial" charset="0"/>
              </a:rPr>
              <a:pPr/>
              <a:t>21</a:t>
            </a:fld>
            <a:endParaRPr lang="en-US" sz="1000">
              <a:latin typeface="Arial" charset="0"/>
            </a:endParaRPr>
          </a:p>
        </p:txBody>
      </p:sp>
      <p:sp>
        <p:nvSpPr>
          <p:cNvPr id="1638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Lucida Sans Unicode" charset="0"/>
                <a:cs typeface="Lucida Sans Unicode" charset="0"/>
              </a:rPr>
              <a:t>Static and Dynamic Binding</a:t>
            </a:r>
          </a:p>
        </p:txBody>
      </p:sp>
      <p:sp>
        <p:nvSpPr>
          <p:cNvPr id="1638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Lucida Sans Unicode" charset="0"/>
                <a:cs typeface="Lucida Sans Unicode" charset="0"/>
              </a:rPr>
              <a:t>A binding is </a:t>
            </a:r>
            <a:r>
              <a:rPr lang="en-US" i="1" dirty="0">
                <a:latin typeface="Lucida Sans Unicode" charset="0"/>
                <a:cs typeface="Lucida Sans Unicode" charset="0"/>
              </a:rPr>
              <a:t>static</a:t>
            </a:r>
            <a:r>
              <a:rPr lang="en-US" dirty="0">
                <a:latin typeface="Lucida Sans Unicode" charset="0"/>
                <a:cs typeface="Lucida Sans Unicode" charset="0"/>
              </a:rPr>
              <a:t> if it first occurs before run time and remains unchanged throughout program execution.</a:t>
            </a:r>
          </a:p>
          <a:p>
            <a:pPr eaLnBrk="1" hangingPunct="1"/>
            <a:r>
              <a:rPr lang="en-US" dirty="0">
                <a:latin typeface="Lucida Sans Unicode" charset="0"/>
                <a:cs typeface="Lucida Sans Unicode" charset="0"/>
              </a:rPr>
              <a:t>A binding is </a:t>
            </a:r>
            <a:r>
              <a:rPr lang="en-US" i="1" dirty="0">
                <a:latin typeface="Lucida Sans Unicode" charset="0"/>
                <a:cs typeface="Lucida Sans Unicode" charset="0"/>
              </a:rPr>
              <a:t>dynamic</a:t>
            </a:r>
            <a:r>
              <a:rPr lang="en-US" dirty="0">
                <a:latin typeface="Lucida Sans Unicode" charset="0"/>
                <a:cs typeface="Lucida Sans Unicode" charset="0"/>
              </a:rPr>
              <a:t> if it first occurs during execution or can change during execution of the program. Also makes re-binding possible.</a:t>
            </a:r>
          </a:p>
        </p:txBody>
      </p:sp>
    </p:spTree>
    <p:extLst>
      <p:ext uri="{BB962C8B-B14F-4D97-AF65-F5344CB8AC3E}">
        <p14:creationId xmlns:p14="http://schemas.microsoft.com/office/powerpoint/2010/main" val="39181973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r>
              <a:rPr lang="en-US" sz="1000">
                <a:latin typeface="Arial" charset="0"/>
              </a:rPr>
              <a:t>Copyright © 2012 Addison-Wesley. All rights reserved.</a:t>
            </a:r>
          </a:p>
        </p:txBody>
      </p:sp>
      <p:sp>
        <p:nvSpPr>
          <p:cNvPr id="1741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r>
              <a:rPr lang="en-US" sz="1000">
                <a:latin typeface="Arial" charset="0"/>
              </a:rPr>
              <a:t>1-</a:t>
            </a:r>
            <a:fld id="{0573CDC2-5811-CA49-935A-5F2D2EEC00DE}" type="slidenum">
              <a:rPr lang="en-US" sz="1000">
                <a:latin typeface="Arial" charset="0"/>
              </a:rPr>
              <a:pPr/>
              <a:t>22</a:t>
            </a:fld>
            <a:endParaRPr lang="en-US" sz="1000">
              <a:latin typeface="Arial" charset="0"/>
            </a:endParaRPr>
          </a:p>
        </p:txBody>
      </p:sp>
      <p:sp>
        <p:nvSpPr>
          <p:cNvPr id="1741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Lucida Sans Unicode" charset="0"/>
                <a:cs typeface="Lucida Sans Unicode" charset="0"/>
              </a:rPr>
              <a:t>Type Binding</a:t>
            </a:r>
          </a:p>
        </p:txBody>
      </p:sp>
      <p:sp>
        <p:nvSpPr>
          <p:cNvPr id="1741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Lucida Sans Unicode" charset="0"/>
                <a:cs typeface="Lucida Sans Unicode" charset="0"/>
              </a:rPr>
              <a:t>How is a type specified?</a:t>
            </a:r>
          </a:p>
          <a:p>
            <a:pPr eaLnBrk="1" hangingPunct="1"/>
            <a:r>
              <a:rPr lang="en-US">
                <a:latin typeface="Lucida Sans Unicode" charset="0"/>
                <a:cs typeface="Lucida Sans Unicode" charset="0"/>
              </a:rPr>
              <a:t>When does the binding take place?</a:t>
            </a:r>
          </a:p>
          <a:p>
            <a:pPr eaLnBrk="1" hangingPunct="1"/>
            <a:r>
              <a:rPr lang="en-US">
                <a:latin typeface="Lucida Sans Unicode" charset="0"/>
                <a:cs typeface="Lucida Sans Unicode" charset="0"/>
              </a:rPr>
              <a:t>If static, the type may be specified by either an explicit or an implicit declaration</a:t>
            </a:r>
          </a:p>
        </p:txBody>
      </p:sp>
    </p:spTree>
    <p:extLst>
      <p:ext uri="{BB962C8B-B14F-4D97-AF65-F5344CB8AC3E}">
        <p14:creationId xmlns:p14="http://schemas.microsoft.com/office/powerpoint/2010/main" val="25929912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r>
              <a:rPr lang="en-US" sz="1000">
                <a:latin typeface="Arial" charset="0"/>
              </a:rPr>
              <a:t>Copyright © 2012 Addison-Wesley. All rights reserved.</a:t>
            </a:r>
          </a:p>
        </p:txBody>
      </p:sp>
      <p:sp>
        <p:nvSpPr>
          <p:cNvPr id="18435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r>
              <a:rPr lang="en-US" sz="1000">
                <a:latin typeface="Arial" charset="0"/>
              </a:rPr>
              <a:t>1-</a:t>
            </a:r>
            <a:fld id="{F99C2B5C-92D7-D947-8CD7-A2F79023A020}" type="slidenum">
              <a:rPr lang="en-US" sz="1000">
                <a:latin typeface="Arial" charset="0"/>
              </a:rPr>
              <a:pPr/>
              <a:t>23</a:t>
            </a:fld>
            <a:endParaRPr lang="en-US" sz="1000">
              <a:latin typeface="Arial" charset="0"/>
            </a:endParaRPr>
          </a:p>
        </p:txBody>
      </p:sp>
      <p:sp>
        <p:nvSpPr>
          <p:cNvPr id="1843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Lucida Sans Unicode" charset="0"/>
                <a:cs typeface="Lucida Sans Unicode" charset="0"/>
              </a:rPr>
              <a:t>Explicit/Implicit Declaration</a:t>
            </a:r>
          </a:p>
        </p:txBody>
      </p:sp>
      <p:sp>
        <p:nvSpPr>
          <p:cNvPr id="1843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371600"/>
            <a:ext cx="8153400" cy="4876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>
                <a:latin typeface="Lucida Sans Unicode" charset="0"/>
                <a:cs typeface="Lucida Sans Unicode" charset="0"/>
              </a:rPr>
              <a:t>An </a:t>
            </a:r>
            <a:r>
              <a:rPr lang="en-US" i="1">
                <a:latin typeface="Lucida Sans Unicode" charset="0"/>
                <a:cs typeface="Lucida Sans Unicode" charset="0"/>
              </a:rPr>
              <a:t>explicit declaration</a:t>
            </a:r>
            <a:r>
              <a:rPr lang="en-US">
                <a:latin typeface="Lucida Sans Unicode" charset="0"/>
                <a:cs typeface="Lucida Sans Unicode" charset="0"/>
              </a:rPr>
              <a:t> is a program statement used for declaring the types of variables</a:t>
            </a:r>
          </a:p>
          <a:p>
            <a:pPr eaLnBrk="1" hangingPunct="1">
              <a:lnSpc>
                <a:spcPct val="90000"/>
              </a:lnSpc>
            </a:pPr>
            <a:r>
              <a:rPr lang="en-US">
                <a:latin typeface="Lucida Sans Unicode" charset="0"/>
                <a:cs typeface="Lucida Sans Unicode" charset="0"/>
              </a:rPr>
              <a:t>An </a:t>
            </a:r>
            <a:r>
              <a:rPr lang="en-US" i="1">
                <a:latin typeface="Lucida Sans Unicode" charset="0"/>
                <a:cs typeface="Lucida Sans Unicode" charset="0"/>
              </a:rPr>
              <a:t>implicit declaration</a:t>
            </a:r>
            <a:r>
              <a:rPr lang="en-US">
                <a:latin typeface="Lucida Sans Unicode" charset="0"/>
                <a:cs typeface="Lucida Sans Unicode" charset="0"/>
              </a:rPr>
              <a:t> is a default mechanism for specifying types of variables through default conventions, rather than declaration statements</a:t>
            </a:r>
          </a:p>
          <a:p>
            <a:pPr eaLnBrk="1" hangingPunct="1">
              <a:lnSpc>
                <a:spcPct val="90000"/>
              </a:lnSpc>
            </a:pPr>
            <a:r>
              <a:rPr lang="en-US">
                <a:latin typeface="Lucida Sans Unicode" charset="0"/>
                <a:cs typeface="Lucida Sans Unicode" charset="0"/>
              </a:rPr>
              <a:t>Fortran, BASIC, Perl, Ruby, JavaScript, and PHP provide implicit declarations (Fortran has both explicit and implicit)</a:t>
            </a:r>
          </a:p>
          <a:p>
            <a:pPr lvl="1" eaLnBrk="1" hangingPunct="1">
              <a:lnSpc>
                <a:spcPct val="90000"/>
              </a:lnSpc>
            </a:pPr>
            <a:r>
              <a:rPr lang="en-US">
                <a:latin typeface="Lucida Sans Unicode" charset="0"/>
                <a:ea typeface="Lucida Sans Unicode" charset="0"/>
                <a:cs typeface="Lucida Sans Unicode" charset="0"/>
              </a:rPr>
              <a:t>Advantage: writability (a minor convenience)</a:t>
            </a:r>
          </a:p>
          <a:p>
            <a:pPr lvl="1" eaLnBrk="1" hangingPunct="1">
              <a:lnSpc>
                <a:spcPct val="90000"/>
              </a:lnSpc>
            </a:pPr>
            <a:r>
              <a:rPr lang="en-US">
                <a:latin typeface="Lucida Sans Unicode" charset="0"/>
                <a:ea typeface="Lucida Sans Unicode" charset="0"/>
                <a:cs typeface="Lucida Sans Unicode" charset="0"/>
              </a:rPr>
              <a:t>Disadvantage: reliability (less trouble with Perl)</a:t>
            </a:r>
          </a:p>
        </p:txBody>
      </p:sp>
    </p:spTree>
    <p:extLst>
      <p:ext uri="{BB962C8B-B14F-4D97-AF65-F5344CB8AC3E}">
        <p14:creationId xmlns:p14="http://schemas.microsoft.com/office/powerpoint/2010/main" val="24781956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Lucida Sans Unicode" charset="0"/>
                <a:cs typeface="Lucida Sans Unicode" charset="0"/>
              </a:rPr>
              <a:t>Explicit/Implicit Declaration </a:t>
            </a:r>
            <a:r>
              <a:rPr lang="en-US" sz="2200">
                <a:latin typeface="Lucida Sans Unicode" charset="0"/>
                <a:cs typeface="Lucida Sans Unicode" charset="0"/>
              </a:rPr>
              <a:t>(continued)</a:t>
            </a:r>
          </a:p>
        </p:txBody>
      </p:sp>
      <p:sp>
        <p:nvSpPr>
          <p:cNvPr id="1945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>
                <a:latin typeface="Lucida Sans Unicode" charset="0"/>
                <a:cs typeface="Lucida Sans Unicode" charset="0"/>
              </a:rPr>
              <a:t>Some languages use type inferencing to determine types of variables (context)</a:t>
            </a:r>
          </a:p>
          <a:p>
            <a:pPr lvl="1"/>
            <a:r>
              <a:rPr lang="en-US">
                <a:latin typeface="Lucida Sans Unicode" charset="0"/>
                <a:ea typeface="Lucida Sans Unicode" charset="0"/>
                <a:cs typeface="Lucida Sans Unicode" charset="0"/>
              </a:rPr>
              <a:t>C# - a variable can be declared with </a:t>
            </a:r>
            <a:r>
              <a:rPr lang="en-US" b="1">
                <a:latin typeface="Courier New" charset="0"/>
                <a:ea typeface="ＭＳ Ｐゴシック" charset="0"/>
                <a:cs typeface="Courier New" charset="0"/>
              </a:rPr>
              <a:t>var</a:t>
            </a:r>
            <a:r>
              <a:rPr lang="en-US">
                <a:latin typeface="Lucida Sans Unicode" charset="0"/>
                <a:ea typeface="Lucida Sans Unicode" charset="0"/>
                <a:cs typeface="Lucida Sans Unicode" charset="0"/>
              </a:rPr>
              <a:t> and an initial value. The initial value sets the type</a:t>
            </a:r>
          </a:p>
          <a:p>
            <a:pPr lvl="1"/>
            <a:r>
              <a:rPr lang="en-US">
                <a:latin typeface="Lucida Sans Unicode" charset="0"/>
                <a:ea typeface="Lucida Sans Unicode" charset="0"/>
                <a:cs typeface="Lucida Sans Unicode" charset="0"/>
              </a:rPr>
              <a:t>Visual BASIC 9.0+, ML, Haskell, F#, and Go use type inferencing. The context of the appearance of a variable determines its type</a:t>
            </a:r>
          </a:p>
          <a:p>
            <a:pPr>
              <a:buFontTx/>
              <a:buNone/>
            </a:pPr>
            <a:endParaRPr lang="en-US">
              <a:latin typeface="Lucida Sans Unicode" charset="0"/>
              <a:cs typeface="Lucida Sans Unicode" charset="0"/>
            </a:endParaRPr>
          </a:p>
        </p:txBody>
      </p:sp>
      <p:sp>
        <p:nvSpPr>
          <p:cNvPr id="19460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r>
              <a:rPr lang="en-US" sz="1000">
                <a:latin typeface="Arial" charset="0"/>
              </a:rPr>
              <a:t>Copyright © 2012 Addison-Wesley. All rights reserved.</a:t>
            </a:r>
          </a:p>
        </p:txBody>
      </p:sp>
      <p:sp>
        <p:nvSpPr>
          <p:cNvPr id="1946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r>
              <a:rPr lang="en-US" sz="1000">
                <a:latin typeface="Arial" charset="0"/>
              </a:rPr>
              <a:t>1-</a:t>
            </a:r>
            <a:fld id="{FF5AAEF6-3D19-0348-BF14-F15F610A8012}" type="slidenum">
              <a:rPr lang="en-US" sz="1000">
                <a:latin typeface="Arial" charset="0"/>
              </a:rPr>
              <a:pPr/>
              <a:t>24</a:t>
            </a:fld>
            <a:endParaRPr lang="en-US" sz="100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50156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r>
              <a:rPr lang="en-US" sz="1000">
                <a:latin typeface="Arial" charset="0"/>
              </a:rPr>
              <a:t>Copyright © 2012 Addison-Wesley. All rights reserved.</a:t>
            </a:r>
          </a:p>
        </p:txBody>
      </p:sp>
      <p:sp>
        <p:nvSpPr>
          <p:cNvPr id="20483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r>
              <a:rPr lang="en-US" sz="1000">
                <a:latin typeface="Arial" charset="0"/>
              </a:rPr>
              <a:t>1-</a:t>
            </a:r>
            <a:fld id="{613A6D1C-8B36-A045-8AAC-63952D7B8352}" type="slidenum">
              <a:rPr lang="en-US" sz="1000">
                <a:latin typeface="Arial" charset="0"/>
              </a:rPr>
              <a:pPr/>
              <a:t>25</a:t>
            </a:fld>
            <a:endParaRPr lang="en-US" sz="1000">
              <a:latin typeface="Arial" charset="0"/>
            </a:endParaRPr>
          </a:p>
        </p:txBody>
      </p:sp>
      <p:sp>
        <p:nvSpPr>
          <p:cNvPr id="2048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Lucida Sans Unicode" charset="0"/>
                <a:cs typeface="Lucida Sans Unicode" charset="0"/>
              </a:rPr>
              <a:t>Dynamic Type Binding</a:t>
            </a:r>
          </a:p>
        </p:txBody>
      </p:sp>
      <p:sp>
        <p:nvSpPr>
          <p:cNvPr id="2048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295400"/>
            <a:ext cx="8153400" cy="4953000"/>
          </a:xfrm>
        </p:spPr>
        <p:txBody>
          <a:bodyPr/>
          <a:lstStyle/>
          <a:p>
            <a:pPr eaLnBrk="1" hangingPunct="1"/>
            <a:r>
              <a:rPr lang="en-US">
                <a:latin typeface="Lucida Sans Unicode" charset="0"/>
                <a:cs typeface="Lucida Sans Unicode" charset="0"/>
              </a:rPr>
              <a:t>Dynamic Type Binding (JavaScript, Python, Ruby, PHP, and C# (limited))</a:t>
            </a:r>
          </a:p>
          <a:p>
            <a:pPr eaLnBrk="1" hangingPunct="1"/>
            <a:r>
              <a:rPr lang="en-US">
                <a:latin typeface="Lucida Sans Unicode" charset="0"/>
                <a:cs typeface="Lucida Sans Unicode" charset="0"/>
              </a:rPr>
              <a:t>Specified through an assignment statement         e.g., JavaScript         </a:t>
            </a:r>
          </a:p>
          <a:p>
            <a:pPr eaLnBrk="1" hangingPunct="1">
              <a:buFontTx/>
              <a:buNone/>
            </a:pPr>
            <a:r>
              <a:rPr lang="en-US">
                <a:latin typeface="Lucida Sans Unicode" charset="0"/>
                <a:cs typeface="Lucida Sans Unicode" charset="0"/>
              </a:rPr>
              <a:t>		</a:t>
            </a:r>
            <a:r>
              <a:rPr lang="en-US">
                <a:latin typeface="Courier New" charset="0"/>
                <a:cs typeface="Lucida Sans Unicode" charset="0"/>
              </a:rPr>
              <a:t>list = [2, 4.33, 6, 8];</a:t>
            </a:r>
          </a:p>
          <a:p>
            <a:pPr eaLnBrk="1" hangingPunct="1">
              <a:buFontTx/>
              <a:buNone/>
            </a:pPr>
            <a:r>
              <a:rPr lang="en-US">
                <a:latin typeface="Courier New" charset="0"/>
                <a:cs typeface="Lucida Sans Unicode" charset="0"/>
              </a:rPr>
              <a:t>		list = 17.3;</a:t>
            </a:r>
          </a:p>
          <a:p>
            <a:pPr lvl="1" eaLnBrk="1" hangingPunct="1"/>
            <a:r>
              <a:rPr lang="en-US">
                <a:latin typeface="Lucida Sans Unicode" charset="0"/>
                <a:ea typeface="Lucida Sans Unicode" charset="0"/>
                <a:cs typeface="Lucida Sans Unicode" charset="0"/>
              </a:rPr>
              <a:t>Advantage: flexibility (generic program units)</a:t>
            </a:r>
          </a:p>
          <a:p>
            <a:pPr lvl="1" eaLnBrk="1" hangingPunct="1"/>
            <a:r>
              <a:rPr lang="en-US">
                <a:latin typeface="Lucida Sans Unicode" charset="0"/>
                <a:ea typeface="Lucida Sans Unicode" charset="0"/>
                <a:cs typeface="Lucida Sans Unicode" charset="0"/>
              </a:rPr>
              <a:t>Disadvantages: </a:t>
            </a:r>
          </a:p>
          <a:p>
            <a:pPr lvl="2" eaLnBrk="1" hangingPunct="1"/>
            <a:r>
              <a:rPr lang="en-US">
                <a:latin typeface="Lucida Sans Unicode" charset="0"/>
                <a:ea typeface="Lucida Sans Unicode" charset="0"/>
                <a:cs typeface="Lucida Sans Unicode" charset="0"/>
              </a:rPr>
              <a:t>High cost (dynamic type checking and interpretation)</a:t>
            </a:r>
          </a:p>
          <a:p>
            <a:pPr lvl="2" eaLnBrk="1" hangingPunct="1"/>
            <a:r>
              <a:rPr lang="en-US">
                <a:latin typeface="Lucida Sans Unicode" charset="0"/>
                <a:ea typeface="Lucida Sans Unicode" charset="0"/>
                <a:cs typeface="Lucida Sans Unicode" charset="0"/>
              </a:rPr>
              <a:t>Type error detection by the compiler is difficult</a:t>
            </a:r>
          </a:p>
        </p:txBody>
      </p:sp>
    </p:spTree>
    <p:extLst>
      <p:ext uri="{BB962C8B-B14F-4D97-AF65-F5344CB8AC3E}">
        <p14:creationId xmlns:p14="http://schemas.microsoft.com/office/powerpoint/2010/main" val="28186157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r>
              <a:rPr lang="en-US" sz="1000">
                <a:latin typeface="Arial" charset="0"/>
              </a:rPr>
              <a:t>Copyright © 2012 Addison-Wesley. All rights reserved.</a:t>
            </a:r>
          </a:p>
        </p:txBody>
      </p:sp>
      <p:sp>
        <p:nvSpPr>
          <p:cNvPr id="21507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r>
              <a:rPr lang="en-US" sz="1000">
                <a:latin typeface="Arial" charset="0"/>
              </a:rPr>
              <a:t>1-</a:t>
            </a:r>
            <a:fld id="{43A04B5A-5F09-5A44-BFE5-421870A34765}" type="slidenum">
              <a:rPr lang="en-US" sz="1000">
                <a:latin typeface="Arial" charset="0"/>
              </a:rPr>
              <a:pPr/>
              <a:t>26</a:t>
            </a:fld>
            <a:endParaRPr lang="en-US" sz="1000">
              <a:latin typeface="Arial" charset="0"/>
            </a:endParaRPr>
          </a:p>
        </p:txBody>
      </p:sp>
      <p:sp>
        <p:nvSpPr>
          <p:cNvPr id="2150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Lucida Sans Unicode" charset="0"/>
                <a:cs typeface="Lucida Sans Unicode" charset="0"/>
              </a:rPr>
              <a:t>Variable Attributes </a:t>
            </a:r>
            <a:r>
              <a:rPr lang="en-US" sz="2800">
                <a:latin typeface="Lucida Sans Unicode" charset="0"/>
                <a:cs typeface="Lucida Sans Unicode" charset="0"/>
              </a:rPr>
              <a:t>(continued)</a:t>
            </a:r>
          </a:p>
        </p:txBody>
      </p:sp>
      <p:sp>
        <p:nvSpPr>
          <p:cNvPr id="2150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>
                <a:solidFill>
                  <a:schemeClr val="tx2"/>
                </a:solidFill>
                <a:latin typeface="Lucida Sans Unicode" charset="0"/>
                <a:cs typeface="Lucida Sans Unicode" charset="0"/>
              </a:rPr>
              <a:t>Storage Bindings &amp; Lifetime</a:t>
            </a:r>
          </a:p>
          <a:p>
            <a:pPr lvl="1" eaLnBrk="1" hangingPunct="1">
              <a:lnSpc>
                <a:spcPct val="90000"/>
              </a:lnSpc>
            </a:pPr>
            <a:r>
              <a:rPr lang="en-US">
                <a:solidFill>
                  <a:schemeClr val="tx2"/>
                </a:solidFill>
                <a:latin typeface="Lucida Sans Unicode" charset="0"/>
                <a:ea typeface="Lucida Sans Unicode" charset="0"/>
                <a:cs typeface="Lucida Sans Unicode" charset="0"/>
              </a:rPr>
              <a:t>Allocation</a:t>
            </a:r>
            <a:r>
              <a:rPr lang="en-US">
                <a:latin typeface="Lucida Sans Unicode" charset="0"/>
                <a:ea typeface="Lucida Sans Unicode" charset="0"/>
                <a:cs typeface="Lucida Sans Unicode" charset="0"/>
              </a:rPr>
              <a:t> - getting a cell from some pool of available cells</a:t>
            </a:r>
          </a:p>
          <a:p>
            <a:pPr lvl="1" eaLnBrk="1" hangingPunct="1">
              <a:lnSpc>
                <a:spcPct val="90000"/>
              </a:lnSpc>
            </a:pPr>
            <a:r>
              <a:rPr lang="en-US">
                <a:solidFill>
                  <a:schemeClr val="tx2"/>
                </a:solidFill>
                <a:latin typeface="Lucida Sans Unicode" charset="0"/>
                <a:ea typeface="Lucida Sans Unicode" charset="0"/>
                <a:cs typeface="Lucida Sans Unicode" charset="0"/>
              </a:rPr>
              <a:t>Deallocation</a:t>
            </a:r>
            <a:r>
              <a:rPr lang="en-US">
                <a:latin typeface="Lucida Sans Unicode" charset="0"/>
                <a:ea typeface="Lucida Sans Unicode" charset="0"/>
                <a:cs typeface="Lucida Sans Unicode" charset="0"/>
              </a:rPr>
              <a:t> - putting a cell back into the pool</a:t>
            </a:r>
          </a:p>
          <a:p>
            <a:pPr eaLnBrk="1" hangingPunct="1">
              <a:lnSpc>
                <a:spcPct val="90000"/>
              </a:lnSpc>
            </a:pPr>
            <a:r>
              <a:rPr lang="en-US">
                <a:latin typeface="Lucida Sans Unicode" charset="0"/>
                <a:cs typeface="Lucida Sans Unicode" charset="0"/>
              </a:rPr>
              <a:t>The </a:t>
            </a:r>
            <a:r>
              <a:rPr lang="en-US">
                <a:solidFill>
                  <a:schemeClr val="tx2"/>
                </a:solidFill>
                <a:latin typeface="Lucida Sans Unicode" charset="0"/>
                <a:cs typeface="Lucida Sans Unicode" charset="0"/>
              </a:rPr>
              <a:t>lifetime</a:t>
            </a:r>
            <a:r>
              <a:rPr lang="en-US">
                <a:latin typeface="Lucida Sans Unicode" charset="0"/>
                <a:cs typeface="Lucida Sans Unicode" charset="0"/>
              </a:rPr>
              <a:t> of a variable is the time during which it is bound to a particular memory cell</a:t>
            </a:r>
          </a:p>
        </p:txBody>
      </p:sp>
    </p:spTree>
    <p:extLst>
      <p:ext uri="{BB962C8B-B14F-4D97-AF65-F5344CB8AC3E}">
        <p14:creationId xmlns:p14="http://schemas.microsoft.com/office/powerpoint/2010/main" val="30526901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r>
              <a:rPr lang="en-US" sz="1000">
                <a:latin typeface="Arial" charset="0"/>
              </a:rPr>
              <a:t>Copyright © 2012 Addison-Wesley. All rights reserved.</a:t>
            </a:r>
          </a:p>
        </p:txBody>
      </p:sp>
      <p:sp>
        <p:nvSpPr>
          <p:cNvPr id="2253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r>
              <a:rPr lang="en-US" sz="1000">
                <a:latin typeface="Arial" charset="0"/>
              </a:rPr>
              <a:t>1-</a:t>
            </a:r>
            <a:fld id="{02BABAA8-DB02-7041-BC89-B2F7AB26D9DD}" type="slidenum">
              <a:rPr lang="en-US" sz="1000">
                <a:latin typeface="Arial" charset="0"/>
              </a:rPr>
              <a:pPr/>
              <a:t>27</a:t>
            </a:fld>
            <a:endParaRPr lang="en-US" sz="1000">
              <a:latin typeface="Arial" charset="0"/>
            </a:endParaRPr>
          </a:p>
        </p:txBody>
      </p:sp>
      <p:sp>
        <p:nvSpPr>
          <p:cNvPr id="2253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Lucida Sans Unicode" charset="0"/>
                <a:cs typeface="Lucida Sans Unicode" charset="0"/>
              </a:rPr>
              <a:t>Categories of Variables by Lifetimes</a:t>
            </a:r>
          </a:p>
        </p:txBody>
      </p:sp>
      <p:sp>
        <p:nvSpPr>
          <p:cNvPr id="2253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>
                <a:solidFill>
                  <a:schemeClr val="tx2"/>
                </a:solidFill>
                <a:latin typeface="Lucida Sans Unicode" charset="0"/>
                <a:cs typeface="Lucida Sans Unicode" charset="0"/>
              </a:rPr>
              <a:t>Static</a:t>
            </a:r>
            <a:r>
              <a:rPr lang="en-US" dirty="0">
                <a:latin typeface="Lucida Sans Unicode" charset="0"/>
                <a:cs typeface="Lucida Sans Unicode" charset="0"/>
              </a:rPr>
              <a:t>--bound to memory cells before execution begins and remains bound to the same memory cell throughout execution, e.g., C and C++ </a:t>
            </a:r>
            <a:r>
              <a:rPr lang="en-US" sz="2400" dirty="0">
                <a:latin typeface="Courier New" charset="0"/>
                <a:cs typeface="Lucida Sans Unicode" charset="0"/>
              </a:rPr>
              <a:t>static</a:t>
            </a:r>
            <a:r>
              <a:rPr lang="en-US" dirty="0">
                <a:latin typeface="Lucida Sans Unicode" charset="0"/>
                <a:cs typeface="Lucida Sans Unicode" charset="0"/>
              </a:rPr>
              <a:t> variables in functions</a:t>
            </a:r>
          </a:p>
          <a:p>
            <a:pPr lvl="1" eaLnBrk="1" hangingPunct="1"/>
            <a:r>
              <a:rPr lang="en-US" dirty="0">
                <a:solidFill>
                  <a:schemeClr val="tx2"/>
                </a:solidFill>
                <a:latin typeface="Lucida Sans Unicode" charset="0"/>
                <a:ea typeface="Lucida Sans Unicode" charset="0"/>
                <a:cs typeface="Lucida Sans Unicode" charset="0"/>
              </a:rPr>
              <a:t>Advantages</a:t>
            </a:r>
            <a:r>
              <a:rPr lang="en-US" dirty="0">
                <a:latin typeface="Lucida Sans Unicode" charset="0"/>
                <a:ea typeface="Lucida Sans Unicode" charset="0"/>
                <a:cs typeface="Lucida Sans Unicode" charset="0"/>
              </a:rPr>
              <a:t>: efficiency  (direct addressing), history-sensitive subprogram support</a:t>
            </a:r>
          </a:p>
          <a:p>
            <a:pPr lvl="1" eaLnBrk="1" hangingPunct="1"/>
            <a:r>
              <a:rPr lang="en-US" dirty="0">
                <a:solidFill>
                  <a:schemeClr val="tx2"/>
                </a:solidFill>
                <a:latin typeface="Lucida Sans Unicode" charset="0"/>
                <a:ea typeface="Lucida Sans Unicode" charset="0"/>
                <a:cs typeface="Lucida Sans Unicode" charset="0"/>
              </a:rPr>
              <a:t>Disadvantage</a:t>
            </a:r>
            <a:r>
              <a:rPr lang="en-US" dirty="0">
                <a:latin typeface="Lucida Sans Unicode" charset="0"/>
                <a:ea typeface="Lucida Sans Unicode" charset="0"/>
                <a:cs typeface="Lucida Sans Unicode" charset="0"/>
              </a:rPr>
              <a:t>: lack of flexibility  (no recursion)</a:t>
            </a:r>
          </a:p>
        </p:txBody>
      </p:sp>
    </p:spTree>
    <p:extLst>
      <p:ext uri="{BB962C8B-B14F-4D97-AF65-F5344CB8AC3E}">
        <p14:creationId xmlns:p14="http://schemas.microsoft.com/office/powerpoint/2010/main" val="245709927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r>
              <a:rPr lang="en-US" sz="1000">
                <a:latin typeface="Arial" charset="0"/>
              </a:rPr>
              <a:t>Copyright © 2012 Addison-Wesley. All rights reserved.</a:t>
            </a:r>
          </a:p>
        </p:txBody>
      </p:sp>
      <p:sp>
        <p:nvSpPr>
          <p:cNvPr id="23555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r>
              <a:rPr lang="en-US" sz="1000">
                <a:latin typeface="Arial" charset="0"/>
              </a:rPr>
              <a:t>1-</a:t>
            </a:r>
            <a:fld id="{63883723-7BFC-CA40-8DC4-2333A247DE2E}" type="slidenum">
              <a:rPr lang="en-US" sz="1000">
                <a:latin typeface="Arial" charset="0"/>
              </a:rPr>
              <a:pPr/>
              <a:t>28</a:t>
            </a:fld>
            <a:endParaRPr lang="en-US" sz="1000">
              <a:latin typeface="Arial" charset="0"/>
            </a:endParaRPr>
          </a:p>
        </p:txBody>
      </p:sp>
      <p:sp>
        <p:nvSpPr>
          <p:cNvPr id="2355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Lucida Sans Unicode" charset="0"/>
                <a:cs typeface="Lucida Sans Unicode" charset="0"/>
              </a:rPr>
              <a:t>Categories of Variables by Lifetimes</a:t>
            </a:r>
          </a:p>
        </p:txBody>
      </p:sp>
      <p:sp>
        <p:nvSpPr>
          <p:cNvPr id="23557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533400" y="1295399"/>
            <a:ext cx="8077200" cy="4442941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Lucida Sans Unicode" charset="0"/>
                <a:cs typeface="Lucida Sans Unicode" charset="0"/>
              </a:rPr>
              <a:t>Stack-dynamic--Storage bindings are created for variables when their declaration statements are </a:t>
            </a:r>
            <a:r>
              <a:rPr lang="en-US" sz="2400" i="1" dirty="0">
                <a:latin typeface="Lucida Sans Unicode" charset="0"/>
                <a:cs typeface="Lucida Sans Unicode" charset="0"/>
              </a:rPr>
              <a:t>elaborated</a:t>
            </a:r>
            <a:r>
              <a:rPr lang="en-US" sz="2400" dirty="0">
                <a:latin typeface="Lucida Sans Unicode" charset="0"/>
                <a:cs typeface="Lucida Sans Unicode" charset="0"/>
              </a:rPr>
              <a:t>.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400" dirty="0">
                <a:latin typeface="Lucida Sans Unicode" charset="0"/>
                <a:cs typeface="Lucida Sans Unicode" charset="0"/>
              </a:rPr>
              <a:t>    (A declaration is elaborated when the executable code associated with it is executed)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Lucida Sans Unicode" charset="0"/>
                <a:cs typeface="Lucida Sans Unicode" charset="0"/>
              </a:rPr>
              <a:t>If scalar, all attributes except address are statically bound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>
                <a:latin typeface="Lucida Sans Unicode" charset="0"/>
                <a:ea typeface="Lucida Sans Unicode" charset="0"/>
                <a:cs typeface="Lucida Sans Unicode" charset="0"/>
              </a:rPr>
              <a:t>local variables in C subprograms (not declared </a:t>
            </a:r>
            <a:r>
              <a:rPr lang="en-US" sz="2000" b="1" dirty="0">
                <a:latin typeface="Courier New" charset="0"/>
                <a:ea typeface="ＭＳ Ｐゴシック" charset="0"/>
                <a:cs typeface="Courier New" charset="0"/>
              </a:rPr>
              <a:t>static</a:t>
            </a:r>
            <a:r>
              <a:rPr lang="en-US" sz="2000" dirty="0">
                <a:latin typeface="Lucida Sans Unicode" charset="0"/>
                <a:ea typeface="Lucida Sans Unicode" charset="0"/>
                <a:cs typeface="Lucida Sans Unicode" charset="0"/>
              </a:rPr>
              <a:t>) and Java methods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Lucida Sans Unicode" charset="0"/>
                <a:cs typeface="Lucida Sans Unicode" charset="0"/>
              </a:rPr>
              <a:t>Advantage: allows recursion; conserves storage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Lucida Sans Unicode" charset="0"/>
                <a:cs typeface="Lucida Sans Unicode" charset="0"/>
              </a:rPr>
              <a:t>Disadvantages: 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>
                <a:latin typeface="Lucida Sans Unicode" charset="0"/>
                <a:ea typeface="Lucida Sans Unicode" charset="0"/>
                <a:cs typeface="Lucida Sans Unicode" charset="0"/>
              </a:rPr>
              <a:t>Overhead of allocation and deallocation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>
                <a:latin typeface="Lucida Sans Unicode" charset="0"/>
                <a:ea typeface="Lucida Sans Unicode" charset="0"/>
                <a:cs typeface="Lucida Sans Unicode" charset="0"/>
              </a:rPr>
              <a:t>Subprograms cannot be history sensitive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>
                <a:latin typeface="Lucida Sans Unicode" charset="0"/>
                <a:ea typeface="Lucida Sans Unicode" charset="0"/>
                <a:cs typeface="Lucida Sans Unicode" charset="0"/>
              </a:rPr>
              <a:t>Inefficient references (indirect addressing)</a:t>
            </a:r>
          </a:p>
        </p:txBody>
      </p:sp>
    </p:spTree>
    <p:extLst>
      <p:ext uri="{BB962C8B-B14F-4D97-AF65-F5344CB8AC3E}">
        <p14:creationId xmlns:p14="http://schemas.microsoft.com/office/powerpoint/2010/main" val="25613433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r>
              <a:rPr lang="en-US" sz="1000">
                <a:latin typeface="Arial" charset="0"/>
              </a:rPr>
              <a:t>Copyright © 2012 Addison-Wesley. All rights reserved.</a:t>
            </a:r>
          </a:p>
        </p:txBody>
      </p:sp>
      <p:sp>
        <p:nvSpPr>
          <p:cNvPr id="24579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r>
              <a:rPr lang="en-US" sz="1000">
                <a:latin typeface="Arial" charset="0"/>
              </a:rPr>
              <a:t>1-</a:t>
            </a:r>
            <a:fld id="{04E14FC7-9456-8E43-8CD6-BA7197C0C2A0}" type="slidenum">
              <a:rPr lang="en-US" sz="1000">
                <a:latin typeface="Arial" charset="0"/>
              </a:rPr>
              <a:pPr/>
              <a:t>29</a:t>
            </a:fld>
            <a:endParaRPr lang="en-US" sz="1000">
              <a:latin typeface="Arial" charset="0"/>
            </a:endParaRPr>
          </a:p>
        </p:txBody>
      </p:sp>
      <p:sp>
        <p:nvSpPr>
          <p:cNvPr id="2458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Lucida Sans Unicode" charset="0"/>
                <a:cs typeface="Lucida Sans Unicode" charset="0"/>
              </a:rPr>
              <a:t>Categories of Variables by Lifetimes</a:t>
            </a:r>
          </a:p>
        </p:txBody>
      </p:sp>
      <p:sp>
        <p:nvSpPr>
          <p:cNvPr id="2458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5576" y="1233264"/>
            <a:ext cx="8153400" cy="4572000"/>
          </a:xfrm>
        </p:spPr>
        <p:txBody>
          <a:bodyPr/>
          <a:lstStyle/>
          <a:p>
            <a:pPr eaLnBrk="1" hangingPunct="1"/>
            <a:r>
              <a:rPr lang="en-US" sz="2400" i="1" dirty="0">
                <a:latin typeface="Lucida Sans Unicode" charset="0"/>
                <a:cs typeface="Lucida Sans Unicode" charset="0"/>
              </a:rPr>
              <a:t>Explicit heap-dynamic -</a:t>
            </a:r>
            <a:r>
              <a:rPr lang="en-US" sz="2400" dirty="0">
                <a:latin typeface="Lucida Sans Unicode" charset="0"/>
                <a:cs typeface="Lucida Sans Unicode" charset="0"/>
              </a:rPr>
              <a:t>- Allocated and deallocated by explicit directives, specified by the programmer, which take effect during execution</a:t>
            </a:r>
          </a:p>
          <a:p>
            <a:pPr eaLnBrk="1" hangingPunct="1"/>
            <a:r>
              <a:rPr lang="en-US" sz="2400" dirty="0">
                <a:latin typeface="Lucida Sans Unicode" charset="0"/>
                <a:cs typeface="Lucida Sans Unicode" charset="0"/>
              </a:rPr>
              <a:t>Referenced only through pointers or references, e.g. dynamic objects in C++ (via </a:t>
            </a:r>
            <a:r>
              <a:rPr lang="en-US" sz="2000" b="1" dirty="0">
                <a:latin typeface="Courier New" charset="0"/>
                <a:cs typeface="Lucida Sans Unicode" charset="0"/>
              </a:rPr>
              <a:t>new</a:t>
            </a:r>
            <a:r>
              <a:rPr lang="en-US" sz="2400" dirty="0">
                <a:latin typeface="Lucida Sans Unicode" charset="0"/>
                <a:cs typeface="Lucida Sans Unicode" charset="0"/>
              </a:rPr>
              <a:t> and </a:t>
            </a:r>
            <a:r>
              <a:rPr lang="en-US" sz="2000" b="1" dirty="0">
                <a:latin typeface="Courier New" charset="0"/>
                <a:cs typeface="Lucida Sans Unicode" charset="0"/>
              </a:rPr>
              <a:t>delete</a:t>
            </a:r>
            <a:r>
              <a:rPr lang="en-US" sz="2400" dirty="0">
                <a:latin typeface="Lucida Sans Unicode" charset="0"/>
                <a:cs typeface="Lucida Sans Unicode" charset="0"/>
              </a:rPr>
              <a:t>), all objects in Java</a:t>
            </a:r>
          </a:p>
          <a:p>
            <a:pPr eaLnBrk="1" hangingPunct="1"/>
            <a:r>
              <a:rPr lang="en-US" sz="2400" dirty="0">
                <a:solidFill>
                  <a:schemeClr val="tx2"/>
                </a:solidFill>
                <a:latin typeface="Lucida Sans Unicode" charset="0"/>
                <a:cs typeface="Lucida Sans Unicode" charset="0"/>
              </a:rPr>
              <a:t>Advantage</a:t>
            </a:r>
            <a:r>
              <a:rPr lang="en-US" sz="2400" dirty="0">
                <a:latin typeface="Lucida Sans Unicode" charset="0"/>
                <a:cs typeface="Lucida Sans Unicode" charset="0"/>
              </a:rPr>
              <a:t>: provides for dynamic storage management</a:t>
            </a:r>
          </a:p>
          <a:p>
            <a:pPr eaLnBrk="1" hangingPunct="1"/>
            <a:r>
              <a:rPr lang="en-US" sz="2400" dirty="0">
                <a:solidFill>
                  <a:schemeClr val="tx2"/>
                </a:solidFill>
                <a:latin typeface="Lucida Sans Unicode" charset="0"/>
                <a:cs typeface="Lucida Sans Unicode" charset="0"/>
              </a:rPr>
              <a:t>Disadvantage</a:t>
            </a:r>
            <a:r>
              <a:rPr lang="en-US" sz="2400" dirty="0">
                <a:latin typeface="Lucida Sans Unicode" charset="0"/>
                <a:cs typeface="Lucida Sans Unicode" charset="0"/>
              </a:rPr>
              <a:t>: inefficient and unreliable</a:t>
            </a:r>
          </a:p>
          <a:p>
            <a:pPr eaLnBrk="1" hangingPunct="1"/>
            <a:endParaRPr lang="en-US" sz="2400" dirty="0">
              <a:latin typeface="Lucida Sans Unicode" charset="0"/>
              <a:cs typeface="Lucida Sans Unicode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380200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r>
              <a:rPr lang="en-US" sz="1000">
                <a:latin typeface="Arial" charset="0"/>
              </a:rPr>
              <a:t>Copyright © 2012 Addison-Wesley. All rights reserved.</a:t>
            </a:r>
          </a:p>
        </p:txBody>
      </p:sp>
      <p:sp>
        <p:nvSpPr>
          <p:cNvPr id="25603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r>
              <a:rPr lang="en-US" sz="1000">
                <a:latin typeface="Arial" charset="0"/>
              </a:rPr>
              <a:t>1-</a:t>
            </a:r>
            <a:fld id="{5F22AC74-C933-8A43-9E49-D4A206815031}" type="slidenum">
              <a:rPr lang="en-US" sz="1000">
                <a:latin typeface="Arial" charset="0"/>
              </a:rPr>
              <a:pPr/>
              <a:t>30</a:t>
            </a:fld>
            <a:endParaRPr lang="en-US" sz="1000">
              <a:latin typeface="Arial" charset="0"/>
            </a:endParaRPr>
          </a:p>
        </p:txBody>
      </p:sp>
      <p:sp>
        <p:nvSpPr>
          <p:cNvPr id="2560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Lucida Sans Unicode" charset="0"/>
                <a:cs typeface="Lucida Sans Unicode" charset="0"/>
              </a:rPr>
              <a:t>Categories of Variables by Lifetimes</a:t>
            </a:r>
          </a:p>
        </p:txBody>
      </p:sp>
      <p:sp>
        <p:nvSpPr>
          <p:cNvPr id="2560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5576" y="1369891"/>
            <a:ext cx="8153400" cy="4572000"/>
          </a:xfrm>
        </p:spPr>
        <p:txBody>
          <a:bodyPr/>
          <a:lstStyle/>
          <a:p>
            <a:pPr eaLnBrk="1" hangingPunct="1"/>
            <a:r>
              <a:rPr lang="en-US" i="1" dirty="0">
                <a:latin typeface="Lucida Sans Unicode" charset="0"/>
                <a:cs typeface="Lucida Sans Unicode" charset="0"/>
              </a:rPr>
              <a:t>Implicit heap-dynamic-</a:t>
            </a:r>
            <a:r>
              <a:rPr lang="en-US" dirty="0">
                <a:latin typeface="Lucida Sans Unicode" charset="0"/>
                <a:cs typeface="Lucida Sans Unicode" charset="0"/>
              </a:rPr>
              <a:t>-Allocation and deallocation caused by assignment statements</a:t>
            </a:r>
          </a:p>
          <a:p>
            <a:pPr lvl="1" eaLnBrk="1" hangingPunct="1"/>
            <a:r>
              <a:rPr lang="en-US" dirty="0">
                <a:latin typeface="Lucida Sans Unicode" charset="0"/>
                <a:ea typeface="Lucida Sans Unicode" charset="0"/>
                <a:cs typeface="Lucida Sans Unicode" charset="0"/>
              </a:rPr>
              <a:t>all variables in APL; all strings and arrays in Perl, JavaScript, and PHP</a:t>
            </a:r>
          </a:p>
          <a:p>
            <a:pPr eaLnBrk="1" hangingPunct="1"/>
            <a:r>
              <a:rPr lang="en-US" dirty="0">
                <a:solidFill>
                  <a:schemeClr val="tx2"/>
                </a:solidFill>
                <a:latin typeface="Lucida Sans Unicode" charset="0"/>
                <a:cs typeface="Lucida Sans Unicode" charset="0"/>
              </a:rPr>
              <a:t>Advantage</a:t>
            </a:r>
            <a:r>
              <a:rPr lang="en-US" dirty="0">
                <a:latin typeface="Lucida Sans Unicode" charset="0"/>
                <a:cs typeface="Lucida Sans Unicode" charset="0"/>
              </a:rPr>
              <a:t>: flexibility (generic code)</a:t>
            </a:r>
          </a:p>
          <a:p>
            <a:pPr eaLnBrk="1" hangingPunct="1"/>
            <a:r>
              <a:rPr lang="en-US" dirty="0">
                <a:solidFill>
                  <a:schemeClr val="tx2"/>
                </a:solidFill>
                <a:latin typeface="Lucida Sans Unicode" charset="0"/>
                <a:cs typeface="Lucida Sans Unicode" charset="0"/>
              </a:rPr>
              <a:t>Disadvantages</a:t>
            </a:r>
            <a:r>
              <a:rPr lang="en-US" dirty="0">
                <a:latin typeface="Lucida Sans Unicode" charset="0"/>
                <a:cs typeface="Lucida Sans Unicode" charset="0"/>
              </a:rPr>
              <a:t>: </a:t>
            </a:r>
          </a:p>
          <a:p>
            <a:pPr lvl="1" eaLnBrk="1" hangingPunct="1"/>
            <a:r>
              <a:rPr lang="en-US" dirty="0">
                <a:latin typeface="Lucida Sans Unicode" charset="0"/>
                <a:ea typeface="Lucida Sans Unicode" charset="0"/>
                <a:cs typeface="Lucida Sans Unicode" charset="0"/>
              </a:rPr>
              <a:t>Inefficient, because all attributes are dynamic</a:t>
            </a:r>
          </a:p>
          <a:p>
            <a:pPr lvl="1" eaLnBrk="1" hangingPunct="1"/>
            <a:r>
              <a:rPr lang="en-US" dirty="0">
                <a:latin typeface="Lucida Sans Unicode" charset="0"/>
                <a:ea typeface="Lucida Sans Unicode" charset="0"/>
                <a:cs typeface="Lucida Sans Unicode" charset="0"/>
              </a:rPr>
              <a:t>Loss of error detection</a:t>
            </a:r>
          </a:p>
        </p:txBody>
      </p:sp>
    </p:spTree>
    <p:extLst>
      <p:ext uri="{BB962C8B-B14F-4D97-AF65-F5344CB8AC3E}">
        <p14:creationId xmlns:p14="http://schemas.microsoft.com/office/powerpoint/2010/main" val="4229147427"/>
      </p:ext>
    </p:extLst>
  </p:cSld>
  <p:clrMapOvr>
    <a:masterClrMapping/>
  </p:clrMapOvr>
</p:sld>
</file>

<file path=ppt/theme/theme1.xml><?xml version="1.0" encoding="utf-8"?>
<a:theme xmlns:a="http://schemas.openxmlformats.org/drawingml/2006/main" name="hsleiden_nl">
  <a:themeElements>
    <a:clrScheme name="Kanto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to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-thema">
  <a:themeElements>
    <a:clrScheme name="Kanto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to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8AB2A5A18D8404DBA73EF508DB4A06C" ma:contentTypeVersion="10" ma:contentTypeDescription="Een nieuw document maken." ma:contentTypeScope="" ma:versionID="373d39ad46615713677e9c3b89cd816b">
  <xsd:schema xmlns:xsd="http://www.w3.org/2001/XMLSchema" xmlns:xs="http://www.w3.org/2001/XMLSchema" xmlns:p="http://schemas.microsoft.com/office/2006/metadata/properties" xmlns:ns2="29d2fd08-a643-4874-a881-64648cdec31e" xmlns:ns3="65ea3e1d-5866-4f28-856d-8de3ded6bbfa" targetNamespace="http://schemas.microsoft.com/office/2006/metadata/properties" ma:root="true" ma:fieldsID="d9c0c6368d671c97b5cbddb522b225cb" ns2:_="" ns3:_="">
    <xsd:import namespace="29d2fd08-a643-4874-a881-64648cdec31e"/>
    <xsd:import namespace="65ea3e1d-5866-4f28-856d-8de3ded6bbf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d2fd08-a643-4874-a881-64648cdec31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5ea3e1d-5866-4f28-856d-8de3ded6bbfa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533DE02-251F-4D6A-A144-AB659DC3DA47}">
  <ds:schemaRefs>
    <ds:schemaRef ds:uri="http://purl.org/dc/dcmitype/"/>
    <ds:schemaRef ds:uri="3f324c65-194c-423d-8180-759e3972f2c1"/>
    <ds:schemaRef ds:uri="http://purl.org/dc/terms/"/>
    <ds:schemaRef ds:uri="http://schemas.microsoft.com/office/infopath/2007/PartnerControls"/>
    <ds:schemaRef ds:uri="f52a8cb6-32e1-4109-bdde-d03590b9ac52"/>
    <ds:schemaRef ds:uri="http://purl.org/dc/elements/1.1/"/>
    <ds:schemaRef ds:uri="http://schemas.openxmlformats.org/package/2006/metadata/core-properties"/>
    <ds:schemaRef ds:uri="http://schemas.microsoft.com/office/2006/documentManagement/types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2B359AEA-D90E-4947-BCFD-8AAA785EFAEB}"/>
</file>

<file path=customXml/itemProps3.xml><?xml version="1.0" encoding="utf-8"?>
<ds:datastoreItem xmlns:ds="http://schemas.openxmlformats.org/officeDocument/2006/customXml" ds:itemID="{49B3FD5F-CD9B-46A2-A428-E44ADF2F413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hsleiden_nl.potx</Template>
  <TotalTime>6402</TotalTime>
  <Words>1841</Words>
  <Application>Microsoft Macintosh PowerPoint</Application>
  <PresentationFormat>Diavoorstelling (4:3)</PresentationFormat>
  <Paragraphs>269</Paragraphs>
  <Slides>30</Slides>
  <Notes>23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6</vt:i4>
      </vt:variant>
      <vt:variant>
        <vt:lpstr>Thema</vt:lpstr>
      </vt:variant>
      <vt:variant>
        <vt:i4>1</vt:i4>
      </vt:variant>
      <vt:variant>
        <vt:lpstr>Diatitels</vt:lpstr>
      </vt:variant>
      <vt:variant>
        <vt:i4>30</vt:i4>
      </vt:variant>
    </vt:vector>
  </HeadingPairs>
  <TitlesOfParts>
    <vt:vector size="37" baseType="lpstr">
      <vt:lpstr>Arial</vt:lpstr>
      <vt:lpstr>Calibri</vt:lpstr>
      <vt:lpstr>Courier New</vt:lpstr>
      <vt:lpstr>Lucida Sans Unicode</vt:lpstr>
      <vt:lpstr>Times</vt:lpstr>
      <vt:lpstr>Verdana</vt:lpstr>
      <vt:lpstr>hsleiden_nl</vt:lpstr>
      <vt:lpstr>ICPT – Concepten in Programmeertalen</vt:lpstr>
      <vt:lpstr>Planning voor deze les</vt:lpstr>
      <vt:lpstr>Wat doet deze code</vt:lpstr>
      <vt:lpstr>Names, Binding &amp; Scope</vt:lpstr>
      <vt:lpstr>Introduction</vt:lpstr>
      <vt:lpstr>Names</vt:lpstr>
      <vt:lpstr>Wat is de maximale lengte van een variabele?</vt:lpstr>
      <vt:lpstr>Names (continued)</vt:lpstr>
      <vt:lpstr>Met welke karakters kan/mag je een variabele beginnen?</vt:lpstr>
      <vt:lpstr>Names (continued)</vt:lpstr>
      <vt:lpstr>Names (continued)</vt:lpstr>
      <vt:lpstr>Names (continued)</vt:lpstr>
      <vt:lpstr>Variables</vt:lpstr>
      <vt:lpstr>Variables Attributes</vt:lpstr>
      <vt:lpstr>Variables Attributes (continued)</vt:lpstr>
      <vt:lpstr>Intermezzo: why do variables exist</vt:lpstr>
      <vt:lpstr>Primitive types</vt:lpstr>
      <vt:lpstr>Language Specific Complex Types</vt:lpstr>
      <vt:lpstr>The Concept of Binding</vt:lpstr>
      <vt:lpstr>Possible Binding Times</vt:lpstr>
      <vt:lpstr>Static and Dynamic Binding</vt:lpstr>
      <vt:lpstr>Type Binding</vt:lpstr>
      <vt:lpstr>Explicit/Implicit Declaration</vt:lpstr>
      <vt:lpstr>Explicit/Implicit Declaration (continued)</vt:lpstr>
      <vt:lpstr>Dynamic Type Binding</vt:lpstr>
      <vt:lpstr>Variable Attributes (continued)</vt:lpstr>
      <vt:lpstr>Categories of Variables by Lifetimes</vt:lpstr>
      <vt:lpstr>Categories of Variables by Lifetimes</vt:lpstr>
      <vt:lpstr>Categories of Variables by Lifetimes</vt:lpstr>
      <vt:lpstr>Categories of Variables by Lifetimes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Lars Wildenberg</dc:creator>
  <cp:lastModifiedBy>Arts, Ron</cp:lastModifiedBy>
  <cp:revision>70</cp:revision>
  <dcterms:created xsi:type="dcterms:W3CDTF">2013-11-07T10:07:57Z</dcterms:created>
  <dcterms:modified xsi:type="dcterms:W3CDTF">2020-07-03T08:38:46Z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0x010100E8AB2A5A18D8404DBA73EF508DB4A06C</vt:lpwstr>
  </property>
  <property fmtid="{D5CDD505-2E9C-101B-9397-08002B2CF9AE}" pid="3" name="EducationCourse">
    <vt:lpwstr/>
  </property>
  <property fmtid="{D5CDD505-2E9C-101B-9397-08002B2CF9AE}" pid="4" name="EducationYear">
    <vt:lpwstr/>
  </property>
  <property fmtid="{D5CDD505-2E9C-101B-9397-08002B2CF9AE}" pid="5" name="Order">
    <vt:r8>1400</vt:r8>
  </property>
  <property fmtid="{D5CDD505-2E9C-101B-9397-08002B2CF9AE}" pid="6" name="xd_Signature">
    <vt:bool>false</vt:bool>
  </property>
  <property fmtid="{D5CDD505-2E9C-101B-9397-08002B2CF9AE}" pid="7" name="xd_ProgID">
    <vt:lpwstr/>
  </property>
  <property fmtid="{D5CDD505-2E9C-101B-9397-08002B2CF9AE}" pid="8" name="TriggerFlowInfo">
    <vt:lpwstr/>
  </property>
  <property fmtid="{D5CDD505-2E9C-101B-9397-08002B2CF9AE}" pid="9" name="_SourceUrl">
    <vt:lpwstr/>
  </property>
  <property fmtid="{D5CDD505-2E9C-101B-9397-08002B2CF9AE}" pid="10" name="_SharedFileIndex">
    <vt:lpwstr/>
  </property>
  <property fmtid="{D5CDD505-2E9C-101B-9397-08002B2CF9AE}" pid="11" name="ComplianceAssetId">
    <vt:lpwstr/>
  </property>
  <property fmtid="{D5CDD505-2E9C-101B-9397-08002B2CF9AE}" pid="12" name="TemplateUrl">
    <vt:lpwstr/>
  </property>
  <property fmtid="{D5CDD505-2E9C-101B-9397-08002B2CF9AE}" pid="13" name="_ExtendedDescription">
    <vt:lpwstr/>
  </property>
</Properties>
</file>