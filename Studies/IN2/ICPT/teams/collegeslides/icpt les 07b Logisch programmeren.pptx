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4"/>
  </p:sldMasterIdLst>
  <p:notesMasterIdLst>
    <p:notesMasterId r:id="rId62"/>
  </p:notesMasterIdLst>
  <p:sldIdLst>
    <p:sldId id="427" r:id="rId5"/>
    <p:sldId id="483" r:id="rId6"/>
    <p:sldId id="472" r:id="rId7"/>
    <p:sldId id="475" r:id="rId8"/>
    <p:sldId id="473" r:id="rId9"/>
    <p:sldId id="474" r:id="rId10"/>
    <p:sldId id="428" r:id="rId11"/>
    <p:sldId id="429" r:id="rId12"/>
    <p:sldId id="430" r:id="rId13"/>
    <p:sldId id="431" r:id="rId14"/>
    <p:sldId id="432" r:id="rId15"/>
    <p:sldId id="433" r:id="rId16"/>
    <p:sldId id="434" r:id="rId17"/>
    <p:sldId id="435" r:id="rId18"/>
    <p:sldId id="436" r:id="rId19"/>
    <p:sldId id="437" r:id="rId20"/>
    <p:sldId id="438" r:id="rId21"/>
    <p:sldId id="439" r:id="rId22"/>
    <p:sldId id="440" r:id="rId23"/>
    <p:sldId id="441" r:id="rId24"/>
    <p:sldId id="442" r:id="rId25"/>
    <p:sldId id="443" r:id="rId26"/>
    <p:sldId id="444" r:id="rId27"/>
    <p:sldId id="445" r:id="rId28"/>
    <p:sldId id="446" r:id="rId29"/>
    <p:sldId id="447" r:id="rId30"/>
    <p:sldId id="448" r:id="rId31"/>
    <p:sldId id="449" r:id="rId32"/>
    <p:sldId id="450" r:id="rId33"/>
    <p:sldId id="451" r:id="rId34"/>
    <p:sldId id="452" r:id="rId35"/>
    <p:sldId id="453" r:id="rId36"/>
    <p:sldId id="454" r:id="rId37"/>
    <p:sldId id="455" r:id="rId38"/>
    <p:sldId id="456" r:id="rId39"/>
    <p:sldId id="457" r:id="rId40"/>
    <p:sldId id="458" r:id="rId41"/>
    <p:sldId id="459" r:id="rId42"/>
    <p:sldId id="460" r:id="rId43"/>
    <p:sldId id="471" r:id="rId44"/>
    <p:sldId id="461" r:id="rId45"/>
    <p:sldId id="462" r:id="rId46"/>
    <p:sldId id="463" r:id="rId47"/>
    <p:sldId id="464" r:id="rId48"/>
    <p:sldId id="476" r:id="rId49"/>
    <p:sldId id="477" r:id="rId50"/>
    <p:sldId id="478" r:id="rId51"/>
    <p:sldId id="479" r:id="rId52"/>
    <p:sldId id="480" r:id="rId53"/>
    <p:sldId id="465" r:id="rId54"/>
    <p:sldId id="466" r:id="rId55"/>
    <p:sldId id="467" r:id="rId56"/>
    <p:sldId id="468" r:id="rId57"/>
    <p:sldId id="482" r:id="rId58"/>
    <p:sldId id="481" r:id="rId59"/>
    <p:sldId id="469" r:id="rId60"/>
    <p:sldId id="470" r:id="rId61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114C"/>
    <a:srgbClr val="20BD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2"/>
  </p:normalViewPr>
  <p:slideViewPr>
    <p:cSldViewPr>
      <p:cViewPr varScale="1">
        <p:scale>
          <a:sx n="109" d="100"/>
          <a:sy n="109" d="100"/>
        </p:scale>
        <p:origin x="172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s, Ron" userId="24548d85-388a-4276-9d61-77686c5c648d" providerId="ADAL" clId="{C9809895-CD35-1946-9A5B-762EEF3459A1}"/>
    <pc:docChg chg="custSel modSld">
      <pc:chgData name="Arts, Ron" userId="24548d85-388a-4276-9d61-77686c5c648d" providerId="ADAL" clId="{C9809895-CD35-1946-9A5B-762EEF3459A1}" dt="2020-01-15T22:01:15.454" v="3" actId="27636"/>
      <pc:docMkLst>
        <pc:docMk/>
      </pc:docMkLst>
      <pc:sldChg chg="modSp">
        <pc:chgData name="Arts, Ron" userId="24548d85-388a-4276-9d61-77686c5c648d" providerId="ADAL" clId="{C9809895-CD35-1946-9A5B-762EEF3459A1}" dt="2020-01-15T22:01:15.454" v="3" actId="27636"/>
        <pc:sldMkLst>
          <pc:docMk/>
          <pc:sldMk cId="1326400547" sldId="468"/>
        </pc:sldMkLst>
        <pc:spChg chg="mod">
          <ac:chgData name="Arts, Ron" userId="24548d85-388a-4276-9d61-77686c5c648d" providerId="ADAL" clId="{C9809895-CD35-1946-9A5B-762EEF3459A1}" dt="2020-01-15T22:01:15.454" v="3" actId="27636"/>
          <ac:spMkLst>
            <pc:docMk/>
            <pc:sldMk cId="1326400547" sldId="468"/>
            <ac:spMk id="8806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9B5F84-F7A7-46FA-BC08-F661D96BBCA7}" type="datetimeFigureOut">
              <a:rPr lang="nl-NL" smtClean="0"/>
              <a:pPr/>
              <a:t>15-01-2020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78F1AB-29EF-4445-A82D-E8624A7043CE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9909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F7856231-24ED-E64E-A55D-7B6A7F05CE95}" type="slidenum">
              <a:rPr lang="en-US" sz="1200"/>
              <a:pPr/>
              <a:t>1</a:t>
            </a:fld>
            <a:endParaRPr lang="en-US" sz="1200"/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85A5597B-7FBB-1348-9944-81A16C3207F7}" type="slidenum">
              <a:rPr lang="en-US" sz="1200"/>
              <a:pPr/>
              <a:t>7</a:t>
            </a:fld>
            <a:endParaRPr lang="en-US" sz="1200"/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986" tIns="44993" rIns="89986" bIns="44993"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92C627B1-AA75-2C4A-9119-DD899C3152E1}" type="slidenum">
              <a:rPr lang="en-US" sz="1200"/>
              <a:pPr/>
              <a:t>8</a:t>
            </a:fld>
            <a:endParaRPr lang="en-US" sz="1200"/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01C318F4-F1A4-EB42-B68A-28333BC75EA1}" type="slidenum">
              <a:rPr lang="en-US" sz="1200"/>
              <a:pPr/>
              <a:t>9</a:t>
            </a:fld>
            <a:endParaRPr lang="en-US" sz="1200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B9C386EF-B74E-D14D-A387-C7DF89FAE961}" type="slidenum">
              <a:rPr lang="en-US" sz="1200"/>
              <a:pPr/>
              <a:t>10</a:t>
            </a:fld>
            <a:endParaRPr lang="en-US" sz="1200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15455DDD-66EE-7042-8666-D0C80D589C84}" type="slidenum">
              <a:rPr lang="en-US" sz="1200"/>
              <a:pPr/>
              <a:t>11</a:t>
            </a:fld>
            <a:endParaRPr lang="en-US" sz="1200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B8B3A00E-D64C-9B45-8C2B-E2798C09D1B8}" type="slidenum">
              <a:rPr lang="en-US" sz="1200"/>
              <a:pPr/>
              <a:t>12</a:t>
            </a:fld>
            <a:endParaRPr lang="en-US" sz="1200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8BCA1B50-0BED-274D-B524-71AA45358AD4}" type="slidenum">
              <a:rPr lang="en-US" sz="1200"/>
              <a:pPr/>
              <a:t>13</a:t>
            </a:fld>
            <a:endParaRPr lang="en-US" sz="1200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DDA154F4-F052-A944-BCBB-23400C1DFF3D}" type="slidenum">
              <a:rPr lang="en-US" sz="1200"/>
              <a:pPr/>
              <a:t>14</a:t>
            </a:fld>
            <a:endParaRPr lang="en-US" sz="1200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D4DBD889-537E-554B-B9FB-D7B00B8FBF0A}" type="slidenum">
              <a:rPr lang="en-US" sz="1200"/>
              <a:pPr/>
              <a:t>15</a:t>
            </a:fld>
            <a:endParaRPr lang="en-US" sz="1200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65EF590A-E922-F746-9AF6-385209965A6A}" type="slidenum">
              <a:rPr lang="en-US" sz="1200"/>
              <a:pPr/>
              <a:t>16</a:t>
            </a:fld>
            <a:endParaRPr lang="en-US" sz="1200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6B7D13CE-2DBA-D04F-AB39-8B9A13A21C48}" type="slidenum">
              <a:rPr lang="en-US" sz="1200"/>
              <a:pPr/>
              <a:t>17</a:t>
            </a:fld>
            <a:endParaRPr lang="en-US" sz="1200"/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7A8F5FB2-694C-504D-A793-0FA668060882}" type="slidenum">
              <a:rPr lang="en-US" sz="1200"/>
              <a:pPr/>
              <a:t>18</a:t>
            </a:fld>
            <a:endParaRPr lang="en-US" sz="1200"/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66F2B725-FCC6-CB49-90AE-95DBEBA90A40}" type="slidenum">
              <a:rPr lang="en-US" sz="1200"/>
              <a:pPr/>
              <a:t>19</a:t>
            </a:fld>
            <a:endParaRPr lang="en-US" sz="1200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4D45A676-B26F-E543-A64D-1D414848565D}" type="slidenum">
              <a:rPr lang="en-US" sz="1200"/>
              <a:pPr/>
              <a:t>20</a:t>
            </a:fld>
            <a:endParaRPr lang="en-US" sz="1200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9E49B21C-02A8-C444-BDDA-AFD0285A4408}" type="slidenum">
              <a:rPr lang="en-US" sz="1200"/>
              <a:pPr/>
              <a:t>21</a:t>
            </a:fld>
            <a:endParaRPr lang="en-US" sz="1200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AAE831BF-0079-384B-89BE-074DFE9E07E3}" type="slidenum">
              <a:rPr lang="en-US" sz="1200"/>
              <a:pPr/>
              <a:t>22</a:t>
            </a:fld>
            <a:endParaRPr lang="en-US" sz="1200"/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BD13E886-3FBD-1644-862C-79BF87290800}" type="slidenum">
              <a:rPr lang="en-US" sz="1200"/>
              <a:pPr/>
              <a:t>23</a:t>
            </a:fld>
            <a:endParaRPr lang="en-US" sz="1200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DABAD318-E483-5646-B107-7522BF1C1C78}" type="slidenum">
              <a:rPr lang="en-US" sz="1200"/>
              <a:pPr/>
              <a:t>24</a:t>
            </a:fld>
            <a:endParaRPr lang="en-US" sz="1200"/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500CAD3D-525E-A049-9D24-C355DBAA3802}" type="slidenum">
              <a:rPr lang="en-US" sz="1200"/>
              <a:pPr/>
              <a:t>25</a:t>
            </a:fld>
            <a:endParaRPr lang="en-US" sz="1200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09314CCB-82AF-8543-ABB3-C9625DB95C43}" type="slidenum">
              <a:rPr lang="en-US" sz="1200"/>
              <a:pPr/>
              <a:t>26</a:t>
            </a:fld>
            <a:endParaRPr lang="en-US" sz="1200"/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EE62B061-0787-DE46-A525-73EFD06C7AC4}" type="slidenum">
              <a:rPr lang="en-US" sz="1200"/>
              <a:pPr/>
              <a:t>27</a:t>
            </a:fld>
            <a:endParaRPr lang="en-US" sz="1200"/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107C65D3-9B15-C048-B52F-49504E5893B6}" type="slidenum">
              <a:rPr lang="en-US" sz="1200"/>
              <a:pPr/>
              <a:t>28</a:t>
            </a:fld>
            <a:endParaRPr lang="en-US" sz="1200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AAD7E1D3-D7CA-1844-9BC3-88341E93578B}" type="slidenum">
              <a:rPr lang="en-US" sz="1200"/>
              <a:pPr/>
              <a:t>29</a:t>
            </a:fld>
            <a:endParaRPr lang="en-US" sz="1200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D437EBC8-63E2-BE46-A34D-DA08AE65A16E}" type="slidenum">
              <a:rPr lang="en-US" sz="1200"/>
              <a:pPr/>
              <a:t>35</a:t>
            </a:fld>
            <a:endParaRPr lang="en-US" sz="1200"/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4E3B4479-82AB-E842-8B19-B46D6DF6BD9C}" type="slidenum">
              <a:rPr lang="en-US" sz="1200"/>
              <a:pPr/>
              <a:t>36</a:t>
            </a:fld>
            <a:endParaRPr lang="en-US" sz="1200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C9B6C85E-E942-A84E-B8BA-E447AB45AC2B}" type="slidenum">
              <a:rPr lang="en-US" sz="1200"/>
              <a:pPr/>
              <a:t>37</a:t>
            </a:fld>
            <a:endParaRPr lang="en-US" sz="1200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3798C11F-D8FB-EE43-8DBF-C4AD170793BA}" type="slidenum">
              <a:rPr lang="en-US" sz="1200"/>
              <a:pPr/>
              <a:t>38</a:t>
            </a:fld>
            <a:endParaRPr lang="en-US" sz="1200"/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0A62F3CD-0AD4-674A-A4D8-E034003C375B}" type="slidenum">
              <a:rPr lang="en-US" sz="1200"/>
              <a:pPr/>
              <a:t>39</a:t>
            </a:fld>
            <a:endParaRPr lang="en-US" sz="1200"/>
          </a:p>
        </p:txBody>
      </p:sp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0A62F3CD-0AD4-674A-A4D8-E034003C375B}" type="slidenum">
              <a:rPr lang="en-US" sz="1200"/>
              <a:pPr/>
              <a:t>40</a:t>
            </a:fld>
            <a:endParaRPr lang="en-US" sz="1200"/>
          </a:p>
        </p:txBody>
      </p:sp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6E19213A-A7F3-C146-A2E6-4827E99D4EDC}" type="slidenum">
              <a:rPr lang="en-US" sz="1200"/>
              <a:pPr/>
              <a:t>41</a:t>
            </a:fld>
            <a:endParaRPr lang="en-US" sz="120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6FAC5756-0FE8-B94A-9A2C-BFF9AA1EED2B}" type="slidenum">
              <a:rPr lang="en-US" sz="1200"/>
              <a:pPr/>
              <a:t>42</a:t>
            </a:fld>
            <a:endParaRPr lang="en-US" sz="1200"/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F10A9390-31D0-8E4F-B427-691CC55BC444}" type="slidenum">
              <a:rPr lang="en-US" sz="1200"/>
              <a:pPr/>
              <a:t>43</a:t>
            </a:fld>
            <a:endParaRPr lang="en-US" sz="1200"/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D49957E4-401F-2E4F-BC0C-1AD69D87354A}" type="slidenum">
              <a:rPr lang="en-US" sz="1200"/>
              <a:pPr/>
              <a:t>44</a:t>
            </a:fld>
            <a:endParaRPr lang="en-US" sz="1200"/>
          </a:p>
        </p:txBody>
      </p:sp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E23E0D96-5034-704A-BA53-C47EFB6963D5}" type="slidenum">
              <a:rPr lang="en-US" sz="1200"/>
              <a:pPr/>
              <a:t>50</a:t>
            </a:fld>
            <a:endParaRPr lang="en-US" sz="1200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7A8550EE-D0DA-DB47-8D9E-26B7E53A50B0}" type="slidenum">
              <a:rPr lang="en-US" sz="1200"/>
              <a:pPr/>
              <a:t>51</a:t>
            </a:fld>
            <a:endParaRPr lang="en-US" sz="1200"/>
          </a:p>
        </p:txBody>
      </p:sp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E8E5D9A2-6FF6-1647-B303-A45ED1638B1E}" type="slidenum">
              <a:rPr lang="en-US" sz="1200"/>
              <a:pPr/>
              <a:t>52</a:t>
            </a:fld>
            <a:endParaRPr lang="en-US" sz="1200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33A39E90-F08D-1C42-A914-C93C214E019C}" type="slidenum">
              <a:rPr lang="en-US" sz="1200"/>
              <a:pPr/>
              <a:t>53</a:t>
            </a:fld>
            <a:endParaRPr lang="en-US" sz="1200"/>
          </a:p>
        </p:txBody>
      </p:sp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5E079922-BFC2-FB4A-A539-A1FCD2CBE1DE}" type="slidenum">
              <a:rPr lang="en-US" sz="1200"/>
              <a:pPr/>
              <a:t>56</a:t>
            </a:fld>
            <a:endParaRPr lang="en-US" sz="1200"/>
          </a:p>
        </p:txBody>
      </p:sp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fld id="{749550AD-E488-DA41-9234-DC05925AC799}" type="slidenum">
              <a:rPr lang="en-US" sz="1200"/>
              <a:pPr/>
              <a:t>57</a:t>
            </a:fld>
            <a:endParaRPr lang="en-US" sz="1200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55984" y="-171400"/>
            <a:ext cx="7772400" cy="147002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x-none"/>
              <a:t>Titelstijl van model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331440" y="34290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Klik om de titelstijl van het model te bewerken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323528" y="5805264"/>
            <a:ext cx="6120680" cy="576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al 9"/>
          <p:cNvSpPr/>
          <p:nvPr userDrawn="1"/>
        </p:nvSpPr>
        <p:spPr>
          <a:xfrm>
            <a:off x="4139952" y="6525344"/>
            <a:ext cx="216024" cy="216024"/>
          </a:xfrm>
          <a:prstGeom prst="ellipse">
            <a:avLst/>
          </a:prstGeom>
          <a:solidFill>
            <a:srgbClr val="20BD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203848" y="6453336"/>
            <a:ext cx="20882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1DAD25AC-3D36-459B-92CD-44DA3A629171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15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279301"/>
            <a:ext cx="8229600" cy="4309939"/>
          </a:xfrm>
        </p:spPr>
        <p:txBody>
          <a:bodyPr/>
          <a:lstStyle/>
          <a:p>
            <a:pPr lvl="0"/>
            <a:r>
              <a:rPr lang="x-none"/>
              <a:t>Klik om de tekststijl van het model te bewerken</a:t>
            </a:r>
          </a:p>
          <a:p>
            <a:pPr lvl="1"/>
            <a:r>
              <a:rPr lang="x-none"/>
              <a:t>Tweede niveau</a:t>
            </a:r>
          </a:p>
          <a:p>
            <a:pPr lvl="2"/>
            <a:r>
              <a:rPr lang="x-none"/>
              <a:t>Derde niveau</a:t>
            </a:r>
          </a:p>
          <a:p>
            <a:pPr lvl="3"/>
            <a:r>
              <a:rPr lang="x-none"/>
              <a:t>Vierde niveau</a:t>
            </a:r>
          </a:p>
          <a:p>
            <a:pPr lvl="4"/>
            <a:r>
              <a:rPr lang="x-none"/>
              <a:t>Vijfde niveau</a:t>
            </a:r>
            <a:endParaRPr lang="nl-NL" dirty="0"/>
          </a:p>
        </p:txBody>
      </p:sp>
      <p:sp>
        <p:nvSpPr>
          <p:cNvPr id="16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2627784" y="5805264"/>
            <a:ext cx="6120680" cy="57606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Titelstijl van model bewerken</a:t>
            </a:r>
            <a:endParaRPr lang="nl-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al 9"/>
          <p:cNvSpPr/>
          <p:nvPr userDrawn="1"/>
        </p:nvSpPr>
        <p:spPr>
          <a:xfrm>
            <a:off x="4139952" y="6525344"/>
            <a:ext cx="216024" cy="216024"/>
          </a:xfrm>
          <a:prstGeom prst="ellipse">
            <a:avLst/>
          </a:prstGeom>
          <a:solidFill>
            <a:srgbClr val="20BD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279301"/>
            <a:ext cx="8229600" cy="4309939"/>
          </a:xfrm>
        </p:spPr>
        <p:txBody>
          <a:bodyPr/>
          <a:lstStyle/>
          <a:p>
            <a:pPr lvl="0"/>
            <a:r>
              <a:rPr lang="x-none"/>
              <a:t>Klik om de tekststijl van het model te bewerken</a:t>
            </a:r>
          </a:p>
          <a:p>
            <a:pPr lvl="1"/>
            <a:r>
              <a:rPr lang="x-none"/>
              <a:t>Tweede niveau</a:t>
            </a:r>
          </a:p>
          <a:p>
            <a:pPr lvl="2"/>
            <a:r>
              <a:rPr lang="x-none"/>
              <a:t>Derde niveau</a:t>
            </a:r>
          </a:p>
          <a:p>
            <a:pPr lvl="3"/>
            <a:r>
              <a:rPr lang="x-none"/>
              <a:t>Vierde niveau</a:t>
            </a:r>
          </a:p>
          <a:p>
            <a:pPr lvl="4"/>
            <a:r>
              <a:rPr lang="x-none"/>
              <a:t>Vijfde niveau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2627784" y="5805264"/>
            <a:ext cx="6120680" cy="57606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323528" y="-90264"/>
            <a:ext cx="8229600" cy="1143000"/>
          </a:xfrm>
          <a:prstGeom prst="rect">
            <a:avLst/>
          </a:prstGeom>
        </p:spPr>
        <p:txBody>
          <a:bodyPr anchor="b"/>
          <a:lstStyle/>
          <a:p>
            <a:r>
              <a:rPr lang="x-none"/>
              <a:t>Titelstijl van model bewerken</a:t>
            </a:r>
            <a:endParaRPr lang="nl-NL" dirty="0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203848" y="6453336"/>
            <a:ext cx="20882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1DAD25AC-3D36-459B-92CD-44DA3A629171}" type="slidenum">
              <a:rPr lang="nl-NL" smtClean="0"/>
              <a:pPr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leen titel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al 8"/>
          <p:cNvSpPr/>
          <p:nvPr userDrawn="1"/>
        </p:nvSpPr>
        <p:spPr>
          <a:xfrm>
            <a:off x="4139952" y="6525344"/>
            <a:ext cx="216024" cy="216024"/>
          </a:xfrm>
          <a:prstGeom prst="ellipse">
            <a:avLst/>
          </a:prstGeom>
          <a:solidFill>
            <a:srgbClr val="2311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rgbClr val="23114C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528" y="-99392"/>
            <a:ext cx="8229600" cy="1143000"/>
          </a:xfrm>
          <a:prstGeom prst="rect">
            <a:avLst/>
          </a:prstGeom>
        </p:spPr>
        <p:txBody>
          <a:bodyPr anchor="b"/>
          <a:lstStyle/>
          <a:p>
            <a:r>
              <a:rPr lang="x-none"/>
              <a:t>Titelstijl van model bewerken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>
          <a:xfrm>
            <a:off x="2123728" y="5805264"/>
            <a:ext cx="6120680" cy="576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279301"/>
            <a:ext cx="8229600" cy="4237931"/>
          </a:xfrm>
        </p:spPr>
        <p:txBody>
          <a:bodyPr/>
          <a:lstStyle/>
          <a:p>
            <a:pPr lvl="0"/>
            <a:r>
              <a:rPr lang="x-none"/>
              <a:t>Klik om de tekststijl van het model te bewerken</a:t>
            </a:r>
          </a:p>
          <a:p>
            <a:pPr lvl="1"/>
            <a:r>
              <a:rPr lang="x-none"/>
              <a:t>Tweede niveau</a:t>
            </a:r>
          </a:p>
          <a:p>
            <a:pPr lvl="2"/>
            <a:r>
              <a:rPr lang="x-none"/>
              <a:t>Derde niveau</a:t>
            </a:r>
          </a:p>
          <a:p>
            <a:pPr lvl="3"/>
            <a:r>
              <a:rPr lang="x-none"/>
              <a:t>Vierde niveau</a:t>
            </a:r>
          </a:p>
          <a:p>
            <a:pPr lvl="4"/>
            <a:r>
              <a:rPr lang="x-none"/>
              <a:t>Vijfde niveau</a:t>
            </a:r>
            <a:endParaRPr lang="nl-NL" dirty="0"/>
          </a:p>
        </p:txBody>
      </p:sp>
      <p:sp>
        <p:nvSpPr>
          <p:cNvPr id="8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203848" y="6453336"/>
            <a:ext cx="20882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1DAD25AC-3D36-459B-92CD-44DA3A629171}" type="slidenum">
              <a:rPr lang="nl-NL" smtClean="0"/>
              <a:pPr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 2012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1-</a:t>
            </a:r>
            <a:fld id="{28E47E13-3370-114C-A9EB-481638A8DD2A}" type="slidenum">
              <a:rPr lang="en-US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565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90872" y="1279301"/>
            <a:ext cx="8229600" cy="42379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230488" y="64482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23114C"/>
                </a:solidFill>
              </a:defRPr>
            </a:lvl1pPr>
          </a:lstStyle>
          <a:p>
            <a:fld id="{1DAD25AC-3D36-459B-92CD-44DA3A629171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9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627784" y="5805264"/>
            <a:ext cx="6120680" cy="57606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>
                <a:solidFill>
                  <a:srgbClr val="23114C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titel 9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61" r:id="rId2"/>
    <p:sldLayoutId id="2147483657" r:id="rId3"/>
    <p:sldLayoutId id="2147483664" r:id="rId4"/>
    <p:sldLayoutId id="2147483665" r:id="rId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600" b="1" kern="1200">
          <a:solidFill>
            <a:srgbClr val="20BDBA"/>
          </a:solidFill>
          <a:latin typeface="Verdana" pitchFamily="34" charset="0"/>
          <a:ea typeface="Verdana" pitchFamily="34" charset="0"/>
          <a:cs typeface="Verdan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7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://swish.swi-prolog.org/" TargetMode="Externa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</a:rPr>
              <a:t>Les 7 ICPT</a:t>
            </a:r>
          </a:p>
        </p:txBody>
      </p:sp>
      <p:sp>
        <p:nvSpPr>
          <p:cNvPr id="14338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dirty="0" err="1">
                <a:latin typeface="Lucida Sans Unicode" charset="0"/>
              </a:rPr>
              <a:t>Logisch</a:t>
            </a:r>
            <a:r>
              <a:rPr lang="en-US" dirty="0">
                <a:latin typeface="Lucida Sans Unicode" charset="0"/>
              </a:rPr>
              <a:t> </a:t>
            </a:r>
            <a:r>
              <a:rPr lang="en-US" dirty="0" err="1">
                <a:latin typeface="Lucida Sans Unicode" charset="0"/>
              </a:rPr>
              <a:t>Programmeren</a:t>
            </a:r>
            <a:endParaRPr lang="en-US" dirty="0">
              <a:latin typeface="Lucida Sans Unicode" charset="0"/>
            </a:endParaRPr>
          </a:p>
          <a:p>
            <a:pPr eaLnBrk="1" hangingPunct="1"/>
            <a:endParaRPr lang="en-US" dirty="0">
              <a:latin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043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2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>
                <a:latin typeface="Lucida Sans Unicode" charset="0"/>
              </a:rPr>
              <a:t>“</a:t>
            </a:r>
            <a:r>
              <a:rPr lang="en-US" i="1" dirty="0" err="1">
                <a:latin typeface="Lucida Sans Unicode" charset="0"/>
              </a:rPr>
              <a:t>Da’s</a:t>
            </a:r>
            <a:r>
              <a:rPr lang="en-US" i="1" dirty="0">
                <a:latin typeface="Lucida Sans Unicode" charset="0"/>
              </a:rPr>
              <a:t> </a:t>
            </a:r>
            <a:r>
              <a:rPr lang="en-US" i="1" dirty="0" err="1">
                <a:latin typeface="Lucida Sans Unicode" charset="0"/>
              </a:rPr>
              <a:t>gewoon</a:t>
            </a:r>
            <a:r>
              <a:rPr lang="en-US" i="1" dirty="0">
                <a:latin typeface="Lucida Sans Unicode" charset="0"/>
              </a:rPr>
              <a:t> </a:t>
            </a:r>
            <a:r>
              <a:rPr lang="en-US" i="1" dirty="0" err="1">
                <a:latin typeface="Lucida Sans Unicode" charset="0"/>
              </a:rPr>
              <a:t>logisch</a:t>
            </a:r>
            <a:r>
              <a:rPr lang="en-US" i="1" dirty="0">
                <a:latin typeface="Lucida Sans Unicode" charset="0"/>
              </a:rPr>
              <a:t>”</a:t>
            </a:r>
          </a:p>
          <a:p>
            <a:pPr marL="0" indent="0">
              <a:buNone/>
            </a:pPr>
            <a:r>
              <a:rPr lang="en-US" dirty="0">
                <a:latin typeface="Lucida Sans Unicode" charset="0"/>
              </a:rPr>
              <a:t>Johan </a:t>
            </a:r>
            <a:r>
              <a:rPr lang="en-US" dirty="0" err="1">
                <a:latin typeface="Lucida Sans Unicode" charset="0"/>
              </a:rPr>
              <a:t>Cruijf</a:t>
            </a:r>
            <a:endParaRPr lang="en-US" dirty="0">
              <a:latin typeface="Lucida Sans Unicode" charset="0"/>
            </a:endParaRPr>
          </a:p>
          <a:p>
            <a:pPr marL="0" indent="0">
              <a:buNone/>
            </a:pP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61" y="-27384"/>
            <a:ext cx="9694729" cy="6483350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788024" y="1772816"/>
            <a:ext cx="4752528" cy="1656184"/>
          </a:xfrm>
        </p:spPr>
        <p:txBody>
          <a:bodyPr/>
          <a:lstStyle/>
          <a:p>
            <a:r>
              <a:rPr lang="nl-NL" i="1" dirty="0">
                <a:solidFill>
                  <a:schemeClr val="bg1"/>
                </a:solidFill>
              </a:rPr>
              <a:t>“</a:t>
            </a:r>
            <a:r>
              <a:rPr lang="nl-NL" i="1" dirty="0" err="1">
                <a:solidFill>
                  <a:schemeClr val="bg1"/>
                </a:solidFill>
              </a:rPr>
              <a:t>Da’s</a:t>
            </a:r>
            <a:r>
              <a:rPr lang="nl-NL" i="1" dirty="0">
                <a:solidFill>
                  <a:schemeClr val="bg1"/>
                </a:solidFill>
              </a:rPr>
              <a:t> gewoon logisch”</a:t>
            </a:r>
          </a:p>
        </p:txBody>
      </p:sp>
    </p:spTree>
    <p:extLst>
      <p:ext uri="{BB962C8B-B14F-4D97-AF65-F5344CB8AC3E}">
        <p14:creationId xmlns:p14="http://schemas.microsoft.com/office/powerpoint/2010/main" val="2954391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was dit ook alweer?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sz="4000" dirty="0"/>
              <a:t>n : je stoot je neus</a:t>
            </a:r>
          </a:p>
          <a:p>
            <a:pPr marL="0" indent="0">
              <a:buNone/>
            </a:pPr>
            <a:r>
              <a:rPr lang="nl-NL" sz="4000" dirty="0"/>
              <a:t>p : je hebt pijn.</a:t>
            </a:r>
          </a:p>
          <a:p>
            <a:pPr marL="0" indent="0">
              <a:buNone/>
            </a:pPr>
            <a:endParaRPr lang="nl-NL" sz="4000" dirty="0"/>
          </a:p>
          <a:p>
            <a:pPr marL="0" indent="0">
              <a:buNone/>
            </a:pPr>
            <a:r>
              <a:rPr lang="nl-NL" sz="4000" dirty="0">
                <a:solidFill>
                  <a:schemeClr val="tx1"/>
                </a:solidFill>
                <a:latin typeface="Verdana"/>
                <a:cs typeface="Verdana"/>
              </a:rPr>
              <a:t>n ⇒ p</a:t>
            </a:r>
          </a:p>
          <a:p>
            <a:pPr marL="0" indent="0">
              <a:buNone/>
            </a:pP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2012 Addison-Wesley. All rights reserved.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28E47E13-3370-114C-A9EB-481638A8DD2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127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4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De student kan het logisch programmeerparadigma in programmacode herkennen en beschrijven op basis van een concrete programmeertaal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Lesdoel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90652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5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Vragen stellen</a:t>
            </a:r>
          </a:p>
          <a:p>
            <a:r>
              <a:rPr lang="nl-NL" dirty="0"/>
              <a:t>Logische programmeren</a:t>
            </a:r>
          </a:p>
          <a:p>
            <a:pPr lvl="1"/>
            <a:r>
              <a:rPr lang="nl-NL" dirty="0"/>
              <a:t>Uitleg</a:t>
            </a:r>
          </a:p>
          <a:p>
            <a:pPr lvl="1"/>
            <a:r>
              <a:rPr lang="nl-NL" dirty="0"/>
              <a:t>Voorbeelden</a:t>
            </a:r>
          </a:p>
          <a:p>
            <a:r>
              <a:rPr lang="nl-NL" dirty="0"/>
              <a:t>Werken aan verslag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Lesplanning</a:t>
            </a:r>
          </a:p>
        </p:txBody>
      </p:sp>
    </p:spTree>
    <p:extLst>
      <p:ext uri="{BB962C8B-B14F-4D97-AF65-F5344CB8AC3E}">
        <p14:creationId xmlns:p14="http://schemas.microsoft.com/office/powerpoint/2010/main" val="2419142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6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Vragen?</a:t>
            </a:r>
          </a:p>
        </p:txBody>
      </p:sp>
    </p:spTree>
    <p:extLst>
      <p:ext uri="{BB962C8B-B14F-4D97-AF65-F5344CB8AC3E}">
        <p14:creationId xmlns:p14="http://schemas.microsoft.com/office/powerpoint/2010/main" val="1173662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1638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2DEF1FE7-7C82-7241-91A7-6A3BE7AFB7C3}" type="slidenum">
              <a:rPr lang="en-US" sz="1000">
                <a:latin typeface="Arial" charset="0"/>
              </a:rPr>
              <a:pPr/>
              <a:t>7</a:t>
            </a:fld>
            <a:endParaRPr lang="en-US" sz="1000">
              <a:latin typeface="Arial" charset="0"/>
            </a:endParaRPr>
          </a:p>
        </p:txBody>
      </p:sp>
      <p:sp>
        <p:nvSpPr>
          <p:cNvPr id="1638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</a:rPr>
              <a:t>Chapter 16 Topics</a:t>
            </a:r>
          </a:p>
        </p:txBody>
      </p:sp>
      <p:sp>
        <p:nvSpPr>
          <p:cNvPr id="16388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</a:rPr>
              <a:t>Introduction</a:t>
            </a:r>
          </a:p>
          <a:p>
            <a:pPr eaLnBrk="1" hangingPunct="1"/>
            <a:r>
              <a:rPr lang="en-US" dirty="0">
                <a:latin typeface="Lucida Sans Unicode" charset="0"/>
              </a:rPr>
              <a:t>A Brief Introduction to Predicate Calculus</a:t>
            </a:r>
          </a:p>
          <a:p>
            <a:pPr eaLnBrk="1" hangingPunct="1"/>
            <a:r>
              <a:rPr lang="en-US" dirty="0">
                <a:latin typeface="Lucida Sans Unicode" charset="0"/>
              </a:rPr>
              <a:t>Predicate Calculus and Proving Theorems</a:t>
            </a:r>
          </a:p>
          <a:p>
            <a:pPr eaLnBrk="1" hangingPunct="1"/>
            <a:r>
              <a:rPr lang="en-US" dirty="0">
                <a:latin typeface="Lucida Sans Unicode" charset="0"/>
              </a:rPr>
              <a:t>An Overview of Logic Programming</a:t>
            </a:r>
          </a:p>
          <a:p>
            <a:pPr eaLnBrk="1" hangingPunct="1"/>
            <a:r>
              <a:rPr lang="en-US" dirty="0">
                <a:latin typeface="Lucida Sans Unicode" charset="0"/>
              </a:rPr>
              <a:t>The Origins of Prolog</a:t>
            </a:r>
          </a:p>
          <a:p>
            <a:pPr eaLnBrk="1" hangingPunct="1"/>
            <a:r>
              <a:rPr lang="en-US" dirty="0">
                <a:latin typeface="Lucida Sans Unicode" charset="0"/>
              </a:rPr>
              <a:t>The Basic Elements of Prolog</a:t>
            </a:r>
          </a:p>
          <a:p>
            <a:pPr eaLnBrk="1" hangingPunct="1"/>
            <a:r>
              <a:rPr lang="en-US" dirty="0">
                <a:latin typeface="Lucida Sans Unicode" charset="0"/>
              </a:rPr>
              <a:t>Deficiencies of Prolog</a:t>
            </a:r>
          </a:p>
          <a:p>
            <a:pPr eaLnBrk="1" hangingPunct="1"/>
            <a:r>
              <a:rPr lang="en-US" dirty="0">
                <a:latin typeface="Lucida Sans Unicode" charset="0"/>
              </a:rPr>
              <a:t>Applications of Logic Programming</a:t>
            </a:r>
          </a:p>
        </p:txBody>
      </p:sp>
    </p:spTree>
    <p:extLst>
      <p:ext uri="{BB962C8B-B14F-4D97-AF65-F5344CB8AC3E}">
        <p14:creationId xmlns:p14="http://schemas.microsoft.com/office/powerpoint/2010/main" val="3590522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1843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EE8DBE21-469C-674B-AD72-9585349167C5}" type="slidenum">
              <a:rPr lang="en-US" sz="1000">
                <a:latin typeface="Arial" charset="0"/>
              </a:rPr>
              <a:pPr/>
              <a:t>8</a:t>
            </a:fld>
            <a:endParaRPr lang="en-US" sz="1000">
              <a:latin typeface="Arial" charset="0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Introduction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Programs in logic languages are expressed in a form of symbolic logic</a:t>
            </a:r>
          </a:p>
          <a:p>
            <a:pPr eaLnBrk="1" hangingPunct="1"/>
            <a:r>
              <a:rPr lang="en-US">
                <a:latin typeface="Lucida Sans Unicode" charset="0"/>
              </a:rPr>
              <a:t>Use a logical inferencing process to produce results</a:t>
            </a:r>
          </a:p>
          <a:p>
            <a:pPr eaLnBrk="1" hangingPunct="1"/>
            <a:r>
              <a:rPr lang="en-US" i="1">
                <a:latin typeface="Lucida Sans Unicode" charset="0"/>
              </a:rPr>
              <a:t>Declarative</a:t>
            </a:r>
            <a:r>
              <a:rPr lang="en-US">
                <a:latin typeface="Lucida Sans Unicode" charset="0"/>
              </a:rPr>
              <a:t> rather that </a:t>
            </a:r>
            <a:r>
              <a:rPr lang="en-US" i="1">
                <a:latin typeface="Lucida Sans Unicode" charset="0"/>
              </a:rPr>
              <a:t>procedural</a:t>
            </a:r>
            <a:r>
              <a:rPr lang="en-US">
                <a:latin typeface="Lucida Sans Unicode" charset="0"/>
              </a:rPr>
              <a:t>: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Only specification of </a:t>
            </a:r>
            <a:r>
              <a:rPr lang="en-US" i="1">
                <a:latin typeface="Lucida Sans Unicode" charset="0"/>
                <a:ea typeface="Lucida Sans Unicode" charset="0"/>
                <a:cs typeface="Lucida Sans Unicode" charset="0"/>
              </a:rPr>
              <a:t>results</a:t>
            </a: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 are stated (not detailed </a:t>
            </a:r>
            <a:r>
              <a:rPr lang="en-US" i="1">
                <a:latin typeface="Lucida Sans Unicode" charset="0"/>
                <a:ea typeface="Lucida Sans Unicode" charset="0"/>
                <a:cs typeface="Lucida Sans Unicode" charset="0"/>
              </a:rPr>
              <a:t>procedures</a:t>
            </a: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 for producing them)</a:t>
            </a:r>
          </a:p>
        </p:txBody>
      </p:sp>
    </p:spTree>
    <p:extLst>
      <p:ext uri="{BB962C8B-B14F-4D97-AF65-F5344CB8AC3E}">
        <p14:creationId xmlns:p14="http://schemas.microsoft.com/office/powerpoint/2010/main" val="3508269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2048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87AA135C-B308-A944-A26A-046BA40429C1}" type="slidenum">
              <a:rPr lang="en-US" sz="1000">
                <a:latin typeface="Arial" charset="0"/>
              </a:rPr>
              <a:pPr/>
              <a:t>9</a:t>
            </a:fld>
            <a:endParaRPr lang="en-US" sz="1000">
              <a:latin typeface="Arial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534400" cy="1206500"/>
          </a:xfrm>
        </p:spPr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Proposition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A logical statement that may or may not be true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Consists of objects and relationships of objects to each other</a:t>
            </a:r>
          </a:p>
        </p:txBody>
      </p:sp>
    </p:spTree>
    <p:extLst>
      <p:ext uri="{BB962C8B-B14F-4D97-AF65-F5344CB8AC3E}">
        <p14:creationId xmlns:p14="http://schemas.microsoft.com/office/powerpoint/2010/main" val="2447549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2253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7322254D-5EA6-B740-94EB-2CC240EC8A8D}" type="slidenum">
              <a:rPr lang="en-US" sz="1000">
                <a:latin typeface="Arial" charset="0"/>
              </a:rPr>
              <a:pPr/>
              <a:t>10</a:t>
            </a:fld>
            <a:endParaRPr lang="en-US" sz="1000">
              <a:latin typeface="Arial" charset="0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534400" cy="1206500"/>
          </a:xfrm>
        </p:spPr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Symbolic Logic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382000" cy="4724400"/>
          </a:xfrm>
        </p:spPr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Logic which can be used for the basic needs of formal logic: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Express propositions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Express relationships between propositions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Describe how new propositions can be inferred from other propositions</a:t>
            </a:r>
          </a:p>
          <a:p>
            <a:pPr eaLnBrk="1" hangingPunct="1"/>
            <a:r>
              <a:rPr lang="en-US">
                <a:latin typeface="Lucida Sans Unicode" charset="0"/>
              </a:rPr>
              <a:t>Particular form of symbolic logic used for logic programming called </a:t>
            </a:r>
            <a:r>
              <a:rPr lang="en-US" i="1">
                <a:latin typeface="Lucida Sans Unicode" charset="0"/>
              </a:rPr>
              <a:t>predicate</a:t>
            </a:r>
            <a:r>
              <a:rPr lang="en-US">
                <a:latin typeface="Lucida Sans Unicode" charset="0"/>
              </a:rPr>
              <a:t> </a:t>
            </a:r>
            <a:r>
              <a:rPr lang="en-US" i="1">
                <a:latin typeface="Lucida Sans Unicode" charset="0"/>
              </a:rPr>
              <a:t>calculus</a:t>
            </a:r>
            <a:endParaRPr lang="en-US">
              <a:latin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322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2457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1CA46A1C-DC37-C34A-A158-1962A1DC0C18}" type="slidenum">
              <a:rPr lang="en-US" sz="1000">
                <a:latin typeface="Arial" charset="0"/>
              </a:rPr>
              <a:pPr/>
              <a:t>11</a:t>
            </a:fld>
            <a:endParaRPr lang="en-US" sz="1000">
              <a:latin typeface="Arial" charset="0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Object Representation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Objects in propositions are represented by simple terms: either constants or variables</a:t>
            </a:r>
          </a:p>
          <a:p>
            <a:pPr eaLnBrk="1" hangingPunct="1"/>
            <a:r>
              <a:rPr lang="en-US" i="1">
                <a:latin typeface="Lucida Sans Unicode" charset="0"/>
              </a:rPr>
              <a:t>Constant</a:t>
            </a:r>
            <a:r>
              <a:rPr lang="en-US">
                <a:latin typeface="Lucida Sans Unicode" charset="0"/>
              </a:rPr>
              <a:t>: a symbol that represents an object</a:t>
            </a:r>
          </a:p>
          <a:p>
            <a:pPr eaLnBrk="1" hangingPunct="1"/>
            <a:r>
              <a:rPr lang="en-US" i="1">
                <a:latin typeface="Lucida Sans Unicode" charset="0"/>
              </a:rPr>
              <a:t>Variable</a:t>
            </a:r>
            <a:r>
              <a:rPr lang="en-US">
                <a:latin typeface="Lucida Sans Unicode" charset="0"/>
              </a:rPr>
              <a:t>: a symbol that can represent different objects at different times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Different from variables in imperative languages</a:t>
            </a:r>
          </a:p>
        </p:txBody>
      </p:sp>
    </p:spTree>
    <p:extLst>
      <p:ext uri="{BB962C8B-B14F-4D97-AF65-F5344CB8AC3E}">
        <p14:creationId xmlns:p14="http://schemas.microsoft.com/office/powerpoint/2010/main" val="2858365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2662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FBDDA3AC-D484-5A42-9226-011D7BC02ED1}" type="slidenum">
              <a:rPr lang="en-US" sz="1000">
                <a:latin typeface="Arial" charset="0"/>
              </a:rPr>
              <a:pPr/>
              <a:t>12</a:t>
            </a:fld>
            <a:endParaRPr lang="en-US" sz="1000">
              <a:latin typeface="Arial" charset="0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Compound Terms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i="1">
                <a:latin typeface="Lucida Sans Unicode" charset="0"/>
              </a:rPr>
              <a:t>Atomic propositions</a:t>
            </a:r>
            <a:r>
              <a:rPr lang="en-US">
                <a:latin typeface="Lucida Sans Unicode" charset="0"/>
              </a:rPr>
              <a:t> consist of compound terms</a:t>
            </a:r>
          </a:p>
          <a:p>
            <a:pPr eaLnBrk="1" hangingPunct="1"/>
            <a:r>
              <a:rPr lang="en-US" i="1">
                <a:latin typeface="Lucida Sans Unicode" charset="0"/>
              </a:rPr>
              <a:t>Compound term</a:t>
            </a:r>
            <a:r>
              <a:rPr lang="en-US">
                <a:latin typeface="Lucida Sans Unicode" charset="0"/>
              </a:rPr>
              <a:t>: one element of a mathematical relation, written like a mathematical function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Mathematical function is a mapping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Can be written as a table</a:t>
            </a:r>
          </a:p>
        </p:txBody>
      </p:sp>
    </p:spTree>
    <p:extLst>
      <p:ext uri="{BB962C8B-B14F-4D97-AF65-F5344CB8AC3E}">
        <p14:creationId xmlns:p14="http://schemas.microsoft.com/office/powerpoint/2010/main" val="933691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2867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F5FF92AC-8CFC-6445-A57A-48B3311F23AF}" type="slidenum">
              <a:rPr lang="en-US" sz="1000">
                <a:latin typeface="Arial" charset="0"/>
              </a:rPr>
              <a:pPr/>
              <a:t>13</a:t>
            </a:fld>
            <a:endParaRPr lang="en-US" sz="1000">
              <a:latin typeface="Arial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Parts of a Compound Term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382000" cy="4724400"/>
          </a:xfrm>
        </p:spPr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Compound term composed of two parts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Functor: function symbol that names the relationship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Ordered list of parameters (tuple)</a:t>
            </a:r>
          </a:p>
          <a:p>
            <a:pPr eaLnBrk="1" hangingPunct="1"/>
            <a:r>
              <a:rPr lang="en-US">
                <a:latin typeface="Lucida Sans Unicode" charset="0"/>
              </a:rPr>
              <a:t>Examples:</a:t>
            </a:r>
          </a:p>
          <a:p>
            <a:pPr eaLnBrk="1" hangingPunct="1">
              <a:buFontTx/>
              <a:buNone/>
            </a:pPr>
            <a:r>
              <a:rPr lang="en-US">
                <a:latin typeface="Lucida Sans Unicode" charset="0"/>
              </a:rPr>
              <a:t>	</a:t>
            </a:r>
            <a:r>
              <a:rPr lang="en-US" sz="2000">
                <a:latin typeface="Courier New" charset="0"/>
              </a:rPr>
              <a:t>student(jon)</a:t>
            </a:r>
          </a:p>
          <a:p>
            <a:pPr eaLnBrk="1" hangingPunct="1">
              <a:buFontTx/>
              <a:buNone/>
            </a:pPr>
            <a:r>
              <a:rPr lang="en-US" sz="2000">
                <a:latin typeface="Courier New" charset="0"/>
              </a:rPr>
              <a:t>	like(seth, OSX)</a:t>
            </a:r>
          </a:p>
          <a:p>
            <a:pPr eaLnBrk="1" hangingPunct="1">
              <a:buFontTx/>
              <a:buNone/>
            </a:pPr>
            <a:r>
              <a:rPr lang="en-US" sz="2000">
                <a:latin typeface="Courier New" charset="0"/>
              </a:rPr>
              <a:t>	like(nick, windows)</a:t>
            </a:r>
          </a:p>
          <a:p>
            <a:pPr eaLnBrk="1" hangingPunct="1">
              <a:buFontTx/>
              <a:buNone/>
            </a:pPr>
            <a:r>
              <a:rPr lang="en-US" sz="2000">
                <a:latin typeface="Courier New" charset="0"/>
              </a:rPr>
              <a:t>	like(jim, linux)</a:t>
            </a:r>
            <a:endParaRPr lang="en-US" sz="2000">
              <a:latin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149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3072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66506DE7-731D-FC4A-91E8-19B28E55C3E7}" type="slidenum">
              <a:rPr lang="en-US" sz="1000">
                <a:latin typeface="Arial" charset="0"/>
              </a:rPr>
              <a:pPr/>
              <a:t>14</a:t>
            </a:fld>
            <a:endParaRPr lang="en-US" sz="1000">
              <a:latin typeface="Arial" charset="0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Forms of a Proposition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Propositions can be stated in two forms:</a:t>
            </a:r>
          </a:p>
          <a:p>
            <a:pPr lvl="1" eaLnBrk="1" hangingPunct="1"/>
            <a:r>
              <a:rPr lang="en-US" i="1">
                <a:latin typeface="Lucida Sans Unicode" charset="0"/>
                <a:ea typeface="Lucida Sans Unicode" charset="0"/>
                <a:cs typeface="Lucida Sans Unicode" charset="0"/>
              </a:rPr>
              <a:t>Fact</a:t>
            </a: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: proposition is assumed to be true</a:t>
            </a:r>
          </a:p>
          <a:p>
            <a:pPr lvl="1" eaLnBrk="1" hangingPunct="1"/>
            <a:r>
              <a:rPr lang="en-US" i="1">
                <a:latin typeface="Lucida Sans Unicode" charset="0"/>
                <a:ea typeface="Lucida Sans Unicode" charset="0"/>
                <a:cs typeface="Lucida Sans Unicode" charset="0"/>
              </a:rPr>
              <a:t>Query</a:t>
            </a: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: truth of proposition is to be determined</a:t>
            </a:r>
          </a:p>
          <a:p>
            <a:pPr eaLnBrk="1" hangingPunct="1"/>
            <a:r>
              <a:rPr lang="en-US">
                <a:latin typeface="Lucida Sans Unicode" charset="0"/>
              </a:rPr>
              <a:t>Compound proposition: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Have two or more atomic propositions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Propositions are connected by operators</a:t>
            </a:r>
          </a:p>
        </p:txBody>
      </p:sp>
    </p:spTree>
    <p:extLst>
      <p:ext uri="{BB962C8B-B14F-4D97-AF65-F5344CB8AC3E}">
        <p14:creationId xmlns:p14="http://schemas.microsoft.com/office/powerpoint/2010/main" val="2772895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3277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03151BE7-AAD6-1E4B-BA4F-08C4D4DED15F}" type="slidenum">
              <a:rPr lang="en-US" sz="1000">
                <a:latin typeface="Arial" charset="0"/>
              </a:rPr>
              <a:pPr/>
              <a:t>15</a:t>
            </a:fld>
            <a:endParaRPr lang="en-US" sz="1000">
              <a:latin typeface="Arial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Logical Operators</a:t>
            </a:r>
          </a:p>
        </p:txBody>
      </p:sp>
      <p:graphicFrame>
        <p:nvGraphicFramePr>
          <p:cNvPr id="15400" name="Group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474130"/>
              </p:ext>
            </p:extLst>
          </p:nvPr>
        </p:nvGraphicFramePr>
        <p:xfrm>
          <a:off x="971600" y="1487488"/>
          <a:ext cx="7867599" cy="4214445"/>
        </p:xfrm>
        <a:graphic>
          <a:graphicData uri="http://schemas.openxmlformats.org/drawingml/2006/table">
            <a:tbl>
              <a:tblPr/>
              <a:tblGrid>
                <a:gridCol w="2209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2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52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42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Name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Symbol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Example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Meaning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7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negation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Symbol" charset="0"/>
                        </a:rPr>
                        <a:t>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Sans Unicode" charset="0"/>
                        <a:ea typeface="ＭＳ Ｐゴシック" charset="0"/>
                        <a:cs typeface="Lucida Sans Unicode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Symbol" charset="0"/>
                        </a:rPr>
                        <a:t>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Math1" charset="0"/>
                        </a:rPr>
                        <a:t> a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not a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2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conjunction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Symbol" charset="0"/>
                        </a:rPr>
                        <a:t>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Sans Unicode" charset="0"/>
                        <a:ea typeface="ＭＳ Ｐゴシック" charset="0"/>
                        <a:cs typeface="Lucida Sans Unicode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Math1" charset="0"/>
                        </a:rPr>
                        <a:t>a 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Symbol" charset="0"/>
                        </a:rPr>
                        <a:t>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Math1" charset="0"/>
                        </a:rPr>
                        <a:t> b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a and b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42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disjunction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Symbol" charset="0"/>
                        </a:rPr>
                        <a:t>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Sans Unicode" charset="0"/>
                        <a:ea typeface="ＭＳ Ｐゴシック" charset="0"/>
                        <a:cs typeface="Lucida Sans Unicode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Math1" charset="0"/>
                        </a:rPr>
                        <a:t>a 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Symbol" charset="0"/>
                        </a:rPr>
                        <a:t>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Math1" charset="0"/>
                        </a:rPr>
                        <a:t> b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a or b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78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equivalence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Symbol" charset="0"/>
                        </a:rPr>
                        <a:t>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Sans Unicode" charset="0"/>
                        <a:ea typeface="ＭＳ Ｐゴシック" charset="0"/>
                        <a:cs typeface="Lucida Sans Unicode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Math1" charset="0"/>
                        </a:rPr>
                        <a:t>a 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Symbol" charset="0"/>
                        </a:rPr>
                        <a:t>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Math1" charset="0"/>
                        </a:rPr>
                        <a:t> b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a is equivalent to b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85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implication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Symbol" charset="0"/>
                        </a:rPr>
                        <a:t>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Sans Unicode" charset="0"/>
                        <a:ea typeface="ＭＳ Ｐゴシック" charset="0"/>
                        <a:cs typeface="Lucida Sans Unicode" charset="0"/>
                        <a:sym typeface="Math1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Symbol" charset="0"/>
                        </a:rPr>
                        <a:t>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Sans Unicode" charset="0"/>
                        <a:ea typeface="ＭＳ Ｐゴシック" charset="0"/>
                        <a:cs typeface="Lucida Sans Unicode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Math1" charset="0"/>
                        </a:rPr>
                        <a:t>a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Symbol" charset="0"/>
                        </a:rPr>
                        <a:t>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Math1" charset="0"/>
                        </a:rPr>
                        <a:t> 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Math1" charset="0"/>
                        </a:rPr>
                        <a:t>a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Symbol" charset="0"/>
                        </a:rPr>
                        <a:t>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  <a:sym typeface="Math1" charset="0"/>
                        </a:rPr>
                        <a:t> b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a implies 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charset="0"/>
                          <a:ea typeface="ＭＳ Ｐゴシック" charset="0"/>
                          <a:cs typeface="Lucida Sans Unicode" charset="0"/>
                        </a:rPr>
                        <a:t>b implies a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2928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3481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54F4A205-7E2D-1E48-AC42-BB28E74A2247}" type="slidenum">
              <a:rPr lang="en-US" sz="1000">
                <a:latin typeface="Arial" charset="0"/>
              </a:rPr>
              <a:pPr/>
              <a:t>16</a:t>
            </a:fld>
            <a:endParaRPr lang="en-US" sz="1000">
              <a:latin typeface="Arial" charset="0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Quantifiers</a:t>
            </a:r>
          </a:p>
        </p:txBody>
      </p:sp>
      <p:graphicFrame>
        <p:nvGraphicFramePr>
          <p:cNvPr id="16406" name="Group 22"/>
          <p:cNvGraphicFramePr>
            <a:graphicFrameLocks noGrp="1"/>
          </p:cNvGraphicFramePr>
          <p:nvPr/>
        </p:nvGraphicFramePr>
        <p:xfrm>
          <a:off x="609600" y="1905000"/>
          <a:ext cx="8172450" cy="2176536"/>
        </p:xfrm>
        <a:graphic>
          <a:graphicData uri="http://schemas.openxmlformats.org/drawingml/2006/table">
            <a:tbl>
              <a:tblPr/>
              <a:tblGrid>
                <a:gridCol w="2036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2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3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75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Name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Example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Meaning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0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universal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Arial Unicode MS" pitchFamily="34" charset="-128"/>
                          <a:cs typeface="Arial Unicode MS" pitchFamily="34" charset="-128"/>
                          <a:sym typeface="Symbol" pitchFamily="18" charset="2"/>
                        </a:rPr>
                        <a:t>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X.P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Sans Unicode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For all X, P is true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8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existential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Arial Unicode MS" pitchFamily="34" charset="-128"/>
                          <a:cs typeface="Arial Unicode MS" pitchFamily="34" charset="-128"/>
                          <a:sym typeface="Symbol" pitchFamily="18" charset="2"/>
                        </a:rPr>
                        <a:t>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X.P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There exists a value of X such that P is true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9174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3686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8D6895C5-EF05-2947-99DD-8252D5B1DE77}" type="slidenum">
              <a:rPr lang="en-US" sz="1000">
                <a:latin typeface="Arial" charset="0"/>
              </a:rPr>
              <a:pPr/>
              <a:t>17</a:t>
            </a:fld>
            <a:endParaRPr lang="en-US" sz="1000">
              <a:latin typeface="Arial" charset="0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Clausal Form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077200" cy="4572000"/>
          </a:xfrm>
        </p:spPr>
        <p:txBody>
          <a:bodyPr/>
          <a:lstStyle/>
          <a:p>
            <a:pPr marL="681037"/>
            <a:r>
              <a:rPr lang="en-US" dirty="0">
                <a:latin typeface="Lucida Sans Unicode" charset="0"/>
              </a:rPr>
              <a:t>Too many ways to state the same thing</a:t>
            </a:r>
          </a:p>
          <a:p>
            <a:pPr marL="681037"/>
            <a:r>
              <a:rPr lang="en-US" dirty="0">
                <a:latin typeface="Lucida Sans Unicode" charset="0"/>
              </a:rPr>
              <a:t>Use a standard form for propositions</a:t>
            </a:r>
          </a:p>
          <a:p>
            <a:pPr marL="681037"/>
            <a:r>
              <a:rPr lang="en-US" i="1" dirty="0">
                <a:latin typeface="Lucida Sans Unicode" charset="0"/>
              </a:rPr>
              <a:t>Clausal form</a:t>
            </a:r>
            <a:r>
              <a:rPr lang="en-US" dirty="0">
                <a:latin typeface="Lucida Sans Unicode" charset="0"/>
              </a:rPr>
              <a:t>:</a:t>
            </a:r>
          </a:p>
          <a:p>
            <a:pPr lvl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B</a:t>
            </a:r>
            <a:r>
              <a:rPr lang="en-US" baseline="-25000" dirty="0">
                <a:latin typeface="Lucida Sans Unicode" charset="0"/>
                <a:ea typeface="Lucida Sans Unicode" charset="0"/>
                <a:cs typeface="Lucida Sans Unicode" charset="0"/>
              </a:rPr>
              <a:t>1 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  <a:sym typeface="Symbol" charset="0"/>
              </a:rPr>
              <a:t>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  <a:sym typeface="Math1" charset="0"/>
              </a:rPr>
              <a:t> B</a:t>
            </a:r>
            <a:r>
              <a:rPr lang="en-US" baseline="-25000" dirty="0">
                <a:latin typeface="Lucida Sans Unicode" charset="0"/>
                <a:ea typeface="Lucida Sans Unicode" charset="0"/>
                <a:cs typeface="Lucida Sans Unicode" charset="0"/>
                <a:sym typeface="Math1" charset="0"/>
              </a:rPr>
              <a:t>2 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  <a:sym typeface="Symbol" charset="0"/>
              </a:rPr>
              <a:t>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  <a:sym typeface="Math1" charset="0"/>
              </a:rPr>
              <a:t> … 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  <a:sym typeface="Symbol" charset="0"/>
              </a:rPr>
              <a:t>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 B</a:t>
            </a:r>
            <a:r>
              <a:rPr lang="en-US" baseline="-25000" dirty="0">
                <a:latin typeface="Lucida Sans Unicode" charset="0"/>
                <a:ea typeface="Lucida Sans Unicode" charset="0"/>
                <a:cs typeface="Lucida Sans Unicode" charset="0"/>
              </a:rPr>
              <a:t>n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  <a:sym typeface="Symbol" charset="0"/>
              </a:rPr>
              <a:t>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  <a:sym typeface="Math1" charset="0"/>
              </a:rPr>
              <a:t> A</a:t>
            </a:r>
            <a:r>
              <a:rPr lang="en-US" baseline="-25000" dirty="0">
                <a:latin typeface="Lucida Sans Unicode" charset="0"/>
                <a:ea typeface="Lucida Sans Unicode" charset="0"/>
                <a:cs typeface="Lucida Sans Unicode" charset="0"/>
                <a:sym typeface="Math1" charset="0"/>
              </a:rPr>
              <a:t>1 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  <a:sym typeface="Symbol" charset="0"/>
              </a:rPr>
              <a:t>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  <a:sym typeface="Math1" charset="0"/>
              </a:rPr>
              <a:t> A</a:t>
            </a:r>
            <a:r>
              <a:rPr lang="en-US" baseline="-25000" dirty="0">
                <a:latin typeface="Lucida Sans Unicode" charset="0"/>
                <a:ea typeface="Lucida Sans Unicode" charset="0"/>
                <a:cs typeface="Lucida Sans Unicode" charset="0"/>
                <a:sym typeface="Math1" charset="0"/>
              </a:rPr>
              <a:t>2 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  <a:sym typeface="Symbol" charset="0"/>
              </a:rPr>
              <a:t>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  <a:sym typeface="Math1" charset="0"/>
              </a:rPr>
              <a:t> … 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  <a:sym typeface="Symbol" charset="0"/>
              </a:rPr>
              <a:t>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  <a:sym typeface="Math1" charset="0"/>
              </a:rPr>
              <a:t> A</a:t>
            </a:r>
            <a:r>
              <a:rPr lang="en-US" baseline="-25000" dirty="0">
                <a:latin typeface="Lucida Sans Unicode" charset="0"/>
                <a:ea typeface="Lucida Sans Unicode" charset="0"/>
                <a:cs typeface="Lucida Sans Unicode" charset="0"/>
                <a:sym typeface="Math1" charset="0"/>
              </a:rPr>
              <a:t>m</a:t>
            </a:r>
          </a:p>
          <a:p>
            <a:pPr lvl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  <a:sym typeface="Math1" charset="0"/>
              </a:rPr>
              <a:t>means if all the As are true, then at least one B is true</a:t>
            </a:r>
          </a:p>
          <a:p>
            <a:pPr marL="681037"/>
            <a:r>
              <a:rPr lang="en-US" i="1" dirty="0">
                <a:latin typeface="Lucida Sans Unicode" charset="0"/>
              </a:rPr>
              <a:t>Antecedent</a:t>
            </a:r>
            <a:r>
              <a:rPr lang="en-US" dirty="0">
                <a:latin typeface="Lucida Sans Unicode" charset="0"/>
              </a:rPr>
              <a:t>: right side</a:t>
            </a:r>
          </a:p>
          <a:p>
            <a:pPr marL="681037"/>
            <a:r>
              <a:rPr lang="en-US" i="1" dirty="0">
                <a:latin typeface="Lucida Sans Unicode" charset="0"/>
              </a:rPr>
              <a:t>Consequent</a:t>
            </a:r>
            <a:r>
              <a:rPr lang="en-US" dirty="0">
                <a:latin typeface="Lucida Sans Unicode" charset="0"/>
              </a:rPr>
              <a:t>: left side</a:t>
            </a:r>
          </a:p>
        </p:txBody>
      </p:sp>
    </p:spTree>
    <p:extLst>
      <p:ext uri="{BB962C8B-B14F-4D97-AF65-F5344CB8AC3E}">
        <p14:creationId xmlns:p14="http://schemas.microsoft.com/office/powerpoint/2010/main" val="1972988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3891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FC18C52D-FF11-C544-B73C-25EF5D128606}" type="slidenum">
              <a:rPr lang="en-US" sz="1000">
                <a:latin typeface="Arial" charset="0"/>
              </a:rPr>
              <a:pPr/>
              <a:t>18</a:t>
            </a:fld>
            <a:endParaRPr lang="en-US" sz="1000">
              <a:latin typeface="Arial" charset="0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153400" cy="1143000"/>
          </a:xfrm>
        </p:spPr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Predicate Calculus and Proving Theorems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153400" cy="4648200"/>
          </a:xfrm>
        </p:spPr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A use of propositions is to discover new theorems that can be inferred from known axioms and theorems</a:t>
            </a:r>
          </a:p>
          <a:p>
            <a:pPr eaLnBrk="1" hangingPunct="1"/>
            <a:r>
              <a:rPr lang="en-US" i="1">
                <a:latin typeface="Lucida Sans Unicode" charset="0"/>
              </a:rPr>
              <a:t>Resolution</a:t>
            </a:r>
            <a:r>
              <a:rPr lang="en-US">
                <a:latin typeface="Lucida Sans Unicode" charset="0"/>
              </a:rPr>
              <a:t>: an inference principle that allows inferred propositions to be computed from given propositions</a:t>
            </a:r>
          </a:p>
        </p:txBody>
      </p:sp>
    </p:spTree>
    <p:extLst>
      <p:ext uri="{BB962C8B-B14F-4D97-AF65-F5344CB8AC3E}">
        <p14:creationId xmlns:p14="http://schemas.microsoft.com/office/powerpoint/2010/main" val="1388583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409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FDA809E3-BCCF-B54B-8689-67F2C5E4C19F}" type="slidenum">
              <a:rPr lang="en-US" sz="1000">
                <a:latin typeface="Arial" charset="0"/>
              </a:rPr>
              <a:pPr/>
              <a:t>19</a:t>
            </a:fld>
            <a:endParaRPr lang="en-US" sz="1000">
              <a:latin typeface="Arial" charset="0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Resolution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i="1">
                <a:latin typeface="Lucida Sans Unicode" charset="0"/>
              </a:rPr>
              <a:t>Unification</a:t>
            </a:r>
            <a:r>
              <a:rPr lang="en-US">
                <a:latin typeface="Lucida Sans Unicode" charset="0"/>
              </a:rPr>
              <a:t>: finding values for variables in propositions that allows matching process to succeed</a:t>
            </a:r>
          </a:p>
          <a:p>
            <a:pPr eaLnBrk="1" hangingPunct="1"/>
            <a:r>
              <a:rPr lang="en-US" i="1">
                <a:latin typeface="Lucida Sans Unicode" charset="0"/>
              </a:rPr>
              <a:t>Instantiation</a:t>
            </a:r>
            <a:r>
              <a:rPr lang="en-US">
                <a:latin typeface="Lucida Sans Unicode" charset="0"/>
              </a:rPr>
              <a:t>: assigning temporary values to variables to allow unification to succeed</a:t>
            </a:r>
          </a:p>
          <a:p>
            <a:pPr eaLnBrk="1" hangingPunct="1"/>
            <a:r>
              <a:rPr lang="en-US">
                <a:latin typeface="Lucida Sans Unicode" charset="0"/>
              </a:rPr>
              <a:t>After instantiating a variable with a value,  if matching fails, may need to </a:t>
            </a:r>
            <a:r>
              <a:rPr lang="en-US" i="1">
                <a:latin typeface="Lucida Sans Unicode" charset="0"/>
              </a:rPr>
              <a:t>backtrack</a:t>
            </a:r>
            <a:r>
              <a:rPr lang="en-US">
                <a:latin typeface="Lucida Sans Unicode" charset="0"/>
              </a:rPr>
              <a:t> and instantiate with a different value</a:t>
            </a:r>
          </a:p>
        </p:txBody>
      </p:sp>
    </p:spTree>
    <p:extLst>
      <p:ext uri="{BB962C8B-B14F-4D97-AF65-F5344CB8AC3E}">
        <p14:creationId xmlns:p14="http://schemas.microsoft.com/office/powerpoint/2010/main" val="1964516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4301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5AC7489D-7C0A-A54F-9E6A-3DAE8A143778}" type="slidenum">
              <a:rPr lang="en-US" sz="1000">
                <a:latin typeface="Arial" charset="0"/>
              </a:rPr>
              <a:pPr/>
              <a:t>20</a:t>
            </a:fld>
            <a:endParaRPr lang="en-US" sz="1000">
              <a:latin typeface="Arial" charset="0"/>
            </a:endParaRP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Proof by Contradiction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i="1">
                <a:latin typeface="Lucida Sans Unicode" charset="0"/>
              </a:rPr>
              <a:t>Hypotheses</a:t>
            </a:r>
            <a:r>
              <a:rPr lang="en-US">
                <a:latin typeface="Lucida Sans Unicode" charset="0"/>
              </a:rPr>
              <a:t>: a set of pertinent propositions</a:t>
            </a:r>
          </a:p>
          <a:p>
            <a:pPr eaLnBrk="1" hangingPunct="1"/>
            <a:r>
              <a:rPr lang="en-US" i="1">
                <a:latin typeface="Lucida Sans Unicode" charset="0"/>
              </a:rPr>
              <a:t>Goal</a:t>
            </a:r>
            <a:r>
              <a:rPr lang="en-US">
                <a:latin typeface="Lucida Sans Unicode" charset="0"/>
              </a:rPr>
              <a:t>: negation of theorem stated as a proposition</a:t>
            </a:r>
          </a:p>
          <a:p>
            <a:pPr eaLnBrk="1" hangingPunct="1"/>
            <a:r>
              <a:rPr lang="en-US">
                <a:latin typeface="Lucida Sans Unicode" charset="0"/>
              </a:rPr>
              <a:t>Theorem is proved by finding an inconsistency</a:t>
            </a:r>
          </a:p>
        </p:txBody>
      </p:sp>
    </p:spTree>
    <p:extLst>
      <p:ext uri="{BB962C8B-B14F-4D97-AF65-F5344CB8AC3E}">
        <p14:creationId xmlns:p14="http://schemas.microsoft.com/office/powerpoint/2010/main" val="654321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4505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4734DEC8-7479-044C-B080-14501A31EEB5}" type="slidenum">
              <a:rPr lang="en-US" sz="1000">
                <a:latin typeface="Arial" charset="0"/>
              </a:rPr>
              <a:pPr/>
              <a:t>21</a:t>
            </a:fld>
            <a:endParaRPr lang="en-US" sz="1000">
              <a:latin typeface="Arial" charset="0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Theorem Proving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Basis for logic programming</a:t>
            </a:r>
          </a:p>
          <a:p>
            <a:pPr eaLnBrk="1" hangingPunct="1"/>
            <a:r>
              <a:rPr lang="en-US">
                <a:latin typeface="Lucida Sans Unicode" charset="0"/>
              </a:rPr>
              <a:t>When propositions used for resolution, only restricted form can be used</a:t>
            </a:r>
          </a:p>
          <a:p>
            <a:pPr eaLnBrk="1" hangingPunct="1"/>
            <a:r>
              <a:rPr lang="en-US" i="1">
                <a:latin typeface="Lucida Sans Unicode" charset="0"/>
              </a:rPr>
              <a:t>Horn clause</a:t>
            </a:r>
            <a:r>
              <a:rPr lang="en-US">
                <a:latin typeface="Lucida Sans Unicode" charset="0"/>
              </a:rPr>
              <a:t> - can have only two forms</a:t>
            </a:r>
          </a:p>
          <a:p>
            <a:pPr lvl="1" eaLnBrk="1" hangingPunct="1"/>
            <a:r>
              <a:rPr lang="en-US" i="1">
                <a:latin typeface="Lucida Sans Unicode" charset="0"/>
                <a:ea typeface="Lucida Sans Unicode" charset="0"/>
                <a:cs typeface="Lucida Sans Unicode" charset="0"/>
              </a:rPr>
              <a:t>Headed</a:t>
            </a: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: single atomic proposition on left side</a:t>
            </a:r>
          </a:p>
          <a:p>
            <a:pPr lvl="1" eaLnBrk="1" hangingPunct="1"/>
            <a:r>
              <a:rPr lang="en-US" i="1">
                <a:latin typeface="Lucida Sans Unicode" charset="0"/>
                <a:ea typeface="Lucida Sans Unicode" charset="0"/>
                <a:cs typeface="Lucida Sans Unicode" charset="0"/>
              </a:rPr>
              <a:t>Headless</a:t>
            </a: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: empty left side (used to state facts)</a:t>
            </a:r>
          </a:p>
          <a:p>
            <a:pPr eaLnBrk="1" hangingPunct="1"/>
            <a:r>
              <a:rPr lang="en-US">
                <a:latin typeface="Lucida Sans Unicode" charset="0"/>
              </a:rPr>
              <a:t>Most propositions can be stated as Horn clauses</a:t>
            </a:r>
          </a:p>
        </p:txBody>
      </p:sp>
    </p:spTree>
    <p:extLst>
      <p:ext uri="{BB962C8B-B14F-4D97-AF65-F5344CB8AC3E}">
        <p14:creationId xmlns:p14="http://schemas.microsoft.com/office/powerpoint/2010/main" val="13307259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4710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B0B1F4C0-964F-F642-A67A-BDB63BA0D96A}" type="slidenum">
              <a:rPr lang="en-US" sz="1000">
                <a:latin typeface="Arial" charset="0"/>
              </a:rPr>
              <a:pPr/>
              <a:t>22</a:t>
            </a:fld>
            <a:endParaRPr lang="en-US" sz="1000">
              <a:latin typeface="Arial" charset="0"/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Overview of Logic Programming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Declarative semantics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There is a simple way to determine the meaning of each statement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Simpler than the semantics of imperative languages</a:t>
            </a:r>
          </a:p>
          <a:p>
            <a:pPr eaLnBrk="1" hangingPunct="1"/>
            <a:r>
              <a:rPr lang="en-US">
                <a:latin typeface="Lucida Sans Unicode" charset="0"/>
              </a:rPr>
              <a:t>Programming is nonprocedural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Programs do not state now a result is to be computed, but rather the form of the result</a:t>
            </a:r>
          </a:p>
        </p:txBody>
      </p:sp>
    </p:spTree>
    <p:extLst>
      <p:ext uri="{BB962C8B-B14F-4D97-AF65-F5344CB8AC3E}">
        <p14:creationId xmlns:p14="http://schemas.microsoft.com/office/powerpoint/2010/main" val="717261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4915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241F67EB-B94E-0B4C-ABB1-0A196CF26553}" type="slidenum">
              <a:rPr lang="en-US" sz="1000">
                <a:latin typeface="Arial" charset="0"/>
              </a:rPr>
              <a:pPr/>
              <a:t>23</a:t>
            </a:fld>
            <a:endParaRPr lang="en-US" sz="1000">
              <a:latin typeface="Arial" charset="0"/>
            </a:endParaRP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Example: Sorting a List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</a:rPr>
              <a:t>Describe the characteristics of a sorted list, not the process of rearranging a list</a:t>
            </a:r>
          </a:p>
          <a:p>
            <a:pPr eaLnBrk="1" hangingPunct="1">
              <a:buFontTx/>
              <a:buNone/>
            </a:pPr>
            <a:endParaRPr lang="en-US" sz="2400" dirty="0">
              <a:latin typeface="Lucida Sans Unicode" charset="0"/>
            </a:endParaRPr>
          </a:p>
          <a:p>
            <a:pPr eaLnBrk="1" hangingPunct="1">
              <a:buFontTx/>
              <a:buNone/>
            </a:pPr>
            <a:r>
              <a:rPr lang="en-US" sz="2400" dirty="0">
                <a:latin typeface="Lucida Sans Unicode" charset="0"/>
              </a:rPr>
              <a:t>	sort(</a:t>
            </a:r>
            <a:r>
              <a:rPr lang="en-US" sz="2400" dirty="0" err="1">
                <a:latin typeface="Lucida Sans Unicode" charset="0"/>
              </a:rPr>
              <a:t>old_list</a:t>
            </a:r>
            <a:r>
              <a:rPr lang="en-US" sz="2400" dirty="0">
                <a:latin typeface="Lucida Sans Unicode" charset="0"/>
              </a:rPr>
              <a:t>, </a:t>
            </a:r>
            <a:r>
              <a:rPr lang="en-US" sz="2400" dirty="0" err="1">
                <a:latin typeface="Lucida Sans Unicode" charset="0"/>
              </a:rPr>
              <a:t>new_list</a:t>
            </a:r>
            <a:r>
              <a:rPr lang="en-US" sz="2400" dirty="0">
                <a:latin typeface="Lucida Sans Unicode" charset="0"/>
              </a:rPr>
              <a:t>) </a:t>
            </a:r>
            <a:r>
              <a:rPr lang="en-US" dirty="0">
                <a:latin typeface="Lucida Sans Unicode" charset="0"/>
                <a:sym typeface="Symbol" charset="0"/>
              </a:rPr>
              <a:t></a:t>
            </a:r>
            <a:r>
              <a:rPr lang="en-US" sz="2400" dirty="0">
                <a:latin typeface="Lucida Sans Unicode" charset="0"/>
                <a:sym typeface="Math1" charset="0"/>
              </a:rPr>
              <a:t> permute (</a:t>
            </a:r>
            <a:r>
              <a:rPr lang="en-US" sz="2400" dirty="0" err="1">
                <a:latin typeface="Lucida Sans Unicode" charset="0"/>
                <a:sym typeface="Math1" charset="0"/>
              </a:rPr>
              <a:t>old_list</a:t>
            </a:r>
            <a:r>
              <a:rPr lang="en-US" sz="2400" dirty="0">
                <a:latin typeface="Lucida Sans Unicode" charset="0"/>
                <a:sym typeface="Math1" charset="0"/>
              </a:rPr>
              <a:t>, </a:t>
            </a:r>
            <a:r>
              <a:rPr lang="en-US" sz="2400" dirty="0" err="1">
                <a:latin typeface="Lucida Sans Unicode" charset="0"/>
                <a:sym typeface="Math1" charset="0"/>
              </a:rPr>
              <a:t>new_list</a:t>
            </a:r>
            <a:r>
              <a:rPr lang="en-US" sz="2400" dirty="0">
                <a:latin typeface="Lucida Sans Unicode" charset="0"/>
                <a:sym typeface="Math1" charset="0"/>
              </a:rPr>
              <a:t>) </a:t>
            </a:r>
            <a:r>
              <a:rPr lang="en-US" dirty="0">
                <a:latin typeface="Lucida Sans Unicode" charset="0"/>
                <a:sym typeface="Symbol" charset="0"/>
              </a:rPr>
              <a:t></a:t>
            </a:r>
            <a:r>
              <a:rPr lang="en-US" sz="2400" dirty="0">
                <a:latin typeface="Lucida Sans Unicode" charset="0"/>
                <a:sym typeface="Math1" charset="0"/>
              </a:rPr>
              <a:t> sorted (</a:t>
            </a:r>
            <a:r>
              <a:rPr lang="en-US" sz="2400" dirty="0" err="1">
                <a:latin typeface="Lucida Sans Unicode" charset="0"/>
                <a:sym typeface="Math1" charset="0"/>
              </a:rPr>
              <a:t>new_list</a:t>
            </a:r>
            <a:r>
              <a:rPr lang="en-US" sz="2400" dirty="0">
                <a:latin typeface="Lucida Sans Unicode" charset="0"/>
                <a:sym typeface="Math1" charset="0"/>
              </a:rPr>
              <a:t>)</a:t>
            </a:r>
          </a:p>
          <a:p>
            <a:pPr eaLnBrk="1" hangingPunct="1">
              <a:buFontTx/>
              <a:buNone/>
            </a:pPr>
            <a:endParaRPr lang="en-US" sz="2400" dirty="0">
              <a:latin typeface="Lucida Sans Unicode" charset="0"/>
              <a:sym typeface="Math1" charset="0"/>
            </a:endParaRPr>
          </a:p>
          <a:p>
            <a:pPr eaLnBrk="1" hangingPunct="1">
              <a:buFontTx/>
              <a:buNone/>
            </a:pPr>
            <a:r>
              <a:rPr lang="en-US" sz="2400" dirty="0">
                <a:latin typeface="Lucida Sans Unicode" charset="0"/>
                <a:cs typeface="Arial Unicode MS" charset="0"/>
                <a:sym typeface="Math1" charset="0"/>
              </a:rPr>
              <a:t>	sorted (list) </a:t>
            </a:r>
            <a:r>
              <a:rPr lang="en-US" dirty="0">
                <a:latin typeface="Lucida Sans Unicode" charset="0"/>
                <a:sym typeface="Symbol" charset="0"/>
              </a:rPr>
              <a:t></a:t>
            </a:r>
            <a:r>
              <a:rPr lang="en-US" sz="2400" dirty="0">
                <a:latin typeface="Lucida Sans Unicode" charset="0"/>
                <a:cs typeface="Arial Unicode MS" charset="0"/>
                <a:sym typeface="Math1" charset="0"/>
              </a:rPr>
              <a:t> </a:t>
            </a:r>
            <a:r>
              <a:rPr lang="en-US" sz="2400" dirty="0">
                <a:latin typeface="Lucida Sans Unicode" charset="0"/>
                <a:cs typeface="Arial Unicode MS" charset="0"/>
                <a:sym typeface="Symbol" charset="0"/>
              </a:rPr>
              <a:t></a:t>
            </a:r>
            <a:r>
              <a:rPr lang="en-US" sz="2400" baseline="-25000" dirty="0">
                <a:latin typeface="Lucida Sans Unicode" charset="0"/>
                <a:cs typeface="Arial Unicode MS" charset="0"/>
                <a:sym typeface="Math1" charset="0"/>
              </a:rPr>
              <a:t>j</a:t>
            </a:r>
            <a:r>
              <a:rPr lang="en-US" sz="2400" dirty="0">
                <a:latin typeface="Lucida Sans Unicode" charset="0"/>
                <a:cs typeface="Arial Unicode MS" charset="0"/>
                <a:sym typeface="Math1" charset="0"/>
              </a:rPr>
              <a:t> such that 1</a:t>
            </a:r>
            <a:r>
              <a:rPr lang="en-US" sz="2400" dirty="0">
                <a:latin typeface="Lucida Sans Unicode" charset="0"/>
                <a:cs typeface="Arial Unicode MS" charset="0"/>
                <a:sym typeface="Symbol" charset="0"/>
              </a:rPr>
              <a:t></a:t>
            </a:r>
            <a:r>
              <a:rPr lang="en-US" sz="2400" dirty="0">
                <a:latin typeface="Lucida Sans Unicode" charset="0"/>
                <a:cs typeface="Arial Unicode MS" charset="0"/>
                <a:sym typeface="Math1" charset="0"/>
              </a:rPr>
              <a:t> j &lt; n, list(j) </a:t>
            </a:r>
            <a:r>
              <a:rPr lang="en-US" sz="2400" dirty="0">
                <a:latin typeface="Lucida Sans Unicode" charset="0"/>
                <a:cs typeface="Arial Unicode MS" charset="0"/>
                <a:sym typeface="Symbol" charset="0"/>
              </a:rPr>
              <a:t></a:t>
            </a:r>
            <a:r>
              <a:rPr lang="en-US" sz="2400" dirty="0">
                <a:latin typeface="Lucida Sans Unicode" charset="0"/>
                <a:cs typeface="Arial Unicode MS" charset="0"/>
                <a:sym typeface="Math1" charset="0"/>
              </a:rPr>
              <a:t> list (j+1)</a:t>
            </a:r>
          </a:p>
          <a:p>
            <a:pPr eaLnBrk="1" hangingPunct="1">
              <a:buFontTx/>
              <a:buNone/>
            </a:pPr>
            <a:endParaRPr lang="en-US" dirty="0">
              <a:latin typeface="Lucida Sans Unicode" charset="0"/>
              <a:cs typeface="Arial Unicode MS" charset="0"/>
              <a:sym typeface="Math1" charset="0"/>
            </a:endParaRPr>
          </a:p>
          <a:p>
            <a:pPr eaLnBrk="1" hangingPunct="1">
              <a:buFontTx/>
              <a:buNone/>
            </a:pPr>
            <a:endParaRPr lang="en-US" sz="1800" dirty="0">
              <a:latin typeface="Lucida Sans Unicode" charset="0"/>
              <a:cs typeface="Arial Unicode MS" charset="0"/>
              <a:sym typeface="Math1" charset="0"/>
            </a:endParaRPr>
          </a:p>
          <a:p>
            <a:pPr eaLnBrk="1" hangingPunct="1">
              <a:buFontTx/>
              <a:buNone/>
            </a:pPr>
            <a:r>
              <a:rPr lang="en-US" sz="1800" dirty="0">
                <a:latin typeface="Lucida Sans Unicode" charset="0"/>
                <a:cs typeface="Arial Unicode MS" charset="0"/>
                <a:sym typeface="Math1" charset="0"/>
              </a:rPr>
              <a:t>(permute </a:t>
            </a:r>
            <a:r>
              <a:rPr lang="en-US" sz="1800" dirty="0" err="1">
                <a:latin typeface="Lucida Sans Unicode" charset="0"/>
                <a:cs typeface="Arial Unicode MS" charset="0"/>
                <a:sym typeface="Math1" charset="0"/>
              </a:rPr>
              <a:t>betekent</a:t>
            </a:r>
            <a:r>
              <a:rPr lang="en-US" sz="1800" dirty="0">
                <a:latin typeface="Lucida Sans Unicode" charset="0"/>
                <a:cs typeface="Arial Unicode MS" charset="0"/>
                <a:sym typeface="Math1" charset="0"/>
              </a:rPr>
              <a:t> in het </a:t>
            </a:r>
            <a:r>
              <a:rPr lang="en-US" sz="1800" dirty="0" err="1">
                <a:latin typeface="Lucida Sans Unicode" charset="0"/>
                <a:cs typeface="Arial Unicode MS" charset="0"/>
                <a:sym typeface="Math1" charset="0"/>
              </a:rPr>
              <a:t>Nederlands</a:t>
            </a:r>
            <a:r>
              <a:rPr lang="en-US" sz="1800" dirty="0">
                <a:latin typeface="Lucida Sans Unicode" charset="0"/>
                <a:cs typeface="Arial Unicode MS" charset="0"/>
                <a:sym typeface="Math1" charset="0"/>
              </a:rPr>
              <a:t>: “het </a:t>
            </a:r>
            <a:r>
              <a:rPr lang="en-US" sz="1800" dirty="0" err="1">
                <a:latin typeface="Lucida Sans Unicode" charset="0"/>
                <a:cs typeface="Arial Unicode MS" charset="0"/>
                <a:sym typeface="Math1" charset="0"/>
              </a:rPr>
              <a:t>omzetten</a:t>
            </a:r>
            <a:r>
              <a:rPr lang="en-US" sz="1800" dirty="0">
                <a:latin typeface="Lucida Sans Unicode" charset="0"/>
                <a:cs typeface="Arial Unicode MS" charset="0"/>
                <a:sym typeface="Math1" charset="0"/>
              </a:rPr>
              <a:t> van de </a:t>
            </a:r>
            <a:r>
              <a:rPr lang="en-US" sz="1800" dirty="0" err="1">
                <a:latin typeface="Lucida Sans Unicode" charset="0"/>
                <a:cs typeface="Arial Unicode MS" charset="0"/>
                <a:sym typeface="Math1" charset="0"/>
              </a:rPr>
              <a:t>volgorde</a:t>
            </a:r>
            <a:r>
              <a:rPr lang="en-US" sz="1800" dirty="0">
                <a:latin typeface="Lucida Sans Unicode" charset="0"/>
                <a:cs typeface="Arial Unicode MS" charset="0"/>
                <a:sym typeface="Math1" charset="0"/>
              </a:rPr>
              <a:t>”)</a:t>
            </a:r>
          </a:p>
        </p:txBody>
      </p:sp>
    </p:spTree>
    <p:extLst>
      <p:ext uri="{BB962C8B-B14F-4D97-AF65-F5344CB8AC3E}">
        <p14:creationId xmlns:p14="http://schemas.microsoft.com/office/powerpoint/2010/main" val="41941929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5120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30F85E65-FC69-154B-BA77-601729286308}" type="slidenum">
              <a:rPr lang="en-US" sz="1000">
                <a:latin typeface="Arial" charset="0"/>
              </a:rPr>
              <a:pPr/>
              <a:t>24</a:t>
            </a:fld>
            <a:endParaRPr lang="en-US" sz="1000">
              <a:latin typeface="Arial" charset="0"/>
            </a:endParaRP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The Origins of Prolog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University of Aix-Marseille (Calmerauer &amp; Roussel)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Natural language processing</a:t>
            </a:r>
          </a:p>
          <a:p>
            <a:pPr eaLnBrk="1" hangingPunct="1"/>
            <a:r>
              <a:rPr lang="en-US">
                <a:latin typeface="Lucida Sans Unicode" charset="0"/>
              </a:rPr>
              <a:t>University of Edinburgh (Kowalski)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Automated theorem proving</a:t>
            </a:r>
          </a:p>
        </p:txBody>
      </p:sp>
    </p:spTree>
    <p:extLst>
      <p:ext uri="{BB962C8B-B14F-4D97-AF65-F5344CB8AC3E}">
        <p14:creationId xmlns:p14="http://schemas.microsoft.com/office/powerpoint/2010/main" val="22208258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5325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902CFC01-3E0A-0947-AEF8-245F08856C33}" type="slidenum">
              <a:rPr lang="en-US" sz="1000">
                <a:latin typeface="Arial" charset="0"/>
              </a:rPr>
              <a:pPr/>
              <a:t>25</a:t>
            </a:fld>
            <a:endParaRPr lang="en-US" sz="1000">
              <a:latin typeface="Arial" charset="0"/>
            </a:endParaRPr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Terms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This book uses the Edinburgh syntax of Prolog</a:t>
            </a:r>
          </a:p>
          <a:p>
            <a:pPr eaLnBrk="1" hangingPunct="1"/>
            <a:r>
              <a:rPr lang="en-US" i="1">
                <a:latin typeface="Lucida Sans Unicode" charset="0"/>
              </a:rPr>
              <a:t>Term</a:t>
            </a:r>
            <a:r>
              <a:rPr lang="en-US">
                <a:latin typeface="Lucida Sans Unicode" charset="0"/>
              </a:rPr>
              <a:t>: a constant, variable, or structure</a:t>
            </a:r>
          </a:p>
          <a:p>
            <a:pPr eaLnBrk="1" hangingPunct="1"/>
            <a:r>
              <a:rPr lang="en-US" i="1">
                <a:latin typeface="Lucida Sans Unicode" charset="0"/>
              </a:rPr>
              <a:t>Constant</a:t>
            </a:r>
            <a:r>
              <a:rPr lang="en-US">
                <a:latin typeface="Lucida Sans Unicode" charset="0"/>
              </a:rPr>
              <a:t>: an atom or an integer</a:t>
            </a:r>
          </a:p>
          <a:p>
            <a:pPr eaLnBrk="1" hangingPunct="1"/>
            <a:r>
              <a:rPr lang="en-US" i="1">
                <a:latin typeface="Lucida Sans Unicode" charset="0"/>
              </a:rPr>
              <a:t>Atom</a:t>
            </a:r>
            <a:r>
              <a:rPr lang="en-US">
                <a:latin typeface="Lucida Sans Unicode" charset="0"/>
              </a:rPr>
              <a:t>: symbolic value of Prolog</a:t>
            </a:r>
          </a:p>
          <a:p>
            <a:pPr eaLnBrk="1" hangingPunct="1"/>
            <a:r>
              <a:rPr lang="en-US">
                <a:latin typeface="Lucida Sans Unicode" charset="0"/>
              </a:rPr>
              <a:t>Atom consists of either: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a string of letters, digits, and underscores beginning with a lowercase letter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a string of printable ASCII characters delimited by apostrophes</a:t>
            </a:r>
          </a:p>
        </p:txBody>
      </p:sp>
    </p:spTree>
    <p:extLst>
      <p:ext uri="{BB962C8B-B14F-4D97-AF65-F5344CB8AC3E}">
        <p14:creationId xmlns:p14="http://schemas.microsoft.com/office/powerpoint/2010/main" val="22696742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5529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993BE071-5375-1548-8108-5F44D00DB889}" type="slidenum">
              <a:rPr lang="en-US" sz="1000">
                <a:latin typeface="Arial" charset="0"/>
              </a:rPr>
              <a:pPr/>
              <a:t>26</a:t>
            </a:fld>
            <a:endParaRPr lang="en-US" sz="1000">
              <a:latin typeface="Arial" charset="0"/>
            </a:endParaRPr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Terms: Variables and Structures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i="1">
                <a:latin typeface="Lucida Sans Unicode" charset="0"/>
              </a:rPr>
              <a:t>Variable</a:t>
            </a:r>
            <a:r>
              <a:rPr lang="en-US">
                <a:latin typeface="Lucida Sans Unicode" charset="0"/>
              </a:rPr>
              <a:t>: any string of letters, digits, and underscores beginning with an uppercase letter</a:t>
            </a:r>
          </a:p>
          <a:p>
            <a:pPr eaLnBrk="1" hangingPunct="1"/>
            <a:r>
              <a:rPr lang="en-US" i="1">
                <a:latin typeface="Lucida Sans Unicode" charset="0"/>
              </a:rPr>
              <a:t>Instantiation</a:t>
            </a:r>
            <a:r>
              <a:rPr lang="en-US">
                <a:latin typeface="Lucida Sans Unicode" charset="0"/>
              </a:rPr>
              <a:t>: binding of a variable to a value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Lasts only as long as it takes to satisfy one complete goal</a:t>
            </a:r>
          </a:p>
          <a:p>
            <a:pPr eaLnBrk="1" hangingPunct="1"/>
            <a:r>
              <a:rPr lang="en-US" i="1">
                <a:latin typeface="Lucida Sans Unicode" charset="0"/>
              </a:rPr>
              <a:t>Structure</a:t>
            </a:r>
            <a:r>
              <a:rPr lang="en-US">
                <a:latin typeface="Lucida Sans Unicode" charset="0"/>
              </a:rPr>
              <a:t>: represents atomic proposition</a:t>
            </a:r>
          </a:p>
          <a:p>
            <a:pPr lvl="1" eaLnBrk="1" hangingPunct="1">
              <a:buFontTx/>
              <a:buNone/>
            </a:pP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functor</a:t>
            </a:r>
            <a:r>
              <a:rPr lang="en-US">
                <a:latin typeface="Courier New" charset="0"/>
                <a:ea typeface="Lucida Sans Unicode" charset="0"/>
                <a:cs typeface="Lucida Sans Unicode" charset="0"/>
              </a:rPr>
              <a:t>(</a:t>
            </a:r>
            <a:r>
              <a:rPr lang="en-US" i="1">
                <a:latin typeface="Lucida Sans Unicode" charset="0"/>
                <a:ea typeface="Lucida Sans Unicode" charset="0"/>
                <a:cs typeface="Lucida Sans Unicode" charset="0"/>
              </a:rPr>
              <a:t>parameter list</a:t>
            </a:r>
            <a:r>
              <a:rPr lang="en-US">
                <a:latin typeface="Courier New" charset="0"/>
                <a:ea typeface="Lucida Sans Unicode" charset="0"/>
                <a:cs typeface="Lucida Sans Unicode" charset="0"/>
              </a:rPr>
              <a:t>)</a:t>
            </a:r>
            <a:endParaRPr lang="en-US"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9580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573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44C4B5FA-B0D4-F849-B125-6F02A3CFBAEB}" type="slidenum">
              <a:rPr lang="en-US" sz="1000">
                <a:latin typeface="Arial" charset="0"/>
              </a:rPr>
              <a:pPr/>
              <a:t>27</a:t>
            </a:fld>
            <a:endParaRPr lang="en-US" sz="1000">
              <a:latin typeface="Arial" charset="0"/>
            </a:endParaRPr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Fact Statements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Used for the hypotheses</a:t>
            </a:r>
          </a:p>
          <a:p>
            <a:pPr eaLnBrk="1" hangingPunct="1"/>
            <a:r>
              <a:rPr lang="en-US">
                <a:latin typeface="Lucida Sans Unicode" charset="0"/>
              </a:rPr>
              <a:t>Headless Horn clauses</a:t>
            </a:r>
          </a:p>
          <a:p>
            <a:pPr eaLnBrk="1" hangingPunct="1">
              <a:buFontTx/>
              <a:buNone/>
            </a:pPr>
            <a:r>
              <a:rPr lang="en-US">
                <a:latin typeface="Courier New" charset="0"/>
              </a:rPr>
              <a:t>	</a:t>
            </a:r>
            <a:r>
              <a:rPr lang="en-US" sz="2000">
                <a:latin typeface="Courier New" charset="0"/>
              </a:rPr>
              <a:t>female(shelley).</a:t>
            </a:r>
          </a:p>
          <a:p>
            <a:pPr eaLnBrk="1" hangingPunct="1">
              <a:buFontTx/>
              <a:buNone/>
            </a:pPr>
            <a:r>
              <a:rPr lang="en-US" sz="2000">
                <a:latin typeface="Courier New" charset="0"/>
              </a:rPr>
              <a:t>	male(bill).</a:t>
            </a:r>
          </a:p>
          <a:p>
            <a:pPr eaLnBrk="1" hangingPunct="1">
              <a:buFontTx/>
              <a:buNone/>
            </a:pPr>
            <a:r>
              <a:rPr lang="en-US" sz="2000">
                <a:latin typeface="Courier New" charset="0"/>
              </a:rPr>
              <a:t>	father(bill, jake).</a:t>
            </a:r>
            <a:endParaRPr lang="en-US" sz="2000" b="1">
              <a:latin typeface="Courier New" charset="0"/>
            </a:endParaRPr>
          </a:p>
          <a:p>
            <a:pPr eaLnBrk="1" hangingPunct="1">
              <a:buFontTx/>
              <a:buNone/>
            </a:pPr>
            <a:endParaRPr lang="en-US" sz="2400" b="1"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8667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593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1D06A977-7FFC-FB4D-827F-5CDE87313E26}" type="slidenum">
              <a:rPr lang="en-US" sz="1000">
                <a:latin typeface="Arial" charset="0"/>
              </a:rPr>
              <a:pPr/>
              <a:t>28</a:t>
            </a:fld>
            <a:endParaRPr lang="en-US" sz="1000">
              <a:latin typeface="Arial" charset="0"/>
            </a:endParaRPr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Rule Statements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Used for the hypotheses</a:t>
            </a:r>
          </a:p>
          <a:p>
            <a:pPr eaLnBrk="1" hangingPunct="1"/>
            <a:r>
              <a:rPr lang="en-US">
                <a:latin typeface="Lucida Sans Unicode" charset="0"/>
              </a:rPr>
              <a:t>Headed Horn clause</a:t>
            </a:r>
          </a:p>
          <a:p>
            <a:pPr eaLnBrk="1" hangingPunct="1"/>
            <a:r>
              <a:rPr lang="en-US">
                <a:latin typeface="Lucida Sans Unicode" charset="0"/>
              </a:rPr>
              <a:t>Right side: </a:t>
            </a:r>
            <a:r>
              <a:rPr lang="en-US" i="1">
                <a:latin typeface="Lucida Sans Unicode" charset="0"/>
              </a:rPr>
              <a:t>antecedent</a:t>
            </a:r>
            <a:r>
              <a:rPr lang="en-US">
                <a:latin typeface="Lucida Sans Unicode" charset="0"/>
              </a:rPr>
              <a:t> (</a:t>
            </a:r>
            <a:r>
              <a:rPr lang="en-US" b="1" i="1">
                <a:latin typeface="Lucida Sans Unicode" charset="0"/>
              </a:rPr>
              <a:t>if</a:t>
            </a:r>
            <a:r>
              <a:rPr lang="en-US">
                <a:latin typeface="Lucida Sans Unicode" charset="0"/>
              </a:rPr>
              <a:t> part)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May be single term or conjunction</a:t>
            </a:r>
          </a:p>
          <a:p>
            <a:pPr eaLnBrk="1" hangingPunct="1"/>
            <a:r>
              <a:rPr lang="en-US">
                <a:latin typeface="Lucida Sans Unicode" charset="0"/>
              </a:rPr>
              <a:t>Left side: </a:t>
            </a:r>
            <a:r>
              <a:rPr lang="en-US" i="1">
                <a:latin typeface="Lucida Sans Unicode" charset="0"/>
              </a:rPr>
              <a:t>consequent</a:t>
            </a:r>
            <a:r>
              <a:rPr lang="en-US">
                <a:latin typeface="Lucida Sans Unicode" charset="0"/>
              </a:rPr>
              <a:t> (</a:t>
            </a:r>
            <a:r>
              <a:rPr lang="en-US" b="1" i="1">
                <a:latin typeface="Lucida Sans Unicode" charset="0"/>
              </a:rPr>
              <a:t>then</a:t>
            </a:r>
            <a:r>
              <a:rPr lang="en-US">
                <a:latin typeface="Lucida Sans Unicode" charset="0"/>
              </a:rPr>
              <a:t> part)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Must be single term</a:t>
            </a:r>
          </a:p>
          <a:p>
            <a:pPr eaLnBrk="1" hangingPunct="1"/>
            <a:r>
              <a:rPr lang="en-US" i="1">
                <a:latin typeface="Lucida Sans Unicode" charset="0"/>
              </a:rPr>
              <a:t>Conjunction</a:t>
            </a:r>
            <a:r>
              <a:rPr lang="en-US">
                <a:latin typeface="Lucida Sans Unicode" charset="0"/>
              </a:rPr>
              <a:t>: multiple terms separated by logical AND operations (implied)</a:t>
            </a:r>
          </a:p>
        </p:txBody>
      </p:sp>
    </p:spTree>
    <p:extLst>
      <p:ext uri="{BB962C8B-B14F-4D97-AF65-F5344CB8AC3E}">
        <p14:creationId xmlns:p14="http://schemas.microsoft.com/office/powerpoint/2010/main" val="40020907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6144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62780D1C-F70D-7144-91A8-F2070E8A7C5F}" type="slidenum">
              <a:rPr lang="en-US" sz="1000">
                <a:latin typeface="Arial" charset="0"/>
              </a:rPr>
              <a:pPr/>
              <a:t>29</a:t>
            </a:fld>
            <a:endParaRPr lang="en-US" sz="1000">
              <a:latin typeface="Arial" charset="0"/>
            </a:endParaRPr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Example Rules</a:t>
            </a: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815340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  <a:tabLst>
                <a:tab pos="3195638" algn="l"/>
              </a:tabLst>
            </a:pPr>
            <a:r>
              <a:rPr lang="en-US" sz="2400">
                <a:latin typeface="Courier New" charset="0"/>
              </a:rPr>
              <a:t>	</a:t>
            </a:r>
            <a:r>
              <a:rPr lang="en-US" sz="2000">
                <a:latin typeface="Courier New" charset="0"/>
              </a:rPr>
              <a:t>ancestor(mary,shelley):- mother(mary,shelley).</a:t>
            </a:r>
            <a:endParaRPr lang="en-US" sz="2000" b="1">
              <a:latin typeface="Courier New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tabLst>
                <a:tab pos="3195638" algn="l"/>
              </a:tabLst>
            </a:pPr>
            <a:endParaRPr lang="en-US" sz="3200">
              <a:latin typeface="Lucida Sans Unicode" charset="0"/>
            </a:endParaRPr>
          </a:p>
          <a:p>
            <a:pPr eaLnBrk="1" hangingPunct="1">
              <a:lnSpc>
                <a:spcPct val="90000"/>
              </a:lnSpc>
              <a:tabLst>
                <a:tab pos="3195638" algn="l"/>
              </a:tabLst>
            </a:pPr>
            <a:r>
              <a:rPr lang="en-US">
                <a:latin typeface="Lucida Sans Unicode" charset="0"/>
              </a:rPr>
              <a:t>Can use variables (</a:t>
            </a:r>
            <a:r>
              <a:rPr lang="en-US" i="1">
                <a:latin typeface="Lucida Sans Unicode" charset="0"/>
              </a:rPr>
              <a:t>universal</a:t>
            </a:r>
            <a:r>
              <a:rPr lang="en-US">
                <a:latin typeface="Lucida Sans Unicode" charset="0"/>
              </a:rPr>
              <a:t> </a:t>
            </a:r>
            <a:r>
              <a:rPr lang="en-US" i="1">
                <a:latin typeface="Lucida Sans Unicode" charset="0"/>
              </a:rPr>
              <a:t>objects</a:t>
            </a:r>
            <a:r>
              <a:rPr lang="en-US">
                <a:latin typeface="Lucida Sans Unicode" charset="0"/>
              </a:rPr>
              <a:t>) to generalize meaning:</a:t>
            </a:r>
          </a:p>
          <a:p>
            <a:pPr eaLnBrk="1" hangingPunct="1">
              <a:lnSpc>
                <a:spcPct val="90000"/>
              </a:lnSpc>
              <a:buFontTx/>
              <a:buNone/>
              <a:tabLst>
                <a:tab pos="3195638" algn="l"/>
              </a:tabLst>
            </a:pPr>
            <a:r>
              <a:rPr lang="en-US" sz="2400">
                <a:latin typeface="Courier New" charset="0"/>
              </a:rPr>
              <a:t>	</a:t>
            </a:r>
            <a:r>
              <a:rPr lang="en-US" sz="2000">
                <a:latin typeface="Courier New" charset="0"/>
              </a:rPr>
              <a:t>parent(X,Y):- mother(X,Y).</a:t>
            </a:r>
          </a:p>
          <a:p>
            <a:pPr eaLnBrk="1" hangingPunct="1">
              <a:lnSpc>
                <a:spcPct val="90000"/>
              </a:lnSpc>
              <a:buFontTx/>
              <a:buNone/>
              <a:tabLst>
                <a:tab pos="3195638" algn="l"/>
              </a:tabLst>
            </a:pPr>
            <a:r>
              <a:rPr lang="en-US" sz="2000">
                <a:latin typeface="Courier New" charset="0"/>
              </a:rPr>
              <a:t>	parent(X,Y):- father(X,Y).</a:t>
            </a:r>
          </a:p>
          <a:p>
            <a:pPr eaLnBrk="1" hangingPunct="1">
              <a:lnSpc>
                <a:spcPct val="90000"/>
              </a:lnSpc>
              <a:buFontTx/>
              <a:buNone/>
              <a:tabLst>
                <a:tab pos="3195638" algn="l"/>
              </a:tabLst>
            </a:pPr>
            <a:r>
              <a:rPr lang="en-US" sz="2000">
                <a:latin typeface="Courier New" charset="0"/>
              </a:rPr>
              <a:t>	grandparent(X,Z):- parent(X,Y), parent(Y,Z).</a:t>
            </a:r>
          </a:p>
          <a:p>
            <a:pPr eaLnBrk="1" hangingPunct="1">
              <a:lnSpc>
                <a:spcPct val="90000"/>
              </a:lnSpc>
              <a:buFontTx/>
              <a:buNone/>
              <a:tabLst>
                <a:tab pos="3195638" algn="l"/>
              </a:tabLst>
            </a:pPr>
            <a:r>
              <a:rPr lang="en-US" sz="2000">
                <a:latin typeface="Courier New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9279335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>
                <a:latin typeface="Lucida Sans Unicode" charset="0"/>
              </a:rPr>
              <a:t>Example John &amp; Mary</a:t>
            </a:r>
          </a:p>
        </p:txBody>
      </p:sp>
      <p:sp>
        <p:nvSpPr>
          <p:cNvPr id="95234" name="Tijdelijke aanduiding voor inhoud 2"/>
          <p:cNvSpPr>
            <a:spLocks noGrp="1"/>
          </p:cNvSpPr>
          <p:nvPr>
            <p:ph idx="1"/>
          </p:nvPr>
        </p:nvSpPr>
        <p:spPr>
          <a:xfrm>
            <a:off x="609600" y="1600200"/>
            <a:ext cx="3810000" cy="45720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nl-NL" sz="2000" b="1">
                <a:latin typeface="Lucida Sans Unicode" charset="0"/>
              </a:rPr>
              <a:t>Clauses</a:t>
            </a:r>
          </a:p>
          <a:p>
            <a:pPr marL="0" indent="0">
              <a:buFontTx/>
              <a:buNone/>
            </a:pPr>
            <a:r>
              <a:rPr lang="nl-NL" sz="1800">
                <a:latin typeface="Lucida Sans Unicode" charset="0"/>
              </a:rPr>
              <a:t>likes(mary,food).</a:t>
            </a:r>
          </a:p>
          <a:p>
            <a:pPr marL="0" indent="0">
              <a:buFontTx/>
              <a:buNone/>
            </a:pPr>
            <a:r>
              <a:rPr lang="nl-NL" sz="1800">
                <a:latin typeface="Lucida Sans Unicode" charset="0"/>
              </a:rPr>
              <a:t>likes(mary,wine).</a:t>
            </a:r>
          </a:p>
          <a:p>
            <a:pPr marL="0" indent="0">
              <a:buFontTx/>
              <a:buNone/>
            </a:pPr>
            <a:r>
              <a:rPr lang="nl-NL" sz="1800">
                <a:latin typeface="Lucida Sans Unicode" charset="0"/>
              </a:rPr>
              <a:t>likes(john,wine).</a:t>
            </a:r>
          </a:p>
          <a:p>
            <a:pPr marL="0" indent="0">
              <a:buFontTx/>
              <a:buNone/>
            </a:pPr>
            <a:r>
              <a:rPr lang="nl-NL" sz="1800">
                <a:latin typeface="Lucida Sans Unicode" charset="0"/>
              </a:rPr>
              <a:t>likes(john,mary).</a:t>
            </a:r>
          </a:p>
          <a:p>
            <a:pPr marL="0" indent="0">
              <a:buFontTx/>
              <a:buNone/>
            </a:pPr>
            <a:endParaRPr lang="nl-NL" sz="1800">
              <a:latin typeface="Lucida Sans Unicode" charset="0"/>
            </a:endParaRPr>
          </a:p>
          <a:p>
            <a:pPr marL="0" indent="0">
              <a:buFontTx/>
              <a:buNone/>
            </a:pPr>
            <a:r>
              <a:rPr lang="nl-NL" sz="2000" b="1">
                <a:latin typeface="Lucida Sans Unicode" charset="0"/>
              </a:rPr>
              <a:t>Queries with answers</a:t>
            </a:r>
          </a:p>
          <a:p>
            <a:pPr marL="0" indent="0">
              <a:buFontTx/>
              <a:buNone/>
            </a:pPr>
            <a:r>
              <a:rPr lang="nl-NL" sz="1800">
                <a:latin typeface="Lucida Sans Unicode" charset="0"/>
              </a:rPr>
              <a:t> | ?- likes(mary,food). </a:t>
            </a:r>
          </a:p>
          <a:p>
            <a:pPr marL="0" indent="0">
              <a:buFontTx/>
              <a:buNone/>
            </a:pPr>
            <a:r>
              <a:rPr lang="nl-NL" sz="1800">
                <a:latin typeface="Lucida Sans Unicode" charset="0"/>
              </a:rPr>
              <a:t> yes.</a:t>
            </a:r>
          </a:p>
          <a:p>
            <a:pPr marL="0" indent="0">
              <a:buFontTx/>
              <a:buNone/>
            </a:pPr>
            <a:r>
              <a:rPr lang="nl-NL" sz="1800">
                <a:latin typeface="Lucida Sans Unicode" charset="0"/>
              </a:rPr>
              <a:t> | ?- likes(john,wine). </a:t>
            </a:r>
          </a:p>
          <a:p>
            <a:pPr marL="0" indent="0">
              <a:buFontTx/>
              <a:buNone/>
            </a:pPr>
            <a:r>
              <a:rPr lang="nl-NL" sz="1800">
                <a:latin typeface="Lucida Sans Unicode" charset="0"/>
              </a:rPr>
              <a:t> yes.</a:t>
            </a:r>
          </a:p>
          <a:p>
            <a:pPr marL="0" indent="0">
              <a:buFontTx/>
              <a:buNone/>
            </a:pPr>
            <a:r>
              <a:rPr lang="nl-NL" sz="1800">
                <a:latin typeface="Lucida Sans Unicode" charset="0"/>
              </a:rPr>
              <a:t> | ?- likes(john,food). </a:t>
            </a:r>
          </a:p>
          <a:p>
            <a:pPr marL="0" indent="0">
              <a:buFontTx/>
              <a:buNone/>
            </a:pPr>
            <a:r>
              <a:rPr lang="nl-NL" sz="1800">
                <a:latin typeface="Lucida Sans Unicode" charset="0"/>
              </a:rPr>
              <a:t> no.</a:t>
            </a:r>
          </a:p>
        </p:txBody>
      </p:sp>
      <p:sp>
        <p:nvSpPr>
          <p:cNvPr id="95235" name="Tijdelijke aanduiding voor voettekst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95236" name="Tijdelijke aanduiding voor dianumm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D34F154A-B95E-AC42-8681-0B5868B51B04}" type="slidenum">
              <a:rPr lang="en-US" sz="1000">
                <a:latin typeface="Arial" charset="0"/>
              </a:rPr>
              <a:pPr/>
              <a:t>30</a:t>
            </a:fld>
            <a:endParaRPr lang="en-US" sz="1000">
              <a:latin typeface="Arial" charset="0"/>
            </a:endParaRPr>
          </a:p>
        </p:txBody>
      </p:sp>
      <p:sp>
        <p:nvSpPr>
          <p:cNvPr id="95237" name="Tijdelijke aanduiding voor inhoud 2"/>
          <p:cNvSpPr txBox="1">
            <a:spLocks/>
          </p:cNvSpPr>
          <p:nvPr/>
        </p:nvSpPr>
        <p:spPr bwMode="auto">
          <a:xfrm>
            <a:off x="4495800" y="1600200"/>
            <a:ext cx="38100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nl-NL" sz="2000">
                <a:solidFill>
                  <a:schemeClr val="accent2"/>
                </a:solidFill>
                <a:latin typeface="Lucida Sans Unicode" charset="0"/>
              </a:rPr>
              <a:t>Facts</a:t>
            </a:r>
            <a:endParaRPr lang="nl-NL" sz="1800">
              <a:solidFill>
                <a:schemeClr val="accent2"/>
              </a:solidFill>
              <a:latin typeface="Lucida Sans Unicode" charset="0"/>
            </a:endParaRPr>
          </a:p>
          <a:p>
            <a:pPr>
              <a:spcBef>
                <a:spcPct val="20000"/>
              </a:spcBef>
            </a:pPr>
            <a:r>
              <a:rPr lang="nl-NL" sz="1800">
                <a:solidFill>
                  <a:schemeClr val="accent2"/>
                </a:solidFill>
                <a:latin typeface="Lucida Sans Unicode" charset="0"/>
              </a:rPr>
              <a:t>1. John likes anything that Mary likes </a:t>
            </a:r>
          </a:p>
          <a:p>
            <a:pPr>
              <a:spcBef>
                <a:spcPct val="20000"/>
              </a:spcBef>
            </a:pPr>
            <a:r>
              <a:rPr lang="nl-NL" sz="1800">
                <a:solidFill>
                  <a:schemeClr val="accent2"/>
                </a:solidFill>
                <a:latin typeface="Lucida Sans Unicode" charset="0"/>
              </a:rPr>
              <a:t>2. John likes anyone who likes wine </a:t>
            </a:r>
          </a:p>
          <a:p>
            <a:pPr>
              <a:spcBef>
                <a:spcPct val="20000"/>
              </a:spcBef>
            </a:pPr>
            <a:r>
              <a:rPr lang="nl-NL" sz="1800">
                <a:solidFill>
                  <a:schemeClr val="accent2"/>
                </a:solidFill>
                <a:latin typeface="Lucida Sans Unicode" charset="0"/>
              </a:rPr>
              <a:t>3. John likes anyone who likes themselves </a:t>
            </a:r>
          </a:p>
          <a:p>
            <a:pPr>
              <a:spcBef>
                <a:spcPct val="20000"/>
              </a:spcBef>
            </a:pPr>
            <a:endParaRPr lang="nl-NL" sz="1800">
              <a:solidFill>
                <a:schemeClr val="accent2"/>
              </a:solidFill>
              <a:latin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1139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>
                <a:latin typeface="Lucida Sans Unicode" charset="0"/>
              </a:rPr>
              <a:t>Example Family Tree</a:t>
            </a:r>
          </a:p>
        </p:txBody>
      </p:sp>
      <p:sp>
        <p:nvSpPr>
          <p:cNvPr id="96258" name="Tijdelijke aanduiding voor inhoud 2"/>
          <p:cNvSpPr>
            <a:spLocks noGrp="1"/>
          </p:cNvSpPr>
          <p:nvPr>
            <p:ph idx="1"/>
          </p:nvPr>
        </p:nvSpPr>
        <p:spPr>
          <a:xfrm>
            <a:off x="609600" y="1600200"/>
            <a:ext cx="8153400" cy="4953000"/>
          </a:xfrm>
        </p:spPr>
        <p:txBody>
          <a:bodyPr>
            <a:normAutofit lnSpcReduction="10000"/>
          </a:bodyPr>
          <a:lstStyle/>
          <a:p>
            <a:pPr marL="0" indent="0">
              <a:buFontTx/>
              <a:buNone/>
            </a:pPr>
            <a:r>
              <a:rPr lang="en-US" sz="1800">
                <a:latin typeface="Lucida Sans Unicode" charset="0"/>
              </a:rPr>
              <a:t>                         </a:t>
            </a:r>
            <a:r>
              <a:rPr lang="en-US" sz="1800">
                <a:latin typeface="Courier New" charset="0"/>
                <a:cs typeface="Courier New" charset="0"/>
              </a:rPr>
              <a:t>    		   James I</a:t>
            </a:r>
          </a:p>
          <a:p>
            <a:pPr marL="0" indent="0">
              <a:buFontTx/>
              <a:buNone/>
            </a:pPr>
            <a:r>
              <a:rPr lang="en-US" sz="1800">
                <a:latin typeface="Courier New" charset="0"/>
                <a:cs typeface="Courier New" charset="0"/>
              </a:rPr>
              <a:t>                                 |</a:t>
            </a:r>
          </a:p>
          <a:p>
            <a:pPr marL="0" indent="0">
              <a:buFontTx/>
              <a:buNone/>
            </a:pPr>
            <a:r>
              <a:rPr lang="en-US" sz="1800">
                <a:latin typeface="Courier New" charset="0"/>
                <a:cs typeface="Courier New" charset="0"/>
              </a:rPr>
              <a:t>                                 |</a:t>
            </a:r>
          </a:p>
          <a:p>
            <a:pPr marL="0" indent="0">
              <a:buFontTx/>
              <a:buNone/>
            </a:pPr>
            <a:r>
              <a:rPr lang="en-US" sz="1800">
                <a:latin typeface="Courier New" charset="0"/>
                <a:cs typeface="Courier New" charset="0"/>
              </a:rPr>
              <a:t>                +----------------+-----------------+</a:t>
            </a:r>
          </a:p>
          <a:p>
            <a:pPr marL="0" indent="0">
              <a:buFontTx/>
              <a:buNone/>
            </a:pPr>
            <a:r>
              <a:rPr lang="en-US" sz="1800">
                <a:latin typeface="Courier New" charset="0"/>
                <a:cs typeface="Courier New" charset="0"/>
              </a:rPr>
              <a:t>                |                                  |</a:t>
            </a:r>
          </a:p>
          <a:p>
            <a:pPr marL="0" indent="0">
              <a:buFontTx/>
              <a:buNone/>
            </a:pPr>
            <a:r>
              <a:rPr lang="en-US" sz="1800">
                <a:latin typeface="Courier New" charset="0"/>
                <a:cs typeface="Courier New" charset="0"/>
              </a:rPr>
              <a:t>             Charles I                          Elizabeth</a:t>
            </a:r>
          </a:p>
          <a:p>
            <a:pPr marL="0" indent="0">
              <a:buFontTx/>
              <a:buNone/>
            </a:pPr>
            <a:r>
              <a:rPr lang="en-US" sz="1800">
                <a:latin typeface="Courier New" charset="0"/>
                <a:cs typeface="Courier New" charset="0"/>
              </a:rPr>
              <a:t>                |                                  |</a:t>
            </a:r>
          </a:p>
          <a:p>
            <a:pPr marL="0" indent="0">
              <a:buFontTx/>
              <a:buNone/>
            </a:pPr>
            <a:r>
              <a:rPr lang="en-US" sz="1800">
                <a:latin typeface="Courier New" charset="0"/>
                <a:cs typeface="Courier New" charset="0"/>
              </a:rPr>
              <a:t>                |                                  |</a:t>
            </a:r>
          </a:p>
          <a:p>
            <a:pPr marL="0" indent="0">
              <a:buFontTx/>
              <a:buNone/>
            </a:pPr>
            <a:r>
              <a:rPr lang="en-US" sz="1800">
                <a:latin typeface="Courier New" charset="0"/>
                <a:cs typeface="Courier New" charset="0"/>
              </a:rPr>
              <a:t>     +----------+------------+                     |</a:t>
            </a:r>
          </a:p>
          <a:p>
            <a:pPr marL="0" indent="0">
              <a:buFontTx/>
              <a:buNone/>
            </a:pPr>
            <a:r>
              <a:rPr lang="en-US" sz="1800">
                <a:latin typeface="Courier New" charset="0"/>
                <a:cs typeface="Courier New" charset="0"/>
              </a:rPr>
              <a:t>     |          |            |                     |</a:t>
            </a:r>
          </a:p>
          <a:p>
            <a:pPr marL="0" indent="0">
              <a:buFontTx/>
              <a:buNone/>
            </a:pPr>
            <a:r>
              <a:rPr lang="en-US" sz="1800">
                <a:latin typeface="Courier New" charset="0"/>
                <a:cs typeface="Courier New" charset="0"/>
              </a:rPr>
              <a:t> Catherine   Charles II   James II               Sophia</a:t>
            </a:r>
          </a:p>
          <a:p>
            <a:pPr marL="0" indent="0">
              <a:buFontTx/>
              <a:buNone/>
            </a:pPr>
            <a:r>
              <a:rPr lang="en-US" sz="1800">
                <a:latin typeface="Courier New" charset="0"/>
                <a:cs typeface="Courier New" charset="0"/>
              </a:rPr>
              <a:t>                                                   |</a:t>
            </a:r>
          </a:p>
          <a:p>
            <a:pPr marL="0" indent="0">
              <a:buFontTx/>
              <a:buNone/>
            </a:pPr>
            <a:r>
              <a:rPr lang="en-US" sz="1800">
                <a:latin typeface="Courier New" charset="0"/>
                <a:cs typeface="Courier New" charset="0"/>
              </a:rPr>
              <a:t>                                                   |</a:t>
            </a:r>
          </a:p>
          <a:p>
            <a:pPr marL="0" indent="0">
              <a:buFontTx/>
              <a:buNone/>
            </a:pPr>
            <a:r>
              <a:rPr lang="en-US" sz="1800">
                <a:latin typeface="Courier New" charset="0"/>
                <a:cs typeface="Courier New" charset="0"/>
              </a:rPr>
              <a:t>                                                   |</a:t>
            </a:r>
          </a:p>
          <a:p>
            <a:pPr marL="0" indent="0">
              <a:buFontTx/>
              <a:buNone/>
            </a:pPr>
            <a:r>
              <a:rPr lang="en-US" sz="1800">
                <a:latin typeface="Courier New" charset="0"/>
                <a:cs typeface="Courier New" charset="0"/>
              </a:rPr>
              <a:t>                                                George I</a:t>
            </a:r>
            <a:endParaRPr lang="nl-NL" sz="1800">
              <a:latin typeface="Courier New" charset="0"/>
              <a:cs typeface="Courier New" charset="0"/>
            </a:endParaRPr>
          </a:p>
        </p:txBody>
      </p:sp>
      <p:sp>
        <p:nvSpPr>
          <p:cNvPr id="96259" name="Tijdelijke aanduiding voor voettekst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96260" name="Tijdelijke aanduiding voor dianumm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22BC4C4A-29A1-564C-B2DB-7709DCB0B3C6}" type="slidenum">
              <a:rPr lang="en-US" sz="1000">
                <a:latin typeface="Arial" charset="0"/>
              </a:rPr>
              <a:pPr/>
              <a:t>31</a:t>
            </a:fld>
            <a:endParaRPr lang="en-US" sz="10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8256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>
                <a:latin typeface="Lucida Sans Unicode" charset="0"/>
              </a:rPr>
              <a:t>Example Family Tree (2)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09600" y="1600200"/>
            <a:ext cx="3429000" cy="3657600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sz="2000" b="1" dirty="0">
                <a:latin typeface="+mj-lt"/>
                <a:cs typeface="Courier New"/>
              </a:rPr>
              <a:t>The clauses:</a:t>
            </a:r>
          </a:p>
          <a:p>
            <a:pPr marL="0" indent="0">
              <a:buFontTx/>
              <a:buNone/>
              <a:defRPr/>
            </a:pPr>
            <a:r>
              <a:rPr lang="en-US" sz="1800" dirty="0">
                <a:latin typeface="+mj-lt"/>
                <a:cs typeface="Courier New"/>
              </a:rPr>
              <a:t>  male(james1).</a:t>
            </a:r>
          </a:p>
          <a:p>
            <a:pPr marL="0" indent="0">
              <a:buFontTx/>
              <a:buNone/>
              <a:defRPr/>
            </a:pPr>
            <a:r>
              <a:rPr lang="en-US" sz="1800" dirty="0">
                <a:latin typeface="+mj-lt"/>
                <a:cs typeface="Courier New"/>
              </a:rPr>
              <a:t>  male(charles1).</a:t>
            </a:r>
          </a:p>
          <a:p>
            <a:pPr marL="0" indent="0">
              <a:buFontTx/>
              <a:buNone/>
              <a:defRPr/>
            </a:pPr>
            <a:r>
              <a:rPr lang="en-US" sz="1800" dirty="0">
                <a:latin typeface="+mj-lt"/>
                <a:cs typeface="Courier New"/>
              </a:rPr>
              <a:t>  male(charles2).</a:t>
            </a:r>
          </a:p>
          <a:p>
            <a:pPr marL="0" indent="0">
              <a:buFontTx/>
              <a:buNone/>
              <a:defRPr/>
            </a:pPr>
            <a:r>
              <a:rPr lang="en-US" sz="1800" dirty="0">
                <a:latin typeface="+mj-lt"/>
                <a:cs typeface="Courier New"/>
              </a:rPr>
              <a:t>  male(james2).</a:t>
            </a:r>
          </a:p>
          <a:p>
            <a:pPr marL="0" indent="0">
              <a:buFontTx/>
              <a:buNone/>
              <a:defRPr/>
            </a:pPr>
            <a:r>
              <a:rPr lang="en-US" sz="1800" dirty="0">
                <a:latin typeface="+mj-lt"/>
                <a:cs typeface="Courier New"/>
              </a:rPr>
              <a:t>  male(george1).</a:t>
            </a:r>
          </a:p>
          <a:p>
            <a:pPr marL="0" indent="0">
              <a:buFontTx/>
              <a:buNone/>
              <a:defRPr/>
            </a:pPr>
            <a:endParaRPr lang="en-US" sz="1800" dirty="0">
              <a:latin typeface="+mj-lt"/>
              <a:cs typeface="Courier New"/>
            </a:endParaRPr>
          </a:p>
          <a:p>
            <a:pPr marL="0" indent="0">
              <a:buFontTx/>
              <a:buNone/>
              <a:defRPr/>
            </a:pPr>
            <a:r>
              <a:rPr lang="en-US" sz="1800" dirty="0">
                <a:latin typeface="+mj-lt"/>
                <a:cs typeface="Courier New"/>
              </a:rPr>
              <a:t>  female(</a:t>
            </a:r>
            <a:r>
              <a:rPr lang="en-US" sz="1800" dirty="0" err="1">
                <a:latin typeface="+mj-lt"/>
                <a:cs typeface="Courier New"/>
              </a:rPr>
              <a:t>catherine</a:t>
            </a:r>
            <a:r>
              <a:rPr lang="en-US" sz="1800" dirty="0">
                <a:latin typeface="+mj-lt"/>
                <a:cs typeface="Courier New"/>
              </a:rPr>
              <a:t>).</a:t>
            </a:r>
          </a:p>
          <a:p>
            <a:pPr marL="0" indent="0">
              <a:buFontTx/>
              <a:buNone/>
              <a:defRPr/>
            </a:pPr>
            <a:r>
              <a:rPr lang="en-US" sz="1800" dirty="0">
                <a:latin typeface="+mj-lt"/>
                <a:cs typeface="Courier New"/>
              </a:rPr>
              <a:t>  female(</a:t>
            </a:r>
            <a:r>
              <a:rPr lang="en-US" sz="1800" dirty="0" err="1">
                <a:latin typeface="+mj-lt"/>
                <a:cs typeface="Courier New"/>
              </a:rPr>
              <a:t>elizabeth</a:t>
            </a:r>
            <a:r>
              <a:rPr lang="en-US" sz="1800" dirty="0">
                <a:latin typeface="+mj-lt"/>
                <a:cs typeface="Courier New"/>
              </a:rPr>
              <a:t>).</a:t>
            </a:r>
          </a:p>
          <a:p>
            <a:pPr marL="0" indent="0">
              <a:buFontTx/>
              <a:buNone/>
              <a:defRPr/>
            </a:pPr>
            <a:r>
              <a:rPr lang="en-US" sz="1800" dirty="0">
                <a:latin typeface="+mj-lt"/>
                <a:cs typeface="Courier New"/>
              </a:rPr>
              <a:t>  female(</a:t>
            </a:r>
            <a:r>
              <a:rPr lang="en-US" sz="1800" dirty="0" err="1">
                <a:latin typeface="+mj-lt"/>
                <a:cs typeface="Courier New"/>
              </a:rPr>
              <a:t>sophia</a:t>
            </a:r>
            <a:r>
              <a:rPr lang="en-US" sz="1800" dirty="0">
                <a:latin typeface="+mj-lt"/>
                <a:cs typeface="Courier New"/>
              </a:rPr>
              <a:t>).</a:t>
            </a:r>
            <a:r>
              <a:rPr lang="en-US" sz="1800" dirty="0">
                <a:latin typeface="Courier New"/>
                <a:cs typeface="Courier New"/>
              </a:rPr>
              <a:t>		   </a:t>
            </a:r>
            <a:endParaRPr lang="nl-NL" sz="1800" dirty="0">
              <a:latin typeface="Courier New"/>
              <a:cs typeface="Courier New"/>
            </a:endParaRPr>
          </a:p>
        </p:txBody>
      </p:sp>
      <p:sp>
        <p:nvSpPr>
          <p:cNvPr id="97283" name="Tijdelijke aanduiding voor voettekst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97284" name="Tijdelijke aanduiding voor dianumm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6A4DF768-C33A-4F4B-9D4A-880C1622F26B}" type="slidenum">
              <a:rPr lang="en-US" sz="1000">
                <a:latin typeface="Arial" charset="0"/>
              </a:rPr>
              <a:pPr/>
              <a:t>32</a:t>
            </a:fld>
            <a:endParaRPr lang="en-US" sz="1000">
              <a:latin typeface="Arial" charset="0"/>
            </a:endParaRPr>
          </a:p>
        </p:txBody>
      </p:sp>
      <p:sp>
        <p:nvSpPr>
          <p:cNvPr id="6" name="Tijdelijke aanduiding voor inhoud 2"/>
          <p:cNvSpPr txBox="1">
            <a:spLocks/>
          </p:cNvSpPr>
          <p:nvPr/>
        </p:nvSpPr>
        <p:spPr bwMode="auto">
          <a:xfrm>
            <a:off x="4953000" y="16002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accent2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1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  <a:defRPr/>
            </a:pPr>
            <a:r>
              <a:rPr lang="en-US" sz="2000" b="1" dirty="0">
                <a:latin typeface="+mj-lt"/>
                <a:cs typeface="Courier New"/>
              </a:rPr>
              <a:t>More clauses:</a:t>
            </a:r>
            <a:endParaRPr lang="en-US" sz="1800" dirty="0">
              <a:latin typeface="+mj-lt"/>
              <a:cs typeface="Courier New"/>
            </a:endParaRPr>
          </a:p>
          <a:p>
            <a:pPr marL="0" indent="0">
              <a:buFontTx/>
              <a:buNone/>
              <a:defRPr/>
            </a:pPr>
            <a:r>
              <a:rPr lang="en-US" sz="1800" dirty="0">
                <a:latin typeface="+mj-lt"/>
                <a:cs typeface="Courier New"/>
              </a:rPr>
              <a:t>  parent(charles1, james1).</a:t>
            </a:r>
          </a:p>
          <a:p>
            <a:pPr marL="0" indent="0">
              <a:buFontTx/>
              <a:buNone/>
              <a:defRPr/>
            </a:pPr>
            <a:r>
              <a:rPr lang="en-US" sz="1800" dirty="0">
                <a:latin typeface="+mj-lt"/>
                <a:cs typeface="Courier New"/>
              </a:rPr>
              <a:t>  parent(</a:t>
            </a:r>
            <a:r>
              <a:rPr lang="en-US" sz="1800" dirty="0" err="1">
                <a:latin typeface="+mj-lt"/>
                <a:cs typeface="Courier New"/>
              </a:rPr>
              <a:t>elizabeth</a:t>
            </a:r>
            <a:r>
              <a:rPr lang="en-US" sz="1800" dirty="0">
                <a:latin typeface="+mj-lt"/>
                <a:cs typeface="Courier New"/>
              </a:rPr>
              <a:t>, james1).</a:t>
            </a:r>
          </a:p>
          <a:p>
            <a:pPr marL="0" indent="0">
              <a:buFontTx/>
              <a:buNone/>
              <a:defRPr/>
            </a:pPr>
            <a:r>
              <a:rPr lang="en-US" sz="1800" dirty="0">
                <a:latin typeface="+mj-lt"/>
                <a:cs typeface="Courier New"/>
              </a:rPr>
              <a:t>  parent(charles2, charles1).</a:t>
            </a:r>
          </a:p>
          <a:p>
            <a:pPr marL="0" indent="0">
              <a:buFontTx/>
              <a:buNone/>
              <a:defRPr/>
            </a:pPr>
            <a:r>
              <a:rPr lang="en-US" sz="1800" dirty="0">
                <a:latin typeface="+mj-lt"/>
                <a:cs typeface="Courier New"/>
              </a:rPr>
              <a:t>  parent(</a:t>
            </a:r>
            <a:r>
              <a:rPr lang="en-US" sz="1800" dirty="0" err="1">
                <a:latin typeface="+mj-lt"/>
                <a:cs typeface="Courier New"/>
              </a:rPr>
              <a:t>catherine</a:t>
            </a:r>
            <a:r>
              <a:rPr lang="en-US" sz="1800" dirty="0">
                <a:latin typeface="+mj-lt"/>
                <a:cs typeface="Courier New"/>
              </a:rPr>
              <a:t>, charles1).</a:t>
            </a:r>
          </a:p>
          <a:p>
            <a:pPr marL="0" indent="0">
              <a:buFontTx/>
              <a:buNone/>
              <a:defRPr/>
            </a:pPr>
            <a:r>
              <a:rPr lang="en-US" sz="1800" dirty="0">
                <a:latin typeface="+mj-lt"/>
                <a:cs typeface="Courier New"/>
              </a:rPr>
              <a:t>  parent(james2, charles1).</a:t>
            </a:r>
          </a:p>
          <a:p>
            <a:pPr marL="0" indent="0">
              <a:buFontTx/>
              <a:buNone/>
              <a:defRPr/>
            </a:pPr>
            <a:r>
              <a:rPr lang="en-US" sz="1800" dirty="0">
                <a:latin typeface="+mj-lt"/>
                <a:cs typeface="Courier New"/>
              </a:rPr>
              <a:t>  parent(</a:t>
            </a:r>
            <a:r>
              <a:rPr lang="en-US" sz="1800" dirty="0" err="1">
                <a:latin typeface="+mj-lt"/>
                <a:cs typeface="Courier New"/>
              </a:rPr>
              <a:t>sophia</a:t>
            </a:r>
            <a:r>
              <a:rPr lang="en-US" sz="1800" dirty="0">
                <a:latin typeface="+mj-lt"/>
                <a:cs typeface="Courier New"/>
              </a:rPr>
              <a:t>, </a:t>
            </a:r>
            <a:r>
              <a:rPr lang="en-US" sz="1800" dirty="0" err="1">
                <a:latin typeface="+mj-lt"/>
                <a:cs typeface="Courier New"/>
              </a:rPr>
              <a:t>elizabeth</a:t>
            </a:r>
            <a:r>
              <a:rPr lang="en-US" sz="1800" dirty="0">
                <a:latin typeface="+mj-lt"/>
                <a:cs typeface="Courier New"/>
              </a:rPr>
              <a:t>).</a:t>
            </a:r>
          </a:p>
          <a:p>
            <a:pPr marL="0" indent="0">
              <a:buFontTx/>
              <a:buNone/>
              <a:defRPr/>
            </a:pPr>
            <a:r>
              <a:rPr lang="en-US" sz="1800" dirty="0">
                <a:latin typeface="+mj-lt"/>
                <a:cs typeface="Courier New"/>
              </a:rPr>
              <a:t>  parent(george1, </a:t>
            </a:r>
            <a:r>
              <a:rPr lang="en-US" sz="1800" dirty="0" err="1">
                <a:latin typeface="+mj-lt"/>
                <a:cs typeface="Courier New"/>
              </a:rPr>
              <a:t>sophia</a:t>
            </a:r>
            <a:r>
              <a:rPr lang="en-US" sz="1800" dirty="0">
                <a:latin typeface="+mj-lt"/>
                <a:cs typeface="Courier New"/>
              </a:rPr>
              <a:t>). </a:t>
            </a:r>
            <a:r>
              <a:rPr lang="en-US" sz="1800" dirty="0">
                <a:latin typeface="Courier New"/>
                <a:cs typeface="Courier New"/>
              </a:rPr>
              <a:t>		   </a:t>
            </a:r>
            <a:endParaRPr lang="nl-NL" sz="18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8079891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>
                <a:latin typeface="Lucida Sans Unicode" charset="0"/>
              </a:rPr>
              <a:t>Example Family Tree (3)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09600" y="1600200"/>
            <a:ext cx="7772400" cy="4495800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sz="2000" b="1" dirty="0">
                <a:latin typeface="+mj-lt"/>
                <a:cs typeface="Courier New"/>
              </a:rPr>
              <a:t>Here is how you would formulate the following queries:</a:t>
            </a:r>
          </a:p>
          <a:p>
            <a:pPr marL="0" indent="0">
              <a:buFontTx/>
              <a:buNone/>
              <a:defRPr/>
            </a:pPr>
            <a:endParaRPr lang="en-US" sz="2000" b="1" dirty="0">
              <a:latin typeface="+mj-lt"/>
              <a:cs typeface="Courier New"/>
            </a:endParaRPr>
          </a:p>
          <a:p>
            <a:pPr marL="0" indent="0">
              <a:buFontTx/>
              <a:buNone/>
              <a:defRPr/>
            </a:pPr>
            <a:r>
              <a:rPr lang="en-US" sz="1800" b="1" dirty="0">
                <a:latin typeface="+mj-lt"/>
                <a:cs typeface="Courier New"/>
              </a:rPr>
              <a:t>Was George I the parent of Charles I? </a:t>
            </a:r>
          </a:p>
          <a:p>
            <a:pPr marL="0" indent="0">
              <a:buFontTx/>
              <a:buNone/>
              <a:defRPr/>
            </a:pPr>
            <a:r>
              <a:rPr lang="en-US" sz="1800" b="1" dirty="0">
                <a:latin typeface="+mj-lt"/>
                <a:cs typeface="Courier New"/>
              </a:rPr>
              <a:t>	 Query: parent(charles1, george1). </a:t>
            </a:r>
          </a:p>
          <a:p>
            <a:pPr marL="0" indent="0">
              <a:buFontTx/>
              <a:buNone/>
              <a:defRPr/>
            </a:pPr>
            <a:r>
              <a:rPr lang="en-US" sz="1800" b="1" dirty="0">
                <a:latin typeface="+mj-lt"/>
                <a:cs typeface="Courier New"/>
              </a:rPr>
              <a:t>Who was Charles I's parent?</a:t>
            </a:r>
          </a:p>
          <a:p>
            <a:pPr marL="0" indent="0">
              <a:buFontTx/>
              <a:buNone/>
              <a:defRPr/>
            </a:pPr>
            <a:r>
              <a:rPr lang="en-US" sz="1800" b="1" dirty="0">
                <a:latin typeface="+mj-lt"/>
                <a:cs typeface="Courier New"/>
              </a:rPr>
              <a:t>	 Query: parent(charles1,X). </a:t>
            </a:r>
          </a:p>
          <a:p>
            <a:pPr marL="0" indent="0">
              <a:buFontTx/>
              <a:buNone/>
              <a:defRPr/>
            </a:pPr>
            <a:r>
              <a:rPr lang="en-US" sz="1800" b="1" dirty="0">
                <a:latin typeface="+mj-lt"/>
                <a:cs typeface="Courier New"/>
              </a:rPr>
              <a:t>Who were the children of Charles I?</a:t>
            </a:r>
          </a:p>
          <a:p>
            <a:pPr marL="0" indent="0">
              <a:buFontTx/>
              <a:buNone/>
              <a:defRPr/>
            </a:pPr>
            <a:r>
              <a:rPr lang="en-US" sz="1800" b="1" dirty="0">
                <a:latin typeface="+mj-lt"/>
                <a:cs typeface="Courier New"/>
              </a:rPr>
              <a:t>              Query: parent(X,charles1). </a:t>
            </a:r>
          </a:p>
          <a:p>
            <a:pPr marL="0" indent="0">
              <a:buFontTx/>
              <a:buNone/>
              <a:defRPr/>
            </a:pPr>
            <a:endParaRPr lang="en-US" sz="1800" b="1" dirty="0">
              <a:latin typeface="+mj-lt"/>
              <a:cs typeface="Courier New"/>
            </a:endParaRPr>
          </a:p>
          <a:p>
            <a:pPr marL="0" indent="0">
              <a:buFontTx/>
              <a:buNone/>
              <a:defRPr/>
            </a:pPr>
            <a:r>
              <a:rPr lang="en-US" sz="1800" b="1" dirty="0">
                <a:latin typeface="+mj-lt"/>
                <a:cs typeface="Courier New"/>
              </a:rPr>
              <a:t>Now try expressing the following rules:</a:t>
            </a:r>
          </a:p>
          <a:p>
            <a:pPr marL="0" indent="0">
              <a:buFontTx/>
              <a:buNone/>
              <a:defRPr/>
            </a:pPr>
            <a:r>
              <a:rPr lang="en-US" sz="1800" b="1" dirty="0">
                <a:latin typeface="+mj-lt"/>
                <a:cs typeface="Courier New"/>
              </a:rPr>
              <a:t>     M is the mother of X if she is a parent of X and is female </a:t>
            </a:r>
          </a:p>
          <a:p>
            <a:pPr marL="0" indent="0">
              <a:buFontTx/>
              <a:buNone/>
              <a:defRPr/>
            </a:pPr>
            <a:r>
              <a:rPr lang="en-US" sz="1800" b="1" dirty="0">
                <a:latin typeface="+mj-lt"/>
                <a:cs typeface="Courier New"/>
              </a:rPr>
              <a:t>     F is the father of X if he is a parent of X and is male </a:t>
            </a:r>
          </a:p>
          <a:p>
            <a:pPr marL="0" indent="0">
              <a:buFontTx/>
              <a:buNone/>
              <a:defRPr/>
            </a:pPr>
            <a:r>
              <a:rPr lang="en-US" sz="1800" b="1" dirty="0">
                <a:latin typeface="+mj-lt"/>
                <a:cs typeface="Courier New"/>
              </a:rPr>
              <a:t>     X is a sibling of Y if they both have the same parent. </a:t>
            </a:r>
          </a:p>
          <a:p>
            <a:pPr marL="0" indent="0">
              <a:buFontTx/>
              <a:buNone/>
              <a:defRPr/>
            </a:pPr>
            <a:endParaRPr lang="en-US" sz="2000" b="1" dirty="0">
              <a:latin typeface="+mj-lt"/>
              <a:cs typeface="Courier New"/>
            </a:endParaRPr>
          </a:p>
        </p:txBody>
      </p:sp>
      <p:sp>
        <p:nvSpPr>
          <p:cNvPr id="98307" name="Tijdelijke aanduiding voor voettekst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98308" name="Tijdelijke aanduiding voor dianumm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A7159053-AD8A-4A4E-96C4-75B3A98E9AE7}" type="slidenum">
              <a:rPr lang="en-US" sz="1000">
                <a:latin typeface="Arial" charset="0"/>
              </a:rPr>
              <a:pPr/>
              <a:t>33</a:t>
            </a:fld>
            <a:endParaRPr lang="en-US" sz="10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8262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>
                <a:latin typeface="Lucida Sans Unicode" charset="0"/>
              </a:rPr>
              <a:t>Example Family Tree (4)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09600" y="1600200"/>
            <a:ext cx="7772400" cy="3657600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sz="2000" b="1" dirty="0">
                <a:latin typeface="+mj-lt"/>
                <a:cs typeface="Courier New"/>
              </a:rPr>
              <a:t>Rules you could add:</a:t>
            </a:r>
          </a:p>
          <a:p>
            <a:pPr marL="0" indent="0">
              <a:buFontTx/>
              <a:buNone/>
              <a:defRPr/>
            </a:pPr>
            <a:endParaRPr lang="en-US" sz="2000" b="1" dirty="0">
              <a:latin typeface="+mj-lt"/>
              <a:cs typeface="Courier New"/>
            </a:endParaRPr>
          </a:p>
          <a:p>
            <a:pPr marL="0" indent="0">
              <a:buFontTx/>
              <a:buNone/>
              <a:defRPr/>
            </a:pPr>
            <a:r>
              <a:rPr lang="en-US" sz="2000" b="1" dirty="0">
                <a:latin typeface="+mj-lt"/>
                <a:cs typeface="Courier New"/>
              </a:rPr>
              <a:t>     "sister", "brother", </a:t>
            </a:r>
          </a:p>
          <a:p>
            <a:pPr marL="0" indent="0">
              <a:buFontTx/>
              <a:buNone/>
              <a:defRPr/>
            </a:pPr>
            <a:r>
              <a:rPr lang="en-US" sz="2000" b="1" dirty="0">
                <a:latin typeface="+mj-lt"/>
                <a:cs typeface="Courier New"/>
              </a:rPr>
              <a:t>     "aunt", "uncle", </a:t>
            </a:r>
          </a:p>
          <a:p>
            <a:pPr marL="0" indent="0">
              <a:buFontTx/>
              <a:buNone/>
              <a:defRPr/>
            </a:pPr>
            <a:r>
              <a:rPr lang="en-US" sz="2000" b="1" dirty="0">
                <a:latin typeface="+mj-lt"/>
                <a:cs typeface="Courier New"/>
              </a:rPr>
              <a:t>     "grandparent", "cousin" </a:t>
            </a:r>
            <a:endParaRPr lang="nl-NL" sz="1800" dirty="0">
              <a:latin typeface="Courier New"/>
              <a:cs typeface="Courier New"/>
            </a:endParaRPr>
          </a:p>
        </p:txBody>
      </p:sp>
      <p:sp>
        <p:nvSpPr>
          <p:cNvPr id="99331" name="Tijdelijke aanduiding voor voettekst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99332" name="Tijdelijke aanduiding voor dianumm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4489C038-1BE5-074D-B13E-27C4A354B763}" type="slidenum">
              <a:rPr lang="en-US" sz="1000">
                <a:latin typeface="Arial" charset="0"/>
              </a:rPr>
              <a:pPr/>
              <a:t>34</a:t>
            </a:fld>
            <a:endParaRPr lang="en-US" sz="10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9707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6349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AA254BB1-4B64-7349-A5F5-C45425AB6279}" type="slidenum">
              <a:rPr lang="en-US" sz="1000">
                <a:latin typeface="Arial" charset="0"/>
              </a:rPr>
              <a:pPr/>
              <a:t>35</a:t>
            </a:fld>
            <a:endParaRPr lang="en-US" sz="1000">
              <a:latin typeface="Arial" charset="0"/>
            </a:endParaRP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Goal Statements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For theorem proving, theorem is in form of proposition that we want system to prove or disprove – </a:t>
            </a:r>
            <a:r>
              <a:rPr lang="en-US" i="1">
                <a:latin typeface="Lucida Sans Unicode" charset="0"/>
              </a:rPr>
              <a:t>goal statement</a:t>
            </a:r>
            <a:endParaRPr lang="en-US">
              <a:latin typeface="Lucida Sans Unicode" charset="0"/>
            </a:endParaRPr>
          </a:p>
          <a:p>
            <a:pPr eaLnBrk="1" hangingPunct="1"/>
            <a:r>
              <a:rPr lang="en-US">
                <a:latin typeface="Lucida Sans Unicode" charset="0"/>
              </a:rPr>
              <a:t>Same format as headless Horn</a:t>
            </a:r>
          </a:p>
          <a:p>
            <a:pPr eaLnBrk="1" hangingPunct="1">
              <a:buFontTx/>
              <a:buNone/>
            </a:pPr>
            <a:r>
              <a:rPr lang="en-US" sz="2400" b="1">
                <a:latin typeface="Courier New" charset="0"/>
              </a:rPr>
              <a:t>	</a:t>
            </a:r>
            <a:r>
              <a:rPr lang="en-US" sz="2000">
                <a:latin typeface="Courier New" charset="0"/>
              </a:rPr>
              <a:t>man(fred)</a:t>
            </a:r>
          </a:p>
          <a:p>
            <a:pPr eaLnBrk="1" hangingPunct="1"/>
            <a:r>
              <a:rPr lang="en-US">
                <a:latin typeface="Lucida Sans Unicode" charset="0"/>
              </a:rPr>
              <a:t>Conjunctive propositions and propositions with variables also legal goals</a:t>
            </a:r>
          </a:p>
          <a:p>
            <a:pPr eaLnBrk="1" hangingPunct="1">
              <a:buFontTx/>
              <a:buNone/>
            </a:pPr>
            <a:r>
              <a:rPr lang="en-US" sz="2400" b="1">
                <a:latin typeface="Courier New" charset="0"/>
              </a:rPr>
              <a:t>	</a:t>
            </a:r>
            <a:r>
              <a:rPr lang="en-US" sz="2000">
                <a:latin typeface="Courier New" charset="0"/>
              </a:rPr>
              <a:t>father(X, mike)</a:t>
            </a:r>
            <a:endParaRPr lang="en-US" sz="2000" b="1"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5334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6553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5A469772-5CFE-DE4F-AE2A-E947A84F2F7F}" type="slidenum">
              <a:rPr lang="en-US" sz="1000">
                <a:latin typeface="Arial" charset="0"/>
              </a:rPr>
              <a:pPr/>
              <a:t>36</a:t>
            </a:fld>
            <a:endParaRPr lang="en-US" sz="1000">
              <a:latin typeface="Arial" charset="0"/>
            </a:endParaRP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Inferencing Process of Prolog</a:t>
            </a:r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sz="2400">
                <a:latin typeface="Lucida Sans Unicode" charset="0"/>
              </a:rPr>
              <a:t>Queries are called goals</a:t>
            </a:r>
          </a:p>
          <a:p>
            <a:pPr eaLnBrk="1" hangingPunct="1"/>
            <a:r>
              <a:rPr lang="en-US" sz="2400">
                <a:latin typeface="Lucida Sans Unicode" charset="0"/>
              </a:rPr>
              <a:t>If a goal is a compound proposition, each of the facts is a subgoal</a:t>
            </a:r>
          </a:p>
          <a:p>
            <a:pPr eaLnBrk="1" hangingPunct="1"/>
            <a:r>
              <a:rPr lang="en-US" sz="2400">
                <a:latin typeface="Lucida Sans Unicode" charset="0"/>
              </a:rPr>
              <a:t>To prove a goal is true, must find a chain of inference rules and/or facts.  For goal Q:</a:t>
            </a:r>
          </a:p>
          <a:p>
            <a:pPr lvl="1" eaLnBrk="1" hangingPunct="1">
              <a:buFontTx/>
              <a:buNone/>
            </a:pPr>
            <a:r>
              <a:rPr lang="en-US" sz="2000">
                <a:latin typeface="Courier New" charset="0"/>
                <a:ea typeface="Lucida Sans Unicode" charset="0"/>
                <a:cs typeface="Lucida Sans Unicode" charset="0"/>
              </a:rPr>
              <a:t>P</a:t>
            </a:r>
            <a:r>
              <a:rPr lang="en-US" sz="2000" baseline="-25000">
                <a:latin typeface="Courier New" charset="0"/>
                <a:ea typeface="Lucida Sans Unicode" charset="0"/>
                <a:cs typeface="Lucida Sans Unicode" charset="0"/>
              </a:rPr>
              <a:t>2</a:t>
            </a:r>
            <a:r>
              <a:rPr lang="en-US" sz="2000">
                <a:latin typeface="Courier New" charset="0"/>
                <a:ea typeface="Lucida Sans Unicode" charset="0"/>
                <a:cs typeface="Lucida Sans Unicode" charset="0"/>
              </a:rPr>
              <a:t> :- P</a:t>
            </a:r>
            <a:r>
              <a:rPr lang="en-US" sz="2000" baseline="-25000">
                <a:latin typeface="Courier New" charset="0"/>
                <a:ea typeface="Lucida Sans Unicode" charset="0"/>
                <a:cs typeface="Lucida Sans Unicode" charset="0"/>
              </a:rPr>
              <a:t>1</a:t>
            </a:r>
          </a:p>
          <a:p>
            <a:pPr lvl="1" eaLnBrk="1" hangingPunct="1">
              <a:buFontTx/>
              <a:buNone/>
            </a:pPr>
            <a:r>
              <a:rPr lang="en-US" sz="2000">
                <a:latin typeface="Courier New" charset="0"/>
                <a:ea typeface="Lucida Sans Unicode" charset="0"/>
                <a:cs typeface="Lucida Sans Unicode" charset="0"/>
              </a:rPr>
              <a:t>P</a:t>
            </a:r>
            <a:r>
              <a:rPr lang="en-US" sz="2000" baseline="-25000">
                <a:latin typeface="Courier New" charset="0"/>
                <a:ea typeface="Lucida Sans Unicode" charset="0"/>
                <a:cs typeface="Lucida Sans Unicode" charset="0"/>
              </a:rPr>
              <a:t>3</a:t>
            </a:r>
            <a:r>
              <a:rPr lang="en-US" sz="2000">
                <a:latin typeface="Courier New" charset="0"/>
                <a:ea typeface="Lucida Sans Unicode" charset="0"/>
                <a:cs typeface="Lucida Sans Unicode" charset="0"/>
              </a:rPr>
              <a:t> :- P</a:t>
            </a:r>
            <a:r>
              <a:rPr lang="en-US" sz="2000" baseline="-25000">
                <a:latin typeface="Courier New" charset="0"/>
                <a:ea typeface="Lucida Sans Unicode" charset="0"/>
                <a:cs typeface="Lucida Sans Unicode" charset="0"/>
              </a:rPr>
              <a:t>2</a:t>
            </a:r>
          </a:p>
          <a:p>
            <a:pPr lvl="1" eaLnBrk="1" hangingPunct="1">
              <a:buFontTx/>
              <a:buNone/>
            </a:pPr>
            <a:r>
              <a:rPr lang="en-US" sz="2000">
                <a:latin typeface="Lucida Sans Unicode" charset="0"/>
                <a:ea typeface="Lucida Sans Unicode" charset="0"/>
                <a:cs typeface="Lucida Sans Unicode" charset="0"/>
              </a:rPr>
              <a:t>…</a:t>
            </a:r>
            <a:endParaRPr lang="en-US" sz="2000">
              <a:latin typeface="Courier New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buFontTx/>
              <a:buNone/>
            </a:pPr>
            <a:r>
              <a:rPr lang="en-US" sz="2000">
                <a:latin typeface="Courier New" charset="0"/>
                <a:ea typeface="Lucida Sans Unicode" charset="0"/>
                <a:cs typeface="Lucida Sans Unicode" charset="0"/>
              </a:rPr>
              <a:t>Q :- P</a:t>
            </a:r>
            <a:r>
              <a:rPr lang="en-US" sz="2000" baseline="-25000">
                <a:latin typeface="Courier New" charset="0"/>
                <a:ea typeface="Lucida Sans Unicode" charset="0"/>
                <a:cs typeface="Lucida Sans Unicode" charset="0"/>
              </a:rPr>
              <a:t>n</a:t>
            </a:r>
            <a:endParaRPr lang="en-US" sz="2000" b="1" baseline="-25000">
              <a:latin typeface="Courier New" charset="0"/>
              <a:ea typeface="Lucida Sans Unicode" charset="0"/>
              <a:cs typeface="Lucida Sans Unicode" charset="0"/>
            </a:endParaRPr>
          </a:p>
          <a:p>
            <a:pPr eaLnBrk="1" hangingPunct="1"/>
            <a:r>
              <a:rPr lang="en-US" sz="2400">
                <a:latin typeface="Lucida Sans Unicode" charset="0"/>
              </a:rPr>
              <a:t>Process of proving a subgoal called matching, satisfying, or resolution</a:t>
            </a:r>
          </a:p>
        </p:txBody>
      </p:sp>
    </p:spTree>
    <p:extLst>
      <p:ext uri="{BB962C8B-B14F-4D97-AF65-F5344CB8AC3E}">
        <p14:creationId xmlns:p14="http://schemas.microsoft.com/office/powerpoint/2010/main" val="12750457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6758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EC46F2D9-E387-CF4B-8957-035779DEBD52}" type="slidenum">
              <a:rPr lang="en-US" sz="1000">
                <a:latin typeface="Arial" charset="0"/>
              </a:rPr>
              <a:pPr/>
              <a:t>37</a:t>
            </a:fld>
            <a:endParaRPr lang="en-US" sz="1000">
              <a:latin typeface="Arial" charset="0"/>
            </a:endParaRPr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Approaches</a:t>
            </a:r>
          </a:p>
        </p:txBody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sz="2400" i="1">
                <a:latin typeface="Lucida Sans Unicode" charset="0"/>
              </a:rPr>
              <a:t>Matching</a:t>
            </a:r>
            <a:r>
              <a:rPr lang="en-US" sz="2400">
                <a:latin typeface="Lucida Sans Unicode" charset="0"/>
              </a:rPr>
              <a:t> is the process of proving a proposition</a:t>
            </a:r>
          </a:p>
          <a:p>
            <a:pPr eaLnBrk="1" hangingPunct="1"/>
            <a:r>
              <a:rPr lang="en-US" sz="2400">
                <a:latin typeface="Lucida Sans Unicode" charset="0"/>
              </a:rPr>
              <a:t>Proving a subgoal is called </a:t>
            </a:r>
            <a:r>
              <a:rPr lang="en-US" sz="2400" i="1">
                <a:latin typeface="Lucida Sans Unicode" charset="0"/>
              </a:rPr>
              <a:t>satisfying</a:t>
            </a:r>
            <a:r>
              <a:rPr lang="en-US" sz="2400">
                <a:latin typeface="Lucida Sans Unicode" charset="0"/>
              </a:rPr>
              <a:t> the subgoal</a:t>
            </a:r>
          </a:p>
          <a:p>
            <a:pPr eaLnBrk="1" hangingPunct="1"/>
            <a:r>
              <a:rPr lang="en-US" sz="2400" i="1">
                <a:latin typeface="Lucida Sans Unicode" charset="0"/>
              </a:rPr>
              <a:t>Bottom-up resolution, forward chaining</a:t>
            </a:r>
          </a:p>
          <a:p>
            <a:pPr lvl="1" eaLnBrk="1" hangingPunct="1"/>
            <a:r>
              <a:rPr lang="en-US" sz="2000">
                <a:latin typeface="Lucida Sans Unicode" charset="0"/>
                <a:ea typeface="Lucida Sans Unicode" charset="0"/>
                <a:cs typeface="Lucida Sans Unicode" charset="0"/>
              </a:rPr>
              <a:t>Begin with facts and rules of database and attempt to find sequence that leads to goal</a:t>
            </a:r>
          </a:p>
          <a:p>
            <a:pPr lvl="1" eaLnBrk="1" hangingPunct="1"/>
            <a:r>
              <a:rPr lang="en-US" sz="2000">
                <a:latin typeface="Lucida Sans Unicode" charset="0"/>
                <a:ea typeface="Lucida Sans Unicode" charset="0"/>
                <a:cs typeface="Lucida Sans Unicode" charset="0"/>
              </a:rPr>
              <a:t>Works well with a large set of possibly correct answers</a:t>
            </a:r>
          </a:p>
          <a:p>
            <a:pPr eaLnBrk="1" hangingPunct="1"/>
            <a:r>
              <a:rPr lang="en-US" sz="2400" i="1">
                <a:latin typeface="Lucida Sans Unicode" charset="0"/>
              </a:rPr>
              <a:t>Top-down resolution, backward chaining</a:t>
            </a:r>
            <a:endParaRPr lang="en-US" sz="2400">
              <a:latin typeface="Lucida Sans Unicode" charset="0"/>
            </a:endParaRPr>
          </a:p>
          <a:p>
            <a:pPr lvl="1" eaLnBrk="1" hangingPunct="1"/>
            <a:r>
              <a:rPr lang="en-US" sz="2000">
                <a:latin typeface="Lucida Sans Unicode" charset="0"/>
                <a:ea typeface="Lucida Sans Unicode" charset="0"/>
                <a:cs typeface="Lucida Sans Unicode" charset="0"/>
              </a:rPr>
              <a:t>Begin with goal and attempt to find sequence that leads to set of facts in database</a:t>
            </a:r>
          </a:p>
          <a:p>
            <a:pPr lvl="1" eaLnBrk="1" hangingPunct="1"/>
            <a:r>
              <a:rPr lang="en-US" sz="2000">
                <a:latin typeface="Lucida Sans Unicode" charset="0"/>
                <a:ea typeface="Lucida Sans Unicode" charset="0"/>
                <a:cs typeface="Lucida Sans Unicode" charset="0"/>
              </a:rPr>
              <a:t>Works well with a small set of possibly correct answers</a:t>
            </a:r>
          </a:p>
          <a:p>
            <a:pPr eaLnBrk="1" hangingPunct="1"/>
            <a:r>
              <a:rPr lang="en-US" sz="2400">
                <a:latin typeface="Lucida Sans Unicode" charset="0"/>
              </a:rPr>
              <a:t>Prolog implementations use backward chaining</a:t>
            </a:r>
          </a:p>
        </p:txBody>
      </p:sp>
    </p:spTree>
    <p:extLst>
      <p:ext uri="{BB962C8B-B14F-4D97-AF65-F5344CB8AC3E}">
        <p14:creationId xmlns:p14="http://schemas.microsoft.com/office/powerpoint/2010/main" val="17272558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6963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689C1D2C-B4AC-5745-811E-B666FE2321F5}" type="slidenum">
              <a:rPr lang="en-US" sz="1000">
                <a:latin typeface="Arial" charset="0"/>
              </a:rPr>
              <a:pPr/>
              <a:t>38</a:t>
            </a:fld>
            <a:endParaRPr lang="en-US" sz="1000">
              <a:latin typeface="Arial" charset="0"/>
            </a:endParaRPr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Subgoal Strategies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When goal has more than one subgoal, can use either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Depth-first search:  find a complete proof for the first subgoal before working on others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Breadth-first search: work on all subgoals in parallel</a:t>
            </a:r>
          </a:p>
          <a:p>
            <a:pPr eaLnBrk="1" hangingPunct="1"/>
            <a:r>
              <a:rPr lang="en-US">
                <a:latin typeface="Lucida Sans Unicode" charset="0"/>
              </a:rPr>
              <a:t>Prolog uses depth-first search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Can be done with fewer computer resources</a:t>
            </a:r>
          </a:p>
        </p:txBody>
      </p:sp>
    </p:spTree>
    <p:extLst>
      <p:ext uri="{BB962C8B-B14F-4D97-AF65-F5344CB8AC3E}">
        <p14:creationId xmlns:p14="http://schemas.microsoft.com/office/powerpoint/2010/main" val="42133397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7168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D818243A-B0CB-534E-A0DD-F1395685E20C}" type="slidenum">
              <a:rPr lang="en-US" sz="1000">
                <a:latin typeface="Arial" charset="0"/>
              </a:rPr>
              <a:pPr/>
              <a:t>39</a:t>
            </a:fld>
            <a:endParaRPr lang="en-US" sz="1000">
              <a:latin typeface="Arial" charset="0"/>
            </a:endParaRPr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Backtracking</a:t>
            </a:r>
          </a:p>
        </p:txBody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With a goal with multiple subgoals, if fail to show truth of one of subgoals, reconsider previous subgoal to find an alternative solution: </a:t>
            </a:r>
            <a:r>
              <a:rPr lang="en-US" i="1">
                <a:latin typeface="Lucida Sans Unicode" charset="0"/>
              </a:rPr>
              <a:t>backtracking</a:t>
            </a:r>
            <a:endParaRPr lang="en-US">
              <a:latin typeface="Lucida Sans Unicode" charset="0"/>
            </a:endParaRPr>
          </a:p>
          <a:p>
            <a:pPr eaLnBrk="1" hangingPunct="1"/>
            <a:r>
              <a:rPr lang="en-US">
                <a:latin typeface="Lucida Sans Unicode" charset="0"/>
              </a:rPr>
              <a:t>Begin search where previous search left off</a:t>
            </a:r>
          </a:p>
          <a:p>
            <a:pPr eaLnBrk="1" hangingPunct="1"/>
            <a:r>
              <a:rPr lang="en-US">
                <a:latin typeface="Lucida Sans Unicode" charset="0"/>
              </a:rPr>
              <a:t>Can take lots of time and space because may find all possible proofs to every subgoal</a:t>
            </a:r>
          </a:p>
        </p:txBody>
      </p:sp>
    </p:spTree>
    <p:extLst>
      <p:ext uri="{BB962C8B-B14F-4D97-AF65-F5344CB8AC3E}">
        <p14:creationId xmlns:p14="http://schemas.microsoft.com/office/powerpoint/2010/main" val="12877159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7168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D818243A-B0CB-534E-A0DD-F1395685E20C}" type="slidenum">
              <a:rPr lang="en-US" sz="1000">
                <a:latin typeface="Arial" charset="0"/>
              </a:rPr>
              <a:pPr/>
              <a:t>40</a:t>
            </a:fld>
            <a:endParaRPr lang="en-US" sz="1000">
              <a:latin typeface="Arial" charset="0"/>
            </a:endParaRPr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</a:rPr>
              <a:t>Backtracking</a:t>
            </a:r>
          </a:p>
        </p:txBody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endParaRPr lang="en-US" dirty="0">
              <a:latin typeface="Lucida Sans Unicode" charset="0"/>
            </a:endParaRPr>
          </a:p>
        </p:txBody>
      </p:sp>
      <p:pic>
        <p:nvPicPr>
          <p:cNvPr id="2" name="Afbeelding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63688" y="1079959"/>
            <a:ext cx="4548212" cy="458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8411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7373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9A8B3D16-552F-264F-8A22-32C0B439CC09}" type="slidenum">
              <a:rPr lang="en-US" sz="1000">
                <a:latin typeface="Arial" charset="0"/>
              </a:rPr>
              <a:pPr/>
              <a:t>41</a:t>
            </a:fld>
            <a:endParaRPr lang="en-US" sz="1000">
              <a:latin typeface="Arial" charset="0"/>
            </a:endParaRPr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Simple Arithmetic</a:t>
            </a:r>
          </a:p>
        </p:txBody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Prolog supports integer variables and integer arithmetic</a:t>
            </a:r>
          </a:p>
          <a:p>
            <a:pPr eaLnBrk="1" hangingPunct="1"/>
            <a:r>
              <a:rPr lang="en-US" sz="2000" b="1">
                <a:latin typeface="Courier New" charset="0"/>
              </a:rPr>
              <a:t>is</a:t>
            </a:r>
            <a:r>
              <a:rPr lang="en-US">
                <a:latin typeface="Lucida Sans Unicode" charset="0"/>
              </a:rPr>
              <a:t> operator: takes an arithmetic expression as right operand and variable as left operand</a:t>
            </a:r>
          </a:p>
          <a:p>
            <a:pPr eaLnBrk="1" hangingPunct="1">
              <a:buFontTx/>
              <a:buNone/>
            </a:pPr>
            <a:r>
              <a:rPr lang="en-US">
                <a:latin typeface="Courier New" charset="0"/>
              </a:rPr>
              <a:t>	</a:t>
            </a:r>
            <a:r>
              <a:rPr lang="en-US" sz="2000">
                <a:latin typeface="Courier New" charset="0"/>
              </a:rPr>
              <a:t>A </a:t>
            </a:r>
            <a:r>
              <a:rPr lang="en-US" sz="2000" b="1">
                <a:latin typeface="Courier New" charset="0"/>
              </a:rPr>
              <a:t>is</a:t>
            </a:r>
            <a:r>
              <a:rPr lang="en-US" sz="2000">
                <a:latin typeface="Courier New" charset="0"/>
              </a:rPr>
              <a:t> B / 17 + C</a:t>
            </a:r>
            <a:endParaRPr lang="en-US" sz="2000">
              <a:latin typeface="Lucida Sans Unicode" charset="0"/>
            </a:endParaRPr>
          </a:p>
          <a:p>
            <a:pPr eaLnBrk="1" hangingPunct="1"/>
            <a:r>
              <a:rPr lang="en-US">
                <a:latin typeface="Lucida Sans Unicode" charset="0"/>
              </a:rPr>
              <a:t>Not the same as an assignment statement!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The following is illegal:</a:t>
            </a:r>
          </a:p>
          <a:p>
            <a:pPr eaLnBrk="1" hangingPunct="1">
              <a:buFontTx/>
              <a:buNone/>
            </a:pPr>
            <a:r>
              <a:rPr lang="en-US">
                <a:latin typeface="Lucida Sans Unicode" charset="0"/>
              </a:rPr>
              <a:t>          </a:t>
            </a:r>
            <a:r>
              <a:rPr lang="en-US" sz="2000">
                <a:latin typeface="Courier New" charset="0"/>
                <a:cs typeface="Courier New" charset="0"/>
              </a:rPr>
              <a:t>Sum </a:t>
            </a:r>
            <a:r>
              <a:rPr lang="en-US" sz="2000" b="1">
                <a:latin typeface="Courier New" charset="0"/>
                <a:cs typeface="Courier New" charset="0"/>
              </a:rPr>
              <a:t>is</a:t>
            </a:r>
            <a:r>
              <a:rPr lang="en-US" sz="2000">
                <a:latin typeface="Courier New" charset="0"/>
                <a:cs typeface="Courier New" charset="0"/>
              </a:rPr>
              <a:t> Sum + Number.</a:t>
            </a:r>
          </a:p>
        </p:txBody>
      </p:sp>
    </p:spTree>
    <p:extLst>
      <p:ext uri="{BB962C8B-B14F-4D97-AF65-F5344CB8AC3E}">
        <p14:creationId xmlns:p14="http://schemas.microsoft.com/office/powerpoint/2010/main" val="8541160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7577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44D63648-BF65-0E47-9A8A-72976105B5C1}" type="slidenum">
              <a:rPr lang="en-US" sz="1000">
                <a:latin typeface="Arial" charset="0"/>
              </a:rPr>
              <a:pPr/>
              <a:t>42</a:t>
            </a:fld>
            <a:endParaRPr lang="en-US" sz="1000">
              <a:latin typeface="Arial" charset="0"/>
            </a:endParaRPr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Example</a:t>
            </a:r>
          </a:p>
        </p:txBody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153400" cy="4572000"/>
          </a:xfrm>
        </p:spPr>
        <p:txBody>
          <a:bodyPr/>
          <a:lstStyle/>
          <a:p>
            <a:pPr defTabSz="404813" eaLnBrk="1" hangingPunct="1">
              <a:lnSpc>
                <a:spcPct val="90000"/>
              </a:lnSpc>
              <a:buFontTx/>
              <a:buNone/>
              <a:tabLst>
                <a:tab pos="2393950" algn="l"/>
              </a:tabLst>
            </a:pPr>
            <a:r>
              <a:rPr lang="en-US" sz="2000">
                <a:latin typeface="Courier New" charset="0"/>
              </a:rPr>
              <a:t>speed(ford,100).</a:t>
            </a:r>
          </a:p>
          <a:p>
            <a:pPr defTabSz="404813" eaLnBrk="1" hangingPunct="1">
              <a:lnSpc>
                <a:spcPct val="90000"/>
              </a:lnSpc>
              <a:buFontTx/>
              <a:buNone/>
              <a:tabLst>
                <a:tab pos="2393950" algn="l"/>
              </a:tabLst>
            </a:pPr>
            <a:r>
              <a:rPr lang="en-US" sz="2000">
                <a:latin typeface="Courier New" charset="0"/>
              </a:rPr>
              <a:t>speed(chevy,105).</a:t>
            </a:r>
          </a:p>
          <a:p>
            <a:pPr defTabSz="404813" eaLnBrk="1" hangingPunct="1">
              <a:lnSpc>
                <a:spcPct val="90000"/>
              </a:lnSpc>
              <a:buFontTx/>
              <a:buNone/>
              <a:tabLst>
                <a:tab pos="2393950" algn="l"/>
              </a:tabLst>
            </a:pPr>
            <a:r>
              <a:rPr lang="en-US" sz="2000">
                <a:latin typeface="Courier New" charset="0"/>
              </a:rPr>
              <a:t>speed(dodge,95).</a:t>
            </a:r>
          </a:p>
          <a:p>
            <a:pPr defTabSz="404813" eaLnBrk="1" hangingPunct="1">
              <a:lnSpc>
                <a:spcPct val="90000"/>
              </a:lnSpc>
              <a:buFontTx/>
              <a:buNone/>
              <a:tabLst>
                <a:tab pos="2393950" algn="l"/>
              </a:tabLst>
            </a:pPr>
            <a:r>
              <a:rPr lang="en-US" sz="2000">
                <a:latin typeface="Courier New" charset="0"/>
              </a:rPr>
              <a:t>speed(volvo,80).</a:t>
            </a:r>
          </a:p>
          <a:p>
            <a:pPr defTabSz="404813" eaLnBrk="1" hangingPunct="1">
              <a:lnSpc>
                <a:spcPct val="90000"/>
              </a:lnSpc>
              <a:buFontTx/>
              <a:buNone/>
              <a:tabLst>
                <a:tab pos="2393950" algn="l"/>
              </a:tabLst>
            </a:pPr>
            <a:r>
              <a:rPr lang="en-US" sz="2000">
                <a:latin typeface="Courier New" charset="0"/>
              </a:rPr>
              <a:t>time(ford,20).</a:t>
            </a:r>
          </a:p>
          <a:p>
            <a:pPr defTabSz="404813" eaLnBrk="1" hangingPunct="1">
              <a:lnSpc>
                <a:spcPct val="90000"/>
              </a:lnSpc>
              <a:buFontTx/>
              <a:buNone/>
              <a:tabLst>
                <a:tab pos="2393950" algn="l"/>
              </a:tabLst>
            </a:pPr>
            <a:r>
              <a:rPr lang="en-US" sz="2000">
                <a:latin typeface="Courier New" charset="0"/>
              </a:rPr>
              <a:t>time(chevy,21).</a:t>
            </a:r>
          </a:p>
          <a:p>
            <a:pPr defTabSz="404813" eaLnBrk="1" hangingPunct="1">
              <a:lnSpc>
                <a:spcPct val="90000"/>
              </a:lnSpc>
              <a:buFontTx/>
              <a:buNone/>
              <a:tabLst>
                <a:tab pos="2393950" algn="l"/>
              </a:tabLst>
            </a:pPr>
            <a:r>
              <a:rPr lang="en-US" sz="2000">
                <a:latin typeface="Courier New" charset="0"/>
              </a:rPr>
              <a:t>time(dodge,24).</a:t>
            </a:r>
          </a:p>
          <a:p>
            <a:pPr defTabSz="404813" eaLnBrk="1" hangingPunct="1">
              <a:lnSpc>
                <a:spcPct val="90000"/>
              </a:lnSpc>
              <a:buFontTx/>
              <a:buNone/>
              <a:tabLst>
                <a:tab pos="2393950" algn="l"/>
              </a:tabLst>
            </a:pPr>
            <a:r>
              <a:rPr lang="en-US" sz="2000">
                <a:latin typeface="Courier New" charset="0"/>
              </a:rPr>
              <a:t>time(volvo,24).</a:t>
            </a:r>
          </a:p>
          <a:p>
            <a:pPr defTabSz="404813" eaLnBrk="1" hangingPunct="1">
              <a:lnSpc>
                <a:spcPct val="90000"/>
              </a:lnSpc>
              <a:buFontTx/>
              <a:buNone/>
              <a:tabLst>
                <a:tab pos="2393950" algn="l"/>
              </a:tabLst>
            </a:pPr>
            <a:r>
              <a:rPr lang="en-US" sz="2000">
                <a:latin typeface="Courier New" charset="0"/>
              </a:rPr>
              <a:t>distance(X,Y) :- 	speed(X,Speed),</a:t>
            </a:r>
          </a:p>
          <a:p>
            <a:pPr defTabSz="404813" eaLnBrk="1" hangingPunct="1">
              <a:lnSpc>
                <a:spcPct val="90000"/>
              </a:lnSpc>
              <a:buFontTx/>
              <a:buNone/>
              <a:tabLst>
                <a:tab pos="2393950" algn="l"/>
              </a:tabLst>
            </a:pPr>
            <a:r>
              <a:rPr lang="en-US" sz="2000">
                <a:latin typeface="Courier New" charset="0"/>
              </a:rPr>
              <a:t>					time(X,Time), </a:t>
            </a:r>
          </a:p>
          <a:p>
            <a:pPr defTabSz="404813" eaLnBrk="1" hangingPunct="1">
              <a:lnSpc>
                <a:spcPct val="90000"/>
              </a:lnSpc>
              <a:buFontTx/>
              <a:buNone/>
              <a:tabLst>
                <a:tab pos="2393950" algn="l"/>
              </a:tabLst>
            </a:pPr>
            <a:r>
              <a:rPr lang="en-US" sz="2000">
                <a:latin typeface="Courier New" charset="0"/>
              </a:rPr>
              <a:t>					Y </a:t>
            </a:r>
            <a:r>
              <a:rPr lang="en-US" sz="2000" b="1">
                <a:latin typeface="Courier New" charset="0"/>
              </a:rPr>
              <a:t>is</a:t>
            </a:r>
            <a:r>
              <a:rPr lang="en-US" sz="2000">
                <a:latin typeface="Courier New" charset="0"/>
              </a:rPr>
              <a:t> Speed * Time.</a:t>
            </a:r>
          </a:p>
          <a:p>
            <a:pPr defTabSz="404813" eaLnBrk="1" hangingPunct="1">
              <a:lnSpc>
                <a:spcPct val="90000"/>
              </a:lnSpc>
              <a:buFontTx/>
              <a:buNone/>
              <a:tabLst>
                <a:tab pos="2393950" algn="l"/>
              </a:tabLst>
            </a:pPr>
            <a:endParaRPr lang="en-US" sz="2000">
              <a:latin typeface="Courier New" charset="0"/>
            </a:endParaRPr>
          </a:p>
          <a:p>
            <a:pPr defTabSz="404813" eaLnBrk="1" hangingPunct="1">
              <a:lnSpc>
                <a:spcPct val="90000"/>
              </a:lnSpc>
              <a:buFontTx/>
              <a:buNone/>
              <a:tabLst>
                <a:tab pos="2393950" algn="l"/>
              </a:tabLst>
            </a:pPr>
            <a:r>
              <a:rPr lang="en-US" sz="2400">
                <a:latin typeface="Lucida Sans Unicode" charset="0"/>
              </a:rPr>
              <a:t>A query:</a:t>
            </a:r>
            <a:r>
              <a:rPr lang="en-US" sz="2000">
                <a:latin typeface="Courier New" charset="0"/>
              </a:rPr>
              <a:t> distance(chevy, Chevy_Distance).</a:t>
            </a:r>
          </a:p>
        </p:txBody>
      </p:sp>
    </p:spTree>
    <p:extLst>
      <p:ext uri="{BB962C8B-B14F-4D97-AF65-F5344CB8AC3E}">
        <p14:creationId xmlns:p14="http://schemas.microsoft.com/office/powerpoint/2010/main" val="17596253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7782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E46D57DA-7AD2-904F-A22A-83BC81222563}" type="slidenum">
              <a:rPr lang="en-US" sz="1000">
                <a:latin typeface="Arial" charset="0"/>
              </a:rPr>
              <a:pPr/>
              <a:t>43</a:t>
            </a:fld>
            <a:endParaRPr lang="en-US" sz="1000">
              <a:latin typeface="Arial" charset="0"/>
            </a:endParaRPr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Trace</a:t>
            </a:r>
          </a:p>
        </p:txBody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Built-in structure that displays instantiations at each step</a:t>
            </a:r>
          </a:p>
          <a:p>
            <a:pPr eaLnBrk="1" hangingPunct="1"/>
            <a:r>
              <a:rPr lang="en-US" i="1">
                <a:latin typeface="Lucida Sans Unicode" charset="0"/>
              </a:rPr>
              <a:t>Tracing model</a:t>
            </a:r>
            <a:r>
              <a:rPr lang="en-US">
                <a:latin typeface="Lucida Sans Unicode" charset="0"/>
              </a:rPr>
              <a:t> of execution - four events:</a:t>
            </a:r>
          </a:p>
          <a:p>
            <a:pPr lvl="1" eaLnBrk="1" hangingPunct="1"/>
            <a:r>
              <a:rPr lang="en-US" i="1">
                <a:latin typeface="Lucida Sans Unicode" charset="0"/>
                <a:ea typeface="Lucida Sans Unicode" charset="0"/>
                <a:cs typeface="Lucida Sans Unicode" charset="0"/>
              </a:rPr>
              <a:t>Call</a:t>
            </a: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 (beginning of attempt to satisfy goal)</a:t>
            </a:r>
          </a:p>
          <a:p>
            <a:pPr lvl="1" eaLnBrk="1" hangingPunct="1"/>
            <a:r>
              <a:rPr lang="en-US" i="1">
                <a:latin typeface="Lucida Sans Unicode" charset="0"/>
                <a:ea typeface="Lucida Sans Unicode" charset="0"/>
                <a:cs typeface="Lucida Sans Unicode" charset="0"/>
              </a:rPr>
              <a:t>Exit</a:t>
            </a: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 (when a goal has been satisfied)</a:t>
            </a:r>
          </a:p>
          <a:p>
            <a:pPr lvl="1" eaLnBrk="1" hangingPunct="1"/>
            <a:r>
              <a:rPr lang="en-US" i="1">
                <a:latin typeface="Lucida Sans Unicode" charset="0"/>
                <a:ea typeface="Lucida Sans Unicode" charset="0"/>
                <a:cs typeface="Lucida Sans Unicode" charset="0"/>
              </a:rPr>
              <a:t>Redo</a:t>
            </a: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 (when backtrack occurs)</a:t>
            </a:r>
          </a:p>
          <a:p>
            <a:pPr lvl="1" eaLnBrk="1" hangingPunct="1"/>
            <a:r>
              <a:rPr lang="en-US" i="1">
                <a:latin typeface="Lucida Sans Unicode" charset="0"/>
                <a:ea typeface="Lucida Sans Unicode" charset="0"/>
                <a:cs typeface="Lucida Sans Unicode" charset="0"/>
              </a:rPr>
              <a:t>Fail</a:t>
            </a: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 (when goal fails)</a:t>
            </a:r>
          </a:p>
        </p:txBody>
      </p:sp>
    </p:spTree>
    <p:extLst>
      <p:ext uri="{BB962C8B-B14F-4D97-AF65-F5344CB8AC3E}">
        <p14:creationId xmlns:p14="http://schemas.microsoft.com/office/powerpoint/2010/main" val="808067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7987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2E1D2816-3B7C-6A46-8AA7-73AB56B718ED}" type="slidenum">
              <a:rPr lang="en-US" sz="1000">
                <a:latin typeface="Arial" charset="0"/>
              </a:rPr>
              <a:pPr/>
              <a:t>44</a:t>
            </a:fld>
            <a:endParaRPr lang="en-US" sz="1000">
              <a:latin typeface="Arial" charset="0"/>
            </a:endParaRPr>
          </a:p>
        </p:txBody>
      </p:sp>
      <p:pic>
        <p:nvPicPr>
          <p:cNvPr id="79875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7038" y="1295400"/>
            <a:ext cx="3636962" cy="521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Example</a:t>
            </a:r>
          </a:p>
        </p:txBody>
      </p:sp>
      <p:sp>
        <p:nvSpPr>
          <p:cNvPr id="798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5105400" cy="4953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1600">
                <a:latin typeface="Courier New" charset="0"/>
              </a:rPr>
              <a:t>likes(jake,chocolate).</a:t>
            </a:r>
          </a:p>
          <a:p>
            <a:pPr eaLnBrk="1" hangingPunct="1">
              <a:buFontTx/>
              <a:buNone/>
            </a:pPr>
            <a:r>
              <a:rPr lang="en-US" sz="1600">
                <a:latin typeface="Courier New" charset="0"/>
              </a:rPr>
              <a:t>likes(jake, apricots).</a:t>
            </a:r>
          </a:p>
          <a:p>
            <a:pPr eaLnBrk="1" hangingPunct="1">
              <a:buFontTx/>
              <a:buNone/>
            </a:pPr>
            <a:r>
              <a:rPr lang="en-US" sz="1600">
                <a:latin typeface="Courier New" charset="0"/>
              </a:rPr>
              <a:t>likes(darcie, licorice).</a:t>
            </a:r>
          </a:p>
          <a:p>
            <a:pPr eaLnBrk="1" hangingPunct="1">
              <a:buFontTx/>
              <a:buNone/>
            </a:pPr>
            <a:r>
              <a:rPr lang="en-US" sz="1600">
                <a:latin typeface="Courier New" charset="0"/>
              </a:rPr>
              <a:t>likes(darcie, apricots).</a:t>
            </a:r>
          </a:p>
          <a:p>
            <a:pPr eaLnBrk="1" hangingPunct="1">
              <a:buFontTx/>
              <a:buNone/>
            </a:pPr>
            <a:endParaRPr lang="en-US" sz="1600">
              <a:latin typeface="Courier New" charset="0"/>
            </a:endParaRPr>
          </a:p>
          <a:p>
            <a:pPr eaLnBrk="1" hangingPunct="1">
              <a:buFontTx/>
              <a:buNone/>
            </a:pPr>
            <a:r>
              <a:rPr lang="en-US" sz="1600">
                <a:latin typeface="Courier New" charset="0"/>
              </a:rPr>
              <a:t>trace.</a:t>
            </a:r>
          </a:p>
          <a:p>
            <a:pPr eaLnBrk="1" hangingPunct="1">
              <a:buFontTx/>
              <a:buNone/>
            </a:pPr>
            <a:r>
              <a:rPr lang="en-US" sz="1600">
                <a:latin typeface="Courier New" charset="0"/>
              </a:rPr>
              <a:t>likes(jake, X), likes(darcie, X).</a:t>
            </a:r>
          </a:p>
          <a:p>
            <a:pPr eaLnBrk="1" hangingPunct="1">
              <a:buFontTx/>
              <a:buAutoNum type="arabicParenBoth"/>
            </a:pPr>
            <a:r>
              <a:rPr lang="en-US" sz="1400">
                <a:latin typeface="Courier New" charset="0"/>
              </a:rPr>
              <a:t> 1 Call: likes(jake, _0)?</a:t>
            </a:r>
          </a:p>
          <a:p>
            <a:pPr eaLnBrk="1" hangingPunct="1">
              <a:buFontTx/>
              <a:buNone/>
            </a:pPr>
            <a:r>
              <a:rPr lang="en-US" sz="1400">
                <a:latin typeface="Courier New" charset="0"/>
              </a:rPr>
              <a:t>(1) 1 Exit: likes(jake, chocolate)</a:t>
            </a:r>
          </a:p>
          <a:p>
            <a:pPr eaLnBrk="1" hangingPunct="1">
              <a:buFontTx/>
              <a:buNone/>
            </a:pPr>
            <a:r>
              <a:rPr lang="en-US" sz="1400">
                <a:latin typeface="Courier New" charset="0"/>
              </a:rPr>
              <a:t>(2) 1 Call: likes(darcie, chocolate)?</a:t>
            </a:r>
          </a:p>
          <a:p>
            <a:pPr eaLnBrk="1" hangingPunct="1">
              <a:buFontTx/>
              <a:buNone/>
            </a:pPr>
            <a:r>
              <a:rPr lang="en-US" sz="1400">
                <a:latin typeface="Courier New" charset="0"/>
              </a:rPr>
              <a:t>(2) 1 Fail: likes(darcie, chocolate)</a:t>
            </a:r>
          </a:p>
          <a:p>
            <a:pPr eaLnBrk="1" hangingPunct="1">
              <a:buFontTx/>
              <a:buAutoNum type="arabicParenBoth"/>
            </a:pPr>
            <a:r>
              <a:rPr lang="en-US" sz="1400">
                <a:latin typeface="Courier New" charset="0"/>
              </a:rPr>
              <a:t> 1 Redo: likes(jake, _0)?</a:t>
            </a:r>
          </a:p>
          <a:p>
            <a:pPr eaLnBrk="1" hangingPunct="1">
              <a:buFontTx/>
              <a:buNone/>
            </a:pPr>
            <a:r>
              <a:rPr lang="en-US" sz="1400">
                <a:latin typeface="Courier New" charset="0"/>
              </a:rPr>
              <a:t>(1) 1 Exit: likes(jake, apricots)</a:t>
            </a:r>
          </a:p>
          <a:p>
            <a:pPr eaLnBrk="1" hangingPunct="1">
              <a:buFontTx/>
              <a:buNone/>
            </a:pPr>
            <a:r>
              <a:rPr lang="en-US" sz="1400">
                <a:latin typeface="Courier New" charset="0"/>
              </a:rPr>
              <a:t>(3) 1 Call: likes(darcie, apricots)?</a:t>
            </a:r>
          </a:p>
          <a:p>
            <a:pPr eaLnBrk="1" hangingPunct="1">
              <a:buFontTx/>
              <a:buNone/>
            </a:pPr>
            <a:r>
              <a:rPr lang="en-US" sz="1400">
                <a:latin typeface="Courier New" charset="0"/>
              </a:rPr>
              <a:t>(3) 1 Exit: likes(darcie, apricots)</a:t>
            </a:r>
          </a:p>
          <a:p>
            <a:pPr eaLnBrk="1" hangingPunct="1">
              <a:buFontTx/>
              <a:buNone/>
            </a:pPr>
            <a:r>
              <a:rPr lang="en-US" sz="1400">
                <a:latin typeface="Courier New" charset="0"/>
              </a:rPr>
              <a:t>X = apricots</a:t>
            </a:r>
          </a:p>
          <a:p>
            <a:pPr eaLnBrk="1" hangingPunct="1">
              <a:buFontTx/>
              <a:buNone/>
            </a:pPr>
            <a:endParaRPr lang="en-US" sz="1400"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7077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b="0" cap="all" dirty="0"/>
              <a:t>THE GRAPH COLORING PROBLEM</a:t>
            </a:r>
            <a:br>
              <a:rPr lang="nl-NL" b="0" cap="all" dirty="0"/>
            </a:br>
            <a:br>
              <a:rPr lang="nl-NL" dirty="0"/>
            </a:b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2012 Addison-Wesley. All rights reserved.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28E47E13-3370-114C-A9EB-481638A8DD2A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1026" name="Picture 2" descr="https://bernardopires.com/wp-content/uploads/2013/09/map_coloring_germany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8125" y="908720"/>
            <a:ext cx="8905875" cy="46101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Kleuren </a:t>
            </a:r>
            <a:r>
              <a:rPr lang="nl-NL" dirty="0" err="1"/>
              <a:t>defineren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nl-NL" dirty="0"/>
              <a:t>kleur(rood).</a:t>
            </a:r>
          </a:p>
          <a:p>
            <a:pPr>
              <a:buNone/>
            </a:pPr>
            <a:r>
              <a:rPr lang="nl-NL" dirty="0"/>
              <a:t>kleur(groen).</a:t>
            </a:r>
          </a:p>
          <a:p>
            <a:pPr>
              <a:buNone/>
            </a:pPr>
            <a:r>
              <a:rPr lang="nl-NL" dirty="0"/>
              <a:t>kleur(blauw).</a:t>
            </a:r>
          </a:p>
          <a:p>
            <a:pPr>
              <a:buNone/>
            </a:pPr>
            <a:r>
              <a:rPr lang="nl-NL" dirty="0"/>
              <a:t>kleur(geel).</a:t>
            </a:r>
          </a:p>
          <a:p>
            <a:pPr>
              <a:buNone/>
            </a:pPr>
            <a:endParaRPr lang="nl-NL" dirty="0"/>
          </a:p>
          <a:p>
            <a:pPr>
              <a:buNone/>
            </a:pP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2012 Addison-Wesley. All rights reserved.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28E47E13-3370-114C-A9EB-481638A8DD2A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Buurdeelstaten mogen niet dezelfde kleur hebben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nl-NL" dirty="0"/>
              <a:t>buren(</a:t>
            </a:r>
            <a:r>
              <a:rPr lang="nl-NL" dirty="0" err="1"/>
              <a:t>DeelstaatAkleur</a:t>
            </a:r>
            <a:r>
              <a:rPr lang="nl-NL" dirty="0"/>
              <a:t>, </a:t>
            </a:r>
            <a:r>
              <a:rPr lang="nl-NL" dirty="0" err="1"/>
              <a:t>DeelstaatBkleur</a:t>
            </a:r>
            <a:r>
              <a:rPr lang="nl-NL" dirty="0"/>
              <a:t>) :- kleur(</a:t>
            </a:r>
            <a:r>
              <a:rPr lang="nl-NL" dirty="0" err="1"/>
              <a:t>DeelstaatAkleur</a:t>
            </a:r>
            <a:r>
              <a:rPr lang="nl-NL" dirty="0"/>
              <a:t>), </a:t>
            </a:r>
          </a:p>
          <a:p>
            <a:pPr>
              <a:buNone/>
            </a:pPr>
            <a:r>
              <a:rPr lang="nl-NL" dirty="0"/>
              <a:t>    kleur(</a:t>
            </a:r>
            <a:r>
              <a:rPr lang="nl-NL" dirty="0" err="1"/>
              <a:t>DeelstaatBkleur</a:t>
            </a:r>
            <a:r>
              <a:rPr lang="nl-NL" dirty="0"/>
              <a:t>), </a:t>
            </a:r>
          </a:p>
          <a:p>
            <a:pPr>
              <a:buNone/>
            </a:pPr>
            <a:r>
              <a:rPr lang="nl-NL" dirty="0"/>
              <a:t>    </a:t>
            </a:r>
            <a:r>
              <a:rPr lang="nl-NL" dirty="0" err="1"/>
              <a:t>DeelstaatAkleur</a:t>
            </a:r>
            <a:r>
              <a:rPr lang="nl-NL" dirty="0"/>
              <a:t> \= </a:t>
            </a:r>
            <a:r>
              <a:rPr lang="nl-NL" dirty="0" err="1"/>
              <a:t>DeelstaatBkleur</a:t>
            </a:r>
            <a:r>
              <a:rPr lang="nl-NL" dirty="0"/>
              <a:t>. /* \= is de niet gelijk operator */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2012 Addison-Wesley. All rights reserved.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28E47E13-3370-114C-A9EB-481638A8DD2A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 kaart van Duitsland </a:t>
            </a:r>
            <a:r>
              <a:rPr lang="nl-NL" dirty="0" err="1"/>
              <a:t>defineren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nl-NL" dirty="0" err="1"/>
              <a:t>duitsland</a:t>
            </a:r>
            <a:r>
              <a:rPr lang="nl-NL" dirty="0"/>
              <a:t>(SH, MV, HH, HB, NI, ST, BE, BB, SN, NW, HE, TH, RP, SL, BW, BY) :- </a:t>
            </a:r>
          </a:p>
          <a:p>
            <a:pPr>
              <a:buNone/>
            </a:pPr>
            <a:r>
              <a:rPr lang="nl-NL" dirty="0"/>
              <a:t>buren(SH, NI), buren(SH, HH), buren(SH, MV),</a:t>
            </a:r>
          </a:p>
          <a:p>
            <a:pPr>
              <a:buNone/>
            </a:pPr>
            <a:r>
              <a:rPr lang="nl-NL" dirty="0"/>
              <a:t>buren(HH, NI),</a:t>
            </a:r>
          </a:p>
          <a:p>
            <a:pPr>
              <a:buNone/>
            </a:pPr>
            <a:r>
              <a:rPr lang="nl-NL" dirty="0"/>
              <a:t>buren(MV, NI), buren(MV, BB),</a:t>
            </a:r>
          </a:p>
          <a:p>
            <a:pPr>
              <a:buNone/>
            </a:pPr>
            <a:r>
              <a:rPr lang="nl-NL" dirty="0"/>
              <a:t>buren(NI, HB), buren(NI, BB), buren(NI, ST), buren(NI, TH),</a:t>
            </a:r>
          </a:p>
          <a:p>
            <a:pPr>
              <a:buNone/>
            </a:pPr>
            <a:r>
              <a:rPr lang="nl-NL" dirty="0"/>
              <a:t>buren(NI, HE), buren(NI, NW),</a:t>
            </a:r>
          </a:p>
          <a:p>
            <a:pPr>
              <a:buNone/>
            </a:pPr>
            <a:r>
              <a:rPr lang="nl-NL" dirty="0"/>
              <a:t>buren(ST, BB), buren(ST, SN), buren(ST, TH),</a:t>
            </a:r>
          </a:p>
          <a:p>
            <a:pPr>
              <a:buNone/>
            </a:pPr>
            <a:r>
              <a:rPr lang="nl-NL" dirty="0"/>
              <a:t>buren(BB, BE), buren(BB, SN),</a:t>
            </a:r>
          </a:p>
          <a:p>
            <a:pPr>
              <a:buNone/>
            </a:pPr>
            <a:r>
              <a:rPr lang="nl-NL" dirty="0"/>
              <a:t>buren(NW, HE), buren(NW, RP),</a:t>
            </a:r>
          </a:p>
          <a:p>
            <a:pPr>
              <a:buNone/>
            </a:pPr>
            <a:r>
              <a:rPr lang="nl-NL" dirty="0"/>
              <a:t>buren(SN, TH), buren(SN, BY),</a:t>
            </a:r>
          </a:p>
          <a:p>
            <a:pPr>
              <a:buNone/>
            </a:pPr>
            <a:r>
              <a:rPr lang="nl-NL" dirty="0"/>
              <a:t>buren(RP, SL), buren(RP, HE), buren(RP, BW),</a:t>
            </a:r>
          </a:p>
          <a:p>
            <a:pPr>
              <a:buNone/>
            </a:pPr>
            <a:r>
              <a:rPr lang="nl-NL" dirty="0"/>
              <a:t>buren(HE, BW), buren(HE, TH), buren(HE, BY),</a:t>
            </a:r>
          </a:p>
          <a:p>
            <a:pPr>
              <a:buNone/>
            </a:pPr>
            <a:r>
              <a:rPr lang="nl-NL" dirty="0"/>
              <a:t>buren(TH, BY),</a:t>
            </a:r>
          </a:p>
          <a:p>
            <a:pPr>
              <a:buNone/>
            </a:pPr>
            <a:r>
              <a:rPr lang="nl-NL" dirty="0"/>
              <a:t>buren(BW, BY).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2012 Addison-Wesley. All rights reserved.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28E47E13-3370-114C-A9EB-481638A8DD2A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Is het mogelijk?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?-</a:t>
            </a:r>
            <a:r>
              <a:rPr lang="en-US" dirty="0" err="1"/>
              <a:t>duitsland</a:t>
            </a:r>
            <a:r>
              <a:rPr lang="en-US" dirty="0"/>
              <a:t>(SH, MV, HH, HB, NI, ST, BE, BB, SN, NW, HE, TH, RP, SL, BW, BY).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2012 Addison-Wesley. All rights reserved.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28E47E13-3370-114C-A9EB-481638A8DD2A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8192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8224C35D-F246-3148-AE9B-F63C2B895D67}" type="slidenum">
              <a:rPr lang="en-US" sz="1000">
                <a:latin typeface="Arial" charset="0"/>
              </a:rPr>
              <a:pPr/>
              <a:t>50</a:t>
            </a:fld>
            <a:endParaRPr lang="en-US" sz="1000">
              <a:latin typeface="Arial" charset="0"/>
            </a:endParaRPr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List Structures</a:t>
            </a:r>
          </a:p>
        </p:txBody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534400" cy="4495800"/>
          </a:xfrm>
        </p:spPr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Other basic data structure (besides atomic propositions we have already seen): list</a:t>
            </a:r>
          </a:p>
          <a:p>
            <a:pPr eaLnBrk="1" hangingPunct="1"/>
            <a:r>
              <a:rPr lang="en-US" i="1">
                <a:latin typeface="Lucida Sans Unicode" charset="0"/>
              </a:rPr>
              <a:t>List</a:t>
            </a:r>
            <a:r>
              <a:rPr lang="en-US">
                <a:latin typeface="Lucida Sans Unicode" charset="0"/>
              </a:rPr>
              <a:t> is a sequence of any number of elements</a:t>
            </a:r>
          </a:p>
          <a:p>
            <a:pPr eaLnBrk="1" hangingPunct="1"/>
            <a:r>
              <a:rPr lang="en-US">
                <a:latin typeface="Lucida Sans Unicode" charset="0"/>
              </a:rPr>
              <a:t>Elements can be atoms, atomic propositions, or other terms (including other lists)</a:t>
            </a:r>
          </a:p>
          <a:p>
            <a:pPr eaLnBrk="1" hangingPunct="1">
              <a:buFontTx/>
              <a:buNone/>
            </a:pPr>
            <a:endParaRPr lang="en-US">
              <a:latin typeface="Lucida Sans Unicode" charset="0"/>
            </a:endParaRPr>
          </a:p>
          <a:p>
            <a:pPr eaLnBrk="1" hangingPunct="1">
              <a:buFontTx/>
              <a:buNone/>
            </a:pPr>
            <a:r>
              <a:rPr lang="en-US" sz="2400" b="1">
                <a:latin typeface="Courier New" charset="0"/>
              </a:rPr>
              <a:t>	</a:t>
            </a:r>
            <a:r>
              <a:rPr lang="en-US" sz="2000">
                <a:latin typeface="Courier New" charset="0"/>
              </a:rPr>
              <a:t>[apple, prune, grape, kumquat]</a:t>
            </a:r>
          </a:p>
          <a:p>
            <a:pPr eaLnBrk="1" hangingPunct="1">
              <a:buFontTx/>
              <a:buNone/>
            </a:pPr>
            <a:r>
              <a:rPr lang="en-US" sz="2400">
                <a:latin typeface="Courier New" charset="0"/>
              </a:rPr>
              <a:t>	</a:t>
            </a:r>
            <a:r>
              <a:rPr lang="en-US" sz="2000">
                <a:latin typeface="Courier New" charset="0"/>
              </a:rPr>
              <a:t>[]</a:t>
            </a:r>
            <a:r>
              <a:rPr lang="en-US" sz="2400" b="1">
                <a:latin typeface="Courier New" charset="0"/>
              </a:rPr>
              <a:t> 		</a:t>
            </a:r>
            <a:r>
              <a:rPr lang="en-US" sz="2400" b="1" i="1">
                <a:latin typeface="Courier New" charset="0"/>
              </a:rPr>
              <a:t>(</a:t>
            </a:r>
            <a:r>
              <a:rPr lang="en-US" sz="2400" i="1">
                <a:latin typeface="Lucida Sans Unicode" charset="0"/>
              </a:rPr>
              <a:t>empty list)</a:t>
            </a:r>
            <a:endParaRPr lang="en-US" sz="2400" b="1" i="1">
              <a:latin typeface="Courier New" charset="0"/>
            </a:endParaRPr>
          </a:p>
          <a:p>
            <a:pPr eaLnBrk="1" hangingPunct="1">
              <a:buFontTx/>
              <a:buNone/>
            </a:pPr>
            <a:r>
              <a:rPr lang="en-US" sz="2400" b="1">
                <a:latin typeface="Courier New" charset="0"/>
              </a:rPr>
              <a:t>	</a:t>
            </a:r>
            <a:r>
              <a:rPr lang="en-US" sz="2000">
                <a:latin typeface="Courier New" charset="0"/>
              </a:rPr>
              <a:t>[X | Y]</a:t>
            </a:r>
            <a:r>
              <a:rPr lang="en-US" sz="2000" b="1">
                <a:latin typeface="Courier New" charset="0"/>
              </a:rPr>
              <a:t> </a:t>
            </a:r>
            <a:r>
              <a:rPr lang="en-US" sz="2400" b="1">
                <a:latin typeface="Courier New" charset="0"/>
              </a:rPr>
              <a:t>	</a:t>
            </a:r>
            <a:r>
              <a:rPr lang="en-US" sz="2400" b="1" i="1">
                <a:latin typeface="Courier New" charset="0"/>
              </a:rPr>
              <a:t>(</a:t>
            </a:r>
            <a:r>
              <a:rPr lang="en-US" sz="2400" i="1">
                <a:latin typeface="Lucida Sans Unicode" charset="0"/>
              </a:rPr>
              <a:t>head X and tail Y)</a:t>
            </a:r>
            <a:endParaRPr lang="en-US" sz="2400">
              <a:latin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0205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8397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A8EDF813-89B5-E349-818E-E5FB44CE78FE}" type="slidenum">
              <a:rPr lang="en-US" sz="1000">
                <a:latin typeface="Arial" charset="0"/>
              </a:rPr>
              <a:pPr/>
              <a:t>51</a:t>
            </a:fld>
            <a:endParaRPr lang="en-US" sz="1000">
              <a:latin typeface="Arial" charset="0"/>
            </a:endParaRPr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Append Example</a:t>
            </a:r>
          </a:p>
        </p:txBody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153400" cy="4572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400">
                <a:latin typeface="Courier New" charset="0"/>
              </a:rPr>
              <a:t>	</a:t>
            </a:r>
            <a:r>
              <a:rPr lang="en-US" sz="1800">
                <a:latin typeface="Courier New" charset="0"/>
              </a:rPr>
              <a:t>append([], List, List).</a:t>
            </a:r>
          </a:p>
          <a:p>
            <a:pPr eaLnBrk="1" hangingPunct="1">
              <a:buFontTx/>
              <a:buNone/>
            </a:pPr>
            <a:r>
              <a:rPr lang="en-US" sz="1800">
                <a:latin typeface="Courier New" charset="0"/>
              </a:rPr>
              <a:t>	append([Head | List_1], List_2, [Head | List_3]) :- </a:t>
            </a:r>
          </a:p>
          <a:p>
            <a:pPr eaLnBrk="1" hangingPunct="1">
              <a:buFontTx/>
              <a:buNone/>
            </a:pPr>
            <a:r>
              <a:rPr lang="en-US" sz="1800">
                <a:latin typeface="Courier New" charset="0"/>
              </a:rPr>
              <a:t>              append (List_1, List_2, List_3).</a:t>
            </a:r>
            <a:endParaRPr lang="en-US" sz="1800" b="1"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6418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8601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6643E079-6258-7947-BE85-041BAE9F50D4}" type="slidenum">
              <a:rPr lang="en-US" sz="1000">
                <a:latin typeface="Arial" charset="0"/>
              </a:rPr>
              <a:pPr/>
              <a:t>52</a:t>
            </a:fld>
            <a:endParaRPr lang="en-US" sz="1000">
              <a:latin typeface="Arial" charset="0"/>
            </a:endParaRPr>
          </a:p>
        </p:txBody>
      </p:sp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More Examples</a:t>
            </a:r>
          </a:p>
        </p:txBody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buFontTx/>
              <a:buNone/>
            </a:pPr>
            <a:r>
              <a:rPr lang="en-US" sz="2000">
                <a:latin typeface="Courier New" charset="0"/>
              </a:rPr>
              <a:t>reverse([], []).</a:t>
            </a:r>
          </a:p>
          <a:p>
            <a:pPr eaLnBrk="1" hangingPunct="1">
              <a:buFontTx/>
              <a:buNone/>
            </a:pPr>
            <a:r>
              <a:rPr lang="en-US" sz="2000">
                <a:latin typeface="Courier New" charset="0"/>
              </a:rPr>
              <a:t>reverse([Head | Tail], List) :- </a:t>
            </a:r>
          </a:p>
          <a:p>
            <a:pPr eaLnBrk="1" hangingPunct="1">
              <a:buFontTx/>
              <a:buNone/>
            </a:pPr>
            <a:r>
              <a:rPr lang="en-US" sz="2000">
                <a:latin typeface="Courier New" charset="0"/>
              </a:rPr>
              <a:t>  reverse (Tail, Result),  </a:t>
            </a:r>
          </a:p>
          <a:p>
            <a:pPr eaLnBrk="1" hangingPunct="1">
              <a:buFontTx/>
              <a:buNone/>
            </a:pPr>
            <a:r>
              <a:rPr lang="en-US" sz="2000">
                <a:latin typeface="Courier New" charset="0"/>
              </a:rPr>
              <a:t>           append (Result, [Head], List).</a:t>
            </a:r>
          </a:p>
          <a:p>
            <a:pPr eaLnBrk="1" hangingPunct="1">
              <a:buFontTx/>
              <a:buNone/>
            </a:pPr>
            <a:endParaRPr lang="en-US" sz="2000">
              <a:latin typeface="Courier New" charset="0"/>
            </a:endParaRPr>
          </a:p>
          <a:p>
            <a:pPr eaLnBrk="1" hangingPunct="1">
              <a:buFontTx/>
              <a:buNone/>
            </a:pPr>
            <a:endParaRPr lang="en-US" sz="2000">
              <a:latin typeface="Courier New" charset="0"/>
            </a:endParaRPr>
          </a:p>
          <a:p>
            <a:pPr eaLnBrk="1" hangingPunct="1">
              <a:buFontTx/>
              <a:buNone/>
            </a:pPr>
            <a:r>
              <a:rPr lang="en-US" sz="2000">
                <a:latin typeface="Courier New" charset="0"/>
              </a:rPr>
              <a:t>member(Element, [Element | _]).</a:t>
            </a:r>
          </a:p>
          <a:p>
            <a:pPr eaLnBrk="1" hangingPunct="1">
              <a:buFontTx/>
              <a:buNone/>
            </a:pPr>
            <a:r>
              <a:rPr lang="en-US" sz="2000">
                <a:latin typeface="Courier New" charset="0"/>
              </a:rPr>
              <a:t>member(Element, [_ | List]) :-</a:t>
            </a:r>
          </a:p>
          <a:p>
            <a:pPr eaLnBrk="1" hangingPunct="1">
              <a:buFontTx/>
              <a:buNone/>
            </a:pPr>
            <a:r>
              <a:rPr lang="en-US" sz="2000">
                <a:latin typeface="Courier New" charset="0"/>
              </a:rPr>
              <a:t>                       member(Element, List).</a:t>
            </a:r>
          </a:p>
          <a:p>
            <a:pPr eaLnBrk="1" hangingPunct="1">
              <a:buFontTx/>
              <a:buNone/>
            </a:pPr>
            <a:endParaRPr lang="en-US" sz="2000">
              <a:latin typeface="Courier New" charset="0"/>
            </a:endParaRPr>
          </a:p>
          <a:p>
            <a:pPr eaLnBrk="1" hangingPunct="1">
              <a:buFontTx/>
              <a:buNone/>
            </a:pPr>
            <a:r>
              <a:rPr lang="en-US" sz="2000">
                <a:latin typeface="Lucida Sans Unicode" charset="0"/>
              </a:rPr>
              <a:t>    The underscore character means an anonymous variable—it means we do not care what instantiation it might get from unification</a:t>
            </a:r>
          </a:p>
        </p:txBody>
      </p:sp>
    </p:spTree>
    <p:extLst>
      <p:ext uri="{BB962C8B-B14F-4D97-AF65-F5344CB8AC3E}">
        <p14:creationId xmlns:p14="http://schemas.microsoft.com/office/powerpoint/2010/main" val="27964424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8806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5F08ABF5-9B72-F84E-8B8D-BE411B0E5B3C}" type="slidenum">
              <a:rPr lang="en-US" sz="1000">
                <a:latin typeface="Arial" charset="0"/>
              </a:rPr>
              <a:pPr/>
              <a:t>53</a:t>
            </a:fld>
            <a:endParaRPr lang="en-US" sz="1000">
              <a:latin typeface="Arial" charset="0"/>
            </a:endParaRPr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Deficiencies of Prolog</a:t>
            </a:r>
          </a:p>
        </p:txBody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399"/>
            <a:ext cx="8153400" cy="4442941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2400" dirty="0">
                <a:latin typeface="Lucida Sans Unicode" charset="0"/>
              </a:rPr>
              <a:t>Resolution order control</a:t>
            </a:r>
          </a:p>
          <a:p>
            <a:pPr lvl="1" eaLnBrk="1" hangingPunct="1"/>
            <a:r>
              <a:rPr lang="en-US" sz="2200" dirty="0">
                <a:latin typeface="Lucida Sans Unicode" charset="0"/>
                <a:ea typeface="Lucida Sans Unicode" charset="0"/>
                <a:cs typeface="Lucida Sans Unicode" charset="0"/>
              </a:rPr>
              <a:t>In a pure logic programming environment, the order of attempted matches is nondeterministic and all matches would be attempted concurrently</a:t>
            </a:r>
          </a:p>
          <a:p>
            <a:pPr eaLnBrk="1" hangingPunct="1"/>
            <a:r>
              <a:rPr lang="en-US" sz="2400" dirty="0">
                <a:latin typeface="Lucida Sans Unicode" charset="0"/>
              </a:rPr>
              <a:t>The closed-world assumption</a:t>
            </a:r>
          </a:p>
          <a:p>
            <a:pPr lvl="1" eaLnBrk="1" hangingPunct="1"/>
            <a:r>
              <a:rPr lang="en-US" sz="2200" dirty="0">
                <a:latin typeface="Lucida Sans Unicode" charset="0"/>
                <a:ea typeface="Lucida Sans Unicode" charset="0"/>
                <a:cs typeface="Lucida Sans Unicode" charset="0"/>
              </a:rPr>
              <a:t>The only knowledge is what is in the database</a:t>
            </a:r>
          </a:p>
          <a:p>
            <a:pPr eaLnBrk="1" hangingPunct="1"/>
            <a:r>
              <a:rPr lang="en-US" sz="2400" dirty="0">
                <a:latin typeface="Lucida Sans Unicode" charset="0"/>
              </a:rPr>
              <a:t>The negation problem</a:t>
            </a:r>
          </a:p>
          <a:p>
            <a:pPr lvl="1" eaLnBrk="1" hangingPunct="1"/>
            <a:r>
              <a:rPr lang="en-US" sz="2200" dirty="0">
                <a:latin typeface="Lucida Sans Unicode" charset="0"/>
                <a:ea typeface="Lucida Sans Unicode" charset="0"/>
                <a:cs typeface="Lucida Sans Unicode" charset="0"/>
              </a:rPr>
              <a:t>Anything not stated in the database is assumed to be false</a:t>
            </a:r>
          </a:p>
          <a:p>
            <a:pPr eaLnBrk="1" hangingPunct="1"/>
            <a:r>
              <a:rPr lang="en-US" sz="2400" dirty="0">
                <a:latin typeface="Lucida Sans Unicode" charset="0"/>
              </a:rPr>
              <a:t>Intrinsic limitations</a:t>
            </a:r>
          </a:p>
          <a:p>
            <a:pPr lvl="1" eaLnBrk="1" hangingPunct="1"/>
            <a:r>
              <a:rPr lang="en-US" sz="2200" dirty="0">
                <a:latin typeface="Lucida Sans Unicode" charset="0"/>
                <a:ea typeface="Lucida Sans Unicode" charset="0"/>
                <a:cs typeface="Lucida Sans Unicode" charset="0"/>
              </a:rPr>
              <a:t>It is easy to state a sort process in logic, but difficult to actually do—it </a:t>
            </a:r>
            <a:r>
              <a:rPr lang="en-US" sz="2200" dirty="0" err="1">
                <a:latin typeface="Lucida Sans Unicode" charset="0"/>
                <a:ea typeface="Lucida Sans Unicode" charset="0"/>
                <a:cs typeface="Lucida Sans Unicode" charset="0"/>
              </a:rPr>
              <a:t>doesn</a:t>
            </a:r>
            <a:r>
              <a:rPr lang="ja-JP" altLang="en-US" sz="2200">
                <a:latin typeface="Lucida Sans Unicode" charset="0"/>
                <a:ea typeface="Lucida Sans Unicode" charset="0"/>
                <a:cs typeface="Lucida Sans Unicode" charset="0"/>
              </a:rPr>
              <a:t>’</a:t>
            </a:r>
            <a:r>
              <a:rPr lang="en-US" altLang="ja-JP" sz="2200" dirty="0">
                <a:latin typeface="Lucida Sans Unicode" charset="0"/>
                <a:ea typeface="Lucida Sans Unicode" charset="0"/>
                <a:cs typeface="Lucida Sans Unicode" charset="0"/>
              </a:rPr>
              <a:t>t know how to sort</a:t>
            </a:r>
          </a:p>
          <a:p>
            <a:pPr eaLnBrk="1" hangingPunct="1"/>
            <a:endParaRPr lang="en-US" dirty="0">
              <a:latin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4005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Opdrachten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Download de </a:t>
            </a:r>
            <a:r>
              <a:rPr lang="nl-NL" dirty="0" err="1"/>
              <a:t>imdb</a:t>
            </a:r>
            <a:r>
              <a:rPr lang="nl-NL" dirty="0"/>
              <a:t> oefeningen van ELO</a:t>
            </a:r>
          </a:p>
          <a:p>
            <a:pPr marL="0" indent="0">
              <a:buNone/>
            </a:pPr>
            <a:r>
              <a:rPr lang="nl-NL" dirty="0"/>
              <a:t>Ga naar </a:t>
            </a:r>
            <a:r>
              <a:rPr lang="nl-NL" dirty="0">
                <a:hlinkClick r:id="rId2"/>
              </a:rPr>
              <a:t>http://swish.swi-prolog.org/</a:t>
            </a:r>
            <a:endParaRPr lang="nl-NL" dirty="0"/>
          </a:p>
          <a:p>
            <a:pPr marL="0" indent="0">
              <a:buNone/>
            </a:pPr>
            <a:r>
              <a:rPr lang="nl-NL" dirty="0"/>
              <a:t>Maak een nieuw programma. </a:t>
            </a:r>
          </a:p>
          <a:p>
            <a:pPr marL="0" indent="0">
              <a:buNone/>
            </a:pPr>
            <a:r>
              <a:rPr lang="nl-NL" dirty="0"/>
              <a:t>Kopieer de code van de </a:t>
            </a:r>
            <a:r>
              <a:rPr lang="nl-NL" dirty="0" err="1"/>
              <a:t>imdb</a:t>
            </a:r>
            <a:r>
              <a:rPr lang="nl-NL" dirty="0"/>
              <a:t> oefeningen op deze website </a:t>
            </a:r>
          </a:p>
          <a:p>
            <a:pPr marL="0" indent="0">
              <a:buNone/>
            </a:pPr>
            <a:r>
              <a:rPr lang="nl-NL" dirty="0"/>
              <a:t>Maak de oefeningen.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2012 Addison-Wesley. All rights reserved.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28E47E13-3370-114C-A9EB-481638A8DD2A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5420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Logic </a:t>
            </a:r>
            <a:r>
              <a:rPr lang="nl-NL" dirty="0" err="1"/>
              <a:t>programming</a:t>
            </a:r>
            <a:r>
              <a:rPr lang="nl-NL" dirty="0"/>
              <a:t> in </a:t>
            </a:r>
            <a:r>
              <a:rPr lang="nl-NL" dirty="0" err="1"/>
              <a:t>Haskell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-- Predefining ==&gt; and &lt;=&gt;</a:t>
            </a:r>
          </a:p>
          <a:p>
            <a:pPr marL="0" indent="0">
              <a:buNone/>
            </a:pPr>
            <a:r>
              <a:rPr lang="en-US" dirty="0"/>
              <a:t>infix 1 ==&gt;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(==&gt;) :: </a:t>
            </a:r>
            <a:r>
              <a:rPr lang="en-US" dirty="0" err="1"/>
              <a:t>Bool</a:t>
            </a:r>
            <a:r>
              <a:rPr lang="en-US" dirty="0"/>
              <a:t> -&gt; </a:t>
            </a:r>
            <a:r>
              <a:rPr lang="en-US" dirty="0" err="1"/>
              <a:t>Bool</a:t>
            </a:r>
            <a:r>
              <a:rPr lang="en-US" dirty="0"/>
              <a:t> -&gt; </a:t>
            </a:r>
            <a:r>
              <a:rPr lang="en-US" dirty="0" err="1"/>
              <a:t>Bool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x ==&gt; y = (not x) || 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infix 1 &lt;=&gt;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(&lt;=&gt;) :: </a:t>
            </a:r>
            <a:r>
              <a:rPr lang="en-US" dirty="0" err="1"/>
              <a:t>Bool</a:t>
            </a:r>
            <a:r>
              <a:rPr lang="en-US" dirty="0"/>
              <a:t> -&gt; </a:t>
            </a:r>
            <a:r>
              <a:rPr lang="en-US" dirty="0" err="1"/>
              <a:t>Bool</a:t>
            </a:r>
            <a:r>
              <a:rPr lang="en-US" dirty="0"/>
              <a:t> -&gt; </a:t>
            </a:r>
            <a:r>
              <a:rPr lang="en-US" dirty="0" err="1"/>
              <a:t>Bool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x &lt;=&gt; y = x == y </a:t>
            </a:r>
          </a:p>
          <a:p>
            <a:pPr marL="0" indent="0">
              <a:buNone/>
            </a:pPr>
            <a:r>
              <a:rPr lang="en-US" dirty="0"/>
              <a:t>-- executing the </a:t>
            </a:r>
            <a:r>
              <a:rPr lang="en-US" dirty="0" err="1"/>
              <a:t>formular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 = True</a:t>
            </a:r>
          </a:p>
          <a:p>
            <a:pPr marL="0" indent="0">
              <a:buNone/>
            </a:pPr>
            <a:r>
              <a:rPr lang="en-US" dirty="0"/>
              <a:t>q = False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formula1 = (not p) &amp;&amp; (p ==&gt; q) &lt;=&gt; not (q &amp;&amp; (not p))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2012 Addison-Wesley. All rights reserved.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28E47E13-3370-114C-A9EB-481638A8DD2A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7210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9011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05B99245-B745-B04A-8D6F-33D9818C5BC7}" type="slidenum">
              <a:rPr lang="en-US" sz="1000">
                <a:latin typeface="Arial" charset="0"/>
              </a:rPr>
              <a:pPr/>
              <a:t>56</a:t>
            </a:fld>
            <a:endParaRPr lang="en-US" sz="1000">
              <a:latin typeface="Arial" charset="0"/>
            </a:endParaRPr>
          </a:p>
        </p:txBody>
      </p:sp>
      <p:sp>
        <p:nvSpPr>
          <p:cNvPr id="901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Applications of Logic Programming</a:t>
            </a:r>
          </a:p>
        </p:txBody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Relational database management systems</a:t>
            </a:r>
          </a:p>
          <a:p>
            <a:pPr eaLnBrk="1" hangingPunct="1"/>
            <a:r>
              <a:rPr lang="en-US">
                <a:latin typeface="Lucida Sans Unicode" charset="0"/>
              </a:rPr>
              <a:t>Expert systems</a:t>
            </a:r>
          </a:p>
          <a:p>
            <a:pPr eaLnBrk="1" hangingPunct="1"/>
            <a:r>
              <a:rPr lang="en-US">
                <a:latin typeface="Lucida Sans Unicode" charset="0"/>
              </a:rPr>
              <a:t>Natural language processing</a:t>
            </a:r>
          </a:p>
        </p:txBody>
      </p:sp>
    </p:spTree>
    <p:extLst>
      <p:ext uri="{BB962C8B-B14F-4D97-AF65-F5344CB8AC3E}">
        <p14:creationId xmlns:p14="http://schemas.microsoft.com/office/powerpoint/2010/main" val="10907058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921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38981A2D-E066-0C40-8AED-F08A90B1B539}" type="slidenum">
              <a:rPr lang="en-US" sz="1000">
                <a:latin typeface="Arial" charset="0"/>
              </a:rPr>
              <a:pPr/>
              <a:t>57</a:t>
            </a:fld>
            <a:endParaRPr lang="en-US" sz="1000">
              <a:latin typeface="Arial" charset="0"/>
            </a:endParaRPr>
          </a:p>
        </p:txBody>
      </p:sp>
      <p:sp>
        <p:nvSpPr>
          <p:cNvPr id="921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Summary</a:t>
            </a:r>
          </a:p>
        </p:txBody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</a:rPr>
              <a:t>Symbolic logic provides basis for logic programming</a:t>
            </a:r>
          </a:p>
          <a:p>
            <a:pPr eaLnBrk="1" hangingPunct="1"/>
            <a:r>
              <a:rPr lang="en-US">
                <a:latin typeface="Lucida Sans Unicode" charset="0"/>
              </a:rPr>
              <a:t>Logic programs should be nonprocedural</a:t>
            </a:r>
          </a:p>
          <a:p>
            <a:pPr eaLnBrk="1" hangingPunct="1"/>
            <a:r>
              <a:rPr lang="en-US">
                <a:latin typeface="Lucida Sans Unicode" charset="0"/>
              </a:rPr>
              <a:t>Prolog statements are facts, rules, or goals</a:t>
            </a:r>
          </a:p>
          <a:p>
            <a:pPr eaLnBrk="1" hangingPunct="1"/>
            <a:r>
              <a:rPr lang="en-US">
                <a:latin typeface="Lucida Sans Unicode" charset="0"/>
              </a:rPr>
              <a:t>Resolution is the primary activity of a Prolog interpreter</a:t>
            </a:r>
          </a:p>
          <a:p>
            <a:pPr eaLnBrk="1" hangingPunct="1"/>
            <a:r>
              <a:rPr lang="en-US">
                <a:latin typeface="Lucida Sans Unicode" charset="0"/>
              </a:rPr>
              <a:t>Although there are a number of drawbacks with the current state of logic programming it has been used in a number of areas</a:t>
            </a:r>
          </a:p>
          <a:p>
            <a:pPr eaLnBrk="1" hangingPunct="1"/>
            <a:endParaRPr lang="en-US">
              <a:latin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412485"/>
      </p:ext>
    </p:extLst>
  </p:cSld>
  <p:clrMapOvr>
    <a:masterClrMapping/>
  </p:clrMapOvr>
</p:sld>
</file>

<file path=ppt/theme/theme1.xml><?xml version="1.0" encoding="utf-8"?>
<a:theme xmlns:a="http://schemas.openxmlformats.org/drawingml/2006/main" name="hsleiden_nl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AB2A5A18D8404DBA73EF508DB4A06C" ma:contentTypeVersion="10" ma:contentTypeDescription="Een nieuw document maken." ma:contentTypeScope="" ma:versionID="373d39ad46615713677e9c3b89cd816b">
  <xsd:schema xmlns:xsd="http://www.w3.org/2001/XMLSchema" xmlns:xs="http://www.w3.org/2001/XMLSchema" xmlns:p="http://schemas.microsoft.com/office/2006/metadata/properties" xmlns:ns2="29d2fd08-a643-4874-a881-64648cdec31e" xmlns:ns3="65ea3e1d-5866-4f28-856d-8de3ded6bbfa" targetNamespace="http://schemas.microsoft.com/office/2006/metadata/properties" ma:root="true" ma:fieldsID="d9c0c6368d671c97b5cbddb522b225cb" ns2:_="" ns3:_="">
    <xsd:import namespace="29d2fd08-a643-4874-a881-64648cdec31e"/>
    <xsd:import namespace="65ea3e1d-5866-4f28-856d-8de3ded6bb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d2fd08-a643-4874-a881-64648cdec3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ea3e1d-5866-4f28-856d-8de3ded6bbfa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F6B8D1-1DA0-44A7-97E7-0CFFC7994F0D}">
  <ds:schemaRefs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82D8A79-FA9B-4F3F-8953-EFDEB9BC1050}"/>
</file>

<file path=customXml/itemProps3.xml><?xml version="1.0" encoding="utf-8"?>
<ds:datastoreItem xmlns:ds="http://schemas.openxmlformats.org/officeDocument/2006/customXml" ds:itemID="{8F8F1367-27EF-4407-8AD0-55117E118CD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hsleiden_nl.potx</Template>
  <TotalTime>3878</TotalTime>
  <Words>3476</Words>
  <Application>Microsoft Macintosh PowerPoint</Application>
  <PresentationFormat>Diavoorstelling (4:3)</PresentationFormat>
  <Paragraphs>582</Paragraphs>
  <Slides>57</Slides>
  <Notes>40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57</vt:i4>
      </vt:variant>
    </vt:vector>
  </HeadingPairs>
  <TitlesOfParts>
    <vt:vector size="64" baseType="lpstr">
      <vt:lpstr>Arial</vt:lpstr>
      <vt:lpstr>Calibri</vt:lpstr>
      <vt:lpstr>Courier New</vt:lpstr>
      <vt:lpstr>Lucida Sans Unicode</vt:lpstr>
      <vt:lpstr>Times</vt:lpstr>
      <vt:lpstr>Verdana</vt:lpstr>
      <vt:lpstr>hsleiden_nl</vt:lpstr>
      <vt:lpstr>Les 7 ICPT</vt:lpstr>
      <vt:lpstr>“Da’s gewoon logisch”</vt:lpstr>
      <vt:lpstr>Wat was dit ook alweer?</vt:lpstr>
      <vt:lpstr>Lesdoel</vt:lpstr>
      <vt:lpstr>Lesplanning</vt:lpstr>
      <vt:lpstr>Vragen?</vt:lpstr>
      <vt:lpstr>Chapter 16 Topics</vt:lpstr>
      <vt:lpstr>Introduction</vt:lpstr>
      <vt:lpstr>Proposition</vt:lpstr>
      <vt:lpstr>Symbolic Logic</vt:lpstr>
      <vt:lpstr>Object Representation</vt:lpstr>
      <vt:lpstr>Compound Terms</vt:lpstr>
      <vt:lpstr>Parts of a Compound Term</vt:lpstr>
      <vt:lpstr>Forms of a Proposition</vt:lpstr>
      <vt:lpstr>Logical Operators</vt:lpstr>
      <vt:lpstr>Quantifiers</vt:lpstr>
      <vt:lpstr>Clausal Form</vt:lpstr>
      <vt:lpstr>Predicate Calculus and Proving Theorems</vt:lpstr>
      <vt:lpstr>Resolution</vt:lpstr>
      <vt:lpstr>Proof by Contradiction</vt:lpstr>
      <vt:lpstr>Theorem Proving</vt:lpstr>
      <vt:lpstr>Overview of Logic Programming</vt:lpstr>
      <vt:lpstr>Example: Sorting a List</vt:lpstr>
      <vt:lpstr>The Origins of Prolog</vt:lpstr>
      <vt:lpstr>Terms</vt:lpstr>
      <vt:lpstr>Terms: Variables and Structures</vt:lpstr>
      <vt:lpstr>Fact Statements</vt:lpstr>
      <vt:lpstr>Rule Statements</vt:lpstr>
      <vt:lpstr>Example Rules</vt:lpstr>
      <vt:lpstr>Example John &amp; Mary</vt:lpstr>
      <vt:lpstr>Example Family Tree</vt:lpstr>
      <vt:lpstr>Example Family Tree (2)</vt:lpstr>
      <vt:lpstr>Example Family Tree (3)</vt:lpstr>
      <vt:lpstr>Example Family Tree (4)</vt:lpstr>
      <vt:lpstr>Goal Statements</vt:lpstr>
      <vt:lpstr>Inferencing Process of Prolog</vt:lpstr>
      <vt:lpstr>Approaches</vt:lpstr>
      <vt:lpstr>Subgoal Strategies</vt:lpstr>
      <vt:lpstr>Backtracking</vt:lpstr>
      <vt:lpstr>Backtracking</vt:lpstr>
      <vt:lpstr>Simple Arithmetic</vt:lpstr>
      <vt:lpstr>Example</vt:lpstr>
      <vt:lpstr>Trace</vt:lpstr>
      <vt:lpstr>Example</vt:lpstr>
      <vt:lpstr>THE GRAPH COLORING PROBLEM  </vt:lpstr>
      <vt:lpstr>Kleuren defineren</vt:lpstr>
      <vt:lpstr>Buurdeelstaten mogen niet dezelfde kleur hebben</vt:lpstr>
      <vt:lpstr>De kaart van Duitsland defineren</vt:lpstr>
      <vt:lpstr>Is het mogelijk?</vt:lpstr>
      <vt:lpstr>List Structures</vt:lpstr>
      <vt:lpstr>Append Example</vt:lpstr>
      <vt:lpstr>More Examples</vt:lpstr>
      <vt:lpstr>Deficiencies of Prolog</vt:lpstr>
      <vt:lpstr>Opdrachten</vt:lpstr>
      <vt:lpstr>Logic programming in Haskell</vt:lpstr>
      <vt:lpstr>Applications of Logic Programming</vt:lpstr>
      <vt:lpstr>Summary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Lars Wildenberg</dc:creator>
  <cp:lastModifiedBy>Arts, Ron</cp:lastModifiedBy>
  <cp:revision>143</cp:revision>
  <dcterms:created xsi:type="dcterms:W3CDTF">2013-11-07T10:07:57Z</dcterms:created>
  <dcterms:modified xsi:type="dcterms:W3CDTF">2020-01-15T22:01:23Z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0x010100E8AB2A5A18D8404DBA73EF508DB4A06C</vt:lpwstr>
  </property>
  <property fmtid="{D5CDD505-2E9C-101B-9397-08002B2CF9AE}" pid="3" name="EducationCourse">
    <vt:lpwstr/>
  </property>
  <property fmtid="{D5CDD505-2E9C-101B-9397-08002B2CF9AE}" pid="4" name="EducationYear">
    <vt:lpwstr/>
  </property>
  <property fmtid="{D5CDD505-2E9C-101B-9397-08002B2CF9AE}" pid="5" name="Order">
    <vt:r8>1300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