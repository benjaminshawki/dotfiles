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13"/>
  </p:notesMasterIdLst>
  <p:handoutMasterIdLst>
    <p:handoutMasterId r:id="rId14"/>
  </p:handoutMasterIdLst>
  <p:sldIdLst>
    <p:sldId id="347" r:id="rId3"/>
    <p:sldId id="343" r:id="rId4"/>
    <p:sldId id="332" r:id="rId5"/>
    <p:sldId id="339" r:id="rId6"/>
    <p:sldId id="348" r:id="rId7"/>
    <p:sldId id="341" r:id="rId8"/>
    <p:sldId id="335" r:id="rId9"/>
    <p:sldId id="331" r:id="rId10"/>
    <p:sldId id="333" r:id="rId11"/>
    <p:sldId id="340" r:id="rId1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2" autoAdjust="0"/>
    <p:restoredTop sz="94633" autoAdjust="0"/>
  </p:normalViewPr>
  <p:slideViewPr>
    <p:cSldViewPr>
      <p:cViewPr varScale="1">
        <p:scale>
          <a:sx n="116" d="100"/>
          <a:sy n="116" d="100"/>
        </p:scale>
        <p:origin x="-15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31-1-2018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1/31/2018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Alleen titel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4139951" y="5751257"/>
            <a:ext cx="216025" cy="216001"/>
          </a:xfrm>
          <a:prstGeom prst="ellipse">
            <a:avLst/>
          </a:prstGeom>
          <a:solidFill>
            <a:srgbClr val="23114C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230832" y="843558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590871" y="1816726"/>
            <a:ext cx="8229601" cy="317844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4131525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87344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srgbClr val="23114C"/>
                </a:solidFill>
              </a:rPr>
              <a:pPr/>
              <a:t>‹nr.›</a:t>
            </a:fld>
            <a:endParaRPr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1197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srgbClr val="23114C"/>
                </a:solidFill>
              </a:rPr>
              <a:pPr/>
              <a:t>‹nr.›</a:t>
            </a:fld>
            <a:endParaRPr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2472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srgbClr val="23114C"/>
                </a:solidFill>
              </a:rPr>
              <a:pPr/>
              <a:t>‹nr.›</a:t>
            </a:fld>
            <a:endParaRPr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47123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>
                <a:solidFill>
                  <a:srgbClr val="23114C"/>
                </a:solidFill>
              </a:rPr>
              <a:pPr/>
              <a:t>‹nr.›</a:t>
            </a:fld>
            <a:endParaRPr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54659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 hangingPunct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2400" kern="0">
              <a:solidFill>
                <a:srgbClr val="FFFFFF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183225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 hangingPunct="0"/>
            <a:fld id="{86CB4B4D-7CA3-9044-876B-883B54F8677D}" type="slidenum">
              <a:rPr kern="0">
                <a:solidFill>
                  <a:srgbClr val="23114C"/>
                </a:solidFill>
                <a:latin typeface="Verdana"/>
                <a:ea typeface="Verdana"/>
                <a:cs typeface="Verdana"/>
                <a:sym typeface="Verdana"/>
              </a:rPr>
              <a:pPr hangingPunct="0"/>
              <a:t>‹nr.›</a:t>
            </a:fld>
            <a:endParaRPr kern="0">
              <a:solidFill>
                <a:srgbClr val="23114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1544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 hangingPunct="0">
              <a:defRPr sz="1600">
                <a:solidFill>
                  <a:srgbClr val="FFFFFF"/>
                </a:solidFill>
              </a:defRPr>
            </a:pPr>
            <a:r>
              <a:rPr lang="nl-NL" sz="1600" kern="0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600" kern="0" dirty="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smtClean="0"/>
              <a:t>AVL boom</a:t>
            </a:r>
            <a:endParaRPr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3429000"/>
            <a:ext cx="380187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5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defTabSz="1146047">
              <a:buNone/>
              <a:defRPr sz="3008"/>
            </a:pPr>
            <a:r>
              <a:rPr lang="nl-NL" sz="2400" dirty="0" smtClean="0"/>
              <a:t>De AVL tree is een zelf-balancerende binaire zoekboom.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 smtClean="0"/>
              <a:t>Vernoemd </a:t>
            </a:r>
            <a:r>
              <a:rPr lang="nl-NL" sz="2400" dirty="0"/>
              <a:t>naar twee Russische wiskundigen:</a:t>
            </a:r>
          </a:p>
          <a:p>
            <a:pPr marL="0" indent="0">
              <a:buNone/>
            </a:pPr>
            <a:r>
              <a:rPr lang="nl-NL" sz="2400" dirty="0" smtClean="0"/>
              <a:t>- </a:t>
            </a:r>
            <a:r>
              <a:rPr lang="nl-NL" sz="2400" dirty="0" err="1"/>
              <a:t>Georgy</a:t>
            </a:r>
            <a:r>
              <a:rPr lang="nl-NL" sz="2400" dirty="0"/>
              <a:t> </a:t>
            </a:r>
            <a:r>
              <a:rPr lang="nl-NL" sz="2400" b="1" dirty="0" err="1"/>
              <a:t>A</a:t>
            </a:r>
            <a:r>
              <a:rPr lang="nl-NL" sz="2400" dirty="0" err="1"/>
              <a:t>delson-</a:t>
            </a:r>
            <a:r>
              <a:rPr lang="nl-NL" sz="2400" b="1" dirty="0" err="1"/>
              <a:t>V</a:t>
            </a:r>
            <a:r>
              <a:rPr lang="nl-NL" sz="2400" dirty="0" err="1"/>
              <a:t>elsky</a:t>
            </a:r>
            <a:endParaRPr lang="nl-NL" sz="2400" dirty="0"/>
          </a:p>
          <a:p>
            <a:pPr marL="0" indent="0">
              <a:buNone/>
            </a:pPr>
            <a:r>
              <a:rPr lang="nl-NL" sz="2400" dirty="0" smtClean="0"/>
              <a:t>- </a:t>
            </a:r>
            <a:r>
              <a:rPr lang="nl-NL" sz="2400" dirty="0" err="1"/>
              <a:t>Evgenii</a:t>
            </a:r>
            <a:r>
              <a:rPr lang="nl-NL" sz="2400" dirty="0"/>
              <a:t> </a:t>
            </a:r>
            <a:r>
              <a:rPr lang="nl-NL" sz="2400" b="1" dirty="0" err="1"/>
              <a:t>L</a:t>
            </a:r>
            <a:r>
              <a:rPr lang="nl-NL" sz="2400" dirty="0" err="1"/>
              <a:t>andis</a:t>
            </a:r>
            <a:endParaRPr lang="nl-NL" sz="24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i="1" dirty="0"/>
              <a:t>Referenties:</a:t>
            </a:r>
          </a:p>
          <a:p>
            <a:pPr marL="0" indent="0">
              <a:buNone/>
            </a:pPr>
            <a:r>
              <a:rPr lang="nl-NL" sz="1800" i="1" dirty="0"/>
              <a:t>G. M. </a:t>
            </a:r>
            <a:r>
              <a:rPr lang="nl-NL" sz="1800" i="1" dirty="0" err="1"/>
              <a:t>Adelson-Velskii</a:t>
            </a:r>
            <a:r>
              <a:rPr lang="nl-NL" sz="1800" i="1" dirty="0"/>
              <a:t> </a:t>
            </a:r>
            <a:r>
              <a:rPr lang="nl-NL" sz="1800" i="1" dirty="0" err="1"/>
              <a:t>and</a:t>
            </a:r>
            <a:r>
              <a:rPr lang="nl-NL" sz="1800" i="1" dirty="0"/>
              <a:t> E. M. </a:t>
            </a:r>
            <a:r>
              <a:rPr lang="nl-NL" sz="1800" i="1" dirty="0" err="1"/>
              <a:t>Landis</a:t>
            </a:r>
            <a:r>
              <a:rPr lang="nl-NL" sz="1800" i="1" dirty="0"/>
              <a:t>, An </a:t>
            </a:r>
            <a:r>
              <a:rPr lang="nl-NL" sz="1800" i="1" dirty="0" err="1"/>
              <a:t>algorithm</a:t>
            </a:r>
            <a:r>
              <a:rPr lang="nl-NL" sz="1800" i="1" dirty="0"/>
              <a:t> </a:t>
            </a:r>
            <a:r>
              <a:rPr lang="nl-NL" sz="1800" i="1" dirty="0" err="1"/>
              <a:t>for</a:t>
            </a:r>
            <a:r>
              <a:rPr lang="nl-NL" sz="1800" i="1" dirty="0"/>
              <a:t> </a:t>
            </a:r>
            <a:r>
              <a:rPr lang="nl-NL" sz="1800" i="1" dirty="0" err="1"/>
              <a:t>the</a:t>
            </a:r>
            <a:r>
              <a:rPr lang="nl-NL" sz="1800" i="1" dirty="0"/>
              <a:t> </a:t>
            </a:r>
            <a:r>
              <a:rPr lang="nl-NL" sz="1800" i="1" dirty="0" err="1"/>
              <a:t>organization</a:t>
            </a:r>
            <a:r>
              <a:rPr lang="nl-NL" sz="1800" i="1" dirty="0"/>
              <a:t> of information, </a:t>
            </a:r>
            <a:r>
              <a:rPr lang="nl-NL" sz="1800" i="1" dirty="0" err="1"/>
              <a:t>Soviet</a:t>
            </a:r>
            <a:r>
              <a:rPr lang="nl-NL" sz="1800" i="1" dirty="0"/>
              <a:t> Math. </a:t>
            </a:r>
            <a:r>
              <a:rPr lang="nl-NL" sz="1800" i="1" dirty="0" err="1"/>
              <a:t>Doklady</a:t>
            </a:r>
            <a:r>
              <a:rPr lang="nl-NL" sz="1800" i="1" dirty="0"/>
              <a:t> 3 (1962), 1259 –1263.</a:t>
            </a:r>
          </a:p>
          <a:p>
            <a:pPr marL="0" indent="0">
              <a:buNone/>
            </a:pPr>
            <a:r>
              <a:rPr lang="nl-NL" sz="1800" i="1" dirty="0"/>
              <a:t>R. </a:t>
            </a:r>
            <a:r>
              <a:rPr lang="nl-NL" sz="1800" i="1" dirty="0" err="1"/>
              <a:t>Sedgewick</a:t>
            </a:r>
            <a:r>
              <a:rPr lang="nl-NL" sz="1800" i="1" dirty="0"/>
              <a:t>, </a:t>
            </a:r>
            <a:r>
              <a:rPr lang="nl-NL" sz="1800" i="1" dirty="0" err="1"/>
              <a:t>Algorithms</a:t>
            </a:r>
            <a:r>
              <a:rPr lang="nl-NL" sz="1800" i="1" dirty="0"/>
              <a:t> in Java, </a:t>
            </a:r>
            <a:r>
              <a:rPr lang="nl-NL" sz="1800" i="1" dirty="0" err="1"/>
              <a:t>Parts</a:t>
            </a:r>
            <a:r>
              <a:rPr lang="nl-NL" sz="1800" i="1" dirty="0"/>
              <a:t> 1–4: Fundamentals, Data </a:t>
            </a:r>
            <a:r>
              <a:rPr lang="nl-NL" sz="1800" i="1" dirty="0" err="1"/>
              <a:t>Structures</a:t>
            </a:r>
            <a:r>
              <a:rPr lang="nl-NL" sz="1800" i="1" dirty="0"/>
              <a:t>, </a:t>
            </a:r>
            <a:r>
              <a:rPr lang="nl-NL" sz="1800" i="1" dirty="0" err="1"/>
              <a:t>Sorting</a:t>
            </a:r>
            <a:r>
              <a:rPr lang="nl-NL" sz="1800" i="1" dirty="0"/>
              <a:t>, </a:t>
            </a:r>
            <a:r>
              <a:rPr lang="nl-NL" sz="1800" i="1" dirty="0" err="1"/>
              <a:t>and</a:t>
            </a:r>
            <a:r>
              <a:rPr lang="nl-NL" sz="1800" i="1" dirty="0"/>
              <a:t> </a:t>
            </a:r>
            <a:r>
              <a:rPr lang="nl-NL" sz="1800" i="1" dirty="0" err="1"/>
              <a:t>Searching</a:t>
            </a:r>
            <a:r>
              <a:rPr lang="nl-NL" sz="1800" i="1" dirty="0"/>
              <a:t>, Addison–Wesley.</a:t>
            </a:r>
          </a:p>
          <a:p>
            <a:pPr marL="0" indent="0">
              <a:buNone/>
            </a:pPr>
            <a:endParaRPr lang="nl-NL" sz="1800" dirty="0"/>
          </a:p>
          <a:p>
            <a:pPr marL="0" indent="0" defTabSz="1146047">
              <a:buNone/>
              <a:defRPr sz="3008"/>
            </a:pP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410734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Eigenschap AVL tree: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i="1" dirty="0" smtClean="0"/>
              <a:t>Voor elke knoop is het </a:t>
            </a:r>
            <a:r>
              <a:rPr lang="nl-NL" sz="2400" i="1" dirty="0"/>
              <a:t>verschil in hoogte tussen de linker- en </a:t>
            </a:r>
            <a:r>
              <a:rPr lang="nl-NL" sz="2400" i="1" dirty="0" smtClean="0"/>
              <a:t>rechter-</a:t>
            </a:r>
            <a:r>
              <a:rPr lang="nl-NL" sz="2400" i="1" dirty="0" err="1" smtClean="0"/>
              <a:t>subtree</a:t>
            </a:r>
            <a:r>
              <a:rPr lang="nl-NL" sz="2400" i="1" dirty="0" smtClean="0"/>
              <a:t> maximaal 1.</a:t>
            </a:r>
          </a:p>
          <a:p>
            <a:pPr marL="0" indent="0" defTabSz="1146047">
              <a:buSzTx/>
              <a:buNone/>
              <a:defRPr sz="3008"/>
            </a:pPr>
            <a:endParaRPr lang="nl-NL" sz="2400" i="1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De hoogte van een AVL tree is door deze eigenschap altijd O(log n)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  Zoeken in een zoekboom kost O(hoogte)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  Zoeken in een AVL tree kost dus O(log n) tijd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74357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Is dit een gebalanceerde boom?</a:t>
            </a:r>
            <a:endParaRPr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552" y="3233485"/>
            <a:ext cx="3683980" cy="206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hape 82"/>
          <p:cNvSpPr/>
          <p:nvPr/>
        </p:nvSpPr>
        <p:spPr>
          <a:xfrm>
            <a:off x="5436095" y="4962654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1619491"/>
            <a:ext cx="2880320" cy="144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53" y="1752565"/>
            <a:ext cx="2560825" cy="262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hoek 1"/>
          <p:cNvSpPr/>
          <p:nvPr/>
        </p:nvSpPr>
        <p:spPr>
          <a:xfrm>
            <a:off x="683568" y="1500537"/>
            <a:ext cx="115212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6588223" y="1934605"/>
            <a:ext cx="115212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50983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Is dit een gebalanceerde boom?</a:t>
            </a:r>
            <a:endParaRPr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552" y="3233485"/>
            <a:ext cx="3683980" cy="206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hape 82"/>
          <p:cNvSpPr/>
          <p:nvPr/>
        </p:nvSpPr>
        <p:spPr>
          <a:xfrm>
            <a:off x="5436095" y="4962654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1619491"/>
            <a:ext cx="2880320" cy="144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53" y="1752565"/>
            <a:ext cx="2560825" cy="262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hoek 1"/>
          <p:cNvSpPr/>
          <p:nvPr/>
        </p:nvSpPr>
        <p:spPr>
          <a:xfrm>
            <a:off x="683568" y="1500537"/>
            <a:ext cx="115212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6588223" y="1934605"/>
            <a:ext cx="115212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Shape 82"/>
          <p:cNvSpPr/>
          <p:nvPr/>
        </p:nvSpPr>
        <p:spPr>
          <a:xfrm>
            <a:off x="539552" y="1331260"/>
            <a:ext cx="850532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Wel in balans			Niet in balans</a:t>
            </a:r>
            <a:endParaRPr dirty="0">
              <a:solidFill>
                <a:srgbClr val="23114C"/>
              </a:solidFill>
            </a:endParaRPr>
          </a:p>
        </p:txBody>
      </p:sp>
      <p:sp>
        <p:nvSpPr>
          <p:cNvPr id="13" name="Shape 82"/>
          <p:cNvSpPr/>
          <p:nvPr/>
        </p:nvSpPr>
        <p:spPr>
          <a:xfrm>
            <a:off x="539552" y="3140968"/>
            <a:ext cx="568863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Wel in balans	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482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Hoe voeg je een nieuwe knoop </a:t>
            </a:r>
            <a:r>
              <a:rPr lang="nl-NL" sz="2400" b="1" dirty="0" smtClean="0"/>
              <a:t>x</a:t>
            </a:r>
            <a:r>
              <a:rPr lang="nl-NL" sz="2400" dirty="0" smtClean="0"/>
              <a:t> toe?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defTabSz="1146047">
              <a:buSzTx/>
              <a:buFont typeface="+mj-lt"/>
              <a:buAutoNum type="arabicPeriod"/>
              <a:defRPr sz="3008"/>
            </a:pPr>
            <a:r>
              <a:rPr lang="nl-NL" sz="2400" dirty="0" smtClean="0"/>
              <a:t>Zoek eerst de juiste plek in de zoekboom voor </a:t>
            </a:r>
            <a:r>
              <a:rPr lang="nl-NL" sz="2400" b="1" dirty="0" smtClean="0"/>
              <a:t>x</a:t>
            </a:r>
            <a:r>
              <a:rPr lang="nl-NL" sz="2400" dirty="0"/>
              <a:t>,</a:t>
            </a:r>
            <a:r>
              <a:rPr lang="nl-NL" sz="2400" dirty="0" smtClean="0"/>
              <a:t/>
            </a:r>
            <a:br>
              <a:rPr lang="nl-NL" sz="2400" dirty="0" smtClean="0"/>
            </a:br>
            <a:r>
              <a:rPr lang="nl-NL" sz="2400" dirty="0" smtClean="0"/>
              <a:t>voeg </a:t>
            </a:r>
            <a:r>
              <a:rPr lang="nl-NL" sz="2400" b="1" dirty="0" smtClean="0"/>
              <a:t>x</a:t>
            </a:r>
            <a:r>
              <a:rPr lang="nl-NL" sz="2400" dirty="0" smtClean="0"/>
              <a:t> hier toe.</a:t>
            </a:r>
          </a:p>
          <a:p>
            <a:pPr defTabSz="1146047">
              <a:buSzTx/>
              <a:buFont typeface="+mj-lt"/>
              <a:buAutoNum type="arabicPeriod"/>
              <a:defRPr sz="3008"/>
            </a:pPr>
            <a:r>
              <a:rPr lang="nl-NL" sz="2400" dirty="0" smtClean="0"/>
              <a:t>Loop vanaf </a:t>
            </a:r>
            <a:r>
              <a:rPr lang="nl-NL" sz="2400" b="1" dirty="0" smtClean="0"/>
              <a:t>x</a:t>
            </a:r>
            <a:r>
              <a:rPr lang="nl-NL" sz="2400" dirty="0" smtClean="0"/>
              <a:t> naar de root, zoek de eerste knoop die niet gebalanceerd is.</a:t>
            </a:r>
          </a:p>
          <a:p>
            <a:pPr defTabSz="1146047">
              <a:buSzTx/>
              <a:buFont typeface="+mj-lt"/>
              <a:buAutoNum type="arabicPeriod"/>
              <a:defRPr sz="3008"/>
            </a:pPr>
            <a:r>
              <a:rPr lang="nl-NL" sz="2400" dirty="0" smtClean="0"/>
              <a:t>Breng dan de boom weer in balans d.m.v. rotaties. (Boom kan al in balans zijn)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tree: knoop toevoegen</a:t>
            </a:r>
            <a:endParaRPr dirty="0"/>
          </a:p>
        </p:txBody>
      </p:sp>
      <p:sp>
        <p:nvSpPr>
          <p:cNvPr id="6" name="Shape 86"/>
          <p:cNvSpPr>
            <a:spLocks noGrp="1"/>
          </p:cNvSpPr>
          <p:nvPr>
            <p:ph type="sldNum" sz="quarter" idx="2"/>
          </p:nvPr>
        </p:nvSpPr>
        <p:spPr>
          <a:xfrm>
            <a:off x="4067944" y="5733256"/>
            <a:ext cx="36004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56307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067944" y="5733256"/>
            <a:ext cx="36004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Welke knopen worden geroteerd?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Je hebt de boom doorlopen van knoop </a:t>
            </a:r>
            <a:r>
              <a:rPr lang="nl-NL" sz="2400" b="1" dirty="0" smtClean="0"/>
              <a:t>x</a:t>
            </a:r>
            <a:r>
              <a:rPr lang="nl-NL" sz="2400" dirty="0" smtClean="0"/>
              <a:t> tot knoop </a:t>
            </a:r>
            <a:r>
              <a:rPr lang="nl-NL" sz="2400" b="1" dirty="0" smtClean="0"/>
              <a:t>a</a:t>
            </a:r>
            <a:r>
              <a:rPr lang="nl-NL" sz="2400" dirty="0" smtClean="0"/>
              <a:t>. 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Knoop </a:t>
            </a:r>
            <a:r>
              <a:rPr lang="nl-NL" sz="2400" b="1" dirty="0" smtClean="0"/>
              <a:t>a</a:t>
            </a:r>
            <a:r>
              <a:rPr lang="nl-NL" sz="2400" dirty="0" smtClean="0"/>
              <a:t> is de eerste knoop die uit balans is.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Knoop </a:t>
            </a:r>
            <a:r>
              <a:rPr lang="nl-NL" sz="2400" b="1" dirty="0" smtClean="0"/>
              <a:t>b</a:t>
            </a:r>
            <a:r>
              <a:rPr lang="nl-NL" sz="2400" dirty="0" smtClean="0"/>
              <a:t> is het kind van </a:t>
            </a:r>
            <a:r>
              <a:rPr lang="nl-NL" sz="2400" b="1" dirty="0" smtClean="0"/>
              <a:t>a</a:t>
            </a:r>
            <a:r>
              <a:rPr lang="nl-NL" sz="2400" dirty="0" smtClean="0"/>
              <a:t>, onderweg naar </a:t>
            </a:r>
            <a:r>
              <a:rPr lang="nl-NL" sz="2400" b="1" dirty="0" smtClean="0"/>
              <a:t>x</a:t>
            </a:r>
          </a:p>
          <a:p>
            <a:pPr marL="0" indent="0" defTabSz="1146047">
              <a:buNone/>
              <a:defRPr sz="3008"/>
            </a:pPr>
            <a:r>
              <a:rPr lang="nl-NL" sz="2400" dirty="0"/>
              <a:t>Knoop </a:t>
            </a:r>
            <a:r>
              <a:rPr lang="nl-NL" sz="2400" b="1" dirty="0" smtClean="0"/>
              <a:t>c</a:t>
            </a:r>
            <a:r>
              <a:rPr lang="nl-NL" sz="2400" dirty="0" smtClean="0"/>
              <a:t> </a:t>
            </a:r>
            <a:r>
              <a:rPr lang="nl-NL" sz="2400" dirty="0"/>
              <a:t>is het </a:t>
            </a:r>
            <a:r>
              <a:rPr lang="nl-NL" sz="2400" dirty="0" smtClean="0"/>
              <a:t>kleinkind </a:t>
            </a:r>
            <a:r>
              <a:rPr lang="nl-NL" sz="2400" dirty="0"/>
              <a:t>van </a:t>
            </a:r>
            <a:r>
              <a:rPr lang="nl-NL" sz="2400" b="1" dirty="0"/>
              <a:t>a</a:t>
            </a:r>
            <a:r>
              <a:rPr lang="nl-NL" sz="2400" dirty="0"/>
              <a:t>, onderweg naar </a:t>
            </a:r>
            <a:r>
              <a:rPr lang="nl-NL" sz="2400" b="1" dirty="0"/>
              <a:t>x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Je gaat knoop </a:t>
            </a:r>
            <a:r>
              <a:rPr lang="nl-NL" sz="2400" b="1" dirty="0" smtClean="0"/>
              <a:t>a</a:t>
            </a:r>
            <a:r>
              <a:rPr lang="nl-NL" sz="2400" dirty="0" smtClean="0"/>
              <a:t>, </a:t>
            </a:r>
            <a:r>
              <a:rPr lang="nl-NL" sz="2400" b="1" dirty="0" smtClean="0"/>
              <a:t>b</a:t>
            </a:r>
            <a:r>
              <a:rPr lang="nl-NL" sz="2400" dirty="0" smtClean="0"/>
              <a:t> en </a:t>
            </a:r>
            <a:r>
              <a:rPr lang="nl-NL" sz="2400" b="1" dirty="0" smtClean="0"/>
              <a:t>c</a:t>
            </a:r>
            <a:r>
              <a:rPr lang="nl-NL" sz="2400" dirty="0" smtClean="0"/>
              <a:t> roteren. (</a:t>
            </a:r>
            <a:r>
              <a:rPr lang="nl-NL" sz="2400" b="1" dirty="0" smtClean="0"/>
              <a:t>x</a:t>
            </a:r>
            <a:r>
              <a:rPr lang="nl-NL" sz="2400" dirty="0" smtClean="0"/>
              <a:t> kan hierin zitten)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Dan gaan we nu kijken hoe rotaties werken.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tree: rotaties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60058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4 soorten rotaties</a:t>
            </a:r>
            <a:endParaRPr dirty="0"/>
          </a:p>
        </p:txBody>
      </p:sp>
      <p:sp>
        <p:nvSpPr>
          <p:cNvPr id="7" name="Shape 86"/>
          <p:cNvSpPr>
            <a:spLocks noGrp="1"/>
          </p:cNvSpPr>
          <p:nvPr>
            <p:ph type="sldNum" sz="quarter" idx="2"/>
          </p:nvPr>
        </p:nvSpPr>
        <p:spPr>
          <a:xfrm>
            <a:off x="4067944" y="5733256"/>
            <a:ext cx="36004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 dirty="0"/>
          </a:p>
        </p:txBody>
      </p:sp>
      <p:pic>
        <p:nvPicPr>
          <p:cNvPr id="10241" name="Picture 1" descr="C:\Users\ipema.c\Documents\2017-2018\IAD1\Sheets\AVL rotati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592" y="1122915"/>
            <a:ext cx="6552728" cy="4334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5533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tree:</a:t>
            </a:r>
            <a:endParaRPr dirty="0"/>
          </a:p>
        </p:txBody>
      </p:sp>
      <p:pic>
        <p:nvPicPr>
          <p:cNvPr id="8194" name="Picture 2" descr="https://cdn-images-1.medium.com/max/600/1*x16xMbjZ_qKHdSrP1Pxjv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832" y="0"/>
            <a:ext cx="5715000" cy="669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82"/>
          <p:cNvSpPr/>
          <p:nvPr/>
        </p:nvSpPr>
        <p:spPr>
          <a:xfrm>
            <a:off x="107504" y="5175116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zie </a:t>
            </a:r>
            <a:r>
              <a:rPr lang="nl-NL" dirty="0" err="1" smtClean="0">
                <a:solidFill>
                  <a:srgbClr val="23114C"/>
                </a:solidFill>
              </a:rPr>
              <a:t>leestip</a:t>
            </a:r>
            <a:r>
              <a:rPr lang="nl-NL" dirty="0" smtClean="0">
                <a:solidFill>
                  <a:srgbClr val="23114C"/>
                </a:solidFill>
              </a:rPr>
              <a:t> 1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357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AVL tree:</a:t>
            </a:r>
            <a:endParaRPr dirty="0"/>
          </a:p>
        </p:txBody>
      </p:sp>
      <p:pic>
        <p:nvPicPr>
          <p:cNvPr id="12290" name="Picture 2" descr="https://cdn-images-1.medium.com/max/600/1*fS8iZLaIGF7fTTH4FjgYZ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7824" y="332656"/>
            <a:ext cx="5715000" cy="605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82"/>
          <p:cNvSpPr/>
          <p:nvPr/>
        </p:nvSpPr>
        <p:spPr>
          <a:xfrm>
            <a:off x="107503" y="5175116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zie </a:t>
            </a:r>
            <a:r>
              <a:rPr lang="nl-NL" dirty="0" err="1" smtClean="0">
                <a:solidFill>
                  <a:srgbClr val="23114C"/>
                </a:solidFill>
              </a:rPr>
              <a:t>leestip</a:t>
            </a:r>
            <a:r>
              <a:rPr lang="nl-NL" dirty="0" smtClean="0">
                <a:solidFill>
                  <a:srgbClr val="23114C"/>
                </a:solidFill>
              </a:rPr>
              <a:t> 1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1672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310D84-F35C-432B-9072-D20648966A06}"/>
</file>

<file path=customXml/itemProps2.xml><?xml version="1.0" encoding="utf-8"?>
<ds:datastoreItem xmlns:ds="http://schemas.openxmlformats.org/officeDocument/2006/customXml" ds:itemID="{40EFC6FC-39BA-476B-842A-3CFF5E74CE20}"/>
</file>

<file path=customXml/itemProps3.xml><?xml version="1.0" encoding="utf-8"?>
<ds:datastoreItem xmlns:ds="http://schemas.openxmlformats.org/officeDocument/2006/customXml" ds:itemID="{1A24D40C-689A-4316-BD75-1F9C81E9F2C7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2660</TotalTime>
  <Words>304</Words>
  <Application>Microsoft Office PowerPoint</Application>
  <PresentationFormat>Diavoorstelling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10</vt:i4>
      </vt:variant>
    </vt:vector>
  </HeadingPairs>
  <TitlesOfParts>
    <vt:vector size="12" baseType="lpstr">
      <vt:lpstr>Hashtables on ELO</vt:lpstr>
      <vt:lpstr>1_Hashtables on ELO</vt:lpstr>
      <vt:lpstr>Algoritmen &amp; Datastructuren</vt:lpstr>
      <vt:lpstr>AVL tree</vt:lpstr>
      <vt:lpstr>AVL tree</vt:lpstr>
      <vt:lpstr>Is dit een gebalanceerde boom?</vt:lpstr>
      <vt:lpstr>Is dit een gebalanceerde boom?</vt:lpstr>
      <vt:lpstr>AVL tree: knoop toevoegen</vt:lpstr>
      <vt:lpstr>AVL tree: rotaties</vt:lpstr>
      <vt:lpstr>4 soorten rotaties</vt:lpstr>
      <vt:lpstr>AVL tree:</vt:lpstr>
      <vt:lpstr>AVL tree: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Charlotte Ipema</cp:lastModifiedBy>
  <cp:revision>113</cp:revision>
  <dcterms:created xsi:type="dcterms:W3CDTF">2013-08-26T08:11:19Z</dcterms:created>
  <dcterms:modified xsi:type="dcterms:W3CDTF">2018-01-31T10:30:55Z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2300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