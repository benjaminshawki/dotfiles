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76" r:id="rId2"/>
    <p:sldId id="262" r:id="rId3"/>
    <p:sldId id="277" r:id="rId4"/>
    <p:sldId id="263" r:id="rId5"/>
    <p:sldId id="265" r:id="rId6"/>
    <p:sldId id="267" r:id="rId7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23114C"/>
        </a:solidFill>
        <a:effectLst/>
        <a:uFillTx/>
        <a:latin typeface="Verdana"/>
        <a:ea typeface="Verdana"/>
        <a:cs typeface="Verdana"/>
        <a:sym typeface="Verdan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7E6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ACE"/>
          </a:solidFill>
        </a:fill>
      </a:tcStyle>
    </a:wholeTbl>
    <a:band2H>
      <a:tcTxStyle/>
      <a:tcStyle>
        <a:tcBdr/>
        <a:fill>
          <a:solidFill>
            <a:srgbClr val="E7E6E8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23114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solidFill>
            <a:srgbClr val="23114C">
              <a:alpha val="20000"/>
            </a:srgbClr>
          </a:solidFill>
        </a:fill>
      </a:tcStyle>
    </a:firstCol>
    <a:la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50800" cap="flat">
              <a:solidFill>
                <a:srgbClr val="23114C"/>
              </a:solidFill>
              <a:prstDash val="solid"/>
              <a:round/>
            </a:ln>
          </a:top>
          <a:bottom>
            <a:ln w="127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Verdana"/>
          <a:ea typeface="Verdana"/>
          <a:cs typeface="Verdana"/>
        </a:font>
        <a:srgbClr val="23114C"/>
      </a:tcTxStyle>
      <a:tcStyle>
        <a:tcBdr>
          <a:left>
            <a:ln w="12700" cap="flat">
              <a:solidFill>
                <a:srgbClr val="23114C"/>
              </a:solidFill>
              <a:prstDash val="solid"/>
              <a:round/>
            </a:ln>
          </a:left>
          <a:right>
            <a:ln w="12700" cap="flat">
              <a:solidFill>
                <a:srgbClr val="23114C"/>
              </a:solidFill>
              <a:prstDash val="solid"/>
              <a:round/>
            </a:ln>
          </a:right>
          <a:top>
            <a:ln w="12700" cap="flat">
              <a:solidFill>
                <a:srgbClr val="23114C"/>
              </a:solidFill>
              <a:prstDash val="solid"/>
              <a:round/>
            </a:ln>
          </a:top>
          <a:bottom>
            <a:ln w="25400" cap="flat">
              <a:solidFill>
                <a:srgbClr val="23114C"/>
              </a:solidFill>
              <a:prstDash val="solid"/>
              <a:round/>
            </a:ln>
          </a:bottom>
          <a:insideH>
            <a:ln w="12700" cap="flat">
              <a:solidFill>
                <a:srgbClr val="23114C"/>
              </a:solidFill>
              <a:prstDash val="solid"/>
              <a:round/>
            </a:ln>
          </a:insideH>
          <a:insideV>
            <a:ln w="12700" cap="flat">
              <a:solidFill>
                <a:srgbClr val="23114C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-12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0" name="Shape 8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237389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Shape 2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ekstueel +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2.jpg" descr="HSLeiden PP Template Huisstijl leeg2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Shape 34"/>
          <p:cNvSpPr>
            <a:spLocks noGrp="1"/>
          </p:cNvSpPr>
          <p:nvPr>
            <p:ph type="body" sz="quarter" idx="1"/>
          </p:nvPr>
        </p:nvSpPr>
        <p:spPr>
          <a:xfrm>
            <a:off x="323031" y="476472"/>
            <a:ext cx="8353426" cy="576264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>
              <a:spcBef>
                <a:spcPts val="600"/>
              </a:spcBef>
              <a:buSzTx/>
              <a:buFontTx/>
              <a:buNone/>
              <a:defRPr sz="2800" b="1">
                <a:solidFill>
                  <a:srgbClr val="20BDBA"/>
                </a:solidFill>
              </a:defRPr>
            </a:lvl1pPr>
          </a:lstStyle>
          <a:p>
            <a:r>
              <a:t>[Hier komt de kop van de slide]</a:t>
            </a:r>
          </a:p>
        </p:txBody>
      </p:sp>
      <p:sp>
        <p:nvSpPr>
          <p:cNvPr id="35" name="Shape 35"/>
          <p:cNvSpPr>
            <a:spLocks noGrp="1"/>
          </p:cNvSpPr>
          <p:nvPr>
            <p:ph type="body" idx="13"/>
          </p:nvPr>
        </p:nvSpPr>
        <p:spPr>
          <a:xfrm>
            <a:off x="684212" y="1126256"/>
            <a:ext cx="7848601" cy="5327081"/>
          </a:xfrm>
          <a:prstGeom prst="rect">
            <a:avLst/>
          </a:prstGeom>
        </p:spPr>
        <p:txBody>
          <a:bodyPr/>
          <a:lstStyle/>
          <a:p>
            <a:pPr marL="176212" indent="-176212">
              <a:buSzTx/>
              <a:buFontTx/>
              <a:buNone/>
            </a:pPr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pic" sz="quarter" idx="14"/>
          </p:nvPr>
        </p:nvSpPr>
        <p:spPr>
          <a:xfrm>
            <a:off x="5651500" y="3365500"/>
            <a:ext cx="3492500" cy="34925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/>
          </p:cNvSpPr>
          <p:nvPr>
            <p:ph type="title"/>
          </p:nvPr>
        </p:nvSpPr>
        <p:spPr>
          <a:xfrm>
            <a:off x="685800" y="2455068"/>
            <a:ext cx="7772400" cy="11025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anchor="b"/>
          <a:lstStyle>
            <a:lvl1pPr algn="ctr"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52" name="Shape 52"/>
          <p:cNvSpPr>
            <a:spLocks noGrp="1"/>
          </p:cNvSpPr>
          <p:nvPr>
            <p:ph type="body" sz="quarter" idx="1"/>
          </p:nvPr>
        </p:nvSpPr>
        <p:spPr>
          <a:xfrm>
            <a:off x="1371600" y="3771900"/>
            <a:ext cx="6400800" cy="13144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0" indent="0" algn="ctr" defTabSz="1219200">
              <a:spcBef>
                <a:spcPts val="600"/>
              </a:spcBef>
              <a:buSzTx/>
              <a:buFontTx/>
              <a:buNone/>
              <a:defRPr sz="3200"/>
            </a:lvl1pPr>
            <a:lvl2pPr marL="0" indent="457200" algn="ctr" defTabSz="1219200">
              <a:spcBef>
                <a:spcPts val="600"/>
              </a:spcBef>
              <a:buSzTx/>
              <a:buFontTx/>
              <a:buNone/>
              <a:defRPr sz="3200"/>
            </a:lvl2pPr>
            <a:lvl3pPr marL="0" indent="914400" algn="ctr" defTabSz="1219200">
              <a:spcBef>
                <a:spcPts val="600"/>
              </a:spcBef>
              <a:buSzTx/>
              <a:buFontTx/>
              <a:buNone/>
              <a:defRPr sz="3200"/>
            </a:lvl3pPr>
            <a:lvl4pPr marL="0" indent="1371600" algn="ctr" defTabSz="1219200">
              <a:spcBef>
                <a:spcPts val="600"/>
              </a:spcBef>
              <a:buSzTx/>
              <a:buFontTx/>
              <a:buNone/>
              <a:defRPr sz="3200"/>
            </a:lvl4pPr>
            <a:lvl5pPr marL="0" indent="1828800" algn="ctr" defTabSz="1219200">
              <a:spcBef>
                <a:spcPts val="600"/>
              </a:spcBef>
              <a:buSzTx/>
              <a:buFontTx/>
              <a:buNone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53" name="Shape 53"/>
          <p:cNvSpPr>
            <a:spLocks noGrp="1"/>
          </p:cNvSpPr>
          <p:nvPr>
            <p:ph type="sldNum" sz="quarter" idx="2"/>
          </p:nvPr>
        </p:nvSpPr>
        <p:spPr>
          <a:xfrm>
            <a:off x="6423888" y="5488305"/>
            <a:ext cx="258624" cy="269240"/>
          </a:xfrm>
          <a:prstGeom prst="rect">
            <a:avLst/>
          </a:prstGeom>
        </p:spPr>
        <p:txBody>
          <a:bodyPr/>
          <a:lstStyle>
            <a:lvl1pPr algn="ctr" defTabSz="1219200">
              <a:defRPr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/>
        </p:nvSpPr>
        <p:spPr>
          <a:xfrm>
            <a:off x="4643437" y="5749925"/>
            <a:ext cx="215901" cy="215900"/>
          </a:xfrm>
          <a:prstGeom prst="ellipse">
            <a:avLst/>
          </a:prstGeom>
          <a:solidFill>
            <a:srgbClr val="20BDBA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1219200"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61" name="Shape 61"/>
          <p:cNvSpPr>
            <a:spLocks noGrp="1"/>
          </p:cNvSpPr>
          <p:nvPr>
            <p:ph type="title"/>
          </p:nvPr>
        </p:nvSpPr>
        <p:spPr>
          <a:xfrm>
            <a:off x="250825" y="1058862"/>
            <a:ext cx="8229600" cy="85725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defTabSz="1219200">
              <a:defRPr sz="3400" b="1"/>
            </a:lvl1pPr>
          </a:lstStyle>
          <a:p>
            <a:r>
              <a:t>Titeltekst</a:t>
            </a:r>
          </a:p>
        </p:txBody>
      </p:sp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538162" y="1771650"/>
            <a:ext cx="8229601" cy="32321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marL="457200" indent="-457200" defTabSz="1219200">
              <a:spcBef>
                <a:spcPts val="600"/>
              </a:spcBef>
              <a:buChar char="»"/>
              <a:defRPr sz="3200"/>
            </a:lvl1pPr>
            <a:lvl2pPr marL="1010355" indent="-553155" defTabSz="1219200">
              <a:spcBef>
                <a:spcPts val="600"/>
              </a:spcBef>
              <a:buChar char="–"/>
              <a:defRPr sz="3200"/>
            </a:lvl2pPr>
            <a:lvl3pPr marL="1425222" indent="-510822" defTabSz="1219200">
              <a:spcBef>
                <a:spcPts val="600"/>
              </a:spcBef>
              <a:defRPr sz="3200"/>
            </a:lvl3pPr>
            <a:lvl4pPr marL="1944511" indent="-572911" defTabSz="1219200">
              <a:spcBef>
                <a:spcPts val="600"/>
              </a:spcBef>
              <a:buChar char="–"/>
              <a:defRPr sz="3200"/>
            </a:lvl4pPr>
            <a:lvl5pPr marL="2523066" indent="-694266" defTabSz="1219200">
              <a:spcBef>
                <a:spcPts val="600"/>
              </a:spcBef>
              <a:buChar char="»"/>
              <a:defRPr sz="3200"/>
            </a:lvl5pPr>
          </a:lstStyle>
          <a:p>
            <a:r>
              <a:t>Hoofdtekst - niveau één</a:t>
            </a:r>
          </a:p>
          <a:p>
            <a:pPr lvl="1"/>
            <a:r>
              <a:t>Hoofdtekst - niveau twee</a:t>
            </a:r>
          </a:p>
          <a:p>
            <a:pPr lvl="2"/>
            <a:r>
              <a:t>Hoofdtekst - niveau drie</a:t>
            </a:r>
          </a:p>
          <a:p>
            <a:pPr lvl="3"/>
            <a:r>
              <a:t>Hoofdtekst - niveau vier</a:t>
            </a:r>
          </a:p>
          <a:p>
            <a:pPr lvl="4"/>
            <a:r>
              <a:t>Hoofdtekst - niveau vijf</a:t>
            </a:r>
          </a:p>
        </p:txBody>
      </p:sp>
      <p:sp>
        <p:nvSpPr>
          <p:cNvPr id="63" name="Shape 63"/>
          <p:cNvSpPr>
            <a:spLocks noGrp="1"/>
          </p:cNvSpPr>
          <p:nvPr>
            <p:ph type="sldNum" sz="quarter" idx="2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endParaRPr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20BDBA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1pPr>
      <a:lvl2pPr marL="742950" marR="0" indent="-28575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2pPr>
      <a:lvl3pPr marL="1143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3pPr>
      <a:lvl4pPr marL="1600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4pPr>
      <a:lvl5pPr marL="20574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5pPr>
      <a:lvl6pPr marL="25146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6pPr>
      <a:lvl7pPr marL="29718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7pPr>
      <a:lvl8pPr marL="34290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8pPr>
      <a:lvl9pPr marL="3886200" marR="0" indent="-2286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Tx/>
        <a:buSzPct val="100000"/>
        <a:buFont typeface="Arial"/>
        <a:buChar char="•"/>
        <a:tabLst/>
        <a:defRPr sz="1600" b="0" i="0" u="none" strike="noStrike" cap="none" spc="0" baseline="0">
          <a:ln>
            <a:noFill/>
          </a:ln>
          <a:solidFill>
            <a:srgbClr val="23114C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opcoder.com/community/data-science/data-science-tutorials/the-importance-of-algorithms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/>
          <p:nvPr/>
        </p:nvSpPr>
        <p:spPr>
          <a:xfrm>
            <a:off x="322262" y="5210175"/>
            <a:ext cx="612140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600">
                <a:solidFill>
                  <a:srgbClr val="FFFFFF"/>
                </a:solidFill>
              </a:defRPr>
            </a:pPr>
            <a:r>
              <a:rPr lang="nl-NL" dirty="0" smtClean="0"/>
              <a:t>  </a:t>
            </a:r>
            <a:endParaRPr dirty="0"/>
          </a:p>
        </p:txBody>
      </p:sp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280987" y="69850"/>
            <a:ext cx="7772401" cy="1100138"/>
          </a:xfrm>
          <a:prstGeom prst="rect">
            <a:avLst/>
          </a:prstGeom>
        </p:spPr>
        <p:txBody>
          <a:bodyPr/>
          <a:lstStyle>
            <a:lvl1pPr algn="l">
              <a:defRPr sz="2800">
                <a:solidFill>
                  <a:srgbClr val="FFFFFF"/>
                </a:solidFill>
              </a:defRPr>
            </a:lvl1pPr>
          </a:lstStyle>
          <a:p>
            <a:r>
              <a:rPr dirty="0" err="1"/>
              <a:t>Algoritmen</a:t>
            </a:r>
            <a:r>
              <a:rPr dirty="0"/>
              <a:t> &amp; </a:t>
            </a:r>
            <a:r>
              <a:rPr dirty="0" err="1" smtClean="0"/>
              <a:t>Datastructure</a:t>
            </a:r>
            <a:r>
              <a:rPr lang="nl-NL" dirty="0" smtClean="0"/>
              <a:t>n</a:t>
            </a:r>
            <a:endParaRPr dirty="0"/>
          </a:p>
        </p:txBody>
      </p:sp>
      <p:sp>
        <p:nvSpPr>
          <p:cNvPr id="89" name="Shape 89"/>
          <p:cNvSpPr>
            <a:spLocks noGrp="1"/>
          </p:cNvSpPr>
          <p:nvPr>
            <p:ph type="body" sz="quarter" idx="1"/>
          </p:nvPr>
        </p:nvSpPr>
        <p:spPr>
          <a:xfrm>
            <a:off x="330200" y="3429000"/>
            <a:ext cx="6400800" cy="1314450"/>
          </a:xfrm>
          <a:prstGeom prst="rect">
            <a:avLst/>
          </a:prstGeom>
        </p:spPr>
        <p:txBody>
          <a:bodyPr/>
          <a:lstStyle/>
          <a:p>
            <a:pPr algn="l" defTabSz="1133855">
              <a:spcBef>
                <a:spcPts val="400"/>
              </a:spcBef>
              <a:defRPr sz="2418">
                <a:solidFill>
                  <a:srgbClr val="FFFFFF"/>
                </a:solidFill>
              </a:defRPr>
            </a:pPr>
            <a:r>
              <a:rPr lang="nl-NL" dirty="0" smtClean="0"/>
              <a:t>Big-O notatie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5324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>
              <a:buChar char="•"/>
            </a:pPr>
            <a:r>
              <a:rPr lang="nl-NL" dirty="0" smtClean="0"/>
              <a:t>Een manier om over de performance van een algoritme te praten.</a:t>
            </a:r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r>
              <a:rPr lang="nl-NL" dirty="0" smtClean="0"/>
              <a:t>Het is de </a:t>
            </a:r>
            <a:r>
              <a:rPr lang="nl-NL" i="1" dirty="0" smtClean="0"/>
              <a:t>worst-case </a:t>
            </a:r>
            <a:r>
              <a:rPr lang="nl-NL" dirty="0" smtClean="0"/>
              <a:t>complexiteit</a:t>
            </a:r>
          </a:p>
          <a:p>
            <a:pPr lvl="1">
              <a:buChar char="•"/>
            </a:pPr>
            <a:r>
              <a:rPr lang="nl-NL" dirty="0" smtClean="0"/>
              <a:t>Kan over tijd of ruimte gaan.</a:t>
            </a:r>
          </a:p>
          <a:p>
            <a:pPr lvl="1">
              <a:buChar char="•"/>
            </a:pPr>
            <a:endParaRPr lang="nl-NL" dirty="0"/>
          </a:p>
          <a:p>
            <a:pPr>
              <a:buChar char="•"/>
            </a:pPr>
            <a:r>
              <a:rPr lang="nl-NL" dirty="0" smtClean="0"/>
              <a:t>Er zijn andere notaties voor best-case en </a:t>
            </a:r>
            <a:r>
              <a:rPr lang="nl-NL" dirty="0" err="1" smtClean="0"/>
              <a:t>average</a:t>
            </a:r>
            <a:r>
              <a:rPr lang="nl-NL" dirty="0" smtClean="0"/>
              <a:t>-case complexiteit.</a:t>
            </a:r>
            <a:endParaRPr dirty="0"/>
          </a:p>
        </p:txBody>
      </p:sp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276225" y="213201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dirty="0"/>
              <a:t>Wat is de </a:t>
            </a:r>
            <a:r>
              <a:rPr dirty="0" smtClean="0"/>
              <a:t>Big-O </a:t>
            </a:r>
            <a:r>
              <a:rPr dirty="0" err="1"/>
              <a:t>notatie</a:t>
            </a:r>
            <a:r>
              <a:rPr dirty="0"/>
              <a:t>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109" name="Shape 10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>
              <a:buChar char="•"/>
            </a:pPr>
            <a:r>
              <a:rPr lang="nl-NL" dirty="0" smtClean="0"/>
              <a:t>Een algoritme heeft </a:t>
            </a:r>
            <a:r>
              <a:rPr lang="nl-NL" i="1" dirty="0" smtClean="0"/>
              <a:t>worst-case </a:t>
            </a:r>
            <a:r>
              <a:rPr lang="nl-NL" dirty="0" smtClean="0"/>
              <a:t>tijdscomplexiteit O(</a:t>
            </a:r>
            <a:r>
              <a:rPr lang="nl-NL" i="1" dirty="0" smtClean="0"/>
              <a:t>f(n)</a:t>
            </a:r>
            <a:r>
              <a:rPr lang="nl-NL" dirty="0" smtClean="0"/>
              <a:t>) als de looptijd van het algoritme voor grote </a:t>
            </a:r>
            <a:r>
              <a:rPr lang="nl-NL" i="1" dirty="0" smtClean="0"/>
              <a:t>n</a:t>
            </a:r>
            <a:r>
              <a:rPr lang="nl-NL" dirty="0" smtClean="0"/>
              <a:t> kleiner is dan </a:t>
            </a:r>
            <a:r>
              <a:rPr lang="nl-NL" i="1" dirty="0" smtClean="0"/>
              <a:t>c * f(n)</a:t>
            </a:r>
            <a:r>
              <a:rPr lang="nl-NL" dirty="0" smtClean="0"/>
              <a:t>.</a:t>
            </a:r>
          </a:p>
          <a:p>
            <a:pPr>
              <a:buChar char="•"/>
            </a:pPr>
            <a:endParaRPr lang="nl-NL" dirty="0"/>
          </a:p>
          <a:p>
            <a:pPr>
              <a:buChar char="•"/>
            </a:pPr>
            <a:r>
              <a:rPr lang="nl-NL" dirty="0" smtClean="0"/>
              <a:t>Voorbeeld: Code die 3*</a:t>
            </a:r>
            <a:r>
              <a:rPr lang="nl-NL" i="1" dirty="0" smtClean="0"/>
              <a:t>n</a:t>
            </a:r>
            <a:r>
              <a:rPr lang="nl-NL" dirty="0" smtClean="0"/>
              <a:t> tijd nodig heeft is O(</a:t>
            </a:r>
            <a:r>
              <a:rPr lang="nl-NL" i="1" dirty="0" smtClean="0"/>
              <a:t>n</a:t>
            </a:r>
            <a:r>
              <a:rPr lang="nl-NL" dirty="0" smtClean="0"/>
              <a:t>).</a:t>
            </a:r>
            <a:endParaRPr dirty="0"/>
          </a:p>
        </p:txBody>
      </p:sp>
      <p:sp>
        <p:nvSpPr>
          <p:cNvPr id="110" name="Shape 110"/>
          <p:cNvSpPr>
            <a:spLocks noGrp="1"/>
          </p:cNvSpPr>
          <p:nvPr>
            <p:ph type="title"/>
          </p:nvPr>
        </p:nvSpPr>
        <p:spPr>
          <a:xfrm>
            <a:off x="276225" y="213201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Definitie O(_)-notatie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361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112"/>
          <p:cNvSpPr>
            <a:spLocks noGrp="1"/>
          </p:cNvSpPr>
          <p:nvPr>
            <p:ph type="sldNum" sz="quarter" idx="4294967295"/>
          </p:nvPr>
        </p:nvSpPr>
        <p:spPr>
          <a:xfrm>
            <a:off x="4667133" y="5704998"/>
            <a:ext cx="168509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13" name="Shape 1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r>
              <a:rPr lang="nl-NL" dirty="0" smtClean="0"/>
              <a:t>Analyseer je code, hoeveel stappen maak je?</a:t>
            </a:r>
          </a:p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endParaRPr lang="nl-NL" dirty="0"/>
          </a:p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r>
              <a:rPr lang="nl-NL" dirty="0" smtClean="0"/>
              <a:t>Bijvoorbeeld:</a:t>
            </a:r>
          </a:p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r>
              <a:rPr lang="nl-NL" dirty="0" smtClean="0"/>
              <a:t>5n</a:t>
            </a:r>
            <a:r>
              <a:rPr lang="nl-NL" baseline="30000" dirty="0" smtClean="0"/>
              <a:t>2</a:t>
            </a:r>
            <a:r>
              <a:rPr lang="nl-NL" dirty="0" smtClean="0"/>
              <a:t> + 7n +8 stappen </a:t>
            </a:r>
            <a:r>
              <a:rPr lang="nl-NL" dirty="0" smtClean="0">
                <a:sym typeface="Wingdings" panose="05000000000000000000" pitchFamily="2" charset="2"/>
              </a:rPr>
              <a:t> O(n</a:t>
            </a:r>
            <a:r>
              <a:rPr lang="nl-NL" baseline="30000" dirty="0" smtClean="0">
                <a:sym typeface="Wingdings" panose="05000000000000000000" pitchFamily="2" charset="2"/>
              </a:rPr>
              <a:t>2</a:t>
            </a:r>
            <a:r>
              <a:rPr lang="nl-NL" dirty="0" smtClean="0">
                <a:sym typeface="Wingdings" panose="05000000000000000000" pitchFamily="2" charset="2"/>
              </a:rPr>
              <a:t>)</a:t>
            </a:r>
          </a:p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r>
              <a:rPr lang="nl-NL" dirty="0" smtClean="0">
                <a:sym typeface="Wingdings" panose="05000000000000000000" pitchFamily="2" charset="2"/>
              </a:rPr>
              <a:t>42 stappen  O(1)</a:t>
            </a:r>
          </a:p>
          <a:p>
            <a:pPr marL="0" indent="0" defTabSz="1072895">
              <a:spcBef>
                <a:spcPts val="500"/>
              </a:spcBef>
              <a:buSzTx/>
              <a:buNone/>
              <a:defRPr sz="2816"/>
            </a:pPr>
            <a:r>
              <a:rPr lang="nl-NL" dirty="0" smtClean="0">
                <a:sym typeface="Wingdings" panose="05000000000000000000" pitchFamily="2" charset="2"/>
              </a:rPr>
              <a:t>6 + 2n</a:t>
            </a:r>
            <a:r>
              <a:rPr lang="nl-NL" baseline="30000" dirty="0" smtClean="0">
                <a:sym typeface="Wingdings" panose="05000000000000000000" pitchFamily="2" charset="2"/>
              </a:rPr>
              <a:t>3</a:t>
            </a:r>
            <a:r>
              <a:rPr lang="nl-NL" dirty="0" smtClean="0">
                <a:sym typeface="Wingdings" panose="05000000000000000000" pitchFamily="2" charset="2"/>
              </a:rPr>
              <a:t> – n</a:t>
            </a:r>
            <a:r>
              <a:rPr lang="nl-NL" baseline="30000" dirty="0" smtClean="0">
                <a:sym typeface="Wingdings" panose="05000000000000000000" pitchFamily="2" charset="2"/>
              </a:rPr>
              <a:t>2</a:t>
            </a:r>
            <a:r>
              <a:rPr lang="nl-NL" dirty="0" smtClean="0">
                <a:sym typeface="Wingdings" panose="05000000000000000000" pitchFamily="2" charset="2"/>
              </a:rPr>
              <a:t> + 8n stappen  O(n</a:t>
            </a:r>
            <a:r>
              <a:rPr lang="nl-NL" baseline="30000" dirty="0" smtClean="0">
                <a:sym typeface="Wingdings" panose="05000000000000000000" pitchFamily="2" charset="2"/>
              </a:rPr>
              <a:t>3</a:t>
            </a:r>
            <a:r>
              <a:rPr lang="nl-NL" dirty="0" smtClean="0">
                <a:sym typeface="Wingdings" panose="05000000000000000000" pitchFamily="2" charset="2"/>
              </a:rPr>
              <a:t>)</a:t>
            </a:r>
            <a:endParaRPr dirty="0"/>
          </a:p>
        </p:txBody>
      </p:sp>
      <p:sp>
        <p:nvSpPr>
          <p:cNvPr id="114" name="Shape 114"/>
          <p:cNvSpPr>
            <a:spLocks noGrp="1"/>
          </p:cNvSpPr>
          <p:nvPr>
            <p:ph type="title"/>
          </p:nvPr>
        </p:nvSpPr>
        <p:spPr>
          <a:xfrm>
            <a:off x="263525" y="168275"/>
            <a:ext cx="8229600" cy="8572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nl-NL" dirty="0" smtClean="0"/>
              <a:t>Hoe bepaal je de O(_) complexiteit?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/>
        </p:nvSpPr>
        <p:spPr>
          <a:xfrm>
            <a:off x="2360612" y="5490072"/>
            <a:ext cx="6119813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defTabSz="1219200">
              <a:defRPr sz="1200"/>
            </a:lvl1pPr>
          </a:lstStyle>
          <a:p>
            <a:r>
              <a:rPr dirty="0"/>
              <a:t>           Bron: Robert Sedgewick, ”Algorithms”</a:t>
            </a:r>
          </a:p>
        </p:txBody>
      </p:sp>
      <p:sp>
        <p:nvSpPr>
          <p:cNvPr id="123" name="Shape 123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24" name="Shape 12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har char="•"/>
            </a:pPr>
            <a:endParaRPr/>
          </a:p>
        </p:txBody>
      </p:sp>
      <p:sp>
        <p:nvSpPr>
          <p:cNvPr id="125" name="Shape 125"/>
          <p:cNvSpPr>
            <a:spLocks noGrp="1"/>
          </p:cNvSpPr>
          <p:nvPr>
            <p:ph type="title"/>
          </p:nvPr>
        </p:nvSpPr>
        <p:spPr>
          <a:xfrm>
            <a:off x="250825" y="213201"/>
            <a:ext cx="8229600" cy="857251"/>
          </a:xfrm>
          <a:prstGeom prst="rect">
            <a:avLst/>
          </a:prstGeom>
        </p:spPr>
        <p:txBody>
          <a:bodyPr/>
          <a:lstStyle/>
          <a:p>
            <a:r>
              <a:rPr lang="nl-NL" dirty="0" smtClean="0"/>
              <a:t>Big O in je code</a:t>
            </a:r>
            <a:endParaRPr dirty="0"/>
          </a:p>
        </p:txBody>
      </p:sp>
      <p:pic>
        <p:nvPicPr>
          <p:cNvPr id="126" name="image7.png"/>
          <p:cNvPicPr>
            <a:picLocks noChangeAspect="1"/>
          </p:cNvPicPr>
          <p:nvPr/>
        </p:nvPicPr>
        <p:blipFill>
          <a:blip r:embed="rId2">
            <a:extLst/>
          </a:blip>
          <a:srcRect l="733" t="1744" b="1380"/>
          <a:stretch>
            <a:fillRect/>
          </a:stretch>
        </p:blipFill>
        <p:spPr>
          <a:xfrm>
            <a:off x="1201026" y="961938"/>
            <a:ext cx="7081900" cy="4566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/>
        </p:nvSpPr>
        <p:spPr>
          <a:xfrm>
            <a:off x="2627312" y="5210175"/>
            <a:ext cx="6119813" cy="523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19200">
              <a:defRPr sz="1400"/>
            </a:pPr>
            <a:r>
              <a:rPr dirty="0" err="1"/>
              <a:t>Bron</a:t>
            </a:r>
            <a:r>
              <a:rPr dirty="0"/>
              <a:t>: </a:t>
            </a:r>
            <a:r>
              <a:rPr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https://www.topcoder.com/community/data-science/data-science-tutorials/the-importance-of-algorithms/</a:t>
            </a:r>
          </a:p>
        </p:txBody>
      </p:sp>
      <p:sp>
        <p:nvSpPr>
          <p:cNvPr id="135" name="Shape 135"/>
          <p:cNvSpPr>
            <a:spLocks noGrp="1"/>
          </p:cNvSpPr>
          <p:nvPr>
            <p:ph type="sldNum" sz="quarter" idx="4294967295"/>
          </p:nvPr>
        </p:nvSpPr>
        <p:spPr>
          <a:xfrm>
            <a:off x="4634949" y="5704998"/>
            <a:ext cx="232877" cy="256541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>
            <a:lvl1pPr algn="ctr" defTabSz="1219200">
              <a:defRPr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6</a:t>
            </a:fld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idx="1"/>
          </p:nvPr>
        </p:nvSpPr>
        <p:spPr>
          <a:xfrm>
            <a:off x="538162" y="1070452"/>
            <a:ext cx="8229601" cy="3232150"/>
          </a:xfrm>
          <a:prstGeom prst="rect">
            <a:avLst/>
          </a:prstGeom>
        </p:spPr>
        <p:txBody>
          <a:bodyPr/>
          <a:lstStyle/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endParaRPr lang="nl-NL" dirty="0" smtClean="0"/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dirty="0" smtClean="0"/>
              <a:t>lo</a:t>
            </a:r>
            <a:r>
              <a:rPr dirty="0" smtClean="0"/>
              <a:t>g(</a:t>
            </a:r>
            <a:r>
              <a:rPr lang="nl-NL" i="1" dirty="0" smtClean="0"/>
              <a:t>n</a:t>
            </a:r>
            <a:r>
              <a:rPr dirty="0" smtClean="0"/>
              <a:t>))</a:t>
            </a:r>
            <a:r>
              <a:rPr lang="nl-NL" dirty="0" smtClean="0"/>
              <a:t>	</a:t>
            </a:r>
            <a:r>
              <a:rPr dirty="0"/>
              <a:t>	10</a:t>
            </a:r>
            <a:r>
              <a:rPr baseline="30106" dirty="0"/>
              <a:t>-7</a:t>
            </a:r>
            <a:r>
              <a:rPr dirty="0"/>
              <a:t> seconden</a:t>
            </a:r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i="1" dirty="0"/>
              <a:t>n</a:t>
            </a:r>
            <a:r>
              <a:rPr dirty="0" smtClean="0"/>
              <a:t>)</a:t>
            </a:r>
            <a:r>
              <a:rPr dirty="0"/>
              <a:t>	</a:t>
            </a:r>
            <a:r>
              <a:rPr lang="nl-NL" dirty="0" smtClean="0"/>
              <a:t>	</a:t>
            </a:r>
            <a:r>
              <a:rPr dirty="0"/>
              <a:t>	10</a:t>
            </a:r>
            <a:r>
              <a:rPr baseline="30106" dirty="0"/>
              <a:t>-6</a:t>
            </a:r>
            <a:r>
              <a:rPr dirty="0"/>
              <a:t> seconden</a:t>
            </a:r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i="1" dirty="0"/>
              <a:t>n </a:t>
            </a:r>
            <a:r>
              <a:rPr dirty="0" smtClean="0"/>
              <a:t>*</a:t>
            </a:r>
            <a:r>
              <a:rPr lang="nl-NL" dirty="0" smtClean="0"/>
              <a:t>l</a:t>
            </a:r>
            <a:r>
              <a:rPr dirty="0" err="1" smtClean="0"/>
              <a:t>og</a:t>
            </a:r>
            <a:r>
              <a:rPr dirty="0" smtClean="0"/>
              <a:t>(</a:t>
            </a:r>
            <a:r>
              <a:rPr lang="nl-NL" i="1" dirty="0"/>
              <a:t>n</a:t>
            </a:r>
            <a:r>
              <a:rPr dirty="0" smtClean="0"/>
              <a:t>))</a:t>
            </a:r>
            <a:r>
              <a:rPr lang="nl-NL" dirty="0" smtClean="0"/>
              <a:t>	</a:t>
            </a:r>
            <a:r>
              <a:rPr dirty="0"/>
              <a:t>	10</a:t>
            </a:r>
            <a:r>
              <a:rPr baseline="30106" dirty="0"/>
              <a:t>-5</a:t>
            </a:r>
            <a:r>
              <a:rPr dirty="0"/>
              <a:t> seconden</a:t>
            </a:r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i="1" dirty="0"/>
              <a:t>n </a:t>
            </a:r>
            <a:r>
              <a:rPr baseline="30106" dirty="0" smtClean="0"/>
              <a:t>2</a:t>
            </a:r>
            <a:r>
              <a:rPr dirty="0"/>
              <a:t>)		</a:t>
            </a:r>
            <a:r>
              <a:rPr lang="nl-NL" dirty="0" smtClean="0"/>
              <a:t>	</a:t>
            </a:r>
            <a:r>
              <a:rPr dirty="0" smtClean="0"/>
              <a:t>10</a:t>
            </a:r>
            <a:r>
              <a:rPr baseline="30106" dirty="0"/>
              <a:t>-4</a:t>
            </a:r>
            <a:r>
              <a:rPr dirty="0"/>
              <a:t> seconden</a:t>
            </a:r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i="1" dirty="0"/>
              <a:t>n </a:t>
            </a:r>
            <a:r>
              <a:rPr baseline="30106" dirty="0" smtClean="0"/>
              <a:t>6</a:t>
            </a:r>
            <a:r>
              <a:rPr dirty="0"/>
              <a:t>)		</a:t>
            </a:r>
            <a:r>
              <a:rPr lang="nl-NL" dirty="0" smtClean="0"/>
              <a:t>	</a:t>
            </a:r>
            <a:r>
              <a:rPr dirty="0" smtClean="0"/>
              <a:t>3 </a:t>
            </a:r>
            <a:r>
              <a:rPr dirty="0"/>
              <a:t>minuten</a:t>
            </a:r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O(2</a:t>
            </a:r>
            <a:r>
              <a:rPr lang="nl-NL" i="1" baseline="30106" dirty="0" smtClean="0"/>
              <a:t>n</a:t>
            </a:r>
            <a:r>
              <a:rPr dirty="0" smtClean="0"/>
              <a:t>)</a:t>
            </a:r>
            <a:r>
              <a:rPr dirty="0"/>
              <a:t>		</a:t>
            </a:r>
            <a:r>
              <a:rPr lang="nl-NL" dirty="0" smtClean="0"/>
              <a:t>	</a:t>
            </a:r>
            <a:r>
              <a:rPr dirty="0" smtClean="0"/>
              <a:t>10</a:t>
            </a:r>
            <a:r>
              <a:rPr lang="nl-NL" baseline="30000" dirty="0" smtClean="0"/>
              <a:t>14</a:t>
            </a:r>
            <a:r>
              <a:rPr lang="nl-NL" dirty="0" smtClean="0"/>
              <a:t> </a:t>
            </a:r>
            <a:r>
              <a:rPr lang="nl-NL" dirty="0"/>
              <a:t> </a:t>
            </a:r>
            <a:r>
              <a:rPr dirty="0" smtClean="0"/>
              <a:t>ja</a:t>
            </a:r>
            <a:r>
              <a:rPr lang="nl-NL" dirty="0" smtClean="0"/>
              <a:t>ar</a:t>
            </a:r>
            <a:endParaRPr dirty="0"/>
          </a:p>
          <a:p>
            <a:pPr marL="0" indent="0" defTabSz="1011936">
              <a:lnSpc>
                <a:spcPct val="90000"/>
              </a:lnSpc>
              <a:spcBef>
                <a:spcPts val="500"/>
              </a:spcBef>
              <a:buSzTx/>
              <a:buNone/>
              <a:defRPr sz="2324"/>
            </a:pPr>
            <a:r>
              <a:rPr dirty="0" smtClean="0"/>
              <a:t>O(</a:t>
            </a:r>
            <a:r>
              <a:rPr lang="nl-NL" i="1" dirty="0"/>
              <a:t>n</a:t>
            </a:r>
            <a:r>
              <a:rPr dirty="0" smtClean="0"/>
              <a:t>!)</a:t>
            </a:r>
            <a:r>
              <a:rPr dirty="0"/>
              <a:t>		</a:t>
            </a:r>
            <a:r>
              <a:rPr lang="nl-NL" dirty="0" smtClean="0"/>
              <a:t>	</a:t>
            </a:r>
            <a:r>
              <a:rPr dirty="0" smtClean="0"/>
              <a:t>10</a:t>
            </a:r>
            <a:r>
              <a:rPr lang="nl-NL" baseline="30000" dirty="0" smtClean="0"/>
              <a:t>142 </a:t>
            </a:r>
            <a:r>
              <a:rPr dirty="0" smtClean="0"/>
              <a:t>ja</a:t>
            </a:r>
            <a:r>
              <a:rPr lang="nl-NL" dirty="0" smtClean="0"/>
              <a:t>ar</a:t>
            </a:r>
            <a:endParaRPr dirty="0"/>
          </a:p>
        </p:txBody>
      </p:sp>
      <p:sp>
        <p:nvSpPr>
          <p:cNvPr id="137" name="Shape 137"/>
          <p:cNvSpPr>
            <a:spLocks noGrp="1"/>
          </p:cNvSpPr>
          <p:nvPr>
            <p:ph type="title"/>
          </p:nvPr>
        </p:nvSpPr>
        <p:spPr>
          <a:xfrm>
            <a:off x="212725" y="213201"/>
            <a:ext cx="8229600" cy="857251"/>
          </a:xfrm>
          <a:prstGeom prst="rect">
            <a:avLst/>
          </a:prstGeom>
        </p:spPr>
        <p:txBody>
          <a:bodyPr/>
          <a:lstStyle>
            <a:lvl1pPr>
              <a:defRPr sz="2300"/>
            </a:lvl1pPr>
          </a:lstStyle>
          <a:p>
            <a:r>
              <a:rPr dirty="0" err="1"/>
              <a:t>Geschatte</a:t>
            </a:r>
            <a:r>
              <a:rPr dirty="0"/>
              <a:t> </a:t>
            </a:r>
            <a:r>
              <a:rPr dirty="0" err="1"/>
              <a:t>doorlooptijd</a:t>
            </a:r>
            <a:r>
              <a:rPr dirty="0"/>
              <a:t> </a:t>
            </a:r>
            <a:r>
              <a:rPr dirty="0" err="1"/>
              <a:t>voor</a:t>
            </a:r>
            <a:r>
              <a:rPr dirty="0"/>
              <a:t> </a:t>
            </a:r>
            <a:r>
              <a:rPr dirty="0" err="1"/>
              <a:t>algoritmen</a:t>
            </a:r>
            <a:r>
              <a:rPr dirty="0"/>
              <a:t>, </a:t>
            </a:r>
            <a:r>
              <a:rPr lang="nl-NL" i="1" dirty="0" smtClean="0"/>
              <a:t>n</a:t>
            </a:r>
            <a:r>
              <a:rPr dirty="0" smtClean="0"/>
              <a:t> </a:t>
            </a:r>
            <a:r>
              <a:rPr dirty="0"/>
              <a:t>= 100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 xmlns:p14="http://schemas.microsoft.com/office/powerpoint/2010/main"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ashtables on ELO">
  <a:themeElements>
    <a:clrScheme name="Hashtables on ELO">
      <a:dk1>
        <a:srgbClr val="23114C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Hashtables on ELO">
  <a:themeElements>
    <a:clrScheme name="Hashtables on EL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Hashtables on ELO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Hashtables on EL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23114C"/>
            </a:solidFill>
            <a:effectLst/>
            <a:uFillTx/>
            <a:latin typeface="Verdana"/>
            <a:ea typeface="Verdana"/>
            <a:cs typeface="Verdana"/>
            <a:sym typeface="Verdan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92C47A9634448A67B6C0F4E203E71" ma:contentTypeVersion="3" ma:contentTypeDescription="Een nieuw document maken." ma:contentTypeScope="" ma:versionID="6718b5531c9594f0118ad4d948279b35">
  <xsd:schema xmlns:xsd="http://www.w3.org/2001/XMLSchema" xmlns:xs="http://www.w3.org/2001/XMLSchema" xmlns:p="http://schemas.microsoft.com/office/2006/metadata/properties" xmlns:ns2="a158c91d-1665-465e-9b38-ca2a7ebcd6da" targetNamespace="http://schemas.microsoft.com/office/2006/metadata/properties" ma:root="true" ma:fieldsID="52e0feb564d94f319910592251323171" ns2:_="">
    <xsd:import namespace="a158c91d-1665-465e-9b38-ca2a7ebcd6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58c91d-1665-465e-9b38-ca2a7ebcd6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B2E7DA-CF4E-4DAD-926D-0CF0DD0E5F65}"/>
</file>

<file path=customXml/itemProps2.xml><?xml version="1.0" encoding="utf-8"?>
<ds:datastoreItem xmlns:ds="http://schemas.openxmlformats.org/officeDocument/2006/customXml" ds:itemID="{0CFF41AE-3686-47AB-B86C-68AEEB7294DF}"/>
</file>

<file path=customXml/itemProps3.xml><?xml version="1.0" encoding="utf-8"?>
<ds:datastoreItem xmlns:ds="http://schemas.openxmlformats.org/officeDocument/2006/customXml" ds:itemID="{F23A2722-6B8F-4F85-9EE9-F3DDCAC43213}"/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167</Words>
  <Application>Microsoft Office PowerPoint</Application>
  <PresentationFormat>Diavoorstelling (4:3)</PresentationFormat>
  <Paragraphs>38</Paragraphs>
  <Slides>6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7" baseType="lpstr">
      <vt:lpstr>Hashtables on ELO</vt:lpstr>
      <vt:lpstr>Algoritmen &amp; Datastructuren</vt:lpstr>
      <vt:lpstr>Wat is de Big-O notatie?</vt:lpstr>
      <vt:lpstr>Definitie O(_)-notatie</vt:lpstr>
      <vt:lpstr>Hoe bepaal je de O(_) complexiteit?</vt:lpstr>
      <vt:lpstr>Big O in je code</vt:lpstr>
      <vt:lpstr>Geschatte doorlooptijd voor algoritmen, n = 100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Algoritmen &amp; Datastructuren 1 (iad1)</dc:title>
  <cp:lastModifiedBy>Charlotte Ipema</cp:lastModifiedBy>
  <cp:revision>60</cp:revision>
  <dcterms:modified xsi:type="dcterms:W3CDTF">2017-12-13T09:10:27Z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0x010100D6492C47A9634448A67B6C0F4E203E71</vt:lpwstr>
  </property>
  <property fmtid="{D5CDD505-2E9C-101B-9397-08002B2CF9AE}" pid="3" name="EducationCourse">
    <vt:lpwstr/>
  </property>
  <property fmtid="{D5CDD505-2E9C-101B-9397-08002B2CF9AE}" pid="4" name="EducationYear">
    <vt:lpwstr/>
  </property>
  <property fmtid="{D5CDD505-2E9C-101B-9397-08002B2CF9AE}" pid="5" name="Order">
    <vt:r8>1100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TriggerFlowInfo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</Properties>
</file>