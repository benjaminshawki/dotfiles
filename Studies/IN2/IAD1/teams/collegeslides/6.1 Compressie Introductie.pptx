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9" r:id="rId2"/>
    <p:sldId id="261" r:id="rId3"/>
    <p:sldId id="294" r:id="rId4"/>
    <p:sldId id="295" r:id="rId5"/>
    <p:sldId id="297" r:id="rId6"/>
    <p:sldId id="296" r:id="rId7"/>
    <p:sldId id="299" r:id="rId8"/>
    <p:sldId id="301" r:id="rId9"/>
    <p:sldId id="298" r:id="rId10"/>
    <p:sldId id="266" r:id="rId11"/>
    <p:sldId id="303" r:id="rId12"/>
    <p:sldId id="300" r:id="rId13"/>
    <p:sldId id="305" r:id="rId14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8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5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8" Type="http://schemas.openxmlformats.org/officeDocument/2006/relationships/slide" Target="slides/slide7.xml"/><Relationship Id="rId2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printerSettings" Target="printerSettings/printerSettings1.bin"/><Relationship Id="rId7" Type="http://schemas.openxmlformats.org/officeDocument/2006/relationships/slide" Target="slides/slide6.xml"/><Relationship Id="rId20" Type="http://schemas.openxmlformats.org/officeDocument/2006/relationships/theme" Target="theme/theme1.xml"/><Relationship Id="rId1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customXml" Target="../customXml/item3.xml"/><Relationship Id="rId1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" Type="http://schemas.openxmlformats.org/officeDocument/2006/relationships/slide" Target="slides/slide3.xml"/><Relationship Id="rId22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7E628-8F28-4EDF-A8A5-A87FD083F340}" type="datetimeFigureOut">
              <a:rPr lang="nl-NL" smtClean="0"/>
              <a:t>14-02-18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33DB6-E072-4328-BB92-05C854B6A7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015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1D89-09CB-5D43-9605-54219E4A1A59}" type="datetimeFigureOut">
              <a:rPr lang="en-US" smtClean="0"/>
              <a:t>14-02-18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4F102-A421-E246-BA82-D625ADAAE1C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3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4B7DC268-0993-8E4C-A9A0-D30C95879050}" type="slidenum">
              <a:rPr lang="en-US" sz="1200"/>
              <a:pPr eaLnBrk="1" hangingPunct="1"/>
              <a:t>7</a:t>
            </a:fld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3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4B7DC268-0993-8E4C-A9A0-D30C95879050}" type="slidenum">
              <a:rPr lang="en-US" sz="1200"/>
              <a:pPr eaLnBrk="1" hangingPunct="1"/>
              <a:t>8</a:t>
            </a:fld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3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4B7DC268-0993-8E4C-A9A0-D30C95879050}" type="slidenum">
              <a:rPr lang="en-US" sz="1200"/>
              <a:pPr eaLnBrk="1" hangingPunct="1"/>
              <a:t>10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20713"/>
            <a:ext cx="8713788" cy="7207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[Titel van de presentatie]</a:t>
            </a:r>
            <a:endParaRPr lang="nl-NL" dirty="0"/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500363"/>
            <a:ext cx="8713788" cy="2520925"/>
          </a:xfrm>
        </p:spPr>
        <p:txBody>
          <a:bodyPr>
            <a:normAutofit/>
          </a:bodyPr>
          <a:lstStyle>
            <a:lvl1pPr marL="93663" indent="-11113">
              <a:buFont typeface="Arial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[Onderwerp]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1519" y="6093296"/>
            <a:ext cx="1873771" cy="287262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[Periode]</a:t>
            </a:r>
            <a:endParaRPr lang="nl-NL" dirty="0"/>
          </a:p>
        </p:txBody>
      </p:sp>
      <p:sp>
        <p:nvSpPr>
          <p:cNvPr id="13" name="Tijdelijke aanduiding voor tekst 22"/>
          <p:cNvSpPr>
            <a:spLocks noGrp="1"/>
          </p:cNvSpPr>
          <p:nvPr>
            <p:ph type="body" sz="quarter" idx="13" hasCustomPrompt="1"/>
          </p:nvPr>
        </p:nvSpPr>
        <p:spPr>
          <a:xfrm>
            <a:off x="250950" y="6308624"/>
            <a:ext cx="1872778" cy="28795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[Jaargang]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  <p:sp>
        <p:nvSpPr>
          <p:cNvPr id="6" name="Tijdelijke aanduiding voor afbeelding 5"/>
          <p:cNvSpPr>
            <a:spLocks noGrp="1"/>
          </p:cNvSpPr>
          <p:nvPr>
            <p:ph type="pic" sz="quarter" idx="12" hasCustomPrompt="1"/>
          </p:nvPr>
        </p:nvSpPr>
        <p:spPr>
          <a:xfrm>
            <a:off x="5651500" y="3365500"/>
            <a:ext cx="3492500" cy="34925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 algn="ctr">
              <a:buFontTx/>
              <a:buNone/>
              <a:defRPr sz="2000">
                <a:solidFill>
                  <a:srgbClr val="23114C"/>
                </a:solidFill>
              </a:defRPr>
            </a:lvl1pPr>
          </a:lstStyle>
          <a:p>
            <a:r>
              <a:rPr lang="nl-NL" dirty="0" smtClean="0"/>
              <a:t>Afbeelding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1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02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 smtClean="0"/>
              <a:t>Tekstuele content met </a:t>
            </a:r>
            <a:r>
              <a:rPr lang="nl-NL" dirty="0" err="1" smtClean="0"/>
              <a:t>bullits</a:t>
            </a:r>
            <a:endParaRPr lang="nl-NL" dirty="0" smtClean="0"/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20BDB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leformat.info/info/charset/index.htm" TargetMode="External"/><Relationship Id="rId4" Type="http://schemas.openxmlformats.org/officeDocument/2006/relationships/hyperlink" Target="http://www.fileformat.info/info/charset/UTF-16/list.htm" TargetMode="External"/><Relationship Id="rId1" Type="http://schemas.openxmlformats.org/officeDocument/2006/relationships/slideLayout" Target="../slideLayouts/slideLayout4.xml"/><Relationship Id="rId2" Type="http://schemas.openxmlformats.org/officeDocument/2006/relationships/hyperlink" Target="http://www.unicod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nl-NL" sz="2400" dirty="0"/>
              <a:t>Algoritme </a:t>
            </a:r>
            <a:r>
              <a:rPr lang="nl-NL" sz="2400"/>
              <a:t>en </a:t>
            </a:r>
            <a:r>
              <a:rPr lang="nl-NL" sz="2400" smtClean="0"/>
              <a:t>Datastructuren</a:t>
            </a:r>
            <a:endParaRPr lang="nl-NL" sz="24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smtClean="0"/>
              <a:t>Compressie algoritmen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3789040"/>
            <a:ext cx="3301380" cy="27846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err="1">
                <a:latin typeface="Arial" charset="0"/>
              </a:rPr>
              <a:t>Lesdoel</a:t>
            </a:r>
            <a:endParaRPr lang="nl-NL" b="1" dirty="0">
              <a:latin typeface="Arial" charset="0"/>
            </a:endParaRPr>
          </a:p>
        </p:txBody>
      </p:sp>
      <p:sp>
        <p:nvSpPr>
          <p:cNvPr id="4098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>
                <a:latin typeface="Arial" charset="0"/>
                <a:cs typeface="Arial" charset="0"/>
              </a:rPr>
              <a:t>Student heeft inzicht hoe het Huffman en LZW compressie algoritme werkt.</a:t>
            </a:r>
          </a:p>
          <a:p>
            <a:r>
              <a:rPr lang="nl-NL" sz="2800" dirty="0">
                <a:latin typeface="Arial" charset="0"/>
                <a:cs typeface="Arial" charset="0"/>
              </a:rPr>
              <a:t>Student kan het </a:t>
            </a:r>
            <a:r>
              <a:rPr lang="nl-NL" sz="2800" dirty="0" smtClean="0">
                <a:latin typeface="Arial" charset="0"/>
                <a:cs typeface="Arial" charset="0"/>
              </a:rPr>
              <a:t>LZW en Huffman </a:t>
            </a:r>
            <a:r>
              <a:rPr lang="nl-NL" sz="2800" dirty="0">
                <a:latin typeface="Arial" charset="0"/>
                <a:cs typeface="Arial" charset="0"/>
              </a:rPr>
              <a:t>algoritme </a:t>
            </a:r>
            <a:r>
              <a:rPr lang="nl-NL" sz="2800" dirty="0" smtClean="0">
                <a:latin typeface="Arial" charset="0"/>
                <a:cs typeface="Arial" charset="0"/>
              </a:rPr>
              <a:t>programmeren (thuisdoel)</a:t>
            </a:r>
            <a:endParaRPr lang="nl-NL" sz="28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1709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smtClean="0">
                <a:latin typeface="Arial" charset="0"/>
              </a:rPr>
              <a:t>Datacompressie</a:t>
            </a:r>
            <a:endParaRPr lang="nl-NL" b="1" dirty="0">
              <a:latin typeface="Arial" charset="0"/>
            </a:endParaRPr>
          </a:p>
        </p:txBody>
      </p:sp>
      <p:sp>
        <p:nvSpPr>
          <p:cNvPr id="4098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dirty="0" err="1" smtClean="0">
                <a:solidFill>
                  <a:schemeClr val="tx1"/>
                </a:solidFill>
                <a:latin typeface="Arial"/>
                <a:cs typeface="Arial"/>
              </a:rPr>
              <a:t>Datacompressie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is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een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belangrijke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techniek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binnen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het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Informatica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vakgebied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Het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kan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worden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gebruikt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voor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:</a:t>
            </a:r>
          </a:p>
          <a:p>
            <a:pPr>
              <a:buFont typeface="Arial"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Het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verkleinen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van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bestanden</a:t>
            </a: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Arial"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Het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vergroten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van de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effectiviteit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van het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versturen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van 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data via het internet of </a:t>
            </a:r>
            <a:r>
              <a:rPr lang="en-US" sz="2800" dirty="0" err="1" smtClean="0">
                <a:solidFill>
                  <a:schemeClr val="tx1"/>
                </a:solidFill>
                <a:latin typeface="Arial"/>
                <a:cs typeface="Arial"/>
              </a:rPr>
              <a:t>een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  <a:latin typeface="Arial"/>
                <a:cs typeface="Arial"/>
              </a:rPr>
              <a:t>ander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  <a:latin typeface="Arial"/>
                <a:cs typeface="Arial"/>
              </a:rPr>
              <a:t>netwerk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05620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smtClean="0">
                <a:latin typeface="Arial" charset="0"/>
              </a:rPr>
              <a:t>Datacompressie algoritmes</a:t>
            </a:r>
            <a:endParaRPr lang="nl-NL" b="1" dirty="0">
              <a:latin typeface="Arial" charset="0"/>
            </a:endParaRPr>
          </a:p>
        </p:txBody>
      </p:sp>
      <p:sp>
        <p:nvSpPr>
          <p:cNvPr id="4098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  <a:latin typeface="Arial"/>
                <a:cs typeface="Arial"/>
              </a:rPr>
              <a:t>Lossless data </a:t>
            </a:r>
            <a:r>
              <a:rPr lang="en-US" sz="2800" b="1" dirty="0" err="1" smtClean="0">
                <a:solidFill>
                  <a:schemeClr val="tx1"/>
                </a:solidFill>
                <a:latin typeface="Arial"/>
                <a:cs typeface="Arial"/>
              </a:rPr>
              <a:t>compressie</a:t>
            </a: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  <a:latin typeface="Arial"/>
                <a:cs typeface="Arial"/>
              </a:rPr>
              <a:t>algoritmes</a:t>
            </a: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  <a:latin typeface="Arial"/>
                <a:cs typeface="Arial"/>
              </a:rPr>
              <a:t>implementaties</a:t>
            </a: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:</a:t>
            </a:r>
            <a:endParaRPr lang="en-US" sz="2800" b="1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GIF</a:t>
            </a: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PNG</a:t>
            </a: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ZIP</a:t>
            </a:r>
          </a:p>
          <a:p>
            <a:pPr marL="0" indent="0">
              <a:buNone/>
              <a:defRPr/>
            </a:pPr>
            <a:endParaRPr lang="en-US" sz="2800" b="1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2800" b="1" dirty="0" err="1" smtClean="0">
                <a:solidFill>
                  <a:schemeClr val="tx1"/>
                </a:solidFill>
                <a:latin typeface="Arial"/>
                <a:cs typeface="Arial"/>
              </a:rPr>
              <a:t>Lossy</a:t>
            </a: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rial"/>
                <a:cs typeface="Arial"/>
              </a:rPr>
              <a:t>data </a:t>
            </a:r>
            <a:r>
              <a:rPr lang="en-US" sz="2800" b="1" dirty="0" err="1">
                <a:solidFill>
                  <a:schemeClr val="tx1"/>
                </a:solidFill>
                <a:latin typeface="Arial"/>
                <a:cs typeface="Arial"/>
              </a:rPr>
              <a:t>compressie</a:t>
            </a:r>
            <a:r>
              <a:rPr lang="en-US" sz="28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  <a:latin typeface="Arial"/>
                <a:cs typeface="Arial"/>
              </a:rPr>
              <a:t>algoritmes</a:t>
            </a: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/>
                <a:cs typeface="Arial"/>
              </a:rPr>
              <a:t>implementaties</a:t>
            </a:r>
            <a:r>
              <a:rPr lang="en-US" sz="2800" b="1" dirty="0">
                <a:solidFill>
                  <a:schemeClr val="tx1"/>
                </a:solidFill>
                <a:latin typeface="Arial"/>
                <a:cs typeface="Arial"/>
              </a:rPr>
              <a:t>:</a:t>
            </a:r>
          </a:p>
          <a:p>
            <a:pPr>
              <a:defRPr/>
            </a:pP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JPEG</a:t>
            </a: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MP3</a:t>
            </a: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8720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err="1" smtClean="0"/>
              <a:t>Datacompressiemethodieken</a:t>
            </a:r>
            <a:endParaRPr lang="nl-NL" b="1" dirty="0"/>
          </a:p>
        </p:txBody>
      </p:sp>
      <p:pic>
        <p:nvPicPr>
          <p:cNvPr id="9" name="Tijdelijke aanduiding voor inhoud 8"/>
          <p:cNvPicPr>
            <a:picLocks noGrp="1" noChangeAspect="1"/>
          </p:cNvPicPr>
          <p:nvPr>
            <p:ph idx="1"/>
          </p:nvPr>
        </p:nvPicPr>
        <p:blipFill>
          <a:blip r:embed="rId2"/>
          <a:srcRect t="-3538" b="-353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31477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smtClean="0">
                <a:latin typeface="Arial" charset="0"/>
              </a:rPr>
              <a:t>Wij concentreren ons op:</a:t>
            </a:r>
            <a:endParaRPr lang="nl-NL" b="1" dirty="0">
              <a:latin typeface="Arial" charset="0"/>
            </a:endParaRPr>
          </a:p>
        </p:txBody>
      </p:sp>
      <p:sp>
        <p:nvSpPr>
          <p:cNvPr id="4098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Huffman </a:t>
            </a:r>
            <a:r>
              <a:rPr lang="mr-IN" sz="2800" b="1" dirty="0" smtClean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 Entropy type</a:t>
            </a:r>
          </a:p>
          <a:p>
            <a:pPr marL="0" indent="0">
              <a:buNone/>
              <a:defRPr/>
            </a:pP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Van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een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reeks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symbolen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worden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veel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voorkomende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symbolen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weergegeven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door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een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kortere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code,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dan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weinig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voorkomende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. </a:t>
            </a:r>
          </a:p>
          <a:p>
            <a:pPr marL="0" indent="0">
              <a:buNone/>
              <a:defRPr/>
            </a:pPr>
            <a:r>
              <a:rPr lang="en-US" sz="2800" dirty="0" err="1" smtClean="0">
                <a:solidFill>
                  <a:schemeClr val="tx1"/>
                </a:solidFill>
                <a:latin typeface="Arial"/>
                <a:cs typeface="Arial"/>
              </a:rPr>
              <a:t>Maakt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  <a:latin typeface="Arial"/>
                <a:cs typeface="Arial"/>
              </a:rPr>
              <a:t>gebruik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 van </a:t>
            </a:r>
            <a:r>
              <a:rPr lang="en-US" sz="2800" dirty="0" err="1" smtClean="0">
                <a:solidFill>
                  <a:schemeClr val="tx1"/>
                </a:solidFill>
                <a:latin typeface="Arial"/>
                <a:cs typeface="Arial"/>
              </a:rPr>
              <a:t>statische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 code schema’s.</a:t>
            </a: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lang="en-US" sz="2800" b="1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LZW </a:t>
            </a:r>
            <a:r>
              <a:rPr lang="mr-IN" sz="2800" b="1" dirty="0" smtClean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lang="en-US" sz="2800" b="1" dirty="0" smtClean="0">
                <a:solidFill>
                  <a:schemeClr val="tx1"/>
                </a:solidFill>
                <a:latin typeface="Arial"/>
                <a:cs typeface="Arial"/>
              </a:rPr>
              <a:t> Dictionary type</a:t>
            </a:r>
          </a:p>
          <a:p>
            <a:pPr marL="0" indent="0"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Het LZW-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algoritme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gebruikt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een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zogenaamd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'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woordenboek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'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om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het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bestand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rial"/>
                <a:cs typeface="Arial"/>
              </a:rPr>
              <a:t>te</a:t>
            </a:r>
            <a:r>
              <a:rPr lang="en-US" sz="2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  <a:latin typeface="Arial"/>
                <a:cs typeface="Arial"/>
              </a:rPr>
              <a:t>comprimeren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lang="en-US" sz="2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8283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jdelijke aanduiding voor dianumm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D09BDC17-1CD2-6E4F-B3FB-D3A300D9D68C}" type="slidenum">
              <a:rPr lang="en-US" sz="1400">
                <a:solidFill>
                  <a:schemeClr val="tx1"/>
                </a:solidFill>
                <a:latin typeface="Times" charset="0"/>
              </a:rPr>
              <a:pPr eaLnBrk="1" hangingPunct="1"/>
              <a:t>7</a:t>
            </a:fld>
            <a:endParaRPr lang="en-US" sz="1400">
              <a:solidFill>
                <a:schemeClr val="tx1"/>
              </a:solidFill>
              <a:latin typeface="Times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000" b="1" dirty="0" smtClean="0">
                <a:latin typeface="Arial" charset="0"/>
                <a:cs typeface="Times New Roman" charset="0"/>
              </a:rPr>
              <a:t>Hoe wordt het data opgeslagen?</a:t>
            </a:r>
            <a:endParaRPr lang="nl-NL" sz="3000" b="1" dirty="0">
              <a:latin typeface="Arial" charset="0"/>
              <a:cs typeface="Times New Roman" charset="0"/>
            </a:endParaRPr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889000"/>
            <a:ext cx="8128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331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jdelijke aanduiding voor dianumm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D09BDC17-1CD2-6E4F-B3FB-D3A300D9D68C}" type="slidenum">
              <a:rPr lang="en-US" sz="1400">
                <a:solidFill>
                  <a:schemeClr val="tx1"/>
                </a:solidFill>
                <a:latin typeface="Times" charset="0"/>
              </a:rPr>
              <a:pPr eaLnBrk="1" hangingPunct="1"/>
              <a:t>8</a:t>
            </a:fld>
            <a:endParaRPr lang="en-US" sz="1400">
              <a:solidFill>
                <a:schemeClr val="tx1"/>
              </a:solidFill>
              <a:latin typeface="Times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000" b="1" dirty="0" smtClean="0">
                <a:latin typeface="Arial" charset="0"/>
                <a:cs typeface="Times New Roman" charset="0"/>
              </a:rPr>
              <a:t>Hoe wordt het tekst opgeslagen?</a:t>
            </a:r>
            <a:endParaRPr lang="nl-NL" sz="3000" b="1" dirty="0">
              <a:latin typeface="Arial" charset="0"/>
              <a:cs typeface="Times New Roman" charset="0"/>
            </a:endParaRP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26876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898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7596336" cy="5297318"/>
          </a:xfrm>
          <a:prstGeom prst="rect">
            <a:avLst/>
          </a:prstGeom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11560" y="404664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000" b="1" dirty="0" smtClean="0">
                <a:latin typeface="Arial" charset="0"/>
                <a:cs typeface="Times New Roman" charset="0"/>
              </a:rPr>
              <a:t>ASCII karakterset</a:t>
            </a:r>
            <a:endParaRPr lang="nl-NL" sz="3000" b="1" dirty="0">
              <a:latin typeface="Arial" charset="0"/>
              <a:cs typeface="Times New Roman" charset="0"/>
            </a:endParaRPr>
          </a:p>
        </p:txBody>
      </p:sp>
      <p:sp>
        <p:nvSpPr>
          <p:cNvPr id="5" name="Tekstvak 4"/>
          <p:cNvSpPr txBox="1"/>
          <p:nvPr/>
        </p:nvSpPr>
        <p:spPr>
          <a:xfrm>
            <a:off x="821793" y="6487550"/>
            <a:ext cx="4762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Bron: http://</a:t>
            </a:r>
            <a:r>
              <a:rPr lang="nl-NL" dirty="0" err="1"/>
              <a:t>www.theasciicode.com.ar</a:t>
            </a:r>
            <a:r>
              <a:rPr lang="nl-NL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504517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jdelijke aanduiding voor dianumm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D09BDC17-1CD2-6E4F-B3FB-D3A300D9D68C}" type="slidenum">
              <a:rPr lang="en-US" sz="1400">
                <a:solidFill>
                  <a:schemeClr val="tx1"/>
                </a:solidFill>
                <a:latin typeface="Times" charset="0"/>
              </a:rPr>
              <a:pPr eaLnBrk="1" hangingPunct="1"/>
              <a:t>10</a:t>
            </a:fld>
            <a:endParaRPr lang="en-US" sz="1400">
              <a:solidFill>
                <a:schemeClr val="tx1"/>
              </a:solidFill>
              <a:latin typeface="Times" charset="0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539552" y="980728"/>
            <a:ext cx="698477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Decimal  Octal Hex  Binary            Value</a:t>
            </a:r>
          </a:p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---------------------------------------------------------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- </a:t>
            </a:r>
          </a:p>
          <a:p>
            <a:pPr eaLnBrk="1" hangingPunct="1"/>
            <a:r>
              <a:rPr lang="en-US" sz="2000" b="1" dirty="0" smtClean="0">
                <a:solidFill>
                  <a:srgbClr val="000102"/>
                </a:solidFill>
                <a:latin typeface="Arial" charset="0"/>
              </a:rPr>
              <a:t>  </a:t>
            </a:r>
            <a:r>
              <a:rPr lang="mr-IN" sz="2000" b="1" dirty="0" smtClean="0">
                <a:solidFill>
                  <a:srgbClr val="000102"/>
                </a:solidFill>
                <a:latin typeface="Arial" charset="0"/>
              </a:rPr>
              <a:t>………………………</a:t>
            </a:r>
            <a:r>
              <a:rPr lang="nl-NL" sz="2000" b="1" dirty="0" smtClean="0">
                <a:solidFill>
                  <a:srgbClr val="000102"/>
                </a:solidFill>
                <a:latin typeface="Arial" charset="0"/>
              </a:rPr>
              <a:t>.</a:t>
            </a:r>
            <a:endParaRPr lang="en-US" sz="2000" b="1" dirty="0" smtClean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b="1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Arial" charset="0"/>
              </a:rPr>
              <a:t>065      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</a:rPr>
              <a:t>101    041   01000001        A</a:t>
            </a: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  066      102    042   01000010        B</a:t>
            </a: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  067      103    043   01000011        C</a:t>
            </a:r>
          </a:p>
          <a:p>
            <a:pPr eaLnBrk="1" hangingPunct="1"/>
            <a:r>
              <a:rPr lang="en-US" sz="2000" b="1" dirty="0">
                <a:solidFill>
                  <a:srgbClr val="008000"/>
                </a:solidFill>
                <a:latin typeface="Arial" charset="0"/>
              </a:rPr>
              <a:t>  068      104    044   01000100        D</a:t>
            </a: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  069      105    045   01000101        E</a:t>
            </a: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  070      106    046   01000110        F</a:t>
            </a: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  071      107    047   01000111        G</a:t>
            </a:r>
          </a:p>
          <a:p>
            <a:pPr eaLnBrk="1" hangingPunct="1"/>
            <a:r>
              <a:rPr lang="en-US" sz="2000" b="1" dirty="0">
                <a:solidFill>
                  <a:srgbClr val="3366FF"/>
                </a:solidFill>
                <a:latin typeface="Arial" charset="0"/>
              </a:rPr>
              <a:t>  072      110    048   01001000        </a:t>
            </a:r>
            <a:r>
              <a:rPr lang="en-US" sz="2000" b="1" dirty="0" smtClean="0">
                <a:solidFill>
                  <a:srgbClr val="3366FF"/>
                </a:solidFill>
                <a:latin typeface="Arial" charset="0"/>
              </a:rPr>
              <a:t>H</a:t>
            </a:r>
          </a:p>
          <a:p>
            <a:pPr eaLnBrk="1" hangingPunct="1"/>
            <a:r>
              <a:rPr lang="mr-IN" sz="2000" b="1" dirty="0" smtClean="0">
                <a:solidFill>
                  <a:srgbClr val="3366FF"/>
                </a:solidFill>
                <a:latin typeface="Arial" charset="0"/>
              </a:rPr>
              <a:t>……………………………………………</a:t>
            </a:r>
            <a:endParaRPr lang="en-US" sz="2000" b="1" dirty="0">
              <a:solidFill>
                <a:srgbClr val="3366FF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000" b="1" dirty="0" smtClean="0">
                <a:latin typeface="Arial" charset="0"/>
                <a:cs typeface="Times New Roman" charset="0"/>
              </a:rPr>
              <a:t>Hoe wordt data opgeslagen m.b.v. ASCII?</a:t>
            </a:r>
            <a:endParaRPr lang="nl-NL" sz="3000" b="1" dirty="0">
              <a:latin typeface="Arial" charset="0"/>
              <a:cs typeface="Times New Roman" charset="0"/>
            </a:endParaRPr>
          </a:p>
        </p:txBody>
      </p:sp>
      <p:sp>
        <p:nvSpPr>
          <p:cNvPr id="2" name="Tekstvak 1"/>
          <p:cNvSpPr txBox="1"/>
          <p:nvPr/>
        </p:nvSpPr>
        <p:spPr>
          <a:xfrm>
            <a:off x="539552" y="4653136"/>
            <a:ext cx="74168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De tekst: “ADHD”</a:t>
            </a:r>
          </a:p>
          <a:p>
            <a:r>
              <a:rPr lang="nl-NL" dirty="0" smtClean="0"/>
              <a:t>Kan ook op verschillende manier worden gerepresenteerd Decimaal:	</a:t>
            </a:r>
            <a:r>
              <a:rPr lang="nl-NL" b="1" dirty="0" smtClean="0">
                <a:solidFill>
                  <a:srgbClr val="FF0000"/>
                </a:solidFill>
              </a:rPr>
              <a:t>065</a:t>
            </a:r>
            <a:r>
              <a:rPr lang="nl-NL" b="1" dirty="0" smtClean="0">
                <a:solidFill>
                  <a:srgbClr val="008000"/>
                </a:solidFill>
              </a:rPr>
              <a:t>068</a:t>
            </a:r>
            <a:r>
              <a:rPr lang="nl-NL" b="1" dirty="0" smtClean="0">
                <a:solidFill>
                  <a:srgbClr val="3366FF"/>
                </a:solidFill>
              </a:rPr>
              <a:t>072</a:t>
            </a:r>
            <a:r>
              <a:rPr lang="nl-NL" b="1" dirty="0" smtClean="0">
                <a:solidFill>
                  <a:srgbClr val="008000"/>
                </a:solidFill>
              </a:rPr>
              <a:t>068</a:t>
            </a:r>
          </a:p>
          <a:p>
            <a:r>
              <a:rPr lang="nl-NL" dirty="0" smtClean="0">
                <a:latin typeface="Verdana"/>
                <a:cs typeface="Verdana"/>
              </a:rPr>
              <a:t>Binair:		</a:t>
            </a:r>
            <a:r>
              <a:rPr lang="en-US" b="1" dirty="0" smtClean="0">
                <a:solidFill>
                  <a:srgbClr val="FF0000"/>
                </a:solidFill>
                <a:latin typeface="Verdana"/>
                <a:cs typeface="Verdana"/>
              </a:rPr>
              <a:t>01000001</a:t>
            </a:r>
            <a:r>
              <a:rPr lang="en-US" b="1" dirty="0" smtClean="0">
                <a:solidFill>
                  <a:srgbClr val="008000"/>
                </a:solidFill>
                <a:latin typeface="Verdana"/>
                <a:cs typeface="Verdana"/>
              </a:rPr>
              <a:t>01000100</a:t>
            </a:r>
            <a:r>
              <a:rPr lang="en-US" b="1" dirty="0" smtClean="0">
                <a:solidFill>
                  <a:srgbClr val="3366FF"/>
                </a:solidFill>
                <a:latin typeface="Verdana"/>
                <a:cs typeface="Verdana"/>
              </a:rPr>
              <a:t>01001000</a:t>
            </a:r>
            <a:r>
              <a:rPr lang="en-US" b="1" dirty="0" smtClean="0">
                <a:solidFill>
                  <a:srgbClr val="008000"/>
                </a:solidFill>
                <a:latin typeface="Verdana"/>
                <a:cs typeface="Verdana"/>
              </a:rPr>
              <a:t>01000100</a:t>
            </a:r>
          </a:p>
          <a:p>
            <a:endParaRPr lang="en-US" b="1" dirty="0">
              <a:solidFill>
                <a:srgbClr val="008000"/>
              </a:solidFill>
              <a:latin typeface="Arial" charset="0"/>
            </a:endParaRPr>
          </a:p>
          <a:p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* De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kleuren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zijn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alleen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om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het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voorbeeld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te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verduidelijke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en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worden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niet</a:t>
            </a:r>
            <a:r>
              <a:rPr lang="en-US" sz="1400" b="1" dirty="0" smtClean="0">
                <a:solidFill>
                  <a:srgbClr val="23114C"/>
                </a:solidFill>
                <a:latin typeface="Arial" charset="0"/>
              </a:rPr>
              <a:t> </a:t>
            </a:r>
            <a:r>
              <a:rPr lang="en-US" sz="1400" b="1" dirty="0" err="1" smtClean="0">
                <a:solidFill>
                  <a:srgbClr val="23114C"/>
                </a:solidFill>
                <a:latin typeface="Arial" charset="0"/>
              </a:rPr>
              <a:t>opgeslagen</a:t>
            </a:r>
            <a:endParaRPr lang="nl-NL" sz="1400" dirty="0"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1466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smtClean="0">
                <a:latin typeface="Arial" charset="0"/>
              </a:rPr>
              <a:t>Wat als je andere karakters wilt opslaan?</a:t>
            </a:r>
            <a:endParaRPr lang="nl-NL" b="1" dirty="0">
              <a:latin typeface="Arial" charset="0"/>
            </a:endParaRPr>
          </a:p>
        </p:txBody>
      </p:sp>
      <p:sp>
        <p:nvSpPr>
          <p:cNvPr id="4098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1"/>
            <a:ext cx="8219256" cy="3773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300" dirty="0" smtClean="0">
                <a:latin typeface="Verdana"/>
                <a:cs typeface="Verdana"/>
              </a:rPr>
              <a:t>Wanneer je bepaalde karakters wilt opslaan voldoet ASCII niet. Bijvoorbeeld als je de karakters Ҋ </a:t>
            </a:r>
            <a:r>
              <a:rPr lang="ko-KR" altLang="en-US" sz="2300" b="1" dirty="0" smtClean="0">
                <a:latin typeface="Verdana"/>
                <a:cs typeface="Verdana"/>
              </a:rPr>
              <a:t>결</a:t>
            </a:r>
            <a:r>
              <a:rPr lang="en-US" altLang="ko-KR" sz="2300" b="1" dirty="0" smtClean="0">
                <a:latin typeface="Verdana"/>
                <a:cs typeface="Verdana"/>
              </a:rPr>
              <a:t> </a:t>
            </a:r>
            <a:r>
              <a:rPr lang="en-US" altLang="ko-KR" sz="2300" dirty="0" smtClean="0">
                <a:latin typeface="Verdana"/>
                <a:cs typeface="Verdana"/>
              </a:rPr>
              <a:t>of € wilt </a:t>
            </a:r>
            <a:r>
              <a:rPr lang="en-US" altLang="ko-KR" sz="2300" dirty="0" err="1" smtClean="0">
                <a:latin typeface="Verdana"/>
                <a:cs typeface="Verdana"/>
              </a:rPr>
              <a:t>gebruiken</a:t>
            </a:r>
            <a:r>
              <a:rPr lang="en-US" altLang="ko-KR" sz="2300" dirty="0" smtClean="0">
                <a:latin typeface="Verdana"/>
                <a:cs typeface="Verdana"/>
              </a:rPr>
              <a:t>?</a:t>
            </a:r>
            <a:endParaRPr lang="nl-NL" sz="2300" dirty="0" smtClean="0">
              <a:latin typeface="Verdana"/>
              <a:cs typeface="Verdana"/>
            </a:endParaRPr>
          </a:p>
          <a:p>
            <a:pPr marL="0" indent="0">
              <a:buNone/>
            </a:pPr>
            <a:endParaRPr lang="nl-NL" sz="2300" b="1" dirty="0" smtClean="0">
              <a:latin typeface="Verdana"/>
              <a:cs typeface="Verdana"/>
            </a:endParaRPr>
          </a:p>
          <a:p>
            <a:pPr marL="0" indent="0">
              <a:buNone/>
            </a:pPr>
            <a:r>
              <a:rPr lang="nl-NL" sz="2300" dirty="0" smtClean="0">
                <a:latin typeface="Verdana"/>
                <a:cs typeface="Verdana"/>
              </a:rPr>
              <a:t>Gebruik dan een ander karakterset zoals UTF-16. </a:t>
            </a:r>
            <a:r>
              <a:rPr lang="nl-NL" sz="2300" dirty="0" smtClean="0"/>
              <a:t>UTF</a:t>
            </a:r>
            <a:r>
              <a:rPr lang="nl-NL" sz="2300" dirty="0"/>
              <a:t>-16 maakt gebruik van 16-bit </a:t>
            </a:r>
            <a:r>
              <a:rPr lang="nl-NL" sz="2300" dirty="0" smtClean="0"/>
              <a:t>karakters. Elk karakter heeft dus 16 bits oftewel 2 bytes nodig om opgeslagen te worden.</a:t>
            </a:r>
            <a:endParaRPr lang="nl-NL" sz="2300" dirty="0"/>
          </a:p>
          <a:p>
            <a:pPr marL="0" indent="0">
              <a:buNone/>
            </a:pPr>
            <a:endParaRPr lang="nl-NL" sz="2800" dirty="0" smtClean="0"/>
          </a:p>
          <a:p>
            <a:pPr marL="0" indent="0">
              <a:buNone/>
            </a:pPr>
            <a:endParaRPr lang="nl-NL" sz="2800" dirty="0"/>
          </a:p>
          <a:p>
            <a:pPr marL="0" indent="0">
              <a:buNone/>
            </a:pPr>
            <a:endParaRPr lang="nl-NL" sz="2800" dirty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653136"/>
            <a:ext cx="80899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184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496716"/>
              </p:ext>
            </p:extLst>
          </p:nvPr>
        </p:nvGraphicFramePr>
        <p:xfrm>
          <a:off x="395536" y="1052736"/>
          <a:ext cx="8568952" cy="4379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889"/>
                <a:gridCol w="1836204"/>
                <a:gridCol w="3254646"/>
                <a:gridCol w="1904213"/>
              </a:tblGrid>
              <a:tr h="813811">
                <a:tc>
                  <a:txBody>
                    <a:bodyPr/>
                    <a:lstStyle/>
                    <a:p>
                      <a:r>
                        <a:rPr lang="nl-NL" dirty="0" smtClean="0"/>
                        <a:t>Karakter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Schrift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Wie gebruikt het?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UTF-16</a:t>
                      </a:r>
                    </a:p>
                    <a:p>
                      <a:r>
                        <a:rPr lang="nl-NL" dirty="0" err="1" smtClean="0"/>
                        <a:t>hexidecimaal</a:t>
                      </a:r>
                      <a:endParaRPr lang="nl-NL" dirty="0"/>
                    </a:p>
                  </a:txBody>
                  <a:tcPr/>
                </a:tc>
              </a:tr>
              <a:tr h="567553">
                <a:tc>
                  <a:txBody>
                    <a:bodyPr/>
                    <a:lstStyle/>
                    <a:p>
                      <a:r>
                        <a:rPr lang="el-GR" dirty="0" smtClean="0"/>
                        <a:t>Ω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Grieks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Grieken en natuurkundigen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03A9</a:t>
                      </a:r>
                      <a:endParaRPr lang="nl-NL" dirty="0"/>
                    </a:p>
                  </a:txBody>
                  <a:tcPr/>
                </a:tc>
              </a:tr>
              <a:tr h="567553">
                <a:tc>
                  <a:txBody>
                    <a:bodyPr/>
                    <a:lstStyle/>
                    <a:p>
                      <a:r>
                        <a:rPr lang="nl-NL" dirty="0" smtClean="0"/>
                        <a:t>Ҋ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Cyrillische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Russen, Oekraïners, Serven, Bulgaren</a:t>
                      </a:r>
                      <a:r>
                        <a:rPr lang="nl-NL" baseline="0" dirty="0" smtClean="0"/>
                        <a:t>, etc.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048B</a:t>
                      </a:r>
                      <a:endParaRPr lang="nl-NL" dirty="0"/>
                    </a:p>
                  </a:txBody>
                  <a:tcPr/>
                </a:tc>
              </a:tr>
              <a:tr h="567553">
                <a:tc>
                  <a:txBody>
                    <a:bodyPr/>
                    <a:lstStyle/>
                    <a:p>
                      <a:r>
                        <a:rPr lang="nl-NL" dirty="0" err="1" smtClean="0"/>
                        <a:t>Ꮡ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 smtClean="0"/>
                        <a:t>Cherokee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Door een</a:t>
                      </a:r>
                      <a:r>
                        <a:rPr lang="nl-NL" baseline="0" dirty="0" smtClean="0"/>
                        <a:t> oorspronkelijke stam in Noord </a:t>
                      </a:r>
                      <a:r>
                        <a:rPr lang="nl-NL" dirty="0" smtClean="0"/>
                        <a:t>Amerika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s-IS" dirty="0" smtClean="0"/>
                        <a:t>13D1</a:t>
                      </a:r>
                      <a:endParaRPr lang="nl-NL" dirty="0"/>
                    </a:p>
                  </a:txBody>
                  <a:tcPr/>
                </a:tc>
              </a:tr>
              <a:tr h="335475">
                <a:tc>
                  <a:txBody>
                    <a:bodyPr/>
                    <a:lstStyle/>
                    <a:p>
                      <a:r>
                        <a:rPr lang="hi-in" dirty="0" smtClean="0"/>
                        <a:t>ऑ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 smtClean="0"/>
                        <a:t>Devanagari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 smtClean="0"/>
                        <a:t>Nepalezen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s-IS" dirty="0" smtClean="0"/>
                        <a:t>0911</a:t>
                      </a:r>
                      <a:endParaRPr lang="nl-NL" dirty="0"/>
                    </a:p>
                  </a:txBody>
                  <a:tcPr/>
                </a:tc>
              </a:tr>
              <a:tr h="810790">
                <a:tc>
                  <a:txBody>
                    <a:bodyPr/>
                    <a:lstStyle/>
                    <a:p>
                      <a:r>
                        <a:rPr lang="nl-NL" dirty="0" err="1" smtClean="0"/>
                        <a:t>ẽ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Latijn Extended </a:t>
                      </a:r>
                      <a:r>
                        <a:rPr lang="nl-NL" dirty="0" err="1" smtClean="0"/>
                        <a:t>Additional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Door de </a:t>
                      </a:r>
                      <a:r>
                        <a:rPr lang="nl-NL" baseline="0" dirty="0" smtClean="0"/>
                        <a:t>Kaingangstam in Zuid-Amerika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1EBD</a:t>
                      </a:r>
                      <a:endParaRPr lang="nl-NL" dirty="0"/>
                    </a:p>
                  </a:txBody>
                  <a:tcPr/>
                </a:tc>
              </a:tr>
              <a:tr h="335475">
                <a:tc>
                  <a:txBody>
                    <a:bodyPr/>
                    <a:lstStyle/>
                    <a:p>
                      <a:r>
                        <a:rPr lang="nl-NL" dirty="0" err="1" smtClean="0"/>
                        <a:t>겳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 smtClean="0"/>
                        <a:t>Hangul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Koreanen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ACB3</a:t>
                      </a:r>
                      <a:endParaRPr lang="nl-NL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kstvak 5"/>
          <p:cNvSpPr txBox="1"/>
          <p:nvPr/>
        </p:nvSpPr>
        <p:spPr>
          <a:xfrm>
            <a:off x="271535" y="5661248"/>
            <a:ext cx="77314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 smtClean="0"/>
              <a:t>Voorbeeld: De </a:t>
            </a:r>
            <a:r>
              <a:rPr lang="nl-NL" sz="2000" dirty="0" err="1" smtClean="0"/>
              <a:t>hexidecimale</a:t>
            </a:r>
            <a:r>
              <a:rPr lang="nl-NL" sz="2000" dirty="0" smtClean="0"/>
              <a:t> waarde: 03A9 is gelijk aan de </a:t>
            </a:r>
          </a:p>
          <a:p>
            <a:r>
              <a:rPr lang="nl-NL" sz="2000" dirty="0" smtClean="0"/>
              <a:t>binaire waarde: </a:t>
            </a:r>
            <a:r>
              <a:rPr lang="fi-FI" sz="2000" dirty="0" smtClean="0"/>
              <a:t>0000 </a:t>
            </a:r>
            <a:r>
              <a:rPr lang="fi-FI" sz="2000" dirty="0"/>
              <a:t>0011 1010 </a:t>
            </a:r>
            <a:r>
              <a:rPr lang="fi-FI" sz="2000" dirty="0" smtClean="0"/>
              <a:t>1001 </a:t>
            </a:r>
          </a:p>
          <a:p>
            <a:r>
              <a:rPr lang="fi-FI" sz="2000" dirty="0" err="1" smtClean="0"/>
              <a:t>Zoals</a:t>
            </a:r>
            <a:r>
              <a:rPr lang="fi-FI" sz="2000" dirty="0" smtClean="0"/>
              <a:t> </a:t>
            </a:r>
            <a:r>
              <a:rPr lang="fi-FI" sz="2000" dirty="0" err="1" smtClean="0"/>
              <a:t>je</a:t>
            </a:r>
            <a:r>
              <a:rPr lang="fi-FI" sz="2000" dirty="0" smtClean="0"/>
              <a:t> </a:t>
            </a:r>
            <a:r>
              <a:rPr lang="fi-FI" sz="2000" dirty="0" err="1" smtClean="0"/>
              <a:t>ziet</a:t>
            </a:r>
            <a:r>
              <a:rPr lang="fi-FI" sz="2000" dirty="0" smtClean="0"/>
              <a:t> </a:t>
            </a:r>
            <a:r>
              <a:rPr lang="fi-FI" sz="2000" dirty="0" err="1" smtClean="0"/>
              <a:t>neemt</a:t>
            </a:r>
            <a:r>
              <a:rPr lang="fi-FI" sz="2000" dirty="0" smtClean="0"/>
              <a:t> </a:t>
            </a:r>
            <a:r>
              <a:rPr lang="fi-FI" sz="2000" dirty="0" err="1" smtClean="0"/>
              <a:t>dit</a:t>
            </a:r>
            <a:r>
              <a:rPr lang="fi-FI" sz="2000" dirty="0" smtClean="0"/>
              <a:t> </a:t>
            </a:r>
            <a:r>
              <a:rPr lang="fi-FI" sz="2000" dirty="0" err="1" smtClean="0"/>
              <a:t>karakter</a:t>
            </a:r>
            <a:r>
              <a:rPr lang="fi-FI" sz="2000" dirty="0" smtClean="0"/>
              <a:t> 16 </a:t>
            </a:r>
            <a:r>
              <a:rPr lang="fi-FI" sz="2000" dirty="0" err="1" smtClean="0"/>
              <a:t>bit</a:t>
            </a:r>
            <a:r>
              <a:rPr lang="fi-FI" sz="2000" dirty="0" smtClean="0"/>
              <a:t> of 2 </a:t>
            </a:r>
            <a:r>
              <a:rPr lang="fi-FI" sz="2000" dirty="0" err="1" smtClean="0"/>
              <a:t>bytes</a:t>
            </a:r>
            <a:r>
              <a:rPr lang="fi-FI" sz="2000" dirty="0" smtClean="0"/>
              <a:t> in </a:t>
            </a:r>
            <a:r>
              <a:rPr lang="fi-FI" sz="2000" dirty="0" err="1" smtClean="0"/>
              <a:t>beslag</a:t>
            </a:r>
            <a:r>
              <a:rPr lang="fi-FI" sz="2000" dirty="0" smtClean="0"/>
              <a:t>.</a:t>
            </a:r>
            <a:endParaRPr lang="nl-NL" sz="2000" dirty="0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467544" y="332656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 dirty="0" smtClean="0">
                <a:latin typeface="Arial" charset="0"/>
              </a:rPr>
              <a:t>Voorbeelden uit de UTF-16 karakterset</a:t>
            </a:r>
            <a:endParaRPr lang="nl-NL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6020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smtClean="0">
                <a:latin typeface="Arial" charset="0"/>
              </a:rPr>
              <a:t>Andere coderingschema’s?</a:t>
            </a:r>
            <a:endParaRPr lang="nl-NL" b="1" dirty="0">
              <a:latin typeface="Arial" charset="0"/>
            </a:endParaRPr>
          </a:p>
        </p:txBody>
      </p:sp>
      <p:sp>
        <p:nvSpPr>
          <p:cNvPr id="4098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i-FI" sz="1800" dirty="0" smtClean="0"/>
              <a:t>Voor meer informatie </a:t>
            </a:r>
            <a:r>
              <a:rPr lang="fi-FI" sz="1800" dirty="0" err="1" smtClean="0"/>
              <a:t>ga</a:t>
            </a:r>
            <a:r>
              <a:rPr lang="fi-FI" sz="1800" dirty="0" smtClean="0"/>
              <a:t> </a:t>
            </a:r>
            <a:r>
              <a:rPr lang="fi-FI" sz="1800" dirty="0" err="1" smtClean="0"/>
              <a:t>naar</a:t>
            </a:r>
            <a:r>
              <a:rPr lang="fi-FI" sz="1800" dirty="0" smtClean="0"/>
              <a:t>:</a:t>
            </a:r>
            <a:endParaRPr lang="fi-FI" sz="1800" dirty="0" smtClean="0">
              <a:hlinkClick r:id="rId2"/>
            </a:endParaRPr>
          </a:p>
          <a:p>
            <a:pPr marL="0" indent="0">
              <a:buNone/>
            </a:pPr>
            <a:endParaRPr lang="fi-FI" sz="1800" dirty="0" smtClean="0">
              <a:hlinkClick r:id="rId2"/>
            </a:endParaRPr>
          </a:p>
          <a:p>
            <a:r>
              <a:rPr lang="fi-FI" sz="1800" dirty="0">
                <a:hlinkClick r:id="rId2"/>
              </a:rPr>
              <a:t>https://betterexplained.com/articles/unicode/</a:t>
            </a:r>
          </a:p>
          <a:p>
            <a:r>
              <a:rPr lang="fi-FI" sz="1800" dirty="0" smtClean="0">
                <a:hlinkClick r:id="rId2"/>
              </a:rPr>
              <a:t>http</a:t>
            </a:r>
            <a:r>
              <a:rPr lang="fi-FI" sz="1800" dirty="0">
                <a:hlinkClick r:id="rId2"/>
              </a:rPr>
              <a:t>://www.unicode.org/</a:t>
            </a:r>
            <a:endParaRPr lang="fi-FI" sz="1800" dirty="0"/>
          </a:p>
          <a:p>
            <a:r>
              <a:rPr lang="nl-NL" sz="1800" dirty="0">
                <a:hlinkClick r:id="rId3"/>
              </a:rPr>
              <a:t>http://www.fileformat.info/info/charset/index.htm</a:t>
            </a:r>
            <a:endParaRPr lang="nl-NL" sz="1800" dirty="0"/>
          </a:p>
          <a:p>
            <a:r>
              <a:rPr lang="nl-NL" sz="1800" dirty="0">
                <a:hlinkClick r:id="rId4"/>
              </a:rPr>
              <a:t>http://www.fileformat.info/info/charset/UTF-16/list.htm</a:t>
            </a:r>
            <a:endParaRPr lang="nl-NL" sz="1800" dirty="0"/>
          </a:p>
          <a:p>
            <a:pPr marL="0" indent="0">
              <a:buNone/>
            </a:pPr>
            <a:endParaRPr lang="nl-NL" sz="1800" dirty="0" smtClean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3029500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Aangepast 2">
      <a:dk1>
        <a:srgbClr val="23114C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38B1D5-E162-49F8-B1DB-750A6B762C1A}"/>
</file>

<file path=customXml/itemProps2.xml><?xml version="1.0" encoding="utf-8"?>
<ds:datastoreItem xmlns:ds="http://schemas.openxmlformats.org/officeDocument/2006/customXml" ds:itemID="{BAA2864D-88C4-4D36-AA22-541E1923F12A}"/>
</file>

<file path=customXml/itemProps3.xml><?xml version="1.0" encoding="utf-8"?>
<ds:datastoreItem xmlns:ds="http://schemas.openxmlformats.org/officeDocument/2006/customXml" ds:itemID="{9B29264B-9A96-4C06-B4C2-FE529F274340}"/>
</file>

<file path=docProps/app.xml><?xml version="1.0" encoding="utf-8"?>
<Properties xmlns="http://schemas.openxmlformats.org/officeDocument/2006/extended-properties" xmlns:vt="http://schemas.openxmlformats.org/officeDocument/2006/docPropsVTypes">
  <Template>Hashtables on ELO.potx</Template>
  <TotalTime>11131</TotalTime>
  <Words>549</Words>
  <Application>Microsoft Macintosh PowerPoint</Application>
  <PresentationFormat>Diavoorstelling (4:3)</PresentationFormat>
  <Paragraphs>102</Paragraphs>
  <Slides>13</Slides>
  <Notes>3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4" baseType="lpstr">
      <vt:lpstr>Hashtables on ELO</vt:lpstr>
      <vt:lpstr>PowerPoint-presentatie</vt:lpstr>
      <vt:lpstr>Lesdoel</vt:lpstr>
      <vt:lpstr>Datacompressie</vt:lpstr>
      <vt:lpstr>Datacompressie algoritmes</vt:lpstr>
      <vt:lpstr>Datacompressiemethodieken</vt:lpstr>
      <vt:lpstr>Wij concentreren ons op:</vt:lpstr>
      <vt:lpstr>PowerPoint-presentatie</vt:lpstr>
      <vt:lpstr>PowerPoint-presentatie</vt:lpstr>
      <vt:lpstr>PowerPoint-presentatie</vt:lpstr>
      <vt:lpstr>PowerPoint-presentatie</vt:lpstr>
      <vt:lpstr>Wat als je andere karakters wilt opslaan?</vt:lpstr>
      <vt:lpstr>PowerPoint-presentatie</vt:lpstr>
      <vt:lpstr>Andere coderingschema’s?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UMW</dc:creator>
  <cp:lastModifiedBy>Alex van Manen</cp:lastModifiedBy>
  <cp:revision>121</cp:revision>
  <dcterms:created xsi:type="dcterms:W3CDTF">2013-08-26T08:11:19Z</dcterms:created>
  <dcterms:modified xsi:type="dcterms:W3CDTF">2018-02-14T14:40:51Z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2000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