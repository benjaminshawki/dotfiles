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94" r:id="rId2"/>
    <p:sldId id="272" r:id="rId3"/>
    <p:sldId id="273" r:id="rId4"/>
    <p:sldId id="274" r:id="rId5"/>
    <p:sldId id="293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114C"/>
    <a:srgbClr val="20BD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8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1" d="100"/>
          <a:sy n="61" d="100"/>
        </p:scale>
        <p:origin x="-254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handoutMaster" Target="handoutMasters/handout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1" Type="http://schemas.openxmlformats.org/officeDocument/2006/relationships/slide" Target="slides/slide20.xml"/><Relationship Id="rId3" Type="http://schemas.openxmlformats.org/officeDocument/2006/relationships/slide" Target="slides/slide2.xml"/><Relationship Id="rId34" Type="http://schemas.openxmlformats.org/officeDocument/2006/relationships/customXml" Target="../customXml/item3.xml"/><Relationship Id="rId25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7" Type="http://schemas.openxmlformats.org/officeDocument/2006/relationships/slide" Target="slides/slide6.xml"/><Relationship Id="rId33" Type="http://schemas.openxmlformats.org/officeDocument/2006/relationships/customXml" Target="../customXml/item2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6" Type="http://schemas.openxmlformats.org/officeDocument/2006/relationships/slide" Target="slides/slide15.xml"/><Relationship Id="rId2" Type="http://schemas.openxmlformats.org/officeDocument/2006/relationships/slide" Target="slides/slide1.xml"/><Relationship Id="rId24" Type="http://schemas.openxmlformats.org/officeDocument/2006/relationships/slide" Target="slides/slide23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2" Type="http://schemas.openxmlformats.org/officeDocument/2006/relationships/customXml" Target="../customXml/item1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5" Type="http://schemas.openxmlformats.org/officeDocument/2006/relationships/slide" Target="slides/slide14.xml"/><Relationship Id="rId5" Type="http://schemas.openxmlformats.org/officeDocument/2006/relationships/slide" Target="slides/slide4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9" Type="http://schemas.openxmlformats.org/officeDocument/2006/relationships/slide" Target="slides/slide8.xml"/><Relationship Id="rId22" Type="http://schemas.openxmlformats.org/officeDocument/2006/relationships/slide" Target="slides/slide21.xml"/><Relationship Id="rId27" Type="http://schemas.openxmlformats.org/officeDocument/2006/relationships/printerSettings" Target="printerSettings/printerSettings1.bin"/><Relationship Id="rId30" Type="http://schemas.openxmlformats.org/officeDocument/2006/relationships/theme" Target="theme/theme1.xml"/><Relationship Id="rId14" Type="http://schemas.openxmlformats.org/officeDocument/2006/relationships/slide" Target="slides/slide13.xml"/><Relationship Id="rId4" Type="http://schemas.openxmlformats.org/officeDocument/2006/relationships/slide" Target="slides/slide3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7E628-8F28-4EDF-A8A5-A87FD083F340}" type="datetimeFigureOut">
              <a:rPr lang="nl-NL" smtClean="0"/>
              <a:t>14-02-18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33DB6-E072-4328-BB92-05C854B6A7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10152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21D89-09CB-5D43-9605-54219E4A1A59}" type="datetimeFigureOut">
              <a:rPr lang="en-US" smtClean="0"/>
              <a:t>14-02-18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4F102-A421-E246-BA82-D625ADAAE1C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6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66, 65, 256, 257, 65, 260</a:t>
            </a:r>
          </a:p>
          <a:p>
            <a:endParaRPr lang="en-US">
              <a:latin typeface="Calibri" charset="0"/>
            </a:endParaRPr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C7EF602E-A5FF-ED48-809E-0CA78FA13AC0}" type="slidenum">
              <a:rPr lang="en-US" sz="1200"/>
              <a:pPr eaLnBrk="1" hangingPunct="1"/>
              <a:t>8</a:t>
            </a:fld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66, 65, 256, 257, 65, 260</a:t>
            </a:r>
          </a:p>
          <a:p>
            <a:endParaRPr lang="en-US">
              <a:latin typeface="Calibri" charset="0"/>
            </a:endParaRPr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3C253A91-C627-B946-BC21-A2C057CAB14B}" type="slidenum">
              <a:rPr lang="en-US" sz="1200"/>
              <a:pPr eaLnBrk="1" hangingPunct="1"/>
              <a:t>9</a:t>
            </a:fld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charset="0"/>
            </a:endParaRPr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8FF1A8D3-89CF-094A-977C-D11E185E91EC}" type="slidenum">
              <a:rPr lang="en-US" sz="1200"/>
              <a:pPr eaLnBrk="1" hangingPunct="1"/>
              <a:t>19</a:t>
            </a:fld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charset="0"/>
            </a:endParaRPr>
          </a:p>
        </p:txBody>
      </p:sp>
      <p:sp>
        <p:nvSpPr>
          <p:cNvPr id="460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E16E4C87-090E-764E-A656-7482DB5A866C}" type="slidenum">
              <a:rPr lang="en-US" sz="1200"/>
              <a:pPr eaLnBrk="1" hangingPunct="1"/>
              <a:t>20</a:t>
            </a:fld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20713"/>
            <a:ext cx="8713788" cy="720725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[Titel van de presentatie]</a:t>
            </a:r>
            <a:endParaRPr lang="nl-NL" dirty="0"/>
          </a:p>
        </p:txBody>
      </p:sp>
      <p:sp>
        <p:nvSpPr>
          <p:cNvPr id="11" name="Tijdelijke aanduiding voor tekst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3500363"/>
            <a:ext cx="8713788" cy="2520925"/>
          </a:xfrm>
        </p:spPr>
        <p:txBody>
          <a:bodyPr>
            <a:normAutofit/>
          </a:bodyPr>
          <a:lstStyle>
            <a:lvl1pPr marL="93663" indent="-11113">
              <a:buFont typeface="Arial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[Onderwerp]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18"/>
          <p:cNvSpPr>
            <a:spLocks noGrp="1"/>
          </p:cNvSpPr>
          <p:nvPr>
            <p:ph type="body" sz="quarter" idx="12" hasCustomPrompt="1"/>
          </p:nvPr>
        </p:nvSpPr>
        <p:spPr>
          <a:xfrm>
            <a:off x="251519" y="6093296"/>
            <a:ext cx="1873771" cy="287262"/>
          </a:xfrm>
        </p:spPr>
        <p:txBody>
          <a:bodyPr>
            <a:no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 smtClean="0"/>
              <a:t>[Periode]</a:t>
            </a:r>
            <a:endParaRPr lang="nl-NL" dirty="0"/>
          </a:p>
        </p:txBody>
      </p:sp>
      <p:sp>
        <p:nvSpPr>
          <p:cNvPr id="13" name="Tijdelijke aanduiding voor tekst 22"/>
          <p:cNvSpPr>
            <a:spLocks noGrp="1"/>
          </p:cNvSpPr>
          <p:nvPr>
            <p:ph type="body" sz="quarter" idx="13" hasCustomPrompt="1"/>
          </p:nvPr>
        </p:nvSpPr>
        <p:spPr>
          <a:xfrm>
            <a:off x="250950" y="6308624"/>
            <a:ext cx="1872778" cy="28795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 smtClean="0"/>
              <a:t>[Jaargang]</a:t>
            </a:r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031" y="476473"/>
            <a:ext cx="8353425" cy="576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 b="1">
                <a:solidFill>
                  <a:srgbClr val="20BDBA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[Hier komt de kop van de </a:t>
            </a:r>
            <a:r>
              <a:rPr lang="nl-NL" dirty="0" err="1" smtClean="0"/>
              <a:t>slide</a:t>
            </a:r>
            <a:r>
              <a:rPr lang="nl-NL" dirty="0" smtClean="0"/>
              <a:t>]</a:t>
            </a:r>
            <a:endParaRPr lang="nl-NL" dirty="0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684213" y="1126257"/>
            <a:ext cx="7848600" cy="5327079"/>
          </a:xfrm>
        </p:spPr>
        <p:txBody>
          <a:bodyPr>
            <a:noAutofit/>
          </a:bodyPr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aseline="0">
                <a:solidFill>
                  <a:srgbClr val="23114C"/>
                </a:solidFill>
              </a:defRPr>
            </a:lvl1pPr>
            <a:lvl2pPr marL="44608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2pPr>
            <a:lvl3pPr marL="809625" indent="-1889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3pPr>
            <a:lvl4pPr marL="1160463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4pPr>
            <a:lvl5pPr marL="1524000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5pPr>
            <a:lvl6pPr marL="1887538" indent="-187325">
              <a:buFont typeface="Arial" pitchFamily="34" charset="0"/>
              <a:buChar char="•"/>
              <a:tabLst/>
              <a:defRPr sz="1600">
                <a:solidFill>
                  <a:srgbClr val="23114C"/>
                </a:solidFill>
              </a:defRPr>
            </a:lvl6pPr>
            <a:lvl7pPr marL="2238375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7pPr>
            <a:lvl8pPr marL="2601913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8pPr>
            <a:lvl9pPr marL="295433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9pPr>
          </a:lstStyle>
          <a:p>
            <a:pPr lvl="0"/>
            <a:r>
              <a:rPr lang="nl-NL" dirty="0" smtClean="0"/>
              <a:t>Tekstuele content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  <a:p>
            <a:pPr lvl="5"/>
            <a:r>
              <a:rPr lang="nl-NL" dirty="0" smtClean="0"/>
              <a:t>Zesde niveau</a:t>
            </a:r>
          </a:p>
          <a:p>
            <a:pPr lvl="6"/>
            <a:r>
              <a:rPr lang="nl-NL" dirty="0" smtClean="0"/>
              <a:t>Zevende niveau</a:t>
            </a:r>
          </a:p>
          <a:p>
            <a:pPr lvl="7"/>
            <a:r>
              <a:rPr lang="nl-NL" dirty="0" smtClean="0"/>
              <a:t>Achtste niveau</a:t>
            </a:r>
          </a:p>
          <a:p>
            <a:pPr lvl="8"/>
            <a:r>
              <a:rPr lang="nl-NL" dirty="0" smtClean="0"/>
              <a:t>Negende niveau</a:t>
            </a:r>
          </a:p>
          <a:p>
            <a:pPr lvl="8"/>
            <a:r>
              <a:rPr lang="nl-NL" dirty="0" smtClean="0"/>
              <a:t>Tiende niveau</a:t>
            </a:r>
          </a:p>
          <a:p>
            <a:pPr lvl="0"/>
            <a:endParaRPr lang="nl-NL" dirty="0" smtClean="0"/>
          </a:p>
          <a:p>
            <a:pPr lvl="0"/>
            <a:endParaRPr lang="nl-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031" y="476473"/>
            <a:ext cx="8353425" cy="576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 b="1">
                <a:solidFill>
                  <a:srgbClr val="20BDBA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[Hier komt de kop van de </a:t>
            </a:r>
            <a:r>
              <a:rPr lang="nl-NL" dirty="0" err="1" smtClean="0"/>
              <a:t>slide</a:t>
            </a:r>
            <a:r>
              <a:rPr lang="nl-NL" dirty="0" smtClean="0"/>
              <a:t>]</a:t>
            </a:r>
            <a:endParaRPr lang="nl-NL" dirty="0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684213" y="1126257"/>
            <a:ext cx="7848600" cy="5327079"/>
          </a:xfrm>
        </p:spPr>
        <p:txBody>
          <a:bodyPr>
            <a:noAutofit/>
          </a:bodyPr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aseline="0">
                <a:solidFill>
                  <a:srgbClr val="23114C"/>
                </a:solidFill>
              </a:defRPr>
            </a:lvl1pPr>
            <a:lvl2pPr marL="44608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2pPr>
            <a:lvl3pPr marL="809625" indent="-1889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3pPr>
            <a:lvl4pPr marL="1160463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4pPr>
            <a:lvl5pPr marL="1524000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5pPr>
            <a:lvl6pPr marL="1887538" indent="-187325">
              <a:buFont typeface="Arial" pitchFamily="34" charset="0"/>
              <a:buChar char="•"/>
              <a:tabLst/>
              <a:defRPr sz="1600">
                <a:solidFill>
                  <a:srgbClr val="23114C"/>
                </a:solidFill>
              </a:defRPr>
            </a:lvl6pPr>
            <a:lvl7pPr marL="2238375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7pPr>
            <a:lvl8pPr marL="2601913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8pPr>
            <a:lvl9pPr marL="295433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9pPr>
          </a:lstStyle>
          <a:p>
            <a:pPr lvl="0"/>
            <a:r>
              <a:rPr lang="nl-NL" dirty="0" smtClean="0"/>
              <a:t>Tekstuele content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  <a:p>
            <a:pPr lvl="5"/>
            <a:r>
              <a:rPr lang="nl-NL" dirty="0" smtClean="0"/>
              <a:t>Zesde niveau</a:t>
            </a:r>
          </a:p>
          <a:p>
            <a:pPr lvl="6"/>
            <a:r>
              <a:rPr lang="nl-NL" dirty="0" smtClean="0"/>
              <a:t>Zevende niveau</a:t>
            </a:r>
          </a:p>
          <a:p>
            <a:pPr lvl="7"/>
            <a:r>
              <a:rPr lang="nl-NL" dirty="0" smtClean="0"/>
              <a:t>Achtste niveau</a:t>
            </a:r>
          </a:p>
          <a:p>
            <a:pPr lvl="8"/>
            <a:r>
              <a:rPr lang="nl-NL" dirty="0" smtClean="0"/>
              <a:t>Negende niveau</a:t>
            </a:r>
          </a:p>
          <a:p>
            <a:pPr lvl="8"/>
            <a:r>
              <a:rPr lang="nl-NL" dirty="0" smtClean="0"/>
              <a:t>Tiende niveau</a:t>
            </a:r>
          </a:p>
          <a:p>
            <a:pPr lvl="0"/>
            <a:endParaRPr lang="nl-NL" dirty="0" smtClean="0"/>
          </a:p>
          <a:p>
            <a:pPr lvl="0"/>
            <a:endParaRPr lang="nl-NL" dirty="0"/>
          </a:p>
        </p:txBody>
      </p:sp>
      <p:sp>
        <p:nvSpPr>
          <p:cNvPr id="6" name="Tijdelijke aanduiding voor afbeelding 5"/>
          <p:cNvSpPr>
            <a:spLocks noGrp="1"/>
          </p:cNvSpPr>
          <p:nvPr>
            <p:ph type="pic" sz="quarter" idx="12" hasCustomPrompt="1"/>
          </p:nvPr>
        </p:nvSpPr>
        <p:spPr>
          <a:xfrm>
            <a:off x="5651500" y="3365500"/>
            <a:ext cx="3492500" cy="3492500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 algn="ctr">
              <a:buFontTx/>
              <a:buNone/>
              <a:defRPr sz="2000">
                <a:solidFill>
                  <a:srgbClr val="23114C"/>
                </a:solidFill>
              </a:defRPr>
            </a:lvl1pPr>
          </a:lstStyle>
          <a:p>
            <a:r>
              <a:rPr lang="nl-NL" dirty="0" smtClean="0"/>
              <a:t>Afbeelding</a:t>
            </a:r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1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 smtClean="0"/>
              <a:t>Tekstuele content met </a:t>
            </a:r>
            <a:r>
              <a:rPr lang="nl-NL" dirty="0" err="1" smtClean="0"/>
              <a:t>bullits</a:t>
            </a:r>
            <a:endParaRPr lang="nl-NL" dirty="0" smtClean="0"/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  <a:p>
            <a:pPr lvl="5"/>
            <a:r>
              <a:rPr lang="nl-NL" dirty="0" smtClean="0"/>
              <a:t>Zesde niveau</a:t>
            </a:r>
          </a:p>
          <a:p>
            <a:pPr lvl="6"/>
            <a:r>
              <a:rPr lang="nl-NL" dirty="0" smtClean="0"/>
              <a:t>Zevende niveau</a:t>
            </a:r>
          </a:p>
          <a:p>
            <a:pPr lvl="7"/>
            <a:r>
              <a:rPr lang="nl-NL" dirty="0" smtClean="0"/>
              <a:t>Achtste niveau</a:t>
            </a:r>
          </a:p>
          <a:p>
            <a:pPr lvl="8"/>
            <a:r>
              <a:rPr lang="nl-NL" dirty="0" smtClean="0"/>
              <a:t>Negende niveau</a:t>
            </a:r>
          </a:p>
          <a:p>
            <a:pPr lvl="8"/>
            <a:r>
              <a:rPr lang="nl-NL" dirty="0" smtClean="0"/>
              <a:t>Tiende niveau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rgbClr val="20BDBA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nl-NL" sz="2400" dirty="0"/>
              <a:t>Algoritme </a:t>
            </a:r>
            <a:r>
              <a:rPr lang="nl-NL" sz="2400"/>
              <a:t>en </a:t>
            </a:r>
            <a:r>
              <a:rPr lang="nl-NL" sz="2400" smtClean="0"/>
              <a:t>Datastructuren</a:t>
            </a:r>
            <a:endParaRPr lang="nl-NL" sz="24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smtClean="0"/>
              <a:t>Compressie LZW algoritmen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3789040"/>
            <a:ext cx="3301380" cy="278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5574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777875"/>
          </a:xfrm>
        </p:spPr>
        <p:txBody>
          <a:bodyPr/>
          <a:lstStyle/>
          <a:p>
            <a:r>
              <a:rPr lang="en-US" sz="3200" b="1" dirty="0">
                <a:solidFill>
                  <a:schemeClr val="accent2"/>
                </a:solidFill>
                <a:latin typeface="Arial" charset="0"/>
                <a:cs typeface="Times New Roman" charset="0"/>
              </a:rPr>
              <a:t> </a:t>
            </a:r>
            <a:r>
              <a:rPr lang="en-US" sz="2800" b="1" dirty="0">
                <a:latin typeface="Arial" charset="0"/>
                <a:cs typeface="Times New Roman" charset="0"/>
              </a:rPr>
              <a:t>Lempel-Ziv-Welch (LZW) </a:t>
            </a:r>
            <a:r>
              <a:rPr lang="en-US" sz="2800" b="1" dirty="0" err="1" smtClean="0">
                <a:latin typeface="Arial" charset="0"/>
                <a:cs typeface="Times New Roman" charset="0"/>
              </a:rPr>
              <a:t>Compressie</a:t>
            </a:r>
            <a:r>
              <a:rPr lang="en-US" sz="2800" b="1" dirty="0" smtClean="0">
                <a:latin typeface="Arial" charset="0"/>
                <a:cs typeface="Times New Roman" charset="0"/>
              </a:rPr>
              <a:t> </a:t>
            </a:r>
            <a:r>
              <a:rPr lang="en-US" sz="28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2800" b="1" dirty="0">
              <a:latin typeface="Arial" charset="0"/>
              <a:cs typeface="Times New Roman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00213"/>
            <a:ext cx="8229600" cy="4425950"/>
          </a:xfrm>
        </p:spPr>
        <p:txBody>
          <a:bodyPr/>
          <a:lstStyle/>
          <a:p>
            <a:pPr>
              <a:defRPr/>
            </a:pPr>
            <a:r>
              <a:rPr lang="en-US" sz="2000" dirty="0" err="1" smtClean="0">
                <a:latin typeface="Arial"/>
                <a:cs typeface="Arial"/>
              </a:rPr>
              <a:t>Introductie</a:t>
            </a:r>
            <a:r>
              <a:rPr lang="en-US" sz="2000" dirty="0" smtClean="0">
                <a:latin typeface="Arial"/>
                <a:cs typeface="Arial"/>
              </a:rPr>
              <a:t> LZW Algorithm</a:t>
            </a:r>
            <a:endParaRPr lang="en-US" sz="2000" dirty="0">
              <a:latin typeface="Arial"/>
              <a:cs typeface="Arial"/>
            </a:endParaRPr>
          </a:p>
          <a:p>
            <a:pPr>
              <a:defRPr/>
            </a:pPr>
            <a:r>
              <a:rPr lang="en-US" sz="2000" dirty="0" err="1" smtClean="0">
                <a:latin typeface="Arial"/>
                <a:cs typeface="Arial"/>
              </a:rPr>
              <a:t>Comprimeren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m.b.v</a:t>
            </a:r>
            <a:r>
              <a:rPr lang="en-US" sz="2000" dirty="0" smtClean="0">
                <a:latin typeface="Arial"/>
                <a:cs typeface="Arial"/>
              </a:rPr>
              <a:t>. LZW</a:t>
            </a:r>
            <a:endParaRPr lang="en-US" sz="2000" dirty="0">
              <a:latin typeface="Arial"/>
              <a:cs typeface="Arial"/>
            </a:endParaRPr>
          </a:p>
          <a:p>
            <a:pPr>
              <a:defRPr/>
            </a:pPr>
            <a:r>
              <a:rPr lang="en-US" sz="2000" dirty="0" err="1" smtClean="0">
                <a:latin typeface="Arial"/>
                <a:cs typeface="Arial"/>
              </a:rPr>
              <a:t>Decomprimeren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m.b.v</a:t>
            </a:r>
            <a:r>
              <a:rPr lang="en-US" sz="2000" dirty="0" smtClean="0">
                <a:latin typeface="Arial"/>
                <a:cs typeface="Arial"/>
              </a:rPr>
              <a:t>. LZW</a:t>
            </a:r>
            <a:endParaRPr lang="en-US" sz="2000" dirty="0">
              <a:latin typeface="Arial"/>
              <a:cs typeface="Arial"/>
            </a:endParaRPr>
          </a:p>
          <a:p>
            <a:pPr>
              <a:defRPr/>
            </a:pPr>
            <a:r>
              <a:rPr lang="en-US" sz="2000" dirty="0" smtClean="0">
                <a:latin typeface="Arial"/>
                <a:cs typeface="Arial"/>
              </a:rPr>
              <a:t>LWZ: </a:t>
            </a:r>
            <a:r>
              <a:rPr lang="en-US" sz="2000" dirty="0" err="1" smtClean="0">
                <a:latin typeface="Arial"/>
                <a:cs typeface="Arial"/>
              </a:rPr>
              <a:t>Afsluitende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aandachtspunten</a:t>
            </a:r>
            <a:endParaRPr lang="ar-sa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86664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r>
              <a:rPr lang="en-US" sz="3000" b="1" dirty="0">
                <a:latin typeface="Arial" charset="0"/>
                <a:cs typeface="Times New Roman" charset="0"/>
              </a:rPr>
              <a:t>Introduction to LZW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229600" cy="5616575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000" dirty="0" smtClean="0">
                <a:latin typeface="Arial"/>
                <a:cs typeface="Arial"/>
              </a:rPr>
              <a:t>Static </a:t>
            </a:r>
            <a:r>
              <a:rPr lang="en-US" sz="2000" dirty="0">
                <a:latin typeface="Arial"/>
                <a:cs typeface="Arial"/>
              </a:rPr>
              <a:t>coding </a:t>
            </a:r>
            <a:r>
              <a:rPr lang="en-US" sz="2000" dirty="0" smtClean="0">
                <a:latin typeface="Arial"/>
                <a:cs typeface="Arial"/>
              </a:rPr>
              <a:t>schemes (like Huffman) </a:t>
            </a:r>
            <a:r>
              <a:rPr lang="en-US" sz="2000" dirty="0">
                <a:latin typeface="Arial"/>
                <a:cs typeface="Arial"/>
              </a:rPr>
              <a:t>require some  knowledge about the data before encoding takes place.</a:t>
            </a:r>
          </a:p>
          <a:p>
            <a:pPr>
              <a:lnSpc>
                <a:spcPct val="90000"/>
              </a:lnSpc>
              <a:defRPr/>
            </a:pPr>
            <a:endParaRPr lang="en-US" sz="2000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defRPr/>
            </a:pPr>
            <a:r>
              <a:rPr lang="en-US" sz="2000" dirty="0">
                <a:latin typeface="Arial"/>
                <a:cs typeface="Arial"/>
              </a:rPr>
              <a:t>Universal coding schemes, like LZW, do not require advance knowledge and can build such knowledge on-the-fly.</a:t>
            </a:r>
          </a:p>
          <a:p>
            <a:pPr>
              <a:lnSpc>
                <a:spcPct val="90000"/>
              </a:lnSpc>
              <a:defRPr/>
            </a:pPr>
            <a:endParaRPr lang="en-US" sz="2000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defRPr/>
            </a:pPr>
            <a:r>
              <a:rPr lang="en-US" sz="2000" dirty="0">
                <a:latin typeface="Arial"/>
                <a:cs typeface="Arial"/>
              </a:rPr>
              <a:t>LZW is the foremost technique for general purpose data  compression due to its simplicity and versatility.</a:t>
            </a:r>
          </a:p>
          <a:p>
            <a:pPr marL="0" indent="0">
              <a:lnSpc>
                <a:spcPct val="90000"/>
              </a:lnSpc>
              <a:buFontTx/>
              <a:buNone/>
              <a:defRPr/>
            </a:pPr>
            <a:endParaRPr lang="en-US" sz="2000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defRPr/>
            </a:pPr>
            <a:r>
              <a:rPr lang="en-US" sz="2000" dirty="0">
                <a:latin typeface="Arial"/>
                <a:cs typeface="Arial"/>
              </a:rPr>
              <a:t>LZW compression uses a code table, with 4096 as a common choice for the number of table entries.</a:t>
            </a:r>
            <a:endParaRPr lang="ar-sa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13100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r>
              <a:rPr lang="en-US" sz="3000" dirty="0">
                <a:latin typeface="Arial" charset="0"/>
                <a:cs typeface="Times New Roman" charset="0"/>
              </a:rPr>
              <a:t> </a:t>
            </a:r>
            <a:r>
              <a:rPr lang="en-US" sz="3000" b="1" dirty="0">
                <a:latin typeface="Arial" charset="0"/>
                <a:cs typeface="Times New Roman" charset="0"/>
              </a:rPr>
              <a:t>Introduction to LZW </a:t>
            </a:r>
            <a:r>
              <a:rPr lang="en-US" sz="3000" b="1" dirty="0" smtClean="0">
                <a:latin typeface="Arial" charset="0"/>
                <a:cs typeface="Times New Roman" charset="0"/>
              </a:rPr>
              <a:t>(2)</a:t>
            </a:r>
            <a:endParaRPr lang="en-US" sz="3000" b="1" dirty="0">
              <a:latin typeface="Arial" charset="0"/>
              <a:cs typeface="Times New Roman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5472112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sz="2000" dirty="0">
                <a:latin typeface="Arial"/>
                <a:cs typeface="Arial"/>
              </a:rPr>
              <a:t>Codes 0-255 in the code table are always assigned to represent  single bytes from the input file.</a:t>
            </a:r>
          </a:p>
          <a:p>
            <a:pPr>
              <a:lnSpc>
                <a:spcPct val="80000"/>
              </a:lnSpc>
              <a:defRPr/>
            </a:pPr>
            <a:endParaRPr lang="en-US" sz="2000" dirty="0">
              <a:latin typeface="Arial"/>
              <a:cs typeface="Arial"/>
            </a:endParaRPr>
          </a:p>
          <a:p>
            <a:pPr>
              <a:lnSpc>
                <a:spcPct val="80000"/>
              </a:lnSpc>
              <a:defRPr/>
            </a:pPr>
            <a:r>
              <a:rPr lang="en-US" sz="2000" dirty="0">
                <a:latin typeface="Arial"/>
                <a:cs typeface="Arial"/>
              </a:rPr>
              <a:t>When encoding begins the code table contains only the first   256 entries, with the remainder of the table being blanks.</a:t>
            </a:r>
          </a:p>
          <a:p>
            <a:pPr>
              <a:lnSpc>
                <a:spcPct val="80000"/>
              </a:lnSpc>
              <a:defRPr/>
            </a:pPr>
            <a:endParaRPr lang="en-US" sz="2000" dirty="0">
              <a:latin typeface="Arial"/>
              <a:cs typeface="Arial"/>
            </a:endParaRPr>
          </a:p>
          <a:p>
            <a:pPr>
              <a:lnSpc>
                <a:spcPct val="80000"/>
              </a:lnSpc>
              <a:defRPr/>
            </a:pPr>
            <a:r>
              <a:rPr lang="en-US" sz="2000" dirty="0">
                <a:latin typeface="Arial"/>
                <a:cs typeface="Arial"/>
              </a:rPr>
              <a:t>Compression is achieved by using codes 256 through 4095 to  represent sequences of bytes.</a:t>
            </a:r>
          </a:p>
          <a:p>
            <a:pPr>
              <a:lnSpc>
                <a:spcPct val="80000"/>
              </a:lnSpc>
              <a:defRPr/>
            </a:pPr>
            <a:endParaRPr lang="en-US" sz="2000" dirty="0">
              <a:latin typeface="Arial"/>
              <a:cs typeface="Arial"/>
            </a:endParaRPr>
          </a:p>
          <a:p>
            <a:pPr>
              <a:lnSpc>
                <a:spcPct val="80000"/>
              </a:lnSpc>
              <a:defRPr/>
            </a:pPr>
            <a:r>
              <a:rPr lang="en-US" sz="2000" dirty="0">
                <a:latin typeface="Arial"/>
                <a:cs typeface="Arial"/>
              </a:rPr>
              <a:t>As the encoding continues, LZW identifies repeated sequences  in the data, and adds them to the code table.</a:t>
            </a:r>
          </a:p>
          <a:p>
            <a:pPr>
              <a:lnSpc>
                <a:spcPct val="80000"/>
              </a:lnSpc>
              <a:defRPr/>
            </a:pPr>
            <a:endParaRPr lang="en-US" sz="2000" dirty="0">
              <a:latin typeface="Arial"/>
              <a:cs typeface="Arial"/>
            </a:endParaRPr>
          </a:p>
          <a:p>
            <a:pPr>
              <a:lnSpc>
                <a:spcPct val="80000"/>
              </a:lnSpc>
              <a:defRPr/>
            </a:pPr>
            <a:r>
              <a:rPr lang="en-US" sz="2000" dirty="0">
                <a:latin typeface="Arial"/>
                <a:cs typeface="Arial"/>
              </a:rPr>
              <a:t>Decoding is achieved by taking each code from the compressed file, and translating it through the code table to  find what character or characters it represents.</a:t>
            </a:r>
          </a:p>
        </p:txBody>
      </p:sp>
    </p:spTree>
    <p:extLst>
      <p:ext uri="{BB962C8B-B14F-4D97-AF65-F5344CB8AC3E}">
        <p14:creationId xmlns:p14="http://schemas.microsoft.com/office/powerpoint/2010/main" val="9885243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LZW algoritme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 smtClean="0"/>
              <a:t>1</a:t>
            </a:r>
            <a:r>
              <a:rPr lang="nl-NL" dirty="0"/>
              <a:t>. </a:t>
            </a:r>
            <a:r>
              <a:rPr lang="nl-NL" dirty="0" err="1"/>
              <a:t>Initialiseer</a:t>
            </a:r>
            <a:r>
              <a:rPr lang="nl-NL" dirty="0"/>
              <a:t> een array met 4096 elementen en voer de </a:t>
            </a:r>
            <a:r>
              <a:rPr lang="nl-NL" dirty="0" err="1"/>
              <a:t>ascii</a:t>
            </a:r>
            <a:r>
              <a:rPr lang="nl-NL" dirty="0"/>
              <a:t> tabel karakters in de elementen 0 tot en met 255. Variabele P = leeg</a:t>
            </a:r>
          </a:p>
          <a:p>
            <a:pPr marL="0" indent="0">
              <a:buNone/>
            </a:pPr>
            <a:r>
              <a:rPr lang="nl-NL" dirty="0"/>
              <a:t>2. C = haalt het volgende karakter uit de karakterreeks</a:t>
            </a:r>
          </a:p>
          <a:p>
            <a:pPr marL="0" indent="0">
              <a:buNone/>
            </a:pPr>
            <a:r>
              <a:rPr lang="nl-NL" dirty="0"/>
              <a:t>3. Is P + C in de tabel?</a:t>
            </a:r>
          </a:p>
          <a:p>
            <a:pPr marL="0" indent="0">
              <a:buNone/>
            </a:pPr>
            <a:r>
              <a:rPr lang="sk-SK" dirty="0"/>
              <a:t>	3a. Zo ja,  P = P + C</a:t>
            </a:r>
          </a:p>
          <a:p>
            <a:pPr marL="0" indent="0">
              <a:buNone/>
            </a:pPr>
            <a:r>
              <a:rPr lang="sk-SK" dirty="0"/>
              <a:t>	3b. </a:t>
            </a:r>
            <a:r>
              <a:rPr lang="sk-SK" dirty="0" smtClean="0"/>
              <a:t>Zo </a:t>
            </a:r>
            <a:r>
              <a:rPr lang="sk-SK" dirty="0"/>
              <a:t>niet, print de code </a:t>
            </a:r>
            <a:r>
              <a:rPr lang="sk-SK" dirty="0" smtClean="0"/>
              <a:t>P</a:t>
            </a:r>
            <a:endParaRPr lang="sk-SK" dirty="0"/>
          </a:p>
          <a:p>
            <a:pPr marL="0" indent="0">
              <a:buNone/>
            </a:pPr>
            <a:r>
              <a:rPr lang="sk-SK" dirty="0"/>
              <a:t>	</a:t>
            </a:r>
            <a:r>
              <a:rPr lang="sk-SK" dirty="0" smtClean="0"/>
              <a:t>      Voeg </a:t>
            </a:r>
            <a:r>
              <a:rPr lang="sk-SK" dirty="0"/>
              <a:t>P + C toe aan de tabel</a:t>
            </a:r>
          </a:p>
          <a:p>
            <a:pPr marL="0" indent="0">
              <a:buNone/>
            </a:pPr>
            <a:r>
              <a:rPr lang="sk-SK" dirty="0"/>
              <a:t>	</a:t>
            </a:r>
            <a:r>
              <a:rPr lang="sk-SK" dirty="0" smtClean="0"/>
              <a:t>      P </a:t>
            </a:r>
            <a:r>
              <a:rPr lang="sk-SK" dirty="0"/>
              <a:t>= C</a:t>
            </a:r>
          </a:p>
          <a:p>
            <a:pPr marL="0" indent="0">
              <a:buNone/>
            </a:pPr>
            <a:r>
              <a:rPr lang="sk-SK" dirty="0"/>
              <a:t>4. Herhaal stap </a:t>
            </a:r>
            <a:r>
              <a:rPr lang="sk-SK" dirty="0" smtClean="0"/>
              <a:t>2 </a:t>
            </a:r>
            <a:r>
              <a:rPr lang="sk-SK" dirty="0"/>
              <a:t>tot je aan het einde van de karakterreeks </a:t>
            </a:r>
            <a:r>
              <a:rPr lang="sk-SK" dirty="0" smtClean="0"/>
              <a:t>bent</a:t>
            </a:r>
          </a:p>
          <a:p>
            <a:pPr marL="0" indent="0">
              <a:buNone/>
            </a:pPr>
            <a:r>
              <a:rPr lang="sk-SK" dirty="0" smtClean="0"/>
              <a:t>5. </a:t>
            </a:r>
            <a:r>
              <a:rPr lang="sk-SK" smtClean="0"/>
              <a:t>Print C</a:t>
            </a:r>
            <a:endParaRPr lang="sk-SK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7263274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r>
              <a:rPr lang="en-US" sz="3000" b="1" dirty="0">
                <a:latin typeface="Arial" charset="0"/>
                <a:cs typeface="Times New Roman" charset="0"/>
              </a:rPr>
              <a:t> LZW Encoding Algorithm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686800" cy="5472112"/>
          </a:xfrm>
        </p:spPr>
        <p:txBody>
          <a:bodyPr/>
          <a:lstStyle/>
          <a:p>
            <a:pPr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 </a:t>
            </a:r>
            <a:r>
              <a:rPr lang="en-US" sz="2000" dirty="0" smtClean="0">
                <a:latin typeface="Courier"/>
                <a:cs typeface="Courier"/>
              </a:rPr>
              <a:t> 1     </a:t>
            </a:r>
            <a:r>
              <a:rPr lang="en-US" sz="2000" dirty="0">
                <a:latin typeface="Courier"/>
                <a:cs typeface="Courier"/>
              </a:rPr>
              <a:t>Initialize table with single </a:t>
            </a:r>
            <a:r>
              <a:rPr lang="en-US" sz="2000" dirty="0" smtClean="0">
                <a:latin typeface="Courier"/>
                <a:cs typeface="Courier"/>
              </a:rPr>
              <a:t>character strings</a:t>
            </a:r>
            <a:endParaRPr lang="en-US" sz="2000" dirty="0">
              <a:latin typeface="Courier"/>
              <a:cs typeface="Courier"/>
            </a:endParaRPr>
          </a:p>
          <a:p>
            <a:pPr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  2     P = first input character</a:t>
            </a:r>
          </a:p>
          <a:p>
            <a:pPr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  3     WHILE not end of input stream</a:t>
            </a:r>
          </a:p>
          <a:p>
            <a:pPr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  4          C = next input character</a:t>
            </a:r>
          </a:p>
          <a:p>
            <a:pPr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  5          IF P + C is in the string table</a:t>
            </a:r>
          </a:p>
          <a:p>
            <a:pPr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  6            P = P + C</a:t>
            </a:r>
          </a:p>
          <a:p>
            <a:pPr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  7          ELSE</a:t>
            </a:r>
          </a:p>
          <a:p>
            <a:pPr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  8            output the code for P</a:t>
            </a:r>
          </a:p>
          <a:p>
            <a:pPr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  9		  add P + C to the string table</a:t>
            </a:r>
          </a:p>
          <a:p>
            <a:pPr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  10           P = C</a:t>
            </a:r>
          </a:p>
          <a:p>
            <a:pPr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  11         END WHILE</a:t>
            </a:r>
          </a:p>
          <a:p>
            <a:pPr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  12    output code for P</a:t>
            </a:r>
            <a:r>
              <a:rPr lang="en-US" dirty="0">
                <a:latin typeface="Courier"/>
                <a:cs typeface="Courier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06605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r>
              <a:rPr lang="en-US" sz="3000" b="1" dirty="0">
                <a:latin typeface="Arial" charset="0"/>
                <a:cs typeface="Times New Roman" charset="0"/>
              </a:rPr>
              <a:t> Example 1: Compression using LZW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r>
              <a:rPr lang="en-US" sz="2000" dirty="0">
                <a:latin typeface="Arial"/>
                <a:cs typeface="Arial"/>
              </a:rPr>
              <a:t>Example 1: Use the LZW algorithm to compress the string</a:t>
            </a:r>
          </a:p>
          <a:p>
            <a:pPr algn="ctr">
              <a:buFontTx/>
              <a:buNone/>
              <a:defRPr/>
            </a:pPr>
            <a:endParaRPr lang="en-US" sz="2000" dirty="0">
              <a:latin typeface="Arial"/>
              <a:cs typeface="Arial"/>
            </a:endParaRPr>
          </a:p>
          <a:p>
            <a:pPr algn="ctr">
              <a:buFontTx/>
              <a:buNone/>
              <a:defRPr/>
            </a:pPr>
            <a:r>
              <a:rPr lang="en-US" sz="2000" dirty="0" smtClean="0">
                <a:latin typeface="Arial"/>
                <a:cs typeface="Arial"/>
              </a:rPr>
              <a:t>BABAABAA</a:t>
            </a:r>
            <a:endParaRPr lang="en-U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61967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r>
              <a:rPr lang="en-US" sz="3000" b="1" dirty="0">
                <a:latin typeface="Arial" charset="0"/>
                <a:cs typeface="Times New Roman" charset="0"/>
              </a:rPr>
              <a:t>Example 1: LZW Compression Step 1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892175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Times New Roman" charset="0"/>
                <a:cs typeface="Times New Roman" charset="0"/>
              </a:rPr>
              <a:t>BABAABAA				P=A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Times New Roman" charset="0"/>
                <a:cs typeface="Times New Roman" charset="0"/>
              </a:rPr>
              <a:t>							C=empty</a:t>
            </a:r>
          </a:p>
        </p:txBody>
      </p:sp>
      <p:graphicFrame>
        <p:nvGraphicFramePr>
          <p:cNvPr id="8286" name="Group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618033"/>
              </p:ext>
            </p:extLst>
          </p:nvPr>
        </p:nvGraphicFramePr>
        <p:xfrm>
          <a:off x="468313" y="2492375"/>
          <a:ext cx="8135937" cy="3962400"/>
        </p:xfrm>
        <a:graphic>
          <a:graphicData uri="http://schemas.openxmlformats.org/drawingml/2006/table">
            <a:tbl>
              <a:tblPr rtl="1"/>
              <a:tblGrid>
                <a:gridCol w="2160587"/>
                <a:gridCol w="2087563"/>
                <a:gridCol w="2160587"/>
                <a:gridCol w="1727200"/>
              </a:tblGrid>
              <a:tr h="4572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            TABLE</a:t>
                      </a:r>
                      <a:endParaRPr kumimoji="0" lang="ar-s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ENCODER         OUTPUT</a:t>
                      </a:r>
                      <a:endParaRPr kumimoji="0" lang="ar-s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codeword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representing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output code</a:t>
                      </a:r>
                      <a:endParaRPr kumimoji="0" lang="ar-s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256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66</a:t>
                      </a:r>
                      <a:endParaRPr kumimoji="0" lang="ar-s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287" name="Line 95"/>
          <p:cNvSpPr>
            <a:spLocks noChangeShapeType="1"/>
          </p:cNvSpPr>
          <p:nvPr/>
        </p:nvSpPr>
        <p:spPr bwMode="auto">
          <a:xfrm flipV="1">
            <a:off x="1042988" y="1916113"/>
            <a:ext cx="0" cy="288925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161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  <a:noFill/>
        </p:spPr>
        <p:txBody>
          <a:bodyPr/>
          <a:lstStyle/>
          <a:p>
            <a:r>
              <a:rPr lang="en-US" sz="3000" b="1" dirty="0">
                <a:latin typeface="Arial" charset="0"/>
                <a:cs typeface="Times New Roman" charset="0"/>
              </a:rPr>
              <a:t>Example 1: LZW Compression Step 2</a:t>
            </a:r>
          </a:p>
        </p:txBody>
      </p:sp>
      <p:sp>
        <p:nvSpPr>
          <p:cNvPr id="3174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892175"/>
          </a:xfrm>
          <a:noFill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Times New Roman" charset="0"/>
                <a:cs typeface="Times New Roman" charset="0"/>
              </a:rPr>
              <a:t>BABAABAA				P=B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Times New Roman" charset="0"/>
                <a:cs typeface="Times New Roman" charset="0"/>
              </a:rPr>
              <a:t>							C=</a:t>
            </a:r>
            <a:r>
              <a:rPr lang="en-US" sz="1600">
                <a:latin typeface="Times New Roman" charset="0"/>
                <a:cs typeface="Times New Roman" charset="0"/>
              </a:rPr>
              <a:t>empty</a:t>
            </a:r>
          </a:p>
        </p:txBody>
      </p:sp>
      <p:graphicFrame>
        <p:nvGraphicFramePr>
          <p:cNvPr id="9268" name="Group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782032"/>
              </p:ext>
            </p:extLst>
          </p:nvPr>
        </p:nvGraphicFramePr>
        <p:xfrm>
          <a:off x="468313" y="2492375"/>
          <a:ext cx="8135937" cy="3902072"/>
        </p:xfrm>
        <a:graphic>
          <a:graphicData uri="http://schemas.openxmlformats.org/drawingml/2006/table">
            <a:tbl>
              <a:tblPr rtl="1"/>
              <a:tblGrid>
                <a:gridCol w="2160587"/>
                <a:gridCol w="2087563"/>
                <a:gridCol w="2160587"/>
                <a:gridCol w="1727200"/>
              </a:tblGrid>
              <a:tr h="45727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            TABLE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ENCODER         OUTPUT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72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codeword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representing</a:t>
                      </a:r>
                      <a:endParaRPr kumimoji="0" lang="ar-s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output code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256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66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AB</a:t>
                      </a:r>
                      <a:endParaRPr kumimoji="0" lang="ar-s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257</a:t>
                      </a:r>
                      <a:endParaRPr kumimoji="0" lang="ar-s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</a:t>
                      </a:r>
                      <a:endParaRPr kumimoji="0" lang="ar-s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3114C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65</a:t>
                      </a:r>
                      <a:endParaRPr kumimoji="0" lang="ar-s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44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44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44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44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23114C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67" name="Line 51"/>
          <p:cNvSpPr>
            <a:spLocks noChangeShapeType="1"/>
          </p:cNvSpPr>
          <p:nvPr/>
        </p:nvSpPr>
        <p:spPr bwMode="auto">
          <a:xfrm flipV="1">
            <a:off x="1258888" y="1916113"/>
            <a:ext cx="0" cy="288925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085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  <a:noFill/>
        </p:spPr>
        <p:txBody>
          <a:bodyPr/>
          <a:lstStyle/>
          <a:p>
            <a:r>
              <a:rPr lang="en-US" sz="3000" b="1" dirty="0">
                <a:latin typeface="Arial" charset="0"/>
                <a:cs typeface="Times New Roman" charset="0"/>
              </a:rPr>
              <a:t>Example 1: LZW Compression Step 3</a:t>
            </a:r>
          </a:p>
        </p:txBody>
      </p:sp>
      <p:sp>
        <p:nvSpPr>
          <p:cNvPr id="3379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892175"/>
          </a:xfrm>
          <a:noFill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Times New Roman" charset="0"/>
                <a:cs typeface="Times New Roman" charset="0"/>
              </a:rPr>
              <a:t>BABAABAA				P=A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Times New Roman" charset="0"/>
                <a:cs typeface="Times New Roman" charset="0"/>
              </a:rPr>
              <a:t>							C=</a:t>
            </a:r>
            <a:r>
              <a:rPr lang="en-US" sz="1600">
                <a:latin typeface="Times New Roman" charset="0"/>
                <a:cs typeface="Times New Roman" charset="0"/>
              </a:rPr>
              <a:t>empty</a:t>
            </a:r>
          </a:p>
        </p:txBody>
      </p:sp>
      <p:graphicFrame>
        <p:nvGraphicFramePr>
          <p:cNvPr id="10292" name="Group 52"/>
          <p:cNvGraphicFramePr>
            <a:graphicFrameLocks noGrp="1"/>
          </p:cNvGraphicFramePr>
          <p:nvPr/>
        </p:nvGraphicFramePr>
        <p:xfrm>
          <a:off x="468313" y="2492375"/>
          <a:ext cx="8135937" cy="3840223"/>
        </p:xfrm>
        <a:graphic>
          <a:graphicData uri="http://schemas.openxmlformats.org/drawingml/2006/table">
            <a:tbl>
              <a:tblPr rtl="1"/>
              <a:tblGrid>
                <a:gridCol w="2160587"/>
                <a:gridCol w="2087563"/>
                <a:gridCol w="2160587"/>
                <a:gridCol w="1727200"/>
              </a:tblGrid>
              <a:tr h="457161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            TABLE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ENCODER         OUTPUT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71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codeword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representing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output code</a:t>
                      </a:r>
                      <a:endParaRPr kumimoji="0" lang="ar-s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256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66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AB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257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65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BAA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258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256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0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0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0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291" name="Line 51"/>
          <p:cNvSpPr>
            <a:spLocks noChangeShapeType="1"/>
          </p:cNvSpPr>
          <p:nvPr/>
        </p:nvSpPr>
        <p:spPr bwMode="auto">
          <a:xfrm flipV="1">
            <a:off x="1763713" y="1916113"/>
            <a:ext cx="0" cy="288925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809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  <a:noFill/>
        </p:spPr>
        <p:txBody>
          <a:bodyPr/>
          <a:lstStyle/>
          <a:p>
            <a:r>
              <a:rPr lang="en-US" sz="3000" b="1" dirty="0">
                <a:latin typeface="Arial" charset="0"/>
                <a:cs typeface="Times New Roman" charset="0"/>
              </a:rPr>
              <a:t>Example 1: LZW Compression Step 4</a:t>
            </a:r>
          </a:p>
        </p:txBody>
      </p:sp>
      <p:sp>
        <p:nvSpPr>
          <p:cNvPr id="3481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892175"/>
          </a:xfrm>
          <a:noFill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Times New Roman" charset="0"/>
                <a:cs typeface="Times New Roman" charset="0"/>
              </a:rPr>
              <a:t>BABAABAA				P=A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Times New Roman" charset="0"/>
                <a:cs typeface="Times New Roman" charset="0"/>
              </a:rPr>
              <a:t>							C=</a:t>
            </a:r>
            <a:r>
              <a:rPr lang="en-US" sz="1600">
                <a:latin typeface="Times New Roman" charset="0"/>
                <a:cs typeface="Times New Roman" charset="0"/>
              </a:rPr>
              <a:t>empty</a:t>
            </a:r>
          </a:p>
        </p:txBody>
      </p:sp>
      <p:graphicFrame>
        <p:nvGraphicFramePr>
          <p:cNvPr id="11316" name="Group 52"/>
          <p:cNvGraphicFramePr>
            <a:graphicFrameLocks noGrp="1"/>
          </p:cNvGraphicFramePr>
          <p:nvPr/>
        </p:nvGraphicFramePr>
        <p:xfrm>
          <a:off x="468313" y="2492375"/>
          <a:ext cx="8135937" cy="3779836"/>
        </p:xfrm>
        <a:graphic>
          <a:graphicData uri="http://schemas.openxmlformats.org/drawingml/2006/table">
            <a:tbl>
              <a:tblPr rtl="1"/>
              <a:tblGrid>
                <a:gridCol w="2160587"/>
                <a:gridCol w="2087563"/>
                <a:gridCol w="2160587"/>
                <a:gridCol w="1727200"/>
              </a:tblGrid>
              <a:tr h="45723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            TABLE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ENCODER         OUTPUT</a:t>
                      </a:r>
                      <a:endParaRPr kumimoji="0" lang="ar-s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7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codeword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representing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output code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256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</a:t>
                      </a:r>
                      <a:endParaRPr kumimoji="0" lang="ar-s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66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AB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257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65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BAA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258</a:t>
                      </a:r>
                      <a:endParaRPr kumimoji="0" lang="ar-s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256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ABA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259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AB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257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4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4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315" name="Line 51"/>
          <p:cNvSpPr>
            <a:spLocks noChangeShapeType="1"/>
          </p:cNvSpPr>
          <p:nvPr/>
        </p:nvSpPr>
        <p:spPr bwMode="auto">
          <a:xfrm flipV="1">
            <a:off x="2268538" y="1916113"/>
            <a:ext cx="0" cy="288925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479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  <a:noFill/>
        </p:spPr>
        <p:txBody>
          <a:bodyPr/>
          <a:lstStyle/>
          <a:p>
            <a:r>
              <a:rPr lang="en-US" sz="3000" b="1" dirty="0">
                <a:latin typeface="Arial" charset="0"/>
                <a:cs typeface="Times New Roman" charset="0"/>
              </a:rPr>
              <a:t>Example 1: LZW Compression Step 5</a:t>
            </a:r>
          </a:p>
        </p:txBody>
      </p:sp>
      <p:sp>
        <p:nvSpPr>
          <p:cNvPr id="3584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892175"/>
          </a:xfrm>
          <a:noFill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Times New Roman" charset="0"/>
                <a:cs typeface="Times New Roman" charset="0"/>
              </a:rPr>
              <a:t>BABAABAA				P=A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Times New Roman" charset="0"/>
                <a:cs typeface="Times New Roman" charset="0"/>
              </a:rPr>
              <a:t>							C=A</a:t>
            </a:r>
          </a:p>
        </p:txBody>
      </p:sp>
      <p:graphicFrame>
        <p:nvGraphicFramePr>
          <p:cNvPr id="12340" name="Group 52"/>
          <p:cNvGraphicFramePr>
            <a:graphicFrameLocks noGrp="1"/>
          </p:cNvGraphicFramePr>
          <p:nvPr/>
        </p:nvGraphicFramePr>
        <p:xfrm>
          <a:off x="468313" y="2492375"/>
          <a:ext cx="8135937" cy="3718031"/>
        </p:xfrm>
        <a:graphic>
          <a:graphicData uri="http://schemas.openxmlformats.org/drawingml/2006/table">
            <a:tbl>
              <a:tblPr rtl="1"/>
              <a:tblGrid>
                <a:gridCol w="2160587"/>
                <a:gridCol w="2087563"/>
                <a:gridCol w="2160587"/>
                <a:gridCol w="1727200"/>
              </a:tblGrid>
              <a:tr h="457121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            TABLE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ENCODER         OUTPUT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71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codeword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representing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output code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256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66</a:t>
                      </a:r>
                      <a:endParaRPr kumimoji="0" lang="ar-s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AB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257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65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BAA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258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256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ABA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259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AB</a:t>
                      </a:r>
                      <a:endParaRPr kumimoji="0" lang="ar-s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257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AA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260</a:t>
                      </a:r>
                      <a:endParaRPr kumimoji="0" lang="ar-sa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</a:t>
                      </a:r>
                      <a:endParaRPr kumimoji="0" lang="ar-s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65</a:t>
                      </a:r>
                      <a:endParaRPr kumimoji="0" lang="ar-s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79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</a:t>
                      </a:r>
                      <a:endParaRPr kumimoji="0" lang="ar-s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65</a:t>
                      </a:r>
                      <a:endParaRPr kumimoji="0" lang="ar-s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339" name="Line 51"/>
          <p:cNvSpPr>
            <a:spLocks noChangeShapeType="1"/>
          </p:cNvSpPr>
          <p:nvPr/>
        </p:nvSpPr>
        <p:spPr bwMode="auto">
          <a:xfrm flipV="1">
            <a:off x="2555875" y="1916113"/>
            <a:ext cx="0" cy="288925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891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r>
              <a:rPr lang="en-US" sz="3000" b="1" dirty="0">
                <a:latin typeface="Arial" charset="0"/>
                <a:cs typeface="Times New Roman" charset="0"/>
              </a:rPr>
              <a:t> LZW Decompression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412875"/>
            <a:ext cx="8229600" cy="5184775"/>
          </a:xfrm>
        </p:spPr>
        <p:txBody>
          <a:bodyPr/>
          <a:lstStyle/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sz="2400" dirty="0">
                <a:latin typeface="Arial"/>
                <a:cs typeface="Arial"/>
              </a:rPr>
              <a:t>The LZW </a:t>
            </a:r>
            <a:r>
              <a:rPr lang="en-US" sz="2400" dirty="0" err="1">
                <a:latin typeface="Arial"/>
                <a:cs typeface="Arial"/>
              </a:rPr>
              <a:t>decompressor</a:t>
            </a:r>
            <a:r>
              <a:rPr lang="en-US" sz="2400" dirty="0">
                <a:latin typeface="Arial"/>
                <a:cs typeface="Arial"/>
              </a:rPr>
              <a:t> creates the same string table during decompression</a:t>
            </a:r>
            <a:r>
              <a:rPr lang="en-US" sz="2400" dirty="0" smtClean="0">
                <a:latin typeface="Arial"/>
                <a:cs typeface="Arial"/>
              </a:rPr>
              <a:t>.</a:t>
            </a:r>
            <a:endParaRPr lang="en-US" sz="2400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sz="2400" dirty="0">
                <a:latin typeface="Arial"/>
                <a:cs typeface="Arial"/>
              </a:rPr>
              <a:t>It starts with the first 256 table entries initialized to single  characters. </a:t>
            </a:r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sz="2400" dirty="0">
                <a:latin typeface="Arial"/>
                <a:cs typeface="Arial"/>
              </a:rPr>
              <a:t>The string table is updated for each character in the input  stream, except the first one</a:t>
            </a:r>
            <a:r>
              <a:rPr lang="en-US" sz="2400" dirty="0" smtClean="0">
                <a:latin typeface="Arial"/>
                <a:cs typeface="Arial"/>
              </a:rPr>
              <a:t>.</a:t>
            </a:r>
            <a:endParaRPr lang="en-US" sz="2400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sz="2400" dirty="0">
                <a:latin typeface="Arial"/>
                <a:cs typeface="Arial"/>
              </a:rPr>
              <a:t>Decoding achieved by reading codes and translating them  through the code table being built.</a:t>
            </a:r>
          </a:p>
        </p:txBody>
      </p:sp>
    </p:spTree>
    <p:extLst>
      <p:ext uri="{BB962C8B-B14F-4D97-AF65-F5344CB8AC3E}">
        <p14:creationId xmlns:p14="http://schemas.microsoft.com/office/powerpoint/2010/main" val="5982719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r>
              <a:rPr lang="en-US" sz="3000" b="1" dirty="0">
                <a:latin typeface="Arial" charset="0"/>
                <a:cs typeface="Times New Roman" charset="0"/>
              </a:rPr>
              <a:t> LZW Decompression Algorithm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661025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1    Initialize table with single character strings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2    OLD = first input code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3    output translation of OLD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4    WHILE not end of input stream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5        NEW = next input code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6        IF NEW is not in the string table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7               S = translation of OLD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8               S = S + C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9       ELSE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10              S = translation of NEW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11       output 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12       C = first character of 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13       OLD + C to the string table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14       OLD = NEW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"/>
                <a:cs typeface="Courier"/>
              </a:rPr>
              <a:t>15   END WHILE</a:t>
            </a:r>
          </a:p>
        </p:txBody>
      </p:sp>
    </p:spTree>
    <p:extLst>
      <p:ext uri="{BB962C8B-B14F-4D97-AF65-F5344CB8AC3E}">
        <p14:creationId xmlns:p14="http://schemas.microsoft.com/office/powerpoint/2010/main" val="21197811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Arial" charset="0"/>
                <a:cs typeface="Times New Roman" charset="0"/>
              </a:rPr>
              <a:t> Example 2: LZW Decompression 1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r>
              <a:rPr lang="en-US" sz="2000" dirty="0">
                <a:latin typeface="Arial"/>
                <a:cs typeface="Arial"/>
              </a:rPr>
              <a:t>Example 2: Use LZW to decompress the output sequence of </a:t>
            </a:r>
          </a:p>
          <a:p>
            <a:pPr>
              <a:buFontTx/>
              <a:buNone/>
              <a:defRPr/>
            </a:pPr>
            <a:r>
              <a:rPr lang="en-US" sz="2000" dirty="0">
                <a:latin typeface="Arial"/>
                <a:cs typeface="Arial"/>
              </a:rPr>
              <a:t>                   Example 1: </a:t>
            </a:r>
          </a:p>
          <a:p>
            <a:pPr algn="ctr">
              <a:buFontTx/>
              <a:buNone/>
              <a:defRPr/>
            </a:pPr>
            <a:endParaRPr lang="en-US" sz="2000" dirty="0">
              <a:latin typeface="Arial"/>
              <a:cs typeface="Arial"/>
            </a:endParaRPr>
          </a:p>
          <a:p>
            <a:pPr algn="ctr">
              <a:buFontTx/>
              <a:buNone/>
              <a:defRPr/>
            </a:pPr>
            <a:r>
              <a:rPr lang="en-US" sz="2000" dirty="0">
                <a:latin typeface="Arial"/>
                <a:cs typeface="Arial"/>
              </a:rPr>
              <a:t>&lt;66&gt;&lt;65&gt;&lt;256&gt;&lt;257&gt;&lt;65</a:t>
            </a:r>
            <a:r>
              <a:rPr lang="en-US" sz="2000" dirty="0" smtClean="0">
                <a:latin typeface="Arial"/>
                <a:cs typeface="Arial"/>
              </a:rPr>
              <a:t>&gt;&lt;65&gt;. </a:t>
            </a:r>
            <a:endParaRPr lang="en-U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8250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Arial" charset="0"/>
                <a:cs typeface="Times New Roman" charset="0"/>
              </a:rPr>
              <a:t> Example 2: LZW Decompression Step 1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1181100"/>
          </a:xfrm>
        </p:spPr>
        <p:txBody>
          <a:bodyPr/>
          <a:lstStyle/>
          <a:p>
            <a:pPr>
              <a:buFontTx/>
              <a:buNone/>
            </a:pPr>
            <a:r>
              <a:rPr lang="en-US" sz="2400" b="1">
                <a:latin typeface="Times New Roman" charset="0"/>
                <a:cs typeface="Times New Roman" charset="0"/>
              </a:rPr>
              <a:t>&lt;66&gt;&lt;65&gt;&lt;256&gt;&lt;257&gt;&lt;65&gt;&lt;65&gt;      	Old = 65     S = A</a:t>
            </a:r>
          </a:p>
          <a:p>
            <a:pPr>
              <a:buFontTx/>
              <a:buNone/>
            </a:pPr>
            <a:r>
              <a:rPr lang="en-US" sz="2400" b="1">
                <a:latin typeface="Times New Roman" charset="0"/>
                <a:cs typeface="Times New Roman" charset="0"/>
              </a:rPr>
              <a:t>							New = 66    C = A</a:t>
            </a:r>
          </a:p>
        </p:txBody>
      </p:sp>
      <p:graphicFrame>
        <p:nvGraphicFramePr>
          <p:cNvPr id="17474" name="Group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589440"/>
              </p:ext>
            </p:extLst>
          </p:nvPr>
        </p:nvGraphicFramePr>
        <p:xfrm>
          <a:off x="468313" y="2276475"/>
          <a:ext cx="8424862" cy="4140201"/>
        </p:xfrm>
        <a:graphic>
          <a:graphicData uri="http://schemas.openxmlformats.org/drawingml/2006/table">
            <a:tbl>
              <a:tblPr rtl="1"/>
              <a:tblGrid>
                <a:gridCol w="2016125"/>
                <a:gridCol w="2233612"/>
                <a:gridCol w="4175125"/>
              </a:tblGrid>
              <a:tr h="457235">
                <a:tc gridSpan="2"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 TABLE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ENCODER OUTPUT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codeword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78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6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256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307">
                <a:tc>
                  <a:txBody>
                    <a:bodyPr/>
                    <a:lstStyle/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0">
                <a:tc>
                  <a:txBody>
                    <a:bodyPr/>
                    <a:lstStyle/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0">
                <a:tc>
                  <a:txBody>
                    <a:bodyPr/>
                    <a:lstStyle/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534">
                <a:tc>
                  <a:txBody>
                    <a:bodyPr/>
                    <a:lstStyle/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475" name="Line 67"/>
          <p:cNvSpPr>
            <a:spLocks noChangeShapeType="1"/>
          </p:cNvSpPr>
          <p:nvPr/>
        </p:nvSpPr>
        <p:spPr bwMode="auto">
          <a:xfrm flipV="1">
            <a:off x="1835150" y="1557338"/>
            <a:ext cx="0" cy="4318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4958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3000" b="1" dirty="0">
                <a:latin typeface="Arial" charset="0"/>
                <a:cs typeface="Times New Roman" charset="0"/>
              </a:rPr>
              <a:t> Example 2: LZW Decompression Step 2</a:t>
            </a:r>
          </a:p>
        </p:txBody>
      </p:sp>
      <p:sp>
        <p:nvSpPr>
          <p:cNvPr id="4096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1181100"/>
          </a:xfrm>
          <a:noFill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 b="1">
                <a:latin typeface="Times New Roman" charset="0"/>
                <a:cs typeface="Times New Roman" charset="0"/>
              </a:rPr>
              <a:t>&lt;66&gt;&lt;65&gt;&lt;256&gt;&lt;257&gt;&lt;65&gt;&lt;65&gt;	 	Old = 256    S = BA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>
                <a:latin typeface="Times New Roman" charset="0"/>
                <a:cs typeface="Times New Roman" charset="0"/>
              </a:rPr>
              <a:t>							New = 256   C = B</a:t>
            </a:r>
          </a:p>
        </p:txBody>
      </p:sp>
      <p:graphicFrame>
        <p:nvGraphicFramePr>
          <p:cNvPr id="18438" name="Group 6"/>
          <p:cNvGraphicFramePr>
            <a:graphicFrameLocks noGrp="1"/>
          </p:cNvGraphicFramePr>
          <p:nvPr/>
        </p:nvGraphicFramePr>
        <p:xfrm>
          <a:off x="468313" y="2276475"/>
          <a:ext cx="8424862" cy="4140201"/>
        </p:xfrm>
        <a:graphic>
          <a:graphicData uri="http://schemas.openxmlformats.org/drawingml/2006/table">
            <a:tbl>
              <a:tblPr rtl="1"/>
              <a:tblGrid>
                <a:gridCol w="2016125"/>
                <a:gridCol w="2233612"/>
                <a:gridCol w="4175125"/>
              </a:tblGrid>
              <a:tr h="457235">
                <a:tc gridSpan="2"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 TABLE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ENCODER OUTPUT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codeword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78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6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256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3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AB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257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0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0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534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475" name="Line 43"/>
          <p:cNvSpPr>
            <a:spLocks noChangeShapeType="1"/>
          </p:cNvSpPr>
          <p:nvPr/>
        </p:nvSpPr>
        <p:spPr bwMode="auto">
          <a:xfrm flipV="1">
            <a:off x="2627313" y="1484313"/>
            <a:ext cx="0" cy="4318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353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3000" b="1" dirty="0">
                <a:latin typeface="Arial" charset="0"/>
                <a:cs typeface="Times New Roman" charset="0"/>
              </a:rPr>
              <a:t> Example 2: LZW Decompression Step 3</a:t>
            </a:r>
          </a:p>
        </p:txBody>
      </p:sp>
      <p:sp>
        <p:nvSpPr>
          <p:cNvPr id="4198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1181100"/>
          </a:xfrm>
          <a:noFill/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Times New Roman" charset="0"/>
                <a:cs typeface="Times New Roman" charset="0"/>
              </a:rPr>
              <a:t>&lt;66&gt;&lt;65&gt;&lt;256&gt;&lt;257&gt;&lt;65&gt;&lt;65&gt; 		Old = 257    S = AB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Times New Roman" charset="0"/>
                <a:cs typeface="Times New Roman" charset="0"/>
              </a:rPr>
              <a:t>							New = 257   C = A</a:t>
            </a:r>
          </a:p>
        </p:txBody>
      </p:sp>
      <p:graphicFrame>
        <p:nvGraphicFramePr>
          <p:cNvPr id="19500" name="Group 44"/>
          <p:cNvGraphicFramePr>
            <a:graphicFrameLocks noGrp="1"/>
          </p:cNvGraphicFramePr>
          <p:nvPr/>
        </p:nvGraphicFramePr>
        <p:xfrm>
          <a:off x="468313" y="2276475"/>
          <a:ext cx="8424862" cy="4124326"/>
        </p:xfrm>
        <a:graphic>
          <a:graphicData uri="http://schemas.openxmlformats.org/drawingml/2006/table">
            <a:tbl>
              <a:tblPr rtl="1"/>
              <a:tblGrid>
                <a:gridCol w="2016125"/>
                <a:gridCol w="2233612"/>
                <a:gridCol w="4175125"/>
              </a:tblGrid>
              <a:tr h="457180">
                <a:tc gridSpan="2"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 TABLE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ENCODER OUTPUT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codeword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77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4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256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1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AB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257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31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BAA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258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AB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40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360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499" name="Line 43"/>
          <p:cNvSpPr>
            <a:spLocks noChangeShapeType="1"/>
          </p:cNvSpPr>
          <p:nvPr/>
        </p:nvSpPr>
        <p:spPr bwMode="auto">
          <a:xfrm flipV="1">
            <a:off x="3492500" y="1484313"/>
            <a:ext cx="0" cy="4318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112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3000" b="1" dirty="0">
                <a:latin typeface="Arial" charset="0"/>
                <a:cs typeface="Times New Roman" charset="0"/>
              </a:rPr>
              <a:t> Example 2: LZW Decompression Step 4</a:t>
            </a:r>
          </a:p>
        </p:txBody>
      </p:sp>
      <p:sp>
        <p:nvSpPr>
          <p:cNvPr id="4301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1181100"/>
          </a:xfrm>
          <a:noFill/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Times New Roman" charset="0"/>
                <a:cs typeface="Times New Roman" charset="0"/>
              </a:rPr>
              <a:t>&lt;66&gt;&lt;65&gt;&lt;256&gt;&lt;257&gt;&lt;65&gt;&lt;65&gt;		Old = 65    S = A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Times New Roman" charset="0"/>
                <a:cs typeface="Times New Roman" charset="0"/>
              </a:rPr>
              <a:t>							New = 65   C = A</a:t>
            </a:r>
          </a:p>
        </p:txBody>
      </p:sp>
      <p:graphicFrame>
        <p:nvGraphicFramePr>
          <p:cNvPr id="20524" name="Group 44"/>
          <p:cNvGraphicFramePr>
            <a:graphicFrameLocks noGrp="1"/>
          </p:cNvGraphicFramePr>
          <p:nvPr/>
        </p:nvGraphicFramePr>
        <p:xfrm>
          <a:off x="468313" y="2276475"/>
          <a:ext cx="8424862" cy="4064002"/>
        </p:xfrm>
        <a:graphic>
          <a:graphicData uri="http://schemas.openxmlformats.org/drawingml/2006/table">
            <a:tbl>
              <a:tblPr rtl="1"/>
              <a:tblGrid>
                <a:gridCol w="2016125"/>
                <a:gridCol w="2233612"/>
                <a:gridCol w="4175125"/>
              </a:tblGrid>
              <a:tr h="457200">
                <a:tc gridSpan="2"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 TABLE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ENCODER OUTPUT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codeword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7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ABA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488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523" name="Line 43"/>
          <p:cNvSpPr>
            <a:spLocks noChangeShapeType="1"/>
          </p:cNvSpPr>
          <p:nvPr/>
        </p:nvSpPr>
        <p:spPr bwMode="auto">
          <a:xfrm flipV="1">
            <a:off x="4140200" y="1484313"/>
            <a:ext cx="0" cy="4318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93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3000" b="1" dirty="0">
                <a:latin typeface="Arial" charset="0"/>
                <a:cs typeface="Times New Roman" charset="0"/>
              </a:rPr>
              <a:t> Example 2: LZW Decompression Step 5</a:t>
            </a:r>
          </a:p>
        </p:txBody>
      </p:sp>
      <p:sp>
        <p:nvSpPr>
          <p:cNvPr id="4505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1181100"/>
          </a:xfrm>
          <a:noFill/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Times New Roman" charset="0"/>
                <a:cs typeface="Times New Roman" charset="0"/>
              </a:rPr>
              <a:t>&lt;66&gt;&lt;65&gt;&lt;256&gt;&lt;257&gt;&lt;65&gt;&lt;65&gt;		Old = 260    S = AA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Times New Roman" charset="0"/>
                <a:cs typeface="Times New Roman" charset="0"/>
              </a:rPr>
              <a:t>							New = 260   C = A</a:t>
            </a:r>
          </a:p>
        </p:txBody>
      </p:sp>
      <p:graphicFrame>
        <p:nvGraphicFramePr>
          <p:cNvPr id="21510" name="Group 6"/>
          <p:cNvGraphicFramePr>
            <a:graphicFrameLocks noGrp="1"/>
          </p:cNvGraphicFramePr>
          <p:nvPr/>
        </p:nvGraphicFramePr>
        <p:xfrm>
          <a:off x="468313" y="2276475"/>
          <a:ext cx="8424862" cy="4064002"/>
        </p:xfrm>
        <a:graphic>
          <a:graphicData uri="http://schemas.openxmlformats.org/drawingml/2006/table">
            <a:tbl>
              <a:tblPr rtl="1"/>
              <a:tblGrid>
                <a:gridCol w="2016125"/>
                <a:gridCol w="2233612"/>
                <a:gridCol w="4175125"/>
              </a:tblGrid>
              <a:tr h="457200">
                <a:tc gridSpan="2"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 TABLE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ENCODER OUTPUT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codeword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string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7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BAA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ABA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102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102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547" name="Line 43"/>
          <p:cNvSpPr>
            <a:spLocks noChangeShapeType="1"/>
          </p:cNvSpPr>
          <p:nvPr/>
        </p:nvSpPr>
        <p:spPr bwMode="auto">
          <a:xfrm flipV="1">
            <a:off x="4787900" y="1484313"/>
            <a:ext cx="0" cy="4318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294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r>
              <a:rPr lang="en-US" sz="3000" b="1" dirty="0">
                <a:latin typeface="Arial" charset="0"/>
                <a:cs typeface="Times New Roman" charset="0"/>
              </a:rPr>
              <a:t> LZW: Some Notes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32765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Arial"/>
              <a:buChar char="•"/>
              <a:defRPr/>
            </a:pPr>
            <a:r>
              <a:rPr lang="en-US" sz="2400" dirty="0">
                <a:latin typeface="Arial"/>
                <a:cs typeface="Arial"/>
              </a:rPr>
              <a:t>This algorithm compresses repetitive sequences of data well</a:t>
            </a:r>
            <a:r>
              <a:rPr lang="en-US" sz="2400" dirty="0" smtClean="0">
                <a:latin typeface="Arial"/>
                <a:cs typeface="Arial"/>
              </a:rPr>
              <a:t>.</a:t>
            </a:r>
            <a:endParaRPr lang="en-US" sz="2400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buFont typeface="Arial"/>
              <a:buChar char="•"/>
              <a:defRPr/>
            </a:pPr>
            <a:r>
              <a:rPr lang="en-US" sz="2400" dirty="0">
                <a:latin typeface="Arial"/>
                <a:cs typeface="Arial"/>
              </a:rPr>
              <a:t>Since the </a:t>
            </a:r>
            <a:r>
              <a:rPr lang="en-US" sz="2400" dirty="0" err="1">
                <a:latin typeface="Arial"/>
                <a:cs typeface="Arial"/>
              </a:rPr>
              <a:t>codewords</a:t>
            </a:r>
            <a:r>
              <a:rPr lang="en-US" sz="2400" dirty="0">
                <a:latin typeface="Arial"/>
                <a:cs typeface="Arial"/>
              </a:rPr>
              <a:t> are 12 bits, any single encoded character will expand the data size rather than reduce it. </a:t>
            </a:r>
          </a:p>
          <a:p>
            <a:pPr>
              <a:lnSpc>
                <a:spcPct val="90000"/>
              </a:lnSpc>
              <a:buFont typeface="Arial"/>
              <a:buChar char="•"/>
              <a:defRPr/>
            </a:pPr>
            <a:r>
              <a:rPr lang="en-US" sz="2400" dirty="0">
                <a:latin typeface="Arial"/>
                <a:cs typeface="Arial"/>
              </a:rPr>
              <a:t>In this example, 72 bits are represented with 72 bits of data. After a reasonable string table is built, compression improves dramatically. </a:t>
            </a:r>
          </a:p>
          <a:p>
            <a:pPr>
              <a:lnSpc>
                <a:spcPct val="90000"/>
              </a:lnSpc>
              <a:buFont typeface="Arial"/>
              <a:buChar char="•"/>
              <a:defRPr/>
            </a:pPr>
            <a:r>
              <a:rPr lang="en-US" sz="2400" dirty="0">
                <a:latin typeface="Arial"/>
                <a:cs typeface="Arial"/>
              </a:rPr>
              <a:t>Advantages of LZW over Huffman:</a:t>
            </a:r>
          </a:p>
          <a:p>
            <a:pPr lvl="1">
              <a:lnSpc>
                <a:spcPct val="90000"/>
              </a:lnSpc>
              <a:buFont typeface="Arial"/>
              <a:buChar char="•"/>
              <a:defRPr/>
            </a:pPr>
            <a:r>
              <a:rPr lang="en-US" sz="1800" dirty="0">
                <a:latin typeface="Arial"/>
                <a:cs typeface="Arial"/>
              </a:rPr>
              <a:t>LZW requires no prior information about the input data stream. </a:t>
            </a:r>
          </a:p>
          <a:p>
            <a:pPr lvl="1">
              <a:lnSpc>
                <a:spcPct val="90000"/>
              </a:lnSpc>
              <a:buFont typeface="Arial"/>
              <a:buChar char="•"/>
              <a:defRPr/>
            </a:pPr>
            <a:r>
              <a:rPr lang="en-US" sz="1800" dirty="0">
                <a:latin typeface="Arial"/>
                <a:cs typeface="Arial"/>
              </a:rPr>
              <a:t>LZW can compress the input stream in one single pass.</a:t>
            </a:r>
          </a:p>
          <a:p>
            <a:pPr lvl="1">
              <a:lnSpc>
                <a:spcPct val="90000"/>
              </a:lnSpc>
              <a:buFont typeface="Arial"/>
              <a:buChar char="•"/>
              <a:defRPr/>
            </a:pPr>
            <a:r>
              <a:rPr lang="en-US" sz="1800" dirty="0">
                <a:latin typeface="Arial"/>
                <a:cs typeface="Arial"/>
              </a:rPr>
              <a:t>Another advantage of LZW its simplicity, allowing fast execution. </a:t>
            </a:r>
          </a:p>
        </p:txBody>
      </p:sp>
    </p:spTree>
    <p:extLst>
      <p:ext uri="{BB962C8B-B14F-4D97-AF65-F5344CB8AC3E}">
        <p14:creationId xmlns:p14="http://schemas.microsoft.com/office/powerpoint/2010/main" val="9886270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r>
              <a:rPr lang="en-US" sz="3000" b="1" dirty="0">
                <a:latin typeface="Arial" charset="0"/>
                <a:cs typeface="Times New Roman" charset="0"/>
              </a:rPr>
              <a:t> LZW: Limitations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32765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000" dirty="0" smtClean="0">
                <a:latin typeface="Arial"/>
                <a:cs typeface="Arial"/>
              </a:rPr>
              <a:t>4096 locations have been used?</a:t>
            </a:r>
          </a:p>
          <a:p>
            <a:pPr>
              <a:lnSpc>
                <a:spcPct val="90000"/>
              </a:lnSpc>
              <a:defRPr/>
            </a:pPr>
            <a:r>
              <a:rPr lang="en-US" sz="2000" dirty="0" smtClean="0">
                <a:latin typeface="Arial"/>
                <a:cs typeface="Arial"/>
              </a:rPr>
              <a:t>Here are some options usually implemented:</a:t>
            </a:r>
          </a:p>
          <a:p>
            <a:pPr lvl="1">
              <a:lnSpc>
                <a:spcPct val="90000"/>
              </a:lnSpc>
              <a:defRPr/>
            </a:pPr>
            <a:endParaRPr lang="en-US" sz="2000" dirty="0">
              <a:latin typeface="Arial"/>
              <a:cs typeface="Arial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sz="2000" dirty="0">
                <a:latin typeface="Arial"/>
                <a:cs typeface="Arial"/>
              </a:rPr>
              <a:t>Simply forget about adding any more entries and use the table as is</a:t>
            </a:r>
            <a:r>
              <a:rPr lang="en-US" sz="2000" dirty="0" smtClean="0">
                <a:latin typeface="Arial"/>
                <a:cs typeface="Arial"/>
              </a:rPr>
              <a:t>.</a:t>
            </a:r>
            <a:endParaRPr lang="en-US" sz="2000" dirty="0">
              <a:latin typeface="Arial"/>
              <a:cs typeface="Arial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sz="2000" dirty="0">
                <a:latin typeface="Arial"/>
                <a:cs typeface="Arial"/>
              </a:rPr>
              <a:t>Throw the dictionary away when it reaches a certain size. 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>
                <a:latin typeface="Arial"/>
                <a:cs typeface="Arial"/>
              </a:rPr>
              <a:t>Throw the dictionary away when it is no longer effective at compression</a:t>
            </a:r>
            <a:r>
              <a:rPr lang="en-US" sz="2000" dirty="0" smtClean="0">
                <a:latin typeface="Arial"/>
                <a:cs typeface="Arial"/>
              </a:rPr>
              <a:t>.</a:t>
            </a:r>
            <a:endParaRPr lang="en-US" sz="2000" dirty="0">
              <a:latin typeface="Arial"/>
              <a:cs typeface="Arial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sz="2000" dirty="0">
                <a:latin typeface="Arial"/>
                <a:cs typeface="Arial"/>
              </a:rPr>
              <a:t>Clear entries 256-4095 and start building the dictionary again</a:t>
            </a:r>
            <a:r>
              <a:rPr lang="en-US" sz="2000" dirty="0" smtClean="0">
                <a:latin typeface="Arial"/>
                <a:cs typeface="Arial"/>
              </a:rPr>
              <a:t>.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 smtClean="0">
                <a:latin typeface="Arial"/>
                <a:cs typeface="Arial"/>
              </a:rPr>
              <a:t>Some clever schemes rebuild a string table from the last N input </a:t>
            </a:r>
            <a:endParaRPr lang="en-U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58386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Arial" charset="0"/>
                <a:cs typeface="Times New Roman" charset="0"/>
              </a:rPr>
              <a:t>Exercises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>
              <a:defRPr/>
            </a:pPr>
            <a:r>
              <a:rPr lang="en-US" sz="2400" dirty="0" smtClean="0">
                <a:latin typeface="Arial"/>
                <a:cs typeface="Arial"/>
              </a:rPr>
              <a:t>Use Huffman to encode the string </a:t>
            </a:r>
            <a:r>
              <a:rPr lang="en-US" sz="2400" i="1" dirty="0" smtClean="0">
                <a:latin typeface="Arial"/>
                <a:cs typeface="Arial"/>
              </a:rPr>
              <a:t>ABRACADABRA</a:t>
            </a:r>
            <a:endParaRPr lang="en-US" sz="2400" i="1" dirty="0">
              <a:latin typeface="Arial"/>
              <a:cs typeface="Arial"/>
            </a:endParaRPr>
          </a:p>
          <a:p>
            <a:pPr>
              <a:defRPr/>
            </a:pPr>
            <a:endParaRPr lang="en-US" sz="2400" dirty="0">
              <a:latin typeface="Arial"/>
              <a:cs typeface="Arial"/>
            </a:endParaRPr>
          </a:p>
          <a:p>
            <a:pPr>
              <a:defRPr/>
            </a:pPr>
            <a:r>
              <a:rPr lang="en-US" sz="2400" dirty="0">
                <a:latin typeface="Arial"/>
                <a:cs typeface="Arial"/>
              </a:rPr>
              <a:t>Use LZW to trace encoding the string </a:t>
            </a:r>
            <a:r>
              <a:rPr lang="en-US" sz="2400" i="1" dirty="0">
                <a:latin typeface="Arial"/>
                <a:cs typeface="Arial"/>
              </a:rPr>
              <a:t>ABRACADABRA</a:t>
            </a:r>
            <a:r>
              <a:rPr lang="en-US" sz="2400" dirty="0">
                <a:latin typeface="Arial"/>
                <a:cs typeface="Arial"/>
              </a:rPr>
              <a:t>.</a:t>
            </a:r>
          </a:p>
          <a:p>
            <a:pPr>
              <a:defRPr/>
            </a:pPr>
            <a:endParaRPr lang="en-US" sz="2400" dirty="0">
              <a:latin typeface="Arial"/>
              <a:cs typeface="Arial"/>
            </a:endParaRPr>
          </a:p>
          <a:p>
            <a:pPr>
              <a:defRPr/>
            </a:pPr>
            <a:r>
              <a:rPr lang="en-US" sz="2400" dirty="0">
                <a:latin typeface="Arial"/>
                <a:cs typeface="Arial"/>
              </a:rPr>
              <a:t>Write a Java program that encodes a given string using LZW.</a:t>
            </a:r>
          </a:p>
          <a:p>
            <a:pPr>
              <a:defRPr/>
            </a:pPr>
            <a:endParaRPr lang="en-US" sz="2400" dirty="0">
              <a:latin typeface="Arial"/>
              <a:cs typeface="Arial"/>
            </a:endParaRPr>
          </a:p>
          <a:p>
            <a:pPr>
              <a:defRPr/>
            </a:pPr>
            <a:r>
              <a:rPr lang="en-US" sz="2400" dirty="0">
                <a:latin typeface="Arial"/>
                <a:cs typeface="Arial"/>
              </a:rPr>
              <a:t>Write a Java program that decodes a given set of encoded </a:t>
            </a:r>
            <a:r>
              <a:rPr lang="en-US" sz="2400" dirty="0" err="1">
                <a:latin typeface="Arial"/>
                <a:cs typeface="Arial"/>
              </a:rPr>
              <a:t>codewords</a:t>
            </a:r>
            <a:r>
              <a:rPr lang="en-US" sz="2400" dirty="0">
                <a:latin typeface="Arial"/>
                <a:cs typeface="Arial"/>
              </a:rPr>
              <a:t> using LZW.</a:t>
            </a:r>
            <a:r>
              <a:rPr lang="en-US" dirty="0">
                <a:latin typeface="Arial"/>
                <a:cs typeface="Arial"/>
              </a:rPr>
              <a:t> </a:t>
            </a:r>
          </a:p>
          <a:p>
            <a:pPr>
              <a:defRPr/>
            </a:pP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39277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Hashtables on ELO">
  <a:themeElements>
    <a:clrScheme name="Aangepast 2">
      <a:dk1>
        <a:srgbClr val="23114C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angepast 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92C47A9634448A67B6C0F4E203E71" ma:contentTypeVersion="3" ma:contentTypeDescription="Een nieuw document maken." ma:contentTypeScope="" ma:versionID="6718b5531c9594f0118ad4d948279b35">
  <xsd:schema xmlns:xsd="http://www.w3.org/2001/XMLSchema" xmlns:xs="http://www.w3.org/2001/XMLSchema" xmlns:p="http://schemas.microsoft.com/office/2006/metadata/properties" xmlns:ns2="a158c91d-1665-465e-9b38-ca2a7ebcd6da" targetNamespace="http://schemas.microsoft.com/office/2006/metadata/properties" ma:root="true" ma:fieldsID="52e0feb564d94f319910592251323171" ns2:_="">
    <xsd:import namespace="a158c91d-1665-465e-9b38-ca2a7ebcd6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8c91d-1665-465e-9b38-ca2a7ebcd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A2FA81-D4D0-46F2-9E0A-4599203AF5F4}"/>
</file>

<file path=customXml/itemProps2.xml><?xml version="1.0" encoding="utf-8"?>
<ds:datastoreItem xmlns:ds="http://schemas.openxmlformats.org/officeDocument/2006/customXml" ds:itemID="{BB5AD448-7E61-4340-AFDA-C98B4FB85613}"/>
</file>

<file path=customXml/itemProps3.xml><?xml version="1.0" encoding="utf-8"?>
<ds:datastoreItem xmlns:ds="http://schemas.openxmlformats.org/officeDocument/2006/customXml" ds:itemID="{D836F3F0-6A1F-4560-8A02-1FF261941956}"/>
</file>

<file path=docProps/app.xml><?xml version="1.0" encoding="utf-8"?>
<Properties xmlns="http://schemas.openxmlformats.org/officeDocument/2006/extended-properties" xmlns:vt="http://schemas.openxmlformats.org/officeDocument/2006/docPropsVTypes">
  <Template>Hashtables on ELO.potx</Template>
  <TotalTime>11130</TotalTime>
  <Words>1100</Words>
  <Application>Microsoft Macintosh PowerPoint</Application>
  <PresentationFormat>Diavoorstelling (4:3)</PresentationFormat>
  <Paragraphs>306</Paragraphs>
  <Slides>23</Slides>
  <Notes>4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23</vt:i4>
      </vt:variant>
    </vt:vector>
  </HeadingPairs>
  <TitlesOfParts>
    <vt:vector size="24" baseType="lpstr">
      <vt:lpstr>Hashtables on ELO</vt:lpstr>
      <vt:lpstr>PowerPoint-presentatie</vt:lpstr>
      <vt:lpstr> Lempel-Ziv-Welch (LZW) Compressie Algoritme</vt:lpstr>
      <vt:lpstr>Introduction to LZW</vt:lpstr>
      <vt:lpstr> Introduction to LZW (2)</vt:lpstr>
      <vt:lpstr>LZW algoritme</vt:lpstr>
      <vt:lpstr> LZW Encoding Algorithm</vt:lpstr>
      <vt:lpstr> Example 1: Compression using LZW</vt:lpstr>
      <vt:lpstr>Example 1: LZW Compression Step 1</vt:lpstr>
      <vt:lpstr>Example 1: LZW Compression Step 2</vt:lpstr>
      <vt:lpstr>Example 1: LZW Compression Step 3</vt:lpstr>
      <vt:lpstr>Example 1: LZW Compression Step 4</vt:lpstr>
      <vt:lpstr>Example 1: LZW Compression Step 5</vt:lpstr>
      <vt:lpstr> LZW Decompression</vt:lpstr>
      <vt:lpstr> LZW Decompression Algorithm</vt:lpstr>
      <vt:lpstr> Example 2: LZW Decompression 1</vt:lpstr>
      <vt:lpstr> Example 2: LZW Decompression Step 1</vt:lpstr>
      <vt:lpstr> Example 2: LZW Decompression Step 2</vt:lpstr>
      <vt:lpstr> Example 2: LZW Decompression Step 3</vt:lpstr>
      <vt:lpstr> Example 2: LZW Decompression Step 4</vt:lpstr>
      <vt:lpstr> Example 2: LZW Decompression Step 5</vt:lpstr>
      <vt:lpstr> LZW: Some Notes</vt:lpstr>
      <vt:lpstr> LZW: Limitations</vt:lpstr>
      <vt:lpstr>Exercises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1</dc:title>
  <dc:creator>UMW</dc:creator>
  <cp:lastModifiedBy>Alex van Manen</cp:lastModifiedBy>
  <cp:revision>122</cp:revision>
  <dcterms:created xsi:type="dcterms:W3CDTF">2013-08-26T08:11:19Z</dcterms:created>
  <dcterms:modified xsi:type="dcterms:W3CDTF">2018-02-14T14:41:02Z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0x010100D6492C47A9634448A67B6C0F4E203E71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2100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