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76" r:id="rId2"/>
    <p:sldId id="268" r:id="rId3"/>
    <p:sldId id="278" r:id="rId4"/>
    <p:sldId id="282" r:id="rId5"/>
    <p:sldId id="280" r:id="rId6"/>
    <p:sldId id="281" r:id="rId7"/>
    <p:sldId id="283" r:id="rId8"/>
    <p:sldId id="284" r:id="rId9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7E6E8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23114C"/>
              </a:solidFill>
              <a:prstDash val="solid"/>
              <a:round/>
            </a:ln>
          </a:top>
          <a:bottom>
            <a:ln w="25400" cap="flat">
              <a:solidFill>
                <a:srgbClr val="23114C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23114C"/>
              </a:solidFill>
              <a:prstDash val="solid"/>
              <a:round/>
            </a:ln>
          </a:top>
          <a:bottom>
            <a:ln w="25400" cap="flat">
              <a:solidFill>
                <a:srgbClr val="23114C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CACE"/>
          </a:solidFill>
        </a:fill>
      </a:tcStyle>
    </a:wholeTbl>
    <a:band2H>
      <a:tcTxStyle/>
      <a:tcStyle>
        <a:tcBdr/>
        <a:fill>
          <a:solidFill>
            <a:srgbClr val="E7E6E8"/>
          </a:solidFill>
        </a:fill>
      </a:tcStyle>
    </a:band2H>
    <a:firstCol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23114C"/>
          </a:solidFill>
        </a:fill>
      </a:tcStyle>
    </a:firstCol>
    <a:la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23114C"/>
          </a:solidFill>
        </a:fill>
      </a:tcStyle>
    </a:lastRow>
    <a:fir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23114C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solidFill>
                <a:srgbClr val="23114C"/>
              </a:solidFill>
              <a:prstDash val="solid"/>
              <a:round/>
            </a:ln>
          </a:left>
          <a:right>
            <a:ln w="12700" cap="flat">
              <a:solidFill>
                <a:srgbClr val="23114C"/>
              </a:solidFill>
              <a:prstDash val="solid"/>
              <a:round/>
            </a:ln>
          </a:right>
          <a:top>
            <a:ln w="12700" cap="flat">
              <a:solidFill>
                <a:srgbClr val="23114C"/>
              </a:solidFill>
              <a:prstDash val="solid"/>
              <a:round/>
            </a:ln>
          </a:top>
          <a:bottom>
            <a:ln w="12700" cap="flat">
              <a:solidFill>
                <a:srgbClr val="23114C"/>
              </a:solidFill>
              <a:prstDash val="solid"/>
              <a:round/>
            </a:ln>
          </a:bottom>
          <a:insideH>
            <a:ln w="12700" cap="flat">
              <a:solidFill>
                <a:srgbClr val="23114C"/>
              </a:solidFill>
              <a:prstDash val="solid"/>
              <a:round/>
            </a:ln>
          </a:insideH>
          <a:insideV>
            <a:ln w="12700" cap="flat">
              <a:solidFill>
                <a:srgbClr val="23114C"/>
              </a:solidFill>
              <a:prstDash val="solid"/>
              <a:round/>
            </a:ln>
          </a:insideV>
        </a:tcBdr>
        <a:fill>
          <a:solidFill>
            <a:srgbClr val="23114C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solidFill>
                <a:srgbClr val="23114C"/>
              </a:solidFill>
              <a:prstDash val="solid"/>
              <a:round/>
            </a:ln>
          </a:left>
          <a:right>
            <a:ln w="12700" cap="flat">
              <a:solidFill>
                <a:srgbClr val="23114C"/>
              </a:solidFill>
              <a:prstDash val="solid"/>
              <a:round/>
            </a:ln>
          </a:right>
          <a:top>
            <a:ln w="12700" cap="flat">
              <a:solidFill>
                <a:srgbClr val="23114C"/>
              </a:solidFill>
              <a:prstDash val="solid"/>
              <a:round/>
            </a:ln>
          </a:top>
          <a:bottom>
            <a:ln w="12700" cap="flat">
              <a:solidFill>
                <a:srgbClr val="23114C"/>
              </a:solidFill>
              <a:prstDash val="solid"/>
              <a:round/>
            </a:ln>
          </a:bottom>
          <a:insideH>
            <a:ln w="12700" cap="flat">
              <a:solidFill>
                <a:srgbClr val="23114C"/>
              </a:solidFill>
              <a:prstDash val="solid"/>
              <a:round/>
            </a:ln>
          </a:insideH>
          <a:insideV>
            <a:ln w="12700" cap="flat">
              <a:solidFill>
                <a:srgbClr val="23114C"/>
              </a:solidFill>
              <a:prstDash val="solid"/>
              <a:round/>
            </a:ln>
          </a:insideV>
        </a:tcBdr>
        <a:fill>
          <a:solidFill>
            <a:srgbClr val="23114C">
              <a:alpha val="20000"/>
            </a:srgbClr>
          </a:solidFill>
        </a:fill>
      </a:tcStyle>
    </a:firstCol>
    <a:lastRow>
      <a:tcTxStyle b="on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solidFill>
                <a:srgbClr val="23114C"/>
              </a:solidFill>
              <a:prstDash val="solid"/>
              <a:round/>
            </a:ln>
          </a:left>
          <a:right>
            <a:ln w="12700" cap="flat">
              <a:solidFill>
                <a:srgbClr val="23114C"/>
              </a:solidFill>
              <a:prstDash val="solid"/>
              <a:round/>
            </a:ln>
          </a:right>
          <a:top>
            <a:ln w="50800" cap="flat">
              <a:solidFill>
                <a:srgbClr val="23114C"/>
              </a:solidFill>
              <a:prstDash val="solid"/>
              <a:round/>
            </a:ln>
          </a:top>
          <a:bottom>
            <a:ln w="12700" cap="flat">
              <a:solidFill>
                <a:srgbClr val="23114C"/>
              </a:solidFill>
              <a:prstDash val="solid"/>
              <a:round/>
            </a:ln>
          </a:bottom>
          <a:insideH>
            <a:ln w="12700" cap="flat">
              <a:solidFill>
                <a:srgbClr val="23114C"/>
              </a:solidFill>
              <a:prstDash val="solid"/>
              <a:round/>
            </a:ln>
          </a:insideH>
          <a:insideV>
            <a:ln w="12700" cap="flat">
              <a:solidFill>
                <a:srgbClr val="23114C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solidFill>
                <a:srgbClr val="23114C"/>
              </a:solidFill>
              <a:prstDash val="solid"/>
              <a:round/>
            </a:ln>
          </a:left>
          <a:right>
            <a:ln w="12700" cap="flat">
              <a:solidFill>
                <a:srgbClr val="23114C"/>
              </a:solidFill>
              <a:prstDash val="solid"/>
              <a:round/>
            </a:ln>
          </a:right>
          <a:top>
            <a:ln w="12700" cap="flat">
              <a:solidFill>
                <a:srgbClr val="23114C"/>
              </a:solidFill>
              <a:prstDash val="solid"/>
              <a:round/>
            </a:ln>
          </a:top>
          <a:bottom>
            <a:ln w="25400" cap="flat">
              <a:solidFill>
                <a:srgbClr val="23114C"/>
              </a:solidFill>
              <a:prstDash val="solid"/>
              <a:round/>
            </a:ln>
          </a:bottom>
          <a:insideH>
            <a:ln w="12700" cap="flat">
              <a:solidFill>
                <a:srgbClr val="23114C"/>
              </a:solidFill>
              <a:prstDash val="solid"/>
              <a:round/>
            </a:ln>
          </a:insideH>
          <a:insideV>
            <a:ln w="12700" cap="flat">
              <a:solidFill>
                <a:srgbClr val="23114C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6" d="100"/>
          <a:sy n="116" d="100"/>
        </p:scale>
        <p:origin x="-128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0" name="Shape 8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02373898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ekstu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2.jpg" descr="HSLeiden PP Template Huisstijl leeg2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4" name="Shape 24"/>
          <p:cNvSpPr>
            <a:spLocks noGrp="1"/>
          </p:cNvSpPr>
          <p:nvPr>
            <p:ph type="body" sz="quarter" idx="1"/>
          </p:nvPr>
        </p:nvSpPr>
        <p:spPr>
          <a:xfrm>
            <a:off x="323031" y="476472"/>
            <a:ext cx="8353426" cy="57626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 marL="0" indent="0">
              <a:spcBef>
                <a:spcPts val="600"/>
              </a:spcBef>
              <a:buSzTx/>
              <a:buFontTx/>
              <a:buNone/>
              <a:defRPr sz="2800" b="1">
                <a:solidFill>
                  <a:srgbClr val="20BDBA"/>
                </a:solidFill>
              </a:defRPr>
            </a:lvl1pPr>
          </a:lstStyle>
          <a:p>
            <a:r>
              <a:t>[Hier komt de kop van de slide]</a:t>
            </a:r>
          </a:p>
        </p:txBody>
      </p:sp>
      <p:sp>
        <p:nvSpPr>
          <p:cNvPr id="25" name="Shape 25"/>
          <p:cNvSpPr>
            <a:spLocks noGrp="1"/>
          </p:cNvSpPr>
          <p:nvPr>
            <p:ph type="body" idx="13"/>
          </p:nvPr>
        </p:nvSpPr>
        <p:spPr>
          <a:xfrm>
            <a:off x="684212" y="1126256"/>
            <a:ext cx="7848601" cy="5327081"/>
          </a:xfrm>
          <a:prstGeom prst="rect">
            <a:avLst/>
          </a:prstGeom>
        </p:spPr>
        <p:txBody>
          <a:bodyPr/>
          <a:lstStyle/>
          <a:p>
            <a:pPr marL="176212" indent="-176212">
              <a:buSzTx/>
              <a:buFontTx/>
              <a:buNone/>
            </a:pPr>
            <a:endParaRPr/>
          </a:p>
        </p:txBody>
      </p:sp>
      <p:sp>
        <p:nvSpPr>
          <p:cNvPr id="26" name="Shape 2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ekstueel +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2.jpg" descr="HSLeiden PP Template Huisstijl leeg2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Shape 34"/>
          <p:cNvSpPr>
            <a:spLocks noGrp="1"/>
          </p:cNvSpPr>
          <p:nvPr>
            <p:ph type="body" sz="quarter" idx="1"/>
          </p:nvPr>
        </p:nvSpPr>
        <p:spPr>
          <a:xfrm>
            <a:off x="323031" y="476472"/>
            <a:ext cx="8353426" cy="57626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 marL="0" indent="0">
              <a:spcBef>
                <a:spcPts val="600"/>
              </a:spcBef>
              <a:buSzTx/>
              <a:buFontTx/>
              <a:buNone/>
              <a:defRPr sz="2800" b="1">
                <a:solidFill>
                  <a:srgbClr val="20BDBA"/>
                </a:solidFill>
              </a:defRPr>
            </a:lvl1pPr>
          </a:lstStyle>
          <a:p>
            <a:r>
              <a:t>[Hier komt de kop van de slide]</a:t>
            </a:r>
          </a:p>
        </p:txBody>
      </p:sp>
      <p:sp>
        <p:nvSpPr>
          <p:cNvPr id="35" name="Shape 35"/>
          <p:cNvSpPr>
            <a:spLocks noGrp="1"/>
          </p:cNvSpPr>
          <p:nvPr>
            <p:ph type="body" idx="13"/>
          </p:nvPr>
        </p:nvSpPr>
        <p:spPr>
          <a:xfrm>
            <a:off x="684212" y="1126256"/>
            <a:ext cx="7848601" cy="5327081"/>
          </a:xfrm>
          <a:prstGeom prst="rect">
            <a:avLst/>
          </a:prstGeom>
        </p:spPr>
        <p:txBody>
          <a:bodyPr/>
          <a:lstStyle/>
          <a:p>
            <a:pPr marL="176212" indent="-176212">
              <a:buSzTx/>
              <a:buFontTx/>
              <a:buNone/>
            </a:pPr>
            <a:endParaRPr/>
          </a:p>
        </p:txBody>
      </p:sp>
      <p:sp>
        <p:nvSpPr>
          <p:cNvPr id="36" name="Shape 36"/>
          <p:cNvSpPr>
            <a:spLocks noGrp="1"/>
          </p:cNvSpPr>
          <p:nvPr>
            <p:ph type="pic" sz="quarter" idx="14"/>
          </p:nvPr>
        </p:nvSpPr>
        <p:spPr>
          <a:xfrm>
            <a:off x="5651500" y="3365500"/>
            <a:ext cx="3492500" cy="34925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7" name="Shape 3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>
            <a:spLocks noGrp="1"/>
          </p:cNvSpPr>
          <p:nvPr>
            <p:ph type="title"/>
          </p:nvPr>
        </p:nvSpPr>
        <p:spPr>
          <a:xfrm>
            <a:off x="685800" y="2455068"/>
            <a:ext cx="7772400" cy="11025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anchor="b"/>
          <a:lstStyle>
            <a:lvl1pPr algn="ctr" defTabSz="1219200">
              <a:defRPr sz="3400" b="1"/>
            </a:lvl1pPr>
          </a:lstStyle>
          <a:p>
            <a:r>
              <a:t>Titeltekst</a:t>
            </a:r>
          </a:p>
        </p:txBody>
      </p:sp>
      <p:sp>
        <p:nvSpPr>
          <p:cNvPr id="52" name="Shape 52"/>
          <p:cNvSpPr>
            <a:spLocks noGrp="1"/>
          </p:cNvSpPr>
          <p:nvPr>
            <p:ph type="body" sz="quarter" idx="1"/>
          </p:nvPr>
        </p:nvSpPr>
        <p:spPr>
          <a:xfrm>
            <a:off x="1371600" y="3771900"/>
            <a:ext cx="6400800" cy="13144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 marL="0" indent="0" algn="ctr" defTabSz="1219200">
              <a:spcBef>
                <a:spcPts val="600"/>
              </a:spcBef>
              <a:buSzTx/>
              <a:buFontTx/>
              <a:buNone/>
              <a:defRPr sz="3200"/>
            </a:lvl1pPr>
            <a:lvl2pPr marL="0" indent="457200" algn="ctr" defTabSz="1219200">
              <a:spcBef>
                <a:spcPts val="600"/>
              </a:spcBef>
              <a:buSzTx/>
              <a:buFontTx/>
              <a:buNone/>
              <a:defRPr sz="3200"/>
            </a:lvl2pPr>
            <a:lvl3pPr marL="0" indent="914400" algn="ctr" defTabSz="1219200">
              <a:spcBef>
                <a:spcPts val="600"/>
              </a:spcBef>
              <a:buSzTx/>
              <a:buFontTx/>
              <a:buNone/>
              <a:defRPr sz="3200"/>
            </a:lvl3pPr>
            <a:lvl4pPr marL="0" indent="1371600" algn="ctr" defTabSz="1219200">
              <a:spcBef>
                <a:spcPts val="600"/>
              </a:spcBef>
              <a:buSzTx/>
              <a:buFontTx/>
              <a:buNone/>
              <a:defRPr sz="3200"/>
            </a:lvl4pPr>
            <a:lvl5pPr marL="0" indent="1828800" algn="ctr" defTabSz="1219200">
              <a:spcBef>
                <a:spcPts val="600"/>
              </a:spcBef>
              <a:buSzTx/>
              <a:buFontTx/>
              <a:buNone/>
              <a:defRPr sz="3200"/>
            </a:lvl5pPr>
          </a:lstStyle>
          <a:p>
            <a:r>
              <a:t>Hoofdtekst - niveau één</a:t>
            </a:r>
          </a:p>
          <a:p>
            <a:pPr lvl="1"/>
            <a:r>
              <a:t>Hoofdtekst - niveau twee</a:t>
            </a:r>
          </a:p>
          <a:p>
            <a:pPr lvl="2"/>
            <a:r>
              <a:t>Hoofdtekst - niveau drie</a:t>
            </a:r>
          </a:p>
          <a:p>
            <a:pPr lvl="3"/>
            <a:r>
              <a:t>Hoofdtekst - niveau vier</a:t>
            </a:r>
          </a:p>
          <a:p>
            <a:pPr lvl="4"/>
            <a:r>
              <a:t>Hoofdtekst - niveau vijf</a:t>
            </a:r>
          </a:p>
        </p:txBody>
      </p:sp>
      <p:sp>
        <p:nvSpPr>
          <p:cNvPr id="53" name="Shape 53"/>
          <p:cNvSpPr>
            <a:spLocks noGrp="1"/>
          </p:cNvSpPr>
          <p:nvPr>
            <p:ph type="sldNum" sz="quarter" idx="2"/>
          </p:nvPr>
        </p:nvSpPr>
        <p:spPr>
          <a:xfrm>
            <a:off x="6423888" y="5488305"/>
            <a:ext cx="258624" cy="269240"/>
          </a:xfrm>
          <a:prstGeom prst="rect">
            <a:avLst/>
          </a:prstGeom>
        </p:spPr>
        <p:txBody>
          <a:bodyPr/>
          <a:lstStyle>
            <a:lvl1pPr algn="ctr" defTabSz="1219200"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/>
          <p:nvPr/>
        </p:nvSpPr>
        <p:spPr>
          <a:xfrm>
            <a:off x="4643437" y="5749925"/>
            <a:ext cx="215901" cy="215900"/>
          </a:xfrm>
          <a:prstGeom prst="ellipse">
            <a:avLst/>
          </a:prstGeom>
          <a:solidFill>
            <a:srgbClr val="20BDBA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1219200">
              <a:defRPr sz="24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61" name="Shape 61"/>
          <p:cNvSpPr>
            <a:spLocks noGrp="1"/>
          </p:cNvSpPr>
          <p:nvPr>
            <p:ph type="title"/>
          </p:nvPr>
        </p:nvSpPr>
        <p:spPr>
          <a:xfrm>
            <a:off x="250825" y="1058862"/>
            <a:ext cx="8229600" cy="85725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 defTabSz="1219200">
              <a:defRPr sz="3400" b="1"/>
            </a:lvl1pPr>
          </a:lstStyle>
          <a:p>
            <a:r>
              <a:t>Titeltekst</a:t>
            </a:r>
          </a:p>
        </p:txBody>
      </p:sp>
      <p:sp>
        <p:nvSpPr>
          <p:cNvPr id="62" name="Shape 62"/>
          <p:cNvSpPr>
            <a:spLocks noGrp="1"/>
          </p:cNvSpPr>
          <p:nvPr>
            <p:ph type="body" idx="1"/>
          </p:nvPr>
        </p:nvSpPr>
        <p:spPr>
          <a:xfrm>
            <a:off x="538162" y="1771650"/>
            <a:ext cx="8229601" cy="32321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 marL="457200" indent="-457200" defTabSz="1219200">
              <a:spcBef>
                <a:spcPts val="600"/>
              </a:spcBef>
              <a:buChar char="»"/>
              <a:defRPr sz="3200"/>
            </a:lvl1pPr>
            <a:lvl2pPr marL="1010355" indent="-553155" defTabSz="1219200">
              <a:spcBef>
                <a:spcPts val="600"/>
              </a:spcBef>
              <a:buChar char="–"/>
              <a:defRPr sz="3200"/>
            </a:lvl2pPr>
            <a:lvl3pPr marL="1425222" indent="-510822" defTabSz="1219200">
              <a:spcBef>
                <a:spcPts val="600"/>
              </a:spcBef>
              <a:defRPr sz="3200"/>
            </a:lvl3pPr>
            <a:lvl4pPr marL="1944511" indent="-572911" defTabSz="1219200">
              <a:spcBef>
                <a:spcPts val="600"/>
              </a:spcBef>
              <a:buChar char="–"/>
              <a:defRPr sz="3200"/>
            </a:lvl4pPr>
            <a:lvl5pPr marL="2523066" indent="-694266" defTabSz="1219200">
              <a:spcBef>
                <a:spcPts val="600"/>
              </a:spcBef>
              <a:buChar char="»"/>
              <a:defRPr sz="3200"/>
            </a:lvl5pPr>
          </a:lstStyle>
          <a:p>
            <a:r>
              <a:t>Hoofdtekst - niveau één</a:t>
            </a:r>
          </a:p>
          <a:p>
            <a:pPr lvl="1"/>
            <a:r>
              <a:t>Hoofdtekst - niveau twee</a:t>
            </a:r>
          </a:p>
          <a:p>
            <a:pPr lvl="2"/>
            <a:r>
              <a:t>Hoofdtekst - niveau drie</a:t>
            </a:r>
          </a:p>
          <a:p>
            <a:pPr lvl="3"/>
            <a:r>
              <a:t>Hoofdtekst - niveau vier</a:t>
            </a:r>
          </a:p>
          <a:p>
            <a:pPr lvl="4"/>
            <a:r>
              <a:t>Hoofdtekst - niveau vijf</a:t>
            </a:r>
          </a:p>
        </p:txBody>
      </p:sp>
      <p:sp>
        <p:nvSpPr>
          <p:cNvPr id="63" name="Shape 63"/>
          <p:cNvSpPr>
            <a:spLocks noGrp="1"/>
          </p:cNvSpPr>
          <p:nvPr>
            <p:ph type="sldNum" sz="quarter" idx="2"/>
          </p:nvPr>
        </p:nvSpPr>
        <p:spPr>
          <a:xfrm>
            <a:off x="4634949" y="5704998"/>
            <a:ext cx="232877" cy="256541"/>
          </a:xfrm>
          <a:prstGeom prst="rect">
            <a:avLst/>
          </a:prstGeom>
        </p:spPr>
        <p:txBody>
          <a:bodyPr/>
          <a:lstStyle>
            <a:lvl1pPr algn="ctr" defTabSz="1219200">
              <a:defRPr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457200" y="92074"/>
            <a:ext cx="8229600" cy="1508127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endParaRPr/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endParaRPr/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4419600" y="6172200"/>
            <a:ext cx="21336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‹nr.›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1pPr>
      <a:lvl2pPr marL="742950" marR="0" indent="-28575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2pPr>
      <a:lvl3pPr marL="11430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3pPr>
      <a:lvl4pPr marL="16002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4pPr>
      <a:lvl5pPr marL="20574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5pPr>
      <a:lvl6pPr marL="25146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6pPr>
      <a:lvl7pPr marL="29718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7pPr>
      <a:lvl8pPr marL="34290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8pPr>
      <a:lvl9pPr marL="38862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/>
          <p:nvPr/>
        </p:nvSpPr>
        <p:spPr>
          <a:xfrm>
            <a:off x="322262" y="5210175"/>
            <a:ext cx="6121401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defTabSz="1219200">
              <a:defRPr sz="1600">
                <a:solidFill>
                  <a:srgbClr val="FFFFFF"/>
                </a:solidFill>
              </a:defRPr>
            </a:pPr>
            <a:r>
              <a:rPr lang="nl-NL" dirty="0" smtClean="0"/>
              <a:t>  </a:t>
            </a:r>
            <a:endParaRPr dirty="0"/>
          </a:p>
        </p:txBody>
      </p:sp>
      <p:sp>
        <p:nvSpPr>
          <p:cNvPr id="88" name="Shape 88"/>
          <p:cNvSpPr>
            <a:spLocks noGrp="1"/>
          </p:cNvSpPr>
          <p:nvPr>
            <p:ph type="title"/>
          </p:nvPr>
        </p:nvSpPr>
        <p:spPr>
          <a:xfrm>
            <a:off x="280987" y="69850"/>
            <a:ext cx="7772401" cy="1100138"/>
          </a:xfrm>
          <a:prstGeom prst="rect">
            <a:avLst/>
          </a:prstGeom>
        </p:spPr>
        <p:txBody>
          <a:bodyPr/>
          <a:lstStyle>
            <a:lvl1pPr algn="l">
              <a:defRPr sz="2800">
                <a:solidFill>
                  <a:srgbClr val="FFFFFF"/>
                </a:solidFill>
              </a:defRPr>
            </a:lvl1pPr>
          </a:lstStyle>
          <a:p>
            <a:r>
              <a:rPr dirty="0" err="1"/>
              <a:t>Algoritmen</a:t>
            </a:r>
            <a:r>
              <a:rPr dirty="0"/>
              <a:t> &amp; </a:t>
            </a:r>
            <a:r>
              <a:rPr dirty="0" err="1" smtClean="0"/>
              <a:t>Datastructure</a:t>
            </a:r>
            <a:r>
              <a:rPr lang="nl-NL" dirty="0" smtClean="0"/>
              <a:t>n</a:t>
            </a:r>
            <a:endParaRPr dirty="0"/>
          </a:p>
        </p:txBody>
      </p:sp>
      <p:sp>
        <p:nvSpPr>
          <p:cNvPr id="89" name="Shape 89"/>
          <p:cNvSpPr>
            <a:spLocks noGrp="1"/>
          </p:cNvSpPr>
          <p:nvPr>
            <p:ph type="body" sz="quarter" idx="1"/>
          </p:nvPr>
        </p:nvSpPr>
        <p:spPr>
          <a:xfrm>
            <a:off x="330200" y="3429000"/>
            <a:ext cx="6400800" cy="1314450"/>
          </a:xfrm>
          <a:prstGeom prst="rect">
            <a:avLst/>
          </a:prstGeom>
        </p:spPr>
        <p:txBody>
          <a:bodyPr/>
          <a:lstStyle/>
          <a:p>
            <a:pPr algn="l" defTabSz="1133855">
              <a:spcBef>
                <a:spcPts val="400"/>
              </a:spcBef>
              <a:defRPr sz="2418">
                <a:solidFill>
                  <a:srgbClr val="FFFFFF"/>
                </a:solidFill>
              </a:defRPr>
            </a:pPr>
            <a:r>
              <a:rPr lang="nl-NL" dirty="0" smtClean="0"/>
              <a:t>Sorteren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0326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 xmlns:p14="http://schemas.microsoft.com/office/powerpoint/2010/main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>
            <a:spLocks noGrp="1"/>
          </p:cNvSpPr>
          <p:nvPr>
            <p:ph type="sldNum" sz="quarter" idx="4294967295"/>
          </p:nvPr>
        </p:nvSpPr>
        <p:spPr>
          <a:xfrm>
            <a:off x="4634949" y="5704998"/>
            <a:ext cx="232877" cy="2565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 algn="ctr" defTabSz="1219200">
              <a:defRPr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2</a:t>
            </a:fld>
            <a:endParaRPr/>
          </a:p>
        </p:txBody>
      </p:sp>
      <p:sp>
        <p:nvSpPr>
          <p:cNvPr id="140" name="Shape 140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>
              <a:buSzTx/>
              <a:buNone/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dirty="0" err="1" smtClean="0"/>
              <a:t>Monkey</a:t>
            </a:r>
            <a:r>
              <a:rPr lang="nl-NL" dirty="0" smtClean="0"/>
              <a:t> </a:t>
            </a:r>
            <a:r>
              <a:rPr lang="nl-NL" dirty="0" err="1" smtClean="0"/>
              <a:t>sort</a:t>
            </a:r>
            <a:endParaRPr lang="nl-NL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dirty="0" err="1" smtClean="0"/>
              <a:t>Bubble</a:t>
            </a:r>
            <a:r>
              <a:rPr lang="nl-NL" dirty="0" smtClean="0"/>
              <a:t> </a:t>
            </a:r>
            <a:r>
              <a:rPr lang="nl-NL" dirty="0" err="1" smtClean="0"/>
              <a:t>sort</a:t>
            </a:r>
            <a:endParaRPr lang="nl-NL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dirty="0" err="1" smtClean="0"/>
              <a:t>Selection</a:t>
            </a:r>
            <a:r>
              <a:rPr lang="nl-NL" dirty="0" smtClean="0"/>
              <a:t> </a:t>
            </a:r>
            <a:r>
              <a:rPr lang="nl-NL" dirty="0" err="1" smtClean="0"/>
              <a:t>sort</a:t>
            </a:r>
            <a:endParaRPr lang="nl-NL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dirty="0" smtClean="0"/>
              <a:t>Quick </a:t>
            </a:r>
            <a:r>
              <a:rPr lang="nl-NL" dirty="0" err="1" smtClean="0"/>
              <a:t>sort</a:t>
            </a:r>
            <a:endParaRPr lang="nl-NL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dirty="0" err="1" smtClean="0"/>
              <a:t>Merge</a:t>
            </a:r>
            <a:r>
              <a:rPr lang="nl-NL" dirty="0" smtClean="0"/>
              <a:t> </a:t>
            </a:r>
            <a:r>
              <a:rPr lang="nl-NL" dirty="0" err="1" smtClean="0"/>
              <a:t>sort</a:t>
            </a:r>
            <a:endParaRPr lang="nl-NL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dirty="0" err="1" smtClean="0"/>
              <a:t>Heap</a:t>
            </a:r>
            <a:r>
              <a:rPr lang="nl-NL" dirty="0" smtClean="0"/>
              <a:t> </a:t>
            </a:r>
            <a:r>
              <a:rPr lang="nl-NL" dirty="0" err="1" smtClean="0"/>
              <a:t>sort</a:t>
            </a:r>
            <a:endParaRPr lang="nl-NL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141" name="Shape 141"/>
          <p:cNvSpPr>
            <a:spLocks noGrp="1"/>
          </p:cNvSpPr>
          <p:nvPr>
            <p:ph type="title"/>
          </p:nvPr>
        </p:nvSpPr>
        <p:spPr>
          <a:xfrm>
            <a:off x="250825" y="309562"/>
            <a:ext cx="8229600" cy="857251"/>
          </a:xfrm>
          <a:prstGeom prst="rect">
            <a:avLst/>
          </a:prstGeom>
        </p:spPr>
        <p:txBody>
          <a:bodyPr/>
          <a:lstStyle/>
          <a:p>
            <a:r>
              <a:rPr lang="nl-NL" dirty="0" smtClean="0"/>
              <a:t>Sorteeralgoritmen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 xmlns:p14="http://schemas.microsoft.com/office/powerpoint/2010/main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>
            <a:spLocks noGrp="1"/>
          </p:cNvSpPr>
          <p:nvPr>
            <p:ph type="sldNum" sz="quarter" idx="4294967295"/>
          </p:nvPr>
        </p:nvSpPr>
        <p:spPr>
          <a:xfrm>
            <a:off x="4634949" y="5704998"/>
            <a:ext cx="232877" cy="2565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 algn="ctr" defTabSz="1219200">
              <a:defRPr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3</a:t>
            </a:fld>
            <a:endParaRPr/>
          </a:p>
        </p:txBody>
      </p:sp>
      <p:sp>
        <p:nvSpPr>
          <p:cNvPr id="140" name="Shape 140"/>
          <p:cNvSpPr>
            <a:spLocks noGrp="1"/>
          </p:cNvSpPr>
          <p:nvPr>
            <p:ph type="body" idx="1"/>
          </p:nvPr>
        </p:nvSpPr>
        <p:spPr>
          <a:xfrm>
            <a:off x="538162" y="1458613"/>
            <a:ext cx="8229601" cy="32321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None/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700" dirty="0" smtClean="0"/>
              <a:t>Gooi een lijst met getallen willekeurig door de war. Is deze nog niet gesorteerd, begin dan opnieuw.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700" dirty="0" smtClean="0"/>
              <a:t>Je kunt mazzel hebben bij de eerste iteratie.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700" dirty="0" smtClean="0"/>
              <a:t>Complexiteit O(?)</a:t>
            </a:r>
          </a:p>
          <a:p>
            <a:pPr marL="1467555" lvl="1" indent="-457200">
              <a:buFont typeface="Arial" panose="020B0604020202020204" pitchFamily="34" charset="0"/>
              <a:buChar char="•"/>
            </a:pPr>
            <a:r>
              <a:rPr lang="nl-NL" sz="2700" dirty="0" smtClean="0"/>
              <a:t>worst case = nooit stoppen</a:t>
            </a:r>
            <a:endParaRPr sz="2700" dirty="0"/>
          </a:p>
        </p:txBody>
      </p:sp>
      <p:sp>
        <p:nvSpPr>
          <p:cNvPr id="141" name="Shape 141"/>
          <p:cNvSpPr>
            <a:spLocks noGrp="1"/>
          </p:cNvSpPr>
          <p:nvPr>
            <p:ph type="title"/>
          </p:nvPr>
        </p:nvSpPr>
        <p:spPr>
          <a:xfrm>
            <a:off x="250825" y="309562"/>
            <a:ext cx="8229600" cy="857251"/>
          </a:xfrm>
          <a:prstGeom prst="rect">
            <a:avLst/>
          </a:prstGeom>
        </p:spPr>
        <p:txBody>
          <a:bodyPr/>
          <a:lstStyle/>
          <a:p>
            <a:r>
              <a:rPr lang="nl-NL" dirty="0" err="1" smtClean="0"/>
              <a:t>Monkey</a:t>
            </a:r>
            <a:r>
              <a:rPr lang="nl-NL" dirty="0" smtClean="0"/>
              <a:t> </a:t>
            </a:r>
            <a:r>
              <a:rPr lang="nl-NL" dirty="0" err="1" smtClean="0"/>
              <a:t>sort</a:t>
            </a:r>
            <a:r>
              <a:rPr lang="nl-NL" dirty="0" smtClean="0"/>
              <a:t> (</a:t>
            </a:r>
            <a:r>
              <a:rPr lang="nl-NL" dirty="0" err="1" smtClean="0"/>
              <a:t>Bogosort</a:t>
            </a:r>
            <a:r>
              <a:rPr lang="nl-NL" dirty="0" smtClean="0"/>
              <a:t>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54900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 xmlns:p14="http://schemas.microsoft.com/office/powerpoint/2010/main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>
            <a:spLocks noGrp="1"/>
          </p:cNvSpPr>
          <p:nvPr>
            <p:ph type="sldNum" sz="quarter" idx="4294967295"/>
          </p:nvPr>
        </p:nvSpPr>
        <p:spPr>
          <a:xfrm>
            <a:off x="4634949" y="5704998"/>
            <a:ext cx="232877" cy="2565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 algn="ctr" defTabSz="1219200">
              <a:defRPr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4</a:t>
            </a:fld>
            <a:endParaRPr/>
          </a:p>
        </p:txBody>
      </p:sp>
      <p:sp>
        <p:nvSpPr>
          <p:cNvPr id="140" name="Shape 140"/>
          <p:cNvSpPr>
            <a:spLocks noGrp="1"/>
          </p:cNvSpPr>
          <p:nvPr>
            <p:ph type="body" idx="1"/>
          </p:nvPr>
        </p:nvSpPr>
        <p:spPr>
          <a:xfrm>
            <a:off x="538162" y="1458613"/>
            <a:ext cx="8229601" cy="32321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None/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700" dirty="0" smtClean="0"/>
              <a:t>Loop door de elementen in een lijst, vergelijk elk paar. Als 2 getallen verkeerd om staan, dan swap je ze.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700" dirty="0" smtClean="0"/>
              <a:t>Werkt snel als je lijst al bijna gesorteerd is.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700" dirty="0" smtClean="0"/>
              <a:t>Makkelijk te programmeren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700" dirty="0" smtClean="0"/>
              <a:t>Is niet recursief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700" dirty="0" smtClean="0"/>
              <a:t>Complexiteit O(n</a:t>
            </a:r>
            <a:r>
              <a:rPr lang="nl-NL" sz="2700" baseline="30000" dirty="0" smtClean="0"/>
              <a:t>2</a:t>
            </a:r>
            <a:r>
              <a:rPr lang="nl-NL" sz="2700" dirty="0" smtClean="0"/>
              <a:t>)</a:t>
            </a:r>
            <a:endParaRPr sz="2700" dirty="0"/>
          </a:p>
        </p:txBody>
      </p:sp>
      <p:sp>
        <p:nvSpPr>
          <p:cNvPr id="141" name="Shape 141"/>
          <p:cNvSpPr>
            <a:spLocks noGrp="1"/>
          </p:cNvSpPr>
          <p:nvPr>
            <p:ph type="title"/>
          </p:nvPr>
        </p:nvSpPr>
        <p:spPr>
          <a:xfrm>
            <a:off x="250825" y="309562"/>
            <a:ext cx="8229600" cy="857251"/>
          </a:xfrm>
          <a:prstGeom prst="rect">
            <a:avLst/>
          </a:prstGeom>
        </p:spPr>
        <p:txBody>
          <a:bodyPr/>
          <a:lstStyle/>
          <a:p>
            <a:r>
              <a:rPr lang="nl-NL" dirty="0" err="1" smtClean="0"/>
              <a:t>Bubble</a:t>
            </a:r>
            <a:r>
              <a:rPr lang="nl-NL" dirty="0" smtClean="0"/>
              <a:t> </a:t>
            </a:r>
            <a:r>
              <a:rPr lang="nl-NL" dirty="0" err="1" smtClean="0"/>
              <a:t>sort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14017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 xmlns:p14="http://schemas.microsoft.com/office/powerpoint/2010/main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>
            <a:spLocks noGrp="1"/>
          </p:cNvSpPr>
          <p:nvPr>
            <p:ph type="sldNum" sz="quarter" idx="4294967295"/>
          </p:nvPr>
        </p:nvSpPr>
        <p:spPr>
          <a:xfrm>
            <a:off x="4634949" y="5704998"/>
            <a:ext cx="232877" cy="2565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 algn="ctr" defTabSz="1219200">
              <a:defRPr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5</a:t>
            </a:fld>
            <a:endParaRPr/>
          </a:p>
        </p:txBody>
      </p:sp>
      <p:sp>
        <p:nvSpPr>
          <p:cNvPr id="140" name="Shape 140"/>
          <p:cNvSpPr>
            <a:spLocks noGrp="1"/>
          </p:cNvSpPr>
          <p:nvPr>
            <p:ph type="body" idx="1"/>
          </p:nvPr>
        </p:nvSpPr>
        <p:spPr>
          <a:xfrm>
            <a:off x="538162" y="1458612"/>
            <a:ext cx="8229601" cy="360765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None/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700" dirty="0" smtClean="0"/>
              <a:t>Loop door de lijst, zoek het grootste getal. Die zet je achteraan. Dan begin je opnieuw met het restant van je lijst.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700" dirty="0" smtClean="0"/>
              <a:t>Weinig bewerkingen op je lijst.</a:t>
            </a:r>
            <a:endParaRPr lang="nl-NL" sz="27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700" dirty="0" smtClean="0"/>
              <a:t>Makkelijk te programmeren.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700" dirty="0" smtClean="0"/>
              <a:t>Is niet recursief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700" dirty="0" smtClean="0"/>
              <a:t>Complexiteit O(n</a:t>
            </a:r>
            <a:r>
              <a:rPr lang="nl-NL" sz="2700" baseline="30000" dirty="0" smtClean="0"/>
              <a:t>2</a:t>
            </a:r>
            <a:r>
              <a:rPr lang="nl-NL" sz="2700" dirty="0" smtClean="0"/>
              <a:t>)</a:t>
            </a:r>
            <a:endParaRPr sz="2700" dirty="0"/>
          </a:p>
        </p:txBody>
      </p:sp>
      <p:sp>
        <p:nvSpPr>
          <p:cNvPr id="141" name="Shape 141"/>
          <p:cNvSpPr>
            <a:spLocks noGrp="1"/>
          </p:cNvSpPr>
          <p:nvPr>
            <p:ph type="title"/>
          </p:nvPr>
        </p:nvSpPr>
        <p:spPr>
          <a:xfrm>
            <a:off x="250825" y="309562"/>
            <a:ext cx="8229600" cy="857251"/>
          </a:xfrm>
          <a:prstGeom prst="rect">
            <a:avLst/>
          </a:prstGeom>
        </p:spPr>
        <p:txBody>
          <a:bodyPr/>
          <a:lstStyle/>
          <a:p>
            <a:r>
              <a:rPr lang="nl-NL" dirty="0" err="1" smtClean="0"/>
              <a:t>Selection</a:t>
            </a:r>
            <a:r>
              <a:rPr lang="nl-NL" dirty="0" smtClean="0"/>
              <a:t> </a:t>
            </a:r>
            <a:r>
              <a:rPr lang="nl-NL" dirty="0" err="1" smtClean="0"/>
              <a:t>sort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61014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 xmlns:p14="http://schemas.microsoft.com/office/powerpoint/2010/main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>
            <a:spLocks noGrp="1"/>
          </p:cNvSpPr>
          <p:nvPr>
            <p:ph type="sldNum" sz="quarter" idx="4294967295"/>
          </p:nvPr>
        </p:nvSpPr>
        <p:spPr>
          <a:xfrm>
            <a:off x="4634949" y="5704998"/>
            <a:ext cx="232877" cy="2565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 algn="ctr" defTabSz="1219200">
              <a:defRPr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6</a:t>
            </a:fld>
            <a:endParaRPr/>
          </a:p>
        </p:txBody>
      </p:sp>
      <p:sp>
        <p:nvSpPr>
          <p:cNvPr id="140" name="Shape 140"/>
          <p:cNvSpPr>
            <a:spLocks noGrp="1"/>
          </p:cNvSpPr>
          <p:nvPr>
            <p:ph type="body" idx="1"/>
          </p:nvPr>
        </p:nvSpPr>
        <p:spPr>
          <a:xfrm>
            <a:off x="538162" y="1458612"/>
            <a:ext cx="8229601" cy="360765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None/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700" dirty="0" smtClean="0"/>
              <a:t>Splits je lijst op een pivot: links alles wat kleiner is, rechts alles wat groter is. Dan sorteer je het linker- en rechterdeel recursief.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700" dirty="0" smtClean="0"/>
              <a:t>Is recursief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700" dirty="0" smtClean="0"/>
              <a:t>Ondanks de naam: niet heel snel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700" dirty="0" smtClean="0"/>
              <a:t>Complexiteit O(n</a:t>
            </a:r>
            <a:r>
              <a:rPr lang="nl-NL" sz="2700" baseline="30000" dirty="0" smtClean="0"/>
              <a:t>2</a:t>
            </a:r>
            <a:r>
              <a:rPr lang="nl-NL" sz="2700" dirty="0" smtClean="0"/>
              <a:t>)</a:t>
            </a:r>
            <a:endParaRPr sz="2700" dirty="0"/>
          </a:p>
        </p:txBody>
      </p:sp>
      <p:sp>
        <p:nvSpPr>
          <p:cNvPr id="141" name="Shape 141"/>
          <p:cNvSpPr>
            <a:spLocks noGrp="1"/>
          </p:cNvSpPr>
          <p:nvPr>
            <p:ph type="title"/>
          </p:nvPr>
        </p:nvSpPr>
        <p:spPr>
          <a:xfrm>
            <a:off x="250825" y="309562"/>
            <a:ext cx="8229600" cy="857251"/>
          </a:xfrm>
          <a:prstGeom prst="rect">
            <a:avLst/>
          </a:prstGeom>
        </p:spPr>
        <p:txBody>
          <a:bodyPr/>
          <a:lstStyle/>
          <a:p>
            <a:r>
              <a:rPr lang="nl-NL" dirty="0" err="1" smtClean="0"/>
              <a:t>Quicksort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85796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 xmlns:p14="http://schemas.microsoft.com/office/powerpoint/2010/main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>
            <a:spLocks noGrp="1"/>
          </p:cNvSpPr>
          <p:nvPr>
            <p:ph type="sldNum" sz="quarter" idx="4294967295"/>
          </p:nvPr>
        </p:nvSpPr>
        <p:spPr>
          <a:xfrm>
            <a:off x="4634949" y="5704998"/>
            <a:ext cx="232877" cy="2565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 algn="ctr" defTabSz="1219200">
              <a:defRPr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7</a:t>
            </a:fld>
            <a:endParaRPr/>
          </a:p>
        </p:txBody>
      </p:sp>
      <p:sp>
        <p:nvSpPr>
          <p:cNvPr id="140" name="Shape 140"/>
          <p:cNvSpPr>
            <a:spLocks noGrp="1"/>
          </p:cNvSpPr>
          <p:nvPr>
            <p:ph type="body" idx="1"/>
          </p:nvPr>
        </p:nvSpPr>
        <p:spPr>
          <a:xfrm>
            <a:off x="538162" y="1458612"/>
            <a:ext cx="8229601" cy="360765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None/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700" dirty="0" smtClean="0"/>
              <a:t>Bestaat uit 2 fasen: eerst knip je steeds je lijst door de helft, tot je losse getallen hebt.</a:t>
            </a:r>
            <a:br>
              <a:rPr lang="nl-NL" sz="2700" dirty="0" smtClean="0"/>
            </a:br>
            <a:r>
              <a:rPr lang="nl-NL" sz="2700" dirty="0" smtClean="0"/>
              <a:t>Daarna </a:t>
            </a:r>
            <a:r>
              <a:rPr lang="nl-NL" sz="2700" dirty="0" err="1" smtClean="0"/>
              <a:t>merge</a:t>
            </a:r>
            <a:r>
              <a:rPr lang="nl-NL" sz="2700" dirty="0" smtClean="0"/>
              <a:t> en sorteer je de losse stukken teru</a:t>
            </a:r>
            <a:r>
              <a:rPr lang="nl-NL" sz="2700" dirty="0" smtClean="0"/>
              <a:t>g naar 1 lijst.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700" dirty="0" smtClean="0"/>
              <a:t>Is </a:t>
            </a:r>
            <a:r>
              <a:rPr lang="nl-NL" sz="2700" dirty="0" smtClean="0"/>
              <a:t>recursief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700" dirty="0" smtClean="0"/>
              <a:t>Complexiteit </a:t>
            </a:r>
            <a:r>
              <a:rPr lang="nl-NL" sz="2700" dirty="0"/>
              <a:t>O(n log(n))</a:t>
            </a:r>
          </a:p>
        </p:txBody>
      </p:sp>
      <p:sp>
        <p:nvSpPr>
          <p:cNvPr id="141" name="Shape 141"/>
          <p:cNvSpPr>
            <a:spLocks noGrp="1"/>
          </p:cNvSpPr>
          <p:nvPr>
            <p:ph type="title"/>
          </p:nvPr>
        </p:nvSpPr>
        <p:spPr>
          <a:xfrm>
            <a:off x="250825" y="309562"/>
            <a:ext cx="8229600" cy="857251"/>
          </a:xfrm>
          <a:prstGeom prst="rect">
            <a:avLst/>
          </a:prstGeom>
        </p:spPr>
        <p:txBody>
          <a:bodyPr/>
          <a:lstStyle/>
          <a:p>
            <a:r>
              <a:rPr lang="nl-NL" dirty="0" err="1" smtClean="0"/>
              <a:t>Mergesort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6465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 xmlns:p14="http://schemas.microsoft.com/office/powerpoint/2010/main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>
            <a:spLocks noGrp="1"/>
          </p:cNvSpPr>
          <p:nvPr>
            <p:ph type="sldNum" sz="quarter" idx="4294967295"/>
          </p:nvPr>
        </p:nvSpPr>
        <p:spPr>
          <a:xfrm>
            <a:off x="4634949" y="5704998"/>
            <a:ext cx="232877" cy="2565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 algn="ctr" defTabSz="1219200">
              <a:defRPr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8</a:t>
            </a:fld>
            <a:endParaRPr/>
          </a:p>
        </p:txBody>
      </p:sp>
      <p:sp>
        <p:nvSpPr>
          <p:cNvPr id="140" name="Shape 140"/>
          <p:cNvSpPr>
            <a:spLocks noGrp="1"/>
          </p:cNvSpPr>
          <p:nvPr>
            <p:ph type="body" idx="1"/>
          </p:nvPr>
        </p:nvSpPr>
        <p:spPr>
          <a:xfrm>
            <a:off x="538162" y="1458612"/>
            <a:ext cx="8229601" cy="360765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None/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700" dirty="0" smtClean="0"/>
              <a:t>Bouw een max-</a:t>
            </a:r>
            <a:r>
              <a:rPr lang="nl-NL" sz="2700" dirty="0" err="1" smtClean="0"/>
              <a:t>heap</a:t>
            </a:r>
            <a:r>
              <a:rPr lang="nl-NL" sz="2700" dirty="0" smtClean="0"/>
              <a:t> van je lijst. Pluk steeds het grootste element uit de </a:t>
            </a:r>
            <a:r>
              <a:rPr lang="nl-NL" sz="2700" dirty="0" err="1" smtClean="0"/>
              <a:t>heap</a:t>
            </a:r>
            <a:r>
              <a:rPr lang="nl-NL" sz="2700" dirty="0" smtClean="0"/>
              <a:t> en zet achterin je lijst.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700" dirty="0" smtClean="0"/>
              <a:t>Gebruikt de eigenschappen van een </a:t>
            </a:r>
            <a:r>
              <a:rPr lang="nl-NL" sz="2700" dirty="0" err="1" smtClean="0"/>
              <a:t>heap</a:t>
            </a:r>
            <a:r>
              <a:rPr lang="nl-NL" sz="2700" dirty="0" smtClean="0"/>
              <a:t> om snel te kunnen sorteren.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700" dirty="0" smtClean="0"/>
              <a:t>Complexiteit O(n log(n))</a:t>
            </a:r>
            <a:endParaRPr sz="2700" dirty="0"/>
          </a:p>
        </p:txBody>
      </p:sp>
      <p:sp>
        <p:nvSpPr>
          <p:cNvPr id="141" name="Shape 141"/>
          <p:cNvSpPr>
            <a:spLocks noGrp="1"/>
          </p:cNvSpPr>
          <p:nvPr>
            <p:ph type="title"/>
          </p:nvPr>
        </p:nvSpPr>
        <p:spPr>
          <a:xfrm>
            <a:off x="250825" y="309562"/>
            <a:ext cx="8229600" cy="857251"/>
          </a:xfrm>
          <a:prstGeom prst="rect">
            <a:avLst/>
          </a:prstGeom>
        </p:spPr>
        <p:txBody>
          <a:bodyPr/>
          <a:lstStyle/>
          <a:p>
            <a:r>
              <a:rPr lang="nl-NL" dirty="0" err="1" smtClean="0"/>
              <a:t>Heapsort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99035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 xmlns:p14="http://schemas.microsoft.com/office/powerpoint/2010/main">
        <p:cut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ashtables on ELO">
  <a:themeElements>
    <a:clrScheme name="Hashtables on ELO">
      <a:dk1>
        <a:srgbClr val="23114C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Hashtables on ELO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Hashtables on EL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23114C"/>
            </a:solidFill>
            <a:effectLst/>
            <a:uFillTx/>
            <a:latin typeface="Verdana"/>
            <a:ea typeface="Verdana"/>
            <a:cs typeface="Verdana"/>
            <a:sym typeface="Verdan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23114C"/>
            </a:solidFill>
            <a:effectLst/>
            <a:uFillTx/>
            <a:latin typeface="Verdana"/>
            <a:ea typeface="Verdana"/>
            <a:cs typeface="Verdana"/>
            <a:sym typeface="Verdan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Hashtables on ELO">
  <a:themeElements>
    <a:clrScheme name="Hashtables on ELO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Hashtables on ELO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Hashtables on EL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23114C"/>
            </a:solidFill>
            <a:effectLst/>
            <a:uFillTx/>
            <a:latin typeface="Verdana"/>
            <a:ea typeface="Verdana"/>
            <a:cs typeface="Verdana"/>
            <a:sym typeface="Verdan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23114C"/>
            </a:solidFill>
            <a:effectLst/>
            <a:uFillTx/>
            <a:latin typeface="Verdana"/>
            <a:ea typeface="Verdana"/>
            <a:cs typeface="Verdana"/>
            <a:sym typeface="Verdan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6492C47A9634448A67B6C0F4E203E71" ma:contentTypeVersion="3" ma:contentTypeDescription="Een nieuw document maken." ma:contentTypeScope="" ma:versionID="6718b5531c9594f0118ad4d948279b35">
  <xsd:schema xmlns:xsd="http://www.w3.org/2001/XMLSchema" xmlns:xs="http://www.w3.org/2001/XMLSchema" xmlns:p="http://schemas.microsoft.com/office/2006/metadata/properties" xmlns:ns2="a158c91d-1665-465e-9b38-ca2a7ebcd6da" targetNamespace="http://schemas.microsoft.com/office/2006/metadata/properties" ma:root="true" ma:fieldsID="52e0feb564d94f319910592251323171" ns2:_="">
    <xsd:import namespace="a158c91d-1665-465e-9b38-ca2a7ebcd6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58c91d-1665-465e-9b38-ca2a7ebcd6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C3B0AC6-E81B-4DF2-BD8A-B97E4970BDA3}"/>
</file>

<file path=customXml/itemProps2.xml><?xml version="1.0" encoding="utf-8"?>
<ds:datastoreItem xmlns:ds="http://schemas.openxmlformats.org/officeDocument/2006/customXml" ds:itemID="{2F1B1FC0-4392-4EAF-B40B-0799454085B1}"/>
</file>

<file path=customXml/itemProps3.xml><?xml version="1.0" encoding="utf-8"?>
<ds:datastoreItem xmlns:ds="http://schemas.openxmlformats.org/officeDocument/2006/customXml" ds:itemID="{48BFF2E3-EF10-43AB-9023-E700EA628CEE}"/>
</file>

<file path=docProps/app.xml><?xml version="1.0" encoding="utf-8"?>
<Properties xmlns="http://schemas.openxmlformats.org/officeDocument/2006/extended-properties" xmlns:vt="http://schemas.openxmlformats.org/officeDocument/2006/docPropsVTypes">
  <TotalTime>420</TotalTime>
  <Words>258</Words>
  <Application>Microsoft Office PowerPoint</Application>
  <PresentationFormat>Diavoorstelling (4:3)</PresentationFormat>
  <Paragraphs>47</Paragraphs>
  <Slides>8</Slides>
  <Notes>0</Notes>
  <HiddenSlides>0</HiddenSlides>
  <MMClips>0</MMClips>
  <ScaleCrop>false</ScaleCrop>
  <HeadingPairs>
    <vt:vector size="4" baseType="variant">
      <vt:variant>
        <vt:lpstr>Thema</vt:lpstr>
      </vt:variant>
      <vt:variant>
        <vt:i4>1</vt:i4>
      </vt:variant>
      <vt:variant>
        <vt:lpstr>Diatitels</vt:lpstr>
      </vt:variant>
      <vt:variant>
        <vt:i4>8</vt:i4>
      </vt:variant>
    </vt:vector>
  </HeadingPairs>
  <TitlesOfParts>
    <vt:vector size="9" baseType="lpstr">
      <vt:lpstr>Hashtables on ELO</vt:lpstr>
      <vt:lpstr>Algoritmen &amp; Datastructuren</vt:lpstr>
      <vt:lpstr>Sorteeralgoritmen</vt:lpstr>
      <vt:lpstr>Monkey sort (Bogosort)</vt:lpstr>
      <vt:lpstr>Bubble sort</vt:lpstr>
      <vt:lpstr>Selection sort</vt:lpstr>
      <vt:lpstr>Quicksort</vt:lpstr>
      <vt:lpstr>Mergesort</vt:lpstr>
      <vt:lpstr>Heapsort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Algoritmen &amp; Datastructuren 1 (iad1)</dc:title>
  <cp:lastModifiedBy>Charlotte Ipema</cp:lastModifiedBy>
  <cp:revision>62</cp:revision>
  <dcterms:modified xsi:type="dcterms:W3CDTF">2018-01-31T13:54:51Z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0x010100D6492C47A9634448A67B6C0F4E203E71</vt:lpwstr>
  </property>
  <property fmtid="{D5CDD505-2E9C-101B-9397-08002B2CF9AE}" pid="3" name="EducationCourse">
    <vt:lpwstr/>
  </property>
  <property fmtid="{D5CDD505-2E9C-101B-9397-08002B2CF9AE}" pid="4" name="EducationYear">
    <vt:lpwstr/>
  </property>
  <property fmtid="{D5CDD505-2E9C-101B-9397-08002B2CF9AE}" pid="5" name="Order">
    <vt:r8>1300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TriggerFlowInfo">
    <vt:lpwstr/>
  </property>
  <property fmtid="{D5CDD505-2E9C-101B-9397-08002B2CF9AE}" pid="9" name="_SourceUrl">
    <vt:lpwstr/>
  </property>
  <property fmtid="{D5CDD505-2E9C-101B-9397-08002B2CF9AE}" pid="10" name="_SharedFileIndex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_ExtendedDescription">
    <vt:lpwstr/>
  </property>
</Properties>
</file>