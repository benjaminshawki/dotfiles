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2"/>
  </p:sldMasterIdLst>
  <p:notesMasterIdLst>
    <p:notesMasterId r:id="rId16"/>
  </p:notesMasterIdLst>
  <p:sldIdLst>
    <p:sldId id="286" r:id="rId3"/>
    <p:sldId id="276" r:id="rId4"/>
    <p:sldId id="259" r:id="rId5"/>
    <p:sldId id="287" r:id="rId6"/>
    <p:sldId id="260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6E8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23114C"/>
              </a:solidFill>
              <a:prstDash val="solid"/>
              <a:round/>
            </a:ln>
          </a:top>
          <a:bottom>
            <a:ln w="254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23114C"/>
              </a:solidFill>
              <a:prstDash val="solid"/>
              <a:round/>
            </a:ln>
          </a:top>
          <a:bottom>
            <a:ln w="254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CACE"/>
          </a:solidFill>
        </a:fill>
      </a:tcStyle>
    </a:wholeTbl>
    <a:band2H>
      <a:tcTxStyle/>
      <a:tcStyle>
        <a:tcBdr/>
        <a:fill>
          <a:solidFill>
            <a:srgbClr val="E7E6E8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3114C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3114C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3114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23114C"/>
              </a:solidFill>
              <a:prstDash val="solid"/>
              <a:round/>
            </a:ln>
          </a:left>
          <a:right>
            <a:ln w="12700" cap="flat">
              <a:solidFill>
                <a:srgbClr val="23114C"/>
              </a:solidFill>
              <a:prstDash val="solid"/>
              <a:round/>
            </a:ln>
          </a:right>
          <a:top>
            <a:ln w="12700" cap="flat">
              <a:solidFill>
                <a:srgbClr val="23114C"/>
              </a:solidFill>
              <a:prstDash val="solid"/>
              <a:round/>
            </a:ln>
          </a:top>
          <a:bottom>
            <a:ln w="127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solidFill>
                <a:srgbClr val="23114C"/>
              </a:solidFill>
              <a:prstDash val="solid"/>
              <a:round/>
            </a:ln>
          </a:insideH>
          <a:insideV>
            <a:ln w="12700" cap="flat">
              <a:solidFill>
                <a:srgbClr val="23114C"/>
              </a:solidFill>
              <a:prstDash val="solid"/>
              <a:round/>
            </a:ln>
          </a:insideV>
        </a:tcBdr>
        <a:fill>
          <a:solidFill>
            <a:srgbClr val="23114C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23114C"/>
              </a:solidFill>
              <a:prstDash val="solid"/>
              <a:round/>
            </a:ln>
          </a:left>
          <a:right>
            <a:ln w="12700" cap="flat">
              <a:solidFill>
                <a:srgbClr val="23114C"/>
              </a:solidFill>
              <a:prstDash val="solid"/>
              <a:round/>
            </a:ln>
          </a:right>
          <a:top>
            <a:ln w="12700" cap="flat">
              <a:solidFill>
                <a:srgbClr val="23114C"/>
              </a:solidFill>
              <a:prstDash val="solid"/>
              <a:round/>
            </a:ln>
          </a:top>
          <a:bottom>
            <a:ln w="127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solidFill>
                <a:srgbClr val="23114C"/>
              </a:solidFill>
              <a:prstDash val="solid"/>
              <a:round/>
            </a:ln>
          </a:insideH>
          <a:insideV>
            <a:ln w="12700" cap="flat">
              <a:solidFill>
                <a:srgbClr val="23114C"/>
              </a:solidFill>
              <a:prstDash val="solid"/>
              <a:round/>
            </a:ln>
          </a:insideV>
        </a:tcBdr>
        <a:fill>
          <a:solidFill>
            <a:srgbClr val="23114C">
              <a:alpha val="20000"/>
            </a:srgbClr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23114C"/>
              </a:solidFill>
              <a:prstDash val="solid"/>
              <a:round/>
            </a:ln>
          </a:left>
          <a:right>
            <a:ln w="12700" cap="flat">
              <a:solidFill>
                <a:srgbClr val="23114C"/>
              </a:solidFill>
              <a:prstDash val="solid"/>
              <a:round/>
            </a:ln>
          </a:right>
          <a:top>
            <a:ln w="50800" cap="flat">
              <a:solidFill>
                <a:srgbClr val="23114C"/>
              </a:solidFill>
              <a:prstDash val="solid"/>
              <a:round/>
            </a:ln>
          </a:top>
          <a:bottom>
            <a:ln w="127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solidFill>
                <a:srgbClr val="23114C"/>
              </a:solidFill>
              <a:prstDash val="solid"/>
              <a:round/>
            </a:ln>
          </a:insideH>
          <a:insideV>
            <a:ln w="12700" cap="flat">
              <a:solidFill>
                <a:srgbClr val="23114C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23114C"/>
              </a:solidFill>
              <a:prstDash val="solid"/>
              <a:round/>
            </a:ln>
          </a:left>
          <a:right>
            <a:ln w="12700" cap="flat">
              <a:solidFill>
                <a:srgbClr val="23114C"/>
              </a:solidFill>
              <a:prstDash val="solid"/>
              <a:round/>
            </a:ln>
          </a:right>
          <a:top>
            <a:ln w="12700" cap="flat">
              <a:solidFill>
                <a:srgbClr val="23114C"/>
              </a:solidFill>
              <a:prstDash val="solid"/>
              <a:round/>
            </a:ln>
          </a:top>
          <a:bottom>
            <a:ln w="254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solidFill>
                <a:srgbClr val="23114C"/>
              </a:solidFill>
              <a:prstDash val="solid"/>
              <a:round/>
            </a:ln>
          </a:insideH>
          <a:insideV>
            <a:ln w="12700" cap="flat">
              <a:solidFill>
                <a:srgbClr val="23114C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35" autoAdjust="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-14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customXml" Target="../customXml/item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ustomXml" Target="../customXml/item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0" name="Shape 8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2404153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1.jpg" descr="HSLeiden PP Template Huisstijl leeg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hape 12"/>
          <p:cNvSpPr>
            <a:spLocks noGrp="1"/>
          </p:cNvSpPr>
          <p:nvPr>
            <p:ph type="body" sz="quarter" idx="1"/>
          </p:nvPr>
        </p:nvSpPr>
        <p:spPr>
          <a:xfrm>
            <a:off x="250825" y="620712"/>
            <a:ext cx="8713789" cy="7207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marL="0" indent="0">
              <a:buSzTx/>
              <a:buFontTx/>
              <a:buNone/>
              <a:defRPr b="1">
                <a:solidFill>
                  <a:srgbClr val="FFFFFF"/>
                </a:solidFill>
              </a:defRPr>
            </a:lvl1pPr>
          </a:lstStyle>
          <a:p>
            <a:r>
              <a:t>[Titel van de presentatie]</a:t>
            </a:r>
          </a:p>
        </p:txBody>
      </p:sp>
      <p:sp>
        <p:nvSpPr>
          <p:cNvPr id="13" name="Shape 13"/>
          <p:cNvSpPr>
            <a:spLocks noGrp="1"/>
          </p:cNvSpPr>
          <p:nvPr>
            <p:ph type="body" sz="half" idx="13"/>
          </p:nvPr>
        </p:nvSpPr>
        <p:spPr>
          <a:xfrm>
            <a:off x="251519" y="3500363"/>
            <a:ext cx="8713790" cy="2520926"/>
          </a:xfrm>
          <a:prstGeom prst="rect">
            <a:avLst/>
          </a:prstGeom>
        </p:spPr>
        <p:txBody>
          <a:bodyPr/>
          <a:lstStyle/>
          <a:p>
            <a:pPr marL="11113" indent="71436">
              <a:spcBef>
                <a:spcPts val="400"/>
              </a:spcBef>
              <a:buSzTx/>
              <a:buFontTx/>
              <a:buNone/>
              <a:defRPr sz="20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Shape 14"/>
          <p:cNvSpPr>
            <a:spLocks noGrp="1"/>
          </p:cNvSpPr>
          <p:nvPr>
            <p:ph type="body" sz="quarter" idx="14"/>
          </p:nvPr>
        </p:nvSpPr>
        <p:spPr>
          <a:xfrm>
            <a:off x="251518" y="6093295"/>
            <a:ext cx="1873773" cy="2872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200"/>
              </a:spcBef>
              <a:buSzTx/>
              <a:buFontTx/>
              <a:buNone/>
              <a:defRPr sz="11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" name="Shape 15"/>
          <p:cNvSpPr>
            <a:spLocks noGrp="1"/>
          </p:cNvSpPr>
          <p:nvPr>
            <p:ph type="body" sz="quarter" idx="15"/>
          </p:nvPr>
        </p:nvSpPr>
        <p:spPr>
          <a:xfrm>
            <a:off x="250950" y="6308623"/>
            <a:ext cx="1872777" cy="287958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200"/>
              </a:spcBef>
              <a:buSzTx/>
              <a:buFontTx/>
              <a:buNone/>
              <a:defRPr sz="11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" name="Shape 1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kstu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2.jpg" descr="HSLeiden PP Template Huisstijl leeg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Shape 24"/>
          <p:cNvSpPr>
            <a:spLocks noGrp="1"/>
          </p:cNvSpPr>
          <p:nvPr>
            <p:ph type="body" sz="quarter" idx="1"/>
          </p:nvPr>
        </p:nvSpPr>
        <p:spPr>
          <a:xfrm>
            <a:off x="323031" y="476472"/>
            <a:ext cx="8353426" cy="5762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b="1">
                <a:solidFill>
                  <a:srgbClr val="20BDBA"/>
                </a:solidFill>
              </a:defRPr>
            </a:lvl1pPr>
          </a:lstStyle>
          <a:p>
            <a:r>
              <a:t>[Hier komt de kop van de slide]</a:t>
            </a:r>
          </a:p>
        </p:txBody>
      </p:sp>
      <p:sp>
        <p:nvSpPr>
          <p:cNvPr id="25" name="Shape 25"/>
          <p:cNvSpPr>
            <a:spLocks noGrp="1"/>
          </p:cNvSpPr>
          <p:nvPr>
            <p:ph type="body" idx="13"/>
          </p:nvPr>
        </p:nvSpPr>
        <p:spPr>
          <a:xfrm>
            <a:off x="684212" y="1126256"/>
            <a:ext cx="7848601" cy="5327081"/>
          </a:xfrm>
          <a:prstGeom prst="rect">
            <a:avLst/>
          </a:prstGeom>
        </p:spPr>
        <p:txBody>
          <a:bodyPr/>
          <a:lstStyle/>
          <a:p>
            <a:pPr marL="176212" indent="-176212">
              <a:buSzTx/>
              <a:buFontTx/>
              <a:buNone/>
            </a:pPr>
            <a:endParaRPr/>
          </a:p>
        </p:txBody>
      </p:sp>
      <p:sp>
        <p:nvSpPr>
          <p:cNvPr id="26" name="Shape 2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kstueel +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2.jpg" descr="HSLeiden PP Template Huisstijl leeg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Shape 34"/>
          <p:cNvSpPr>
            <a:spLocks noGrp="1"/>
          </p:cNvSpPr>
          <p:nvPr>
            <p:ph type="body" sz="quarter" idx="1"/>
          </p:nvPr>
        </p:nvSpPr>
        <p:spPr>
          <a:xfrm>
            <a:off x="323031" y="476472"/>
            <a:ext cx="8353426" cy="57626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b="1">
                <a:solidFill>
                  <a:srgbClr val="20BDBA"/>
                </a:solidFill>
              </a:defRPr>
            </a:lvl1pPr>
          </a:lstStyle>
          <a:p>
            <a:r>
              <a:t>[Hier komt de kop van de slide]</a:t>
            </a:r>
          </a:p>
        </p:txBody>
      </p:sp>
      <p:sp>
        <p:nvSpPr>
          <p:cNvPr id="35" name="Shape 35"/>
          <p:cNvSpPr>
            <a:spLocks noGrp="1"/>
          </p:cNvSpPr>
          <p:nvPr>
            <p:ph type="body" idx="13"/>
          </p:nvPr>
        </p:nvSpPr>
        <p:spPr>
          <a:xfrm>
            <a:off x="684212" y="1126256"/>
            <a:ext cx="7848601" cy="5327081"/>
          </a:xfrm>
          <a:prstGeom prst="rect">
            <a:avLst/>
          </a:prstGeom>
        </p:spPr>
        <p:txBody>
          <a:bodyPr/>
          <a:lstStyle/>
          <a:p>
            <a:pPr marL="176212" indent="-176212">
              <a:buSzTx/>
              <a:buFontTx/>
              <a:buNone/>
            </a:pPr>
            <a:endParaRPr/>
          </a:p>
        </p:txBody>
      </p:sp>
      <p:sp>
        <p:nvSpPr>
          <p:cNvPr id="36" name="Shape 36"/>
          <p:cNvSpPr>
            <a:spLocks noGrp="1"/>
          </p:cNvSpPr>
          <p:nvPr>
            <p:ph type="pic" sz="quarter" idx="14"/>
          </p:nvPr>
        </p:nvSpPr>
        <p:spPr>
          <a:xfrm>
            <a:off x="5651500" y="3365500"/>
            <a:ext cx="3492500" cy="34925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lleen titel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/>
        </p:nvSpPr>
        <p:spPr>
          <a:xfrm>
            <a:off x="4644008" y="5751257"/>
            <a:ext cx="216025" cy="216001"/>
          </a:xfrm>
          <a:prstGeom prst="ellipse">
            <a:avLst/>
          </a:prstGeom>
          <a:solidFill>
            <a:srgbClr val="20BDBA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1219200"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2" name="Shape 52"/>
          <p:cNvSpPr>
            <a:spLocks noGrp="1"/>
          </p:cNvSpPr>
          <p:nvPr>
            <p:ph type="sldNum" sz="quarter" idx="2"/>
          </p:nvPr>
        </p:nvSpPr>
        <p:spPr>
          <a:xfrm>
            <a:off x="4635581" y="5705903"/>
            <a:ext cx="232878" cy="256541"/>
          </a:xfrm>
          <a:prstGeom prst="rect">
            <a:avLst/>
          </a:prstGeom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  <p:sp>
        <p:nvSpPr>
          <p:cNvPr id="53" name="Shape 53"/>
          <p:cNvSpPr>
            <a:spLocks noGrp="1"/>
          </p:cNvSpPr>
          <p:nvPr>
            <p:ph type="body" idx="1"/>
          </p:nvPr>
        </p:nvSpPr>
        <p:spPr>
          <a:xfrm>
            <a:off x="539551" y="1772816"/>
            <a:ext cx="8229601" cy="323245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marL="457200" indent="-457200" defTabSz="1219200">
              <a:spcBef>
                <a:spcPts val="700"/>
              </a:spcBef>
              <a:defRPr sz="3200"/>
            </a:lvl1pPr>
            <a:lvl2pPr marL="872836" indent="-415636" defTabSz="1219200">
              <a:spcBef>
                <a:spcPts val="700"/>
              </a:spcBef>
              <a:buChar char="–"/>
              <a:defRPr sz="3200"/>
            </a:lvl2pPr>
            <a:lvl3pPr marL="1299410" indent="-385010" defTabSz="1219200">
              <a:spcBef>
                <a:spcPts val="700"/>
              </a:spcBef>
              <a:defRPr sz="3200"/>
            </a:lvl3pPr>
            <a:lvl4pPr marL="1801905" indent="-430305" defTabSz="1219200">
              <a:spcBef>
                <a:spcPts val="700"/>
              </a:spcBef>
              <a:buChar char="–"/>
              <a:defRPr sz="3200"/>
            </a:lvl4pPr>
            <a:lvl5pPr marL="2351314" indent="-522514" defTabSz="1219200">
              <a:spcBef>
                <a:spcPts val="700"/>
              </a:spcBef>
              <a:buChar char="»"/>
              <a:defRPr sz="32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54" name="Shape 54"/>
          <p:cNvSpPr>
            <a:spLocks noGrp="1"/>
          </p:cNvSpPr>
          <p:nvPr>
            <p:ph type="title"/>
          </p:nvPr>
        </p:nvSpPr>
        <p:spPr>
          <a:xfrm>
            <a:off x="251519" y="1059582"/>
            <a:ext cx="8229601" cy="8572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>
            <a:lvl1pPr defTabSz="1219200">
              <a:defRPr sz="3400" b="1"/>
            </a:lvl1pPr>
          </a:lstStyle>
          <a:p>
            <a:r>
              <a:t>Titeltekst</a:t>
            </a:r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kstu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2.jpg" descr="HSLeiden PP Template Huisstijl leeg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Shape 24"/>
          <p:cNvSpPr>
            <a:spLocks noGrp="1"/>
          </p:cNvSpPr>
          <p:nvPr>
            <p:ph type="body" sz="quarter" idx="1"/>
          </p:nvPr>
        </p:nvSpPr>
        <p:spPr>
          <a:xfrm>
            <a:off x="323031" y="476472"/>
            <a:ext cx="8353426" cy="57626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b="1">
                <a:solidFill>
                  <a:srgbClr val="20BDBA"/>
                </a:solidFill>
              </a:defRPr>
            </a:lvl1pPr>
          </a:lstStyle>
          <a:p>
            <a:r>
              <a:t>[Hier komt de kop van de slide]</a:t>
            </a:r>
          </a:p>
        </p:txBody>
      </p:sp>
      <p:sp>
        <p:nvSpPr>
          <p:cNvPr id="25" name="Shape 25"/>
          <p:cNvSpPr>
            <a:spLocks noGrp="1"/>
          </p:cNvSpPr>
          <p:nvPr>
            <p:ph type="body" idx="13"/>
          </p:nvPr>
        </p:nvSpPr>
        <p:spPr>
          <a:xfrm>
            <a:off x="684212" y="1126256"/>
            <a:ext cx="7848601" cy="5327081"/>
          </a:xfrm>
          <a:prstGeom prst="rect">
            <a:avLst/>
          </a:prstGeom>
        </p:spPr>
        <p:txBody>
          <a:bodyPr/>
          <a:lstStyle/>
          <a:p>
            <a:pPr marL="176212" indent="-176212">
              <a:buSzTx/>
              <a:buFontTx/>
              <a:buNone/>
            </a:pPr>
            <a:endParaRPr/>
          </a:p>
        </p:txBody>
      </p:sp>
      <p:sp>
        <p:nvSpPr>
          <p:cNvPr id="26" name="Shape 2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127041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kstueel +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2.jpg" descr="HSLeiden PP Template Huisstijl leeg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Shape 34"/>
          <p:cNvSpPr>
            <a:spLocks noGrp="1"/>
          </p:cNvSpPr>
          <p:nvPr>
            <p:ph type="body" sz="quarter" idx="1"/>
          </p:nvPr>
        </p:nvSpPr>
        <p:spPr>
          <a:xfrm>
            <a:off x="323031" y="476472"/>
            <a:ext cx="8353426" cy="57626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b="1">
                <a:solidFill>
                  <a:srgbClr val="20BDBA"/>
                </a:solidFill>
              </a:defRPr>
            </a:lvl1pPr>
          </a:lstStyle>
          <a:p>
            <a:r>
              <a:t>[Hier komt de kop van de slide]</a:t>
            </a:r>
          </a:p>
        </p:txBody>
      </p:sp>
      <p:sp>
        <p:nvSpPr>
          <p:cNvPr id="35" name="Shape 35"/>
          <p:cNvSpPr>
            <a:spLocks noGrp="1"/>
          </p:cNvSpPr>
          <p:nvPr>
            <p:ph type="body" idx="13"/>
          </p:nvPr>
        </p:nvSpPr>
        <p:spPr>
          <a:xfrm>
            <a:off x="684212" y="1126256"/>
            <a:ext cx="7848601" cy="5327081"/>
          </a:xfrm>
          <a:prstGeom prst="rect">
            <a:avLst/>
          </a:prstGeom>
        </p:spPr>
        <p:txBody>
          <a:bodyPr/>
          <a:lstStyle/>
          <a:p>
            <a:pPr marL="176212" indent="-176212">
              <a:buSzTx/>
              <a:buFontTx/>
              <a:buNone/>
            </a:pPr>
            <a:endParaRPr/>
          </a:p>
        </p:txBody>
      </p:sp>
      <p:sp>
        <p:nvSpPr>
          <p:cNvPr id="36" name="Shape 36"/>
          <p:cNvSpPr>
            <a:spLocks noGrp="1"/>
          </p:cNvSpPr>
          <p:nvPr>
            <p:ph type="pic" sz="quarter" idx="14"/>
          </p:nvPr>
        </p:nvSpPr>
        <p:spPr>
          <a:xfrm>
            <a:off x="5651500" y="3365500"/>
            <a:ext cx="3492500" cy="34925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9676631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882700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/>
          </p:cNvSpPr>
          <p:nvPr>
            <p:ph type="title"/>
          </p:nvPr>
        </p:nvSpPr>
        <p:spPr>
          <a:xfrm>
            <a:off x="685800" y="2455068"/>
            <a:ext cx="7772400" cy="11025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anchor="b"/>
          <a:lstStyle>
            <a:lvl1pPr algn="ctr" defTabSz="1219200">
              <a:defRPr sz="3400" b="1"/>
            </a:lvl1pPr>
          </a:lstStyle>
          <a:p>
            <a:r>
              <a:t>Titeltekst</a:t>
            </a:r>
          </a:p>
        </p:txBody>
      </p:sp>
      <p:sp>
        <p:nvSpPr>
          <p:cNvPr id="52" name="Shape 52"/>
          <p:cNvSpPr>
            <a:spLocks noGrp="1"/>
          </p:cNvSpPr>
          <p:nvPr>
            <p:ph type="body" sz="quarter" idx="1"/>
          </p:nvPr>
        </p:nvSpPr>
        <p:spPr>
          <a:xfrm>
            <a:off x="1371600" y="3771900"/>
            <a:ext cx="6400800" cy="13144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marL="0" indent="0" algn="ctr" defTabSz="1219200">
              <a:spcBef>
                <a:spcPts val="600"/>
              </a:spcBef>
              <a:buSzTx/>
              <a:buFontTx/>
              <a:buNone/>
              <a:defRPr sz="3200"/>
            </a:lvl1pPr>
            <a:lvl2pPr marL="0" indent="457200" algn="ctr" defTabSz="1219200">
              <a:spcBef>
                <a:spcPts val="600"/>
              </a:spcBef>
              <a:buSzTx/>
              <a:buFontTx/>
              <a:buNone/>
              <a:defRPr sz="3200"/>
            </a:lvl2pPr>
            <a:lvl3pPr marL="0" indent="914400" algn="ctr" defTabSz="1219200">
              <a:spcBef>
                <a:spcPts val="600"/>
              </a:spcBef>
              <a:buSzTx/>
              <a:buFontTx/>
              <a:buNone/>
              <a:defRPr sz="3200"/>
            </a:lvl3pPr>
            <a:lvl4pPr marL="0" indent="1371600" algn="ctr" defTabSz="1219200">
              <a:spcBef>
                <a:spcPts val="600"/>
              </a:spcBef>
              <a:buSzTx/>
              <a:buFontTx/>
              <a:buNone/>
              <a:defRPr sz="3200"/>
            </a:lvl4pPr>
            <a:lvl5pPr marL="0" indent="1828800" algn="ctr" defTabSz="1219200">
              <a:spcBef>
                <a:spcPts val="600"/>
              </a:spcBef>
              <a:buSzTx/>
              <a:buFontTx/>
              <a:buNone/>
              <a:defRPr sz="32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53" name="Shape 53"/>
          <p:cNvSpPr>
            <a:spLocks noGrp="1"/>
          </p:cNvSpPr>
          <p:nvPr>
            <p:ph type="sldNum" sz="quarter" idx="2"/>
          </p:nvPr>
        </p:nvSpPr>
        <p:spPr>
          <a:xfrm>
            <a:off x="6423888" y="5488305"/>
            <a:ext cx="258624" cy="269240"/>
          </a:xfrm>
          <a:prstGeom prst="rect">
            <a:avLst/>
          </a:prstGeom>
        </p:spPr>
        <p:txBody>
          <a:bodyPr/>
          <a:lstStyle>
            <a:lvl1pPr algn="ctr" defTabSz="1219200"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8748626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Defau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/>
          <p:nvPr/>
        </p:nvSpPr>
        <p:spPr>
          <a:xfrm>
            <a:off x="4643437" y="5749925"/>
            <a:ext cx="215901" cy="215900"/>
          </a:xfrm>
          <a:prstGeom prst="ellipse">
            <a:avLst/>
          </a:prstGeom>
          <a:solidFill>
            <a:srgbClr val="20BDBA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1219200"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 sz="2400">
              <a:solidFill>
                <a:srgbClr val="FFFFFF"/>
              </a:solidFill>
              <a:latin typeface="Calibri"/>
              <a:ea typeface="+mj-ea"/>
              <a:cs typeface="Calibri"/>
              <a:sym typeface="Calibri"/>
            </a:endParaRPr>
          </a:p>
        </p:txBody>
      </p:sp>
      <p:sp>
        <p:nvSpPr>
          <p:cNvPr id="61" name="Shape 61"/>
          <p:cNvSpPr>
            <a:spLocks noGrp="1"/>
          </p:cNvSpPr>
          <p:nvPr>
            <p:ph type="title"/>
          </p:nvPr>
        </p:nvSpPr>
        <p:spPr>
          <a:xfrm>
            <a:off x="250825" y="1058862"/>
            <a:ext cx="8229600" cy="85725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defTabSz="1219200">
              <a:defRPr sz="3400" b="1"/>
            </a:lvl1pPr>
          </a:lstStyle>
          <a:p>
            <a:r>
              <a:t>Titeltekst</a:t>
            </a:r>
          </a:p>
        </p:txBody>
      </p:sp>
      <p:sp>
        <p:nvSpPr>
          <p:cNvPr id="62" name="Shape 62"/>
          <p:cNvSpPr>
            <a:spLocks noGrp="1"/>
          </p:cNvSpPr>
          <p:nvPr>
            <p:ph type="body" idx="1"/>
          </p:nvPr>
        </p:nvSpPr>
        <p:spPr>
          <a:xfrm>
            <a:off x="538162" y="1771650"/>
            <a:ext cx="8229601" cy="32321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marL="457200" indent="-457200" defTabSz="1219200">
              <a:spcBef>
                <a:spcPts val="600"/>
              </a:spcBef>
              <a:buChar char="»"/>
              <a:defRPr sz="3200"/>
            </a:lvl1pPr>
            <a:lvl2pPr marL="1010355" indent="-553155" defTabSz="1219200">
              <a:spcBef>
                <a:spcPts val="600"/>
              </a:spcBef>
              <a:buChar char="–"/>
              <a:defRPr sz="3200"/>
            </a:lvl2pPr>
            <a:lvl3pPr marL="1425222" indent="-510822" defTabSz="1219200">
              <a:spcBef>
                <a:spcPts val="600"/>
              </a:spcBef>
              <a:defRPr sz="3200"/>
            </a:lvl3pPr>
            <a:lvl4pPr marL="1944511" indent="-572911" defTabSz="1219200">
              <a:spcBef>
                <a:spcPts val="600"/>
              </a:spcBef>
              <a:buChar char="–"/>
              <a:defRPr sz="3200"/>
            </a:lvl4pPr>
            <a:lvl5pPr marL="2523066" indent="-694266" defTabSz="1219200">
              <a:spcBef>
                <a:spcPts val="600"/>
              </a:spcBef>
              <a:buChar char="»"/>
              <a:defRPr sz="32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63" name="Shape 63"/>
          <p:cNvSpPr>
            <a:spLocks noGrp="1"/>
          </p:cNvSpPr>
          <p:nvPr>
            <p:ph type="sldNum" sz="quarter" idx="2"/>
          </p:nvPr>
        </p:nvSpPr>
        <p:spPr>
          <a:xfrm>
            <a:off x="4634949" y="5704998"/>
            <a:ext cx="232877" cy="256541"/>
          </a:xfrm>
          <a:prstGeom prst="rect">
            <a:avLst/>
          </a:prstGeom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481076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150812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endParaRPr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endParaRPr/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1pPr>
      <a:lvl2pPr marL="742950" marR="0" indent="-28575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2pPr>
      <a:lvl3pPr marL="11430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3pPr>
      <a:lvl4pPr marL="16002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4pPr>
      <a:lvl5pPr marL="20574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5pPr>
      <a:lvl6pPr marL="25146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6pPr>
      <a:lvl7pPr marL="29718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7pPr>
      <a:lvl8pPr marL="34290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8pPr>
      <a:lvl9pPr marL="38862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150812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endParaRPr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endParaRPr/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4076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1pPr>
      <a:lvl2pPr marL="742950" marR="0" indent="-28575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2pPr>
      <a:lvl3pPr marL="11430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3pPr>
      <a:lvl4pPr marL="16002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4pPr>
      <a:lvl5pPr marL="20574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5pPr>
      <a:lvl6pPr marL="25146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6pPr>
      <a:lvl7pPr marL="29718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7pPr>
      <a:lvl8pPr marL="34290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8pPr>
      <a:lvl9pPr marL="38862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/>
          <p:nvPr/>
        </p:nvSpPr>
        <p:spPr>
          <a:xfrm>
            <a:off x="322262" y="5210175"/>
            <a:ext cx="612140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defTabSz="1219200">
              <a:defRPr sz="1600">
                <a:solidFill>
                  <a:srgbClr val="FFFFFF"/>
                </a:solidFill>
              </a:defRPr>
            </a:pPr>
            <a:r>
              <a:rPr lang="nl-NL" sz="1600" dirty="0" smtClean="0">
                <a:solidFill>
                  <a:srgbClr val="FFFFFF"/>
                </a:solidFill>
              </a:rPr>
              <a:t>  </a:t>
            </a:r>
            <a:endParaRPr sz="1600" dirty="0">
              <a:solidFill>
                <a:srgbClr val="FFFFFF"/>
              </a:solidFill>
            </a:endParaRPr>
          </a:p>
        </p:txBody>
      </p:sp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280987" y="69850"/>
            <a:ext cx="7772401" cy="1100138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FFFFFF"/>
                </a:solidFill>
              </a:defRPr>
            </a:lvl1pPr>
          </a:lstStyle>
          <a:p>
            <a:r>
              <a:rPr dirty="0" err="1"/>
              <a:t>Algoritmen</a:t>
            </a:r>
            <a:r>
              <a:rPr dirty="0"/>
              <a:t> &amp; </a:t>
            </a:r>
            <a:r>
              <a:rPr dirty="0" err="1" smtClean="0"/>
              <a:t>Datastructure</a:t>
            </a:r>
            <a:r>
              <a:rPr lang="nl-NL" dirty="0" smtClean="0"/>
              <a:t>n</a:t>
            </a:r>
            <a:endParaRPr dirty="0"/>
          </a:p>
        </p:txBody>
      </p:sp>
      <p:sp>
        <p:nvSpPr>
          <p:cNvPr id="89" name="Shape 89"/>
          <p:cNvSpPr>
            <a:spLocks noGrp="1"/>
          </p:cNvSpPr>
          <p:nvPr>
            <p:ph type="body" sz="quarter" idx="1"/>
          </p:nvPr>
        </p:nvSpPr>
        <p:spPr>
          <a:xfrm>
            <a:off x="330200" y="3429000"/>
            <a:ext cx="6400800" cy="1314450"/>
          </a:xfrm>
          <a:prstGeom prst="rect">
            <a:avLst/>
          </a:prstGeom>
        </p:spPr>
        <p:txBody>
          <a:bodyPr/>
          <a:lstStyle/>
          <a:p>
            <a:pPr algn="l" defTabSz="1133855">
              <a:spcBef>
                <a:spcPts val="400"/>
              </a:spcBef>
              <a:defRPr sz="2418">
                <a:solidFill>
                  <a:srgbClr val="FFFFFF"/>
                </a:solidFill>
              </a:defRPr>
            </a:pPr>
            <a:r>
              <a:rPr lang="nl-NL" dirty="0" err="1" smtClean="0"/>
              <a:t>Hash</a:t>
            </a:r>
            <a:r>
              <a:rPr lang="nl-NL" dirty="0" smtClean="0"/>
              <a:t> </a:t>
            </a:r>
            <a:r>
              <a:rPr lang="nl-NL" dirty="0" err="1" smtClean="0"/>
              <a:t>Table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3004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>
            <a:spLocks noGrp="1"/>
          </p:cNvSpPr>
          <p:nvPr>
            <p:ph type="sldNum" sz="quarter" idx="2"/>
          </p:nvPr>
        </p:nvSpPr>
        <p:spPr>
          <a:xfrm>
            <a:off x="4667765" y="5705903"/>
            <a:ext cx="168510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  <p:sp>
        <p:nvSpPr>
          <p:cNvPr id="91" name="Shape 91"/>
          <p:cNvSpPr>
            <a:spLocks noGrp="1"/>
          </p:cNvSpPr>
          <p:nvPr>
            <p:ph type="body" idx="1"/>
          </p:nvPr>
        </p:nvSpPr>
        <p:spPr>
          <a:xfrm>
            <a:off x="601216" y="960016"/>
            <a:ext cx="8229601" cy="3232455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92" name="Shape 92"/>
          <p:cNvSpPr>
            <a:spLocks noGrp="1"/>
          </p:cNvSpPr>
          <p:nvPr>
            <p:ph type="title"/>
          </p:nvPr>
        </p:nvSpPr>
        <p:spPr>
          <a:xfrm>
            <a:off x="313183" y="246782"/>
            <a:ext cx="8229601" cy="857251"/>
          </a:xfrm>
          <a:prstGeom prst="rect">
            <a:avLst/>
          </a:prstGeom>
        </p:spPr>
        <p:txBody>
          <a:bodyPr/>
          <a:lstStyle/>
          <a:p>
            <a:r>
              <a:rPr lang="nl-NL" dirty="0" smtClean="0"/>
              <a:t>Wat is een </a:t>
            </a:r>
            <a:r>
              <a:rPr lang="nl-NL" dirty="0" err="1"/>
              <a:t>H</a:t>
            </a:r>
            <a:r>
              <a:rPr lang="nl-NL" dirty="0" err="1" smtClean="0"/>
              <a:t>ash</a:t>
            </a:r>
            <a:r>
              <a:rPr lang="nl-NL" dirty="0" smtClean="0"/>
              <a:t> </a:t>
            </a:r>
            <a:r>
              <a:rPr lang="nl-NL" dirty="0" err="1" smtClean="0"/>
              <a:t>Table</a:t>
            </a:r>
            <a:r>
              <a:rPr lang="nl-NL" dirty="0" smtClean="0"/>
              <a:t>?</a:t>
            </a:r>
            <a:endParaRPr dirty="0"/>
          </a:p>
        </p:txBody>
      </p:sp>
      <p:pic>
        <p:nvPicPr>
          <p:cNvPr id="1026" name="Picture 2" descr="Afbeeldingsresultaat voor modern librar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622" y="1104033"/>
            <a:ext cx="6417130" cy="4275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703135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>
            <a:spLocks noGrp="1"/>
          </p:cNvSpPr>
          <p:nvPr>
            <p:ph type="sldNum" sz="quarter" idx="2"/>
          </p:nvPr>
        </p:nvSpPr>
        <p:spPr>
          <a:xfrm>
            <a:off x="4667765" y="5705903"/>
            <a:ext cx="168510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  <p:sp>
        <p:nvSpPr>
          <p:cNvPr id="95" name="Shape 95"/>
          <p:cNvSpPr>
            <a:spLocks noGrp="1"/>
          </p:cNvSpPr>
          <p:nvPr>
            <p:ph type="body" idx="1"/>
          </p:nvPr>
        </p:nvSpPr>
        <p:spPr>
          <a:xfrm>
            <a:off x="539551" y="1133841"/>
            <a:ext cx="8229601" cy="3232455"/>
          </a:xfrm>
          <a:prstGeom prst="rect">
            <a:avLst/>
          </a:prstGeom>
        </p:spPr>
        <p:txBody>
          <a:bodyPr/>
          <a:lstStyle/>
          <a:p>
            <a:r>
              <a:rPr dirty="0"/>
              <a:t>Wordt soms ook gerefereerd naar als Dictionary (NL: woordenboek)</a:t>
            </a:r>
          </a:p>
          <a:p>
            <a:r>
              <a:rPr dirty="0"/>
              <a:t>Key-Value pair</a:t>
            </a:r>
          </a:p>
        </p:txBody>
      </p:sp>
      <p:sp>
        <p:nvSpPr>
          <p:cNvPr id="96" name="Shape 96"/>
          <p:cNvSpPr>
            <a:spLocks noGrp="1"/>
          </p:cNvSpPr>
          <p:nvPr>
            <p:ph type="title"/>
          </p:nvPr>
        </p:nvSpPr>
        <p:spPr>
          <a:xfrm>
            <a:off x="226119" y="214932"/>
            <a:ext cx="8229601" cy="857251"/>
          </a:xfrm>
          <a:prstGeom prst="rect">
            <a:avLst/>
          </a:prstGeom>
        </p:spPr>
        <p:txBody>
          <a:bodyPr/>
          <a:lstStyle/>
          <a:p>
            <a:r>
              <a:t>Wat is een Hash Table?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>
            <a:spLocks noGrp="1"/>
          </p:cNvSpPr>
          <p:nvPr>
            <p:ph type="sldNum" sz="quarter" idx="2"/>
          </p:nvPr>
        </p:nvSpPr>
        <p:spPr>
          <a:xfrm>
            <a:off x="4667765" y="5705903"/>
            <a:ext cx="168510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  <p:sp>
        <p:nvSpPr>
          <p:cNvPr id="95" name="Shape 95"/>
          <p:cNvSpPr>
            <a:spLocks noGrp="1"/>
          </p:cNvSpPr>
          <p:nvPr>
            <p:ph type="body" idx="1"/>
          </p:nvPr>
        </p:nvSpPr>
        <p:spPr>
          <a:xfrm>
            <a:off x="539551" y="1133840"/>
            <a:ext cx="8229601" cy="4278419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r>
              <a:rPr lang="nl-NL" dirty="0" smtClean="0"/>
              <a:t>Telefoonboek</a:t>
            </a:r>
          </a:p>
          <a:p>
            <a:pPr lvl="1"/>
            <a:r>
              <a:rPr lang="nl-NL" dirty="0" smtClean="0"/>
              <a:t>Wat is dan het &lt;</a:t>
            </a:r>
            <a:r>
              <a:rPr lang="nl-NL" dirty="0" err="1" smtClean="0"/>
              <a:t>key</a:t>
            </a:r>
            <a:r>
              <a:rPr lang="nl-NL" dirty="0" smtClean="0"/>
              <a:t>, </a:t>
            </a:r>
            <a:r>
              <a:rPr lang="nl-NL" dirty="0" err="1" smtClean="0"/>
              <a:t>value</a:t>
            </a:r>
            <a:r>
              <a:rPr lang="nl-NL" dirty="0" smtClean="0"/>
              <a:t>&gt; paar?</a:t>
            </a:r>
          </a:p>
          <a:p>
            <a:pPr lvl="1"/>
            <a:r>
              <a:rPr lang="nl-NL" dirty="0" smtClean="0"/>
              <a:t>&lt;naam, nummer&gt;</a:t>
            </a:r>
          </a:p>
          <a:p>
            <a:r>
              <a:rPr lang="nl-NL" dirty="0" smtClean="0"/>
              <a:t>Hogeschool Leiden</a:t>
            </a:r>
          </a:p>
          <a:p>
            <a:pPr lvl="1"/>
            <a:r>
              <a:rPr lang="nl-NL" dirty="0" smtClean="0"/>
              <a:t>&lt;studentnummer, studentinfo&gt;</a:t>
            </a:r>
          </a:p>
          <a:p>
            <a:r>
              <a:rPr lang="nl-NL" dirty="0" smtClean="0"/>
              <a:t>Bibliotheek</a:t>
            </a:r>
          </a:p>
          <a:p>
            <a:pPr lvl="1"/>
            <a:r>
              <a:rPr lang="nl-NL" dirty="0" smtClean="0"/>
              <a:t>&lt;categorie, boek&gt;</a:t>
            </a:r>
          </a:p>
          <a:p>
            <a:pPr lvl="1"/>
            <a:endParaRPr lang="nl-NL" dirty="0"/>
          </a:p>
          <a:p>
            <a:r>
              <a:rPr lang="nl-NL" dirty="0" smtClean="0"/>
              <a:t>Kun je zelf nog meer toepassingen bedenken?</a:t>
            </a:r>
            <a:endParaRPr lang="nl-NL" dirty="0"/>
          </a:p>
        </p:txBody>
      </p:sp>
      <p:sp>
        <p:nvSpPr>
          <p:cNvPr id="96" name="Shape 96"/>
          <p:cNvSpPr>
            <a:spLocks noGrp="1"/>
          </p:cNvSpPr>
          <p:nvPr>
            <p:ph type="title"/>
          </p:nvPr>
        </p:nvSpPr>
        <p:spPr>
          <a:xfrm>
            <a:off x="226119" y="214932"/>
            <a:ext cx="8229601" cy="85725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nl-NL" dirty="0" smtClean="0"/>
              <a:t>Toepassingen van een </a:t>
            </a:r>
            <a:r>
              <a:rPr lang="nl-NL" dirty="0" err="1" smtClean="0"/>
              <a:t>hash</a:t>
            </a:r>
            <a:r>
              <a:rPr lang="nl-NL" dirty="0" smtClean="0"/>
              <a:t> </a:t>
            </a:r>
            <a:r>
              <a:rPr lang="nl-NL" dirty="0" err="1" smtClean="0"/>
              <a:t>table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2239672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>
            <a:spLocks noGrp="1"/>
          </p:cNvSpPr>
          <p:nvPr>
            <p:ph type="sldNum" sz="quarter" idx="2"/>
          </p:nvPr>
        </p:nvSpPr>
        <p:spPr>
          <a:xfrm>
            <a:off x="4667765" y="5705903"/>
            <a:ext cx="168510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  <p:sp>
        <p:nvSpPr>
          <p:cNvPr id="99" name="Shape 99"/>
          <p:cNvSpPr>
            <a:spLocks noGrp="1"/>
          </p:cNvSpPr>
          <p:nvPr>
            <p:ph type="body" idx="1"/>
          </p:nvPr>
        </p:nvSpPr>
        <p:spPr>
          <a:xfrm>
            <a:off x="457200" y="1026829"/>
            <a:ext cx="8229600" cy="3000542"/>
          </a:xfrm>
          <a:prstGeom prst="rect">
            <a:avLst/>
          </a:prstGeom>
        </p:spPr>
        <p:txBody>
          <a:bodyPr/>
          <a:lstStyle/>
          <a:p>
            <a:endParaRPr dirty="0"/>
          </a:p>
          <a:p>
            <a:pPr marL="0" indent="0" defTabSz="609600">
              <a:spcBef>
                <a:spcPts val="0"/>
              </a:spcBef>
              <a:buSzTx/>
              <a:buFontTx/>
              <a:buNone/>
              <a:defRPr sz="28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Hashtable </a:t>
            </a:r>
            <a:r>
              <a:rPr dirty="0">
                <a:solidFill>
                  <a:srgbClr val="7E504F"/>
                </a:solidFill>
              </a:rPr>
              <a:t>ht</a:t>
            </a:r>
            <a:r>
              <a:rPr dirty="0"/>
              <a:t> = </a:t>
            </a:r>
            <a:r>
              <a:rPr dirty="0">
                <a:solidFill>
                  <a:srgbClr val="931A68"/>
                </a:solidFill>
              </a:rPr>
              <a:t>new</a:t>
            </a:r>
            <a:r>
              <a:rPr dirty="0"/>
              <a:t> Hashtable();</a:t>
            </a:r>
          </a:p>
          <a:p>
            <a:pPr marL="0" indent="0" defTabSz="609600">
              <a:spcBef>
                <a:spcPts val="0"/>
              </a:spcBef>
              <a:buSzTx/>
              <a:buFontTx/>
              <a:buNone/>
              <a:defRPr sz="2800">
                <a:solidFill>
                  <a:srgbClr val="3933F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>
                <a:solidFill>
                  <a:srgbClr val="7E504F"/>
                </a:solidFill>
              </a:rPr>
              <a:t>ht</a:t>
            </a:r>
            <a:r>
              <a:rPr dirty="0">
                <a:solidFill>
                  <a:srgbClr val="000000"/>
                </a:solidFill>
              </a:rPr>
              <a:t>.put(</a:t>
            </a:r>
            <a:r>
              <a:rPr dirty="0"/>
              <a:t>"Alex"</a:t>
            </a:r>
            <a:r>
              <a:rPr dirty="0">
                <a:solidFill>
                  <a:srgbClr val="000000"/>
                </a:solidFill>
              </a:rPr>
              <a:t>, </a:t>
            </a:r>
            <a:r>
              <a:rPr dirty="0" smtClean="0"/>
              <a:t>"</a:t>
            </a:r>
            <a:r>
              <a:rPr lang="nl-NL" dirty="0" smtClean="0"/>
              <a:t>Van Manen</a:t>
            </a:r>
            <a:r>
              <a:rPr dirty="0" smtClean="0"/>
              <a:t>"</a:t>
            </a:r>
            <a:r>
              <a:rPr dirty="0" smtClean="0">
                <a:solidFill>
                  <a:srgbClr val="000000"/>
                </a:solidFill>
              </a:rPr>
              <a:t>);</a:t>
            </a:r>
            <a:endParaRPr dirty="0">
              <a:solidFill>
                <a:srgbClr val="000000"/>
              </a:solidFill>
            </a:endParaRPr>
          </a:p>
          <a:p>
            <a:pPr marL="0" indent="0" defTabSz="609600">
              <a:spcBef>
                <a:spcPts val="0"/>
              </a:spcBef>
              <a:buSzTx/>
              <a:buFontTx/>
              <a:buNone/>
              <a:defRPr sz="2800">
                <a:solidFill>
                  <a:srgbClr val="3933FF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>
                <a:solidFill>
                  <a:srgbClr val="7E504F"/>
                </a:solidFill>
              </a:rPr>
              <a:t>ht</a:t>
            </a:r>
            <a:r>
              <a:rPr dirty="0">
                <a:solidFill>
                  <a:srgbClr val="000000"/>
                </a:solidFill>
              </a:rPr>
              <a:t>.put(</a:t>
            </a:r>
            <a:r>
              <a:rPr dirty="0"/>
              <a:t>"Roland"</a:t>
            </a:r>
            <a:r>
              <a:rPr dirty="0">
                <a:solidFill>
                  <a:srgbClr val="000000"/>
                </a:solidFill>
              </a:rPr>
              <a:t>, </a:t>
            </a:r>
            <a:r>
              <a:rPr dirty="0" smtClean="0"/>
              <a:t>“</a:t>
            </a:r>
            <a:r>
              <a:rPr lang="nl-NL" dirty="0" smtClean="0"/>
              <a:t>Westveer</a:t>
            </a:r>
            <a:r>
              <a:rPr dirty="0" smtClean="0"/>
              <a:t>"</a:t>
            </a:r>
            <a:r>
              <a:rPr dirty="0" smtClean="0">
                <a:solidFill>
                  <a:srgbClr val="000000"/>
                </a:solidFill>
              </a:rPr>
              <a:t>);</a:t>
            </a:r>
            <a:endParaRPr dirty="0">
              <a:solidFill>
                <a:srgbClr val="000000"/>
              </a:solidFill>
            </a:endParaRPr>
          </a:p>
          <a:p>
            <a:pPr marL="0" indent="0" defTabSz="609600">
              <a:spcBef>
                <a:spcPts val="0"/>
              </a:spcBef>
              <a:buSzTx/>
              <a:buFontTx/>
              <a:buNone/>
              <a:defRPr sz="28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System.</a:t>
            </a:r>
            <a:r>
              <a:rPr dirty="0">
                <a:solidFill>
                  <a:srgbClr val="0326CC"/>
                </a:solidFill>
              </a:rPr>
              <a:t>out</a:t>
            </a:r>
            <a:r>
              <a:rPr dirty="0"/>
              <a:t>.println(</a:t>
            </a:r>
            <a:r>
              <a:rPr dirty="0">
                <a:solidFill>
                  <a:srgbClr val="7E504F"/>
                </a:solidFill>
              </a:rPr>
              <a:t>ht</a:t>
            </a:r>
            <a:r>
              <a:rPr dirty="0"/>
              <a:t>.get(</a:t>
            </a:r>
            <a:r>
              <a:rPr dirty="0">
                <a:solidFill>
                  <a:srgbClr val="3933FF"/>
                </a:solidFill>
              </a:rPr>
              <a:t>“Roland”</a:t>
            </a:r>
            <a:r>
              <a:rPr dirty="0"/>
              <a:t>));</a:t>
            </a:r>
          </a:p>
          <a:p>
            <a:pPr marL="0" indent="0" defTabSz="609600">
              <a:spcBef>
                <a:spcPts val="0"/>
              </a:spcBef>
              <a:buSzTx/>
              <a:buFontTx/>
              <a:buNone/>
              <a:defRPr sz="28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rPr dirty="0"/>
              <a:t>//</a:t>
            </a:r>
            <a:r>
              <a:rPr dirty="0" err="1"/>
              <a:t>toont</a:t>
            </a:r>
            <a:r>
              <a:rPr dirty="0"/>
              <a:t> </a:t>
            </a:r>
            <a:r>
              <a:rPr lang="nl-NL" dirty="0" smtClean="0"/>
              <a:t>de achternaam </a:t>
            </a:r>
            <a:r>
              <a:rPr dirty="0" smtClean="0"/>
              <a:t>van </a:t>
            </a:r>
            <a:r>
              <a:rPr dirty="0"/>
              <a:t>Roland</a:t>
            </a:r>
          </a:p>
        </p:txBody>
      </p:sp>
      <p:sp>
        <p:nvSpPr>
          <p:cNvPr id="100" name="Shape 100"/>
          <p:cNvSpPr>
            <a:spLocks noGrp="1"/>
          </p:cNvSpPr>
          <p:nvPr>
            <p:ph type="title"/>
          </p:nvPr>
        </p:nvSpPr>
        <p:spPr>
          <a:xfrm>
            <a:off x="238819" y="169578"/>
            <a:ext cx="8229601" cy="857251"/>
          </a:xfrm>
          <a:prstGeom prst="rect">
            <a:avLst/>
          </a:prstGeom>
        </p:spPr>
        <p:txBody>
          <a:bodyPr/>
          <a:lstStyle/>
          <a:p>
            <a:r>
              <a:t>Voorbeeld gebruik Hashtable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/>
          </p:cNvSpPr>
          <p:nvPr>
            <p:ph type="sldNum" sz="quarter" idx="2"/>
          </p:nvPr>
        </p:nvSpPr>
        <p:spPr>
          <a:xfrm>
            <a:off x="4667765" y="5705903"/>
            <a:ext cx="168510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  <p:sp>
        <p:nvSpPr>
          <p:cNvPr id="107" name="Shape 10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8" name="Shape 108"/>
          <p:cNvSpPr>
            <a:spLocks noGrp="1"/>
          </p:cNvSpPr>
          <p:nvPr>
            <p:ph type="title"/>
          </p:nvPr>
        </p:nvSpPr>
        <p:spPr>
          <a:xfrm>
            <a:off x="264219" y="214932"/>
            <a:ext cx="8229601" cy="857251"/>
          </a:xfrm>
          <a:prstGeom prst="rect">
            <a:avLst/>
          </a:prstGeom>
        </p:spPr>
        <p:txBody>
          <a:bodyPr/>
          <a:lstStyle/>
          <a:p>
            <a:r>
              <a:t>Linear zoeken</a:t>
            </a:r>
          </a:p>
        </p:txBody>
      </p:sp>
      <p:graphicFrame>
        <p:nvGraphicFramePr>
          <p:cNvPr id="109" name="Table 109"/>
          <p:cNvGraphicFramePr/>
          <p:nvPr/>
        </p:nvGraphicFramePr>
        <p:xfrm>
          <a:off x="5076056" y="1772816"/>
          <a:ext cx="2243211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1218"/>
                <a:gridCol w="1741993"/>
              </a:tblGrid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latin typeface="+mn-lt"/>
                          <a:ea typeface="+mn-ea"/>
                          <a:cs typeface="+mn-cs"/>
                          <a:sym typeface="Calibri"/>
                        </a:rPr>
                        <a:t>alex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1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24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2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christiaan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3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dirk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24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defRPr>
                      </a:pPr>
                      <a:endParaRPr dirty="0"/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freek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24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latin typeface="+mn-lt"/>
                          <a:ea typeface="+mn-ea"/>
                          <a:cs typeface="+mn-cs"/>
                          <a:sym typeface="Calibri"/>
                        </a:rPr>
                        <a:t>hugo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>
            <a:spLocks noGrp="1"/>
          </p:cNvSpPr>
          <p:nvPr>
            <p:ph type="sldNum" sz="quarter" idx="2"/>
          </p:nvPr>
        </p:nvSpPr>
        <p:spPr>
          <a:xfrm>
            <a:off x="4667765" y="5705903"/>
            <a:ext cx="168510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  <p:sp>
        <p:nvSpPr>
          <p:cNvPr id="112" name="Shape 11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buSzTx/>
            </a:pPr>
            <a:r>
              <a:rPr lang="nl-NL" sz="2400" dirty="0" smtClean="0"/>
              <a:t>Een </a:t>
            </a:r>
            <a:r>
              <a:rPr lang="nl-NL" sz="2400" dirty="0" err="1" smtClean="0"/>
              <a:t>hash</a:t>
            </a:r>
            <a:r>
              <a:rPr lang="nl-NL" sz="2400" dirty="0" smtClean="0"/>
              <a:t> </a:t>
            </a:r>
            <a:r>
              <a:rPr lang="nl-NL" sz="2400" dirty="0" err="1" smtClean="0"/>
              <a:t>table</a:t>
            </a:r>
            <a:r>
              <a:rPr lang="nl-NL" sz="2400" dirty="0" smtClean="0"/>
              <a:t> kan heel snel…</a:t>
            </a:r>
          </a:p>
          <a:p>
            <a:pPr lvl="1">
              <a:buSzTx/>
            </a:pPr>
            <a:r>
              <a:rPr lang="nl-NL" sz="2400" dirty="0" smtClean="0"/>
              <a:t>Nieuwe elementen toevoegen</a:t>
            </a:r>
            <a:endParaRPr lang="nl-NL" sz="2400" dirty="0" smtClean="0"/>
          </a:p>
          <a:p>
            <a:pPr lvl="1">
              <a:buSzTx/>
            </a:pPr>
            <a:r>
              <a:rPr lang="nl-NL" sz="2400" dirty="0" smtClean="0"/>
              <a:t>Opzoeken </a:t>
            </a:r>
            <a:r>
              <a:rPr lang="nl-NL" sz="2400" dirty="0" smtClean="0"/>
              <a:t>of een </a:t>
            </a:r>
            <a:r>
              <a:rPr lang="nl-NL" sz="2400" dirty="0" smtClean="0"/>
              <a:t>element erin </a:t>
            </a:r>
            <a:r>
              <a:rPr lang="nl-NL" sz="2400" dirty="0" smtClean="0"/>
              <a:t>zit</a:t>
            </a:r>
            <a:endParaRPr lang="nl-NL" sz="2400" dirty="0" smtClean="0"/>
          </a:p>
          <a:p>
            <a:pPr>
              <a:buSzTx/>
            </a:pPr>
            <a:endParaRPr lang="nl-NL" sz="2400" dirty="0"/>
          </a:p>
          <a:p>
            <a:pPr>
              <a:buSzTx/>
            </a:pPr>
            <a:r>
              <a:rPr lang="nl-NL" sz="2400" dirty="0" smtClean="0"/>
              <a:t>Maar helaas…</a:t>
            </a:r>
          </a:p>
          <a:p>
            <a:pPr lvl="1">
              <a:buSzTx/>
            </a:pPr>
            <a:r>
              <a:rPr lang="nl-NL" sz="2400" dirty="0" err="1" smtClean="0"/>
              <a:t>Hash</a:t>
            </a:r>
            <a:r>
              <a:rPr lang="nl-NL" sz="2400" dirty="0" smtClean="0"/>
              <a:t> </a:t>
            </a:r>
            <a:r>
              <a:rPr lang="nl-NL" sz="2400" dirty="0" err="1" smtClean="0"/>
              <a:t>table</a:t>
            </a:r>
            <a:r>
              <a:rPr lang="nl-NL" sz="2400" dirty="0" smtClean="0"/>
              <a:t> neemt veel ruimte in beslag</a:t>
            </a:r>
            <a:endParaRPr sz="2400" dirty="0"/>
          </a:p>
        </p:txBody>
      </p:sp>
      <p:sp>
        <p:nvSpPr>
          <p:cNvPr id="113" name="Shape 113"/>
          <p:cNvSpPr>
            <a:spLocks noGrp="1"/>
          </p:cNvSpPr>
          <p:nvPr>
            <p:ph type="title"/>
          </p:nvPr>
        </p:nvSpPr>
        <p:spPr>
          <a:xfrm>
            <a:off x="251519" y="214932"/>
            <a:ext cx="8229601" cy="857251"/>
          </a:xfrm>
          <a:prstGeom prst="rect">
            <a:avLst/>
          </a:prstGeom>
        </p:spPr>
        <p:txBody>
          <a:bodyPr/>
          <a:lstStyle/>
          <a:p>
            <a:r>
              <a:rPr lang="nl-NL" dirty="0" smtClean="0"/>
              <a:t>Snelheid </a:t>
            </a:r>
            <a:r>
              <a:rPr lang="nl-NL" dirty="0" err="1" smtClean="0"/>
              <a:t>hash</a:t>
            </a:r>
            <a:r>
              <a:rPr lang="nl-NL" dirty="0" smtClean="0"/>
              <a:t> </a:t>
            </a:r>
            <a:r>
              <a:rPr lang="nl-NL" dirty="0" err="1" smtClean="0"/>
              <a:t>table</a:t>
            </a:r>
            <a:endParaRPr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/>
          </p:cNvSpPr>
          <p:nvPr>
            <p:ph type="sldNum" sz="quarter" idx="2"/>
          </p:nvPr>
        </p:nvSpPr>
        <p:spPr>
          <a:xfrm>
            <a:off x="4667765" y="5705903"/>
            <a:ext cx="168510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  <p:sp>
        <p:nvSpPr>
          <p:cNvPr id="116" name="Shape 11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title"/>
          </p:nvPr>
        </p:nvSpPr>
        <p:spPr>
          <a:xfrm>
            <a:off x="251519" y="214932"/>
            <a:ext cx="8229601" cy="857251"/>
          </a:xfrm>
          <a:prstGeom prst="rect">
            <a:avLst/>
          </a:prstGeom>
        </p:spPr>
        <p:txBody>
          <a:bodyPr/>
          <a:lstStyle/>
          <a:p>
            <a:r>
              <a:t>Hashfunctie</a:t>
            </a:r>
          </a:p>
        </p:txBody>
      </p:sp>
      <p:graphicFrame>
        <p:nvGraphicFramePr>
          <p:cNvPr id="118" name="Table 118"/>
          <p:cNvGraphicFramePr/>
          <p:nvPr>
            <p:extLst>
              <p:ext uri="{D42A27DB-BD31-4B8C-83A1-F6EECF244321}">
                <p14:modId xmlns:p14="http://schemas.microsoft.com/office/powerpoint/2010/main" val="638480520"/>
              </p:ext>
            </p:extLst>
          </p:nvPr>
        </p:nvGraphicFramePr>
        <p:xfrm>
          <a:off x="5076056" y="1243908"/>
          <a:ext cx="2243211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1218"/>
                <a:gridCol w="1741993"/>
              </a:tblGrid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latin typeface="+mn-lt"/>
                          <a:ea typeface="+mn-ea"/>
                          <a:cs typeface="+mn-cs"/>
                          <a:sym typeface="Calibri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alex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1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24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2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christiaan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latin typeface="+mn-lt"/>
                          <a:ea typeface="+mn-ea"/>
                          <a:cs typeface="+mn-cs"/>
                          <a:sym typeface="Calibri"/>
                        </a:rPr>
                        <a:t>3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dirk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24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freek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24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 err="1">
                          <a:latin typeface="+mn-lt"/>
                          <a:ea typeface="+mn-ea"/>
                          <a:cs typeface="+mn-cs"/>
                          <a:sym typeface="Calibri"/>
                        </a:rPr>
                        <a:t>hugo</a:t>
                      </a:r>
                      <a:endParaRPr sz="2400" dirty="0"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21" name="Group 121"/>
          <p:cNvGrpSpPr/>
          <p:nvPr/>
        </p:nvGrpSpPr>
        <p:grpSpPr>
          <a:xfrm>
            <a:off x="1763688" y="2996951"/>
            <a:ext cx="2592290" cy="864097"/>
            <a:chOff x="0" y="0"/>
            <a:chExt cx="2592289" cy="864096"/>
          </a:xfrm>
        </p:grpSpPr>
        <p:sp>
          <p:nvSpPr>
            <p:cNvPr id="119" name="Shape 119"/>
            <p:cNvSpPr/>
            <p:nvPr/>
          </p:nvSpPr>
          <p:spPr>
            <a:xfrm>
              <a:off x="0" y="0"/>
              <a:ext cx="2592289" cy="86409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1219200">
                <a:defRPr sz="42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20" name="Shape 120"/>
            <p:cNvSpPr/>
            <p:nvPr/>
          </p:nvSpPr>
          <p:spPr>
            <a:xfrm>
              <a:off x="42181" y="42181"/>
              <a:ext cx="2507926" cy="646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defTabSz="1219200">
                <a:defRPr sz="42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rPr sz="3600" dirty="0"/>
                <a:t>Hashfunctie</a:t>
              </a:r>
              <a:endParaRPr dirty="0"/>
            </a:p>
          </p:txBody>
        </p:sp>
      </p:grpSp>
      <p:sp>
        <p:nvSpPr>
          <p:cNvPr id="122" name="Shape 122"/>
          <p:cNvSpPr/>
          <p:nvPr/>
        </p:nvSpPr>
        <p:spPr>
          <a:xfrm>
            <a:off x="611560" y="3284983"/>
            <a:ext cx="570568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 defTabSz="1219200"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erik</a:t>
            </a:r>
          </a:p>
        </p:txBody>
      </p:sp>
      <p:sp>
        <p:nvSpPr>
          <p:cNvPr id="125" name="Shape 125"/>
          <p:cNvSpPr/>
          <p:nvPr/>
        </p:nvSpPr>
        <p:spPr>
          <a:xfrm>
            <a:off x="1182127" y="3540785"/>
            <a:ext cx="568862" cy="517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 w="25400">
            <a:solidFill>
              <a:srgbClr val="000000"/>
            </a:solidFill>
            <a:tailEnd type="triangle"/>
          </a:ln>
          <a:effectLst>
            <a:outerShdw blurRad="38100" dist="127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4" name="Shape 124"/>
          <p:cNvSpPr/>
          <p:nvPr/>
        </p:nvSpPr>
        <p:spPr>
          <a:xfrm>
            <a:off x="4355975" y="3429000"/>
            <a:ext cx="720082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blurRad="38100" dist="127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1219200"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/>
          </p:cNvSpPr>
          <p:nvPr>
            <p:ph type="sldNum" sz="quarter" idx="2"/>
          </p:nvPr>
        </p:nvSpPr>
        <p:spPr>
          <a:xfrm>
            <a:off x="4635581" y="5705903"/>
            <a:ext cx="232878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9</a:t>
            </a:fld>
            <a:endParaRPr/>
          </a:p>
        </p:txBody>
      </p:sp>
      <p:sp>
        <p:nvSpPr>
          <p:cNvPr id="132" name="Shape 13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3" name="Shape 133"/>
          <p:cNvSpPr>
            <a:spLocks noGrp="1"/>
          </p:cNvSpPr>
          <p:nvPr>
            <p:ph type="title"/>
          </p:nvPr>
        </p:nvSpPr>
        <p:spPr>
          <a:xfrm>
            <a:off x="251519" y="169578"/>
            <a:ext cx="8229601" cy="857251"/>
          </a:xfrm>
          <a:prstGeom prst="rect">
            <a:avLst/>
          </a:prstGeom>
        </p:spPr>
        <p:txBody>
          <a:bodyPr/>
          <a:lstStyle/>
          <a:p>
            <a:r>
              <a:t>Collision (Botsing)</a:t>
            </a:r>
          </a:p>
        </p:txBody>
      </p:sp>
      <p:graphicFrame>
        <p:nvGraphicFramePr>
          <p:cNvPr id="134" name="Table 134"/>
          <p:cNvGraphicFramePr/>
          <p:nvPr>
            <p:extLst>
              <p:ext uri="{D42A27DB-BD31-4B8C-83A1-F6EECF244321}">
                <p14:modId xmlns:p14="http://schemas.microsoft.com/office/powerpoint/2010/main" val="1155358134"/>
              </p:ext>
            </p:extLst>
          </p:nvPr>
        </p:nvGraphicFramePr>
        <p:xfrm>
          <a:off x="5121000" y="1276859"/>
          <a:ext cx="2243211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1218"/>
                <a:gridCol w="1741993"/>
              </a:tblGrid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latin typeface="+mn-lt"/>
                          <a:ea typeface="+mn-ea"/>
                          <a:cs typeface="+mn-cs"/>
                          <a:sym typeface="Calibri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alex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1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24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2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christiaan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3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dirk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erik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freek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24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 err="1">
                          <a:latin typeface="+mn-lt"/>
                          <a:ea typeface="+mn-ea"/>
                          <a:cs typeface="+mn-cs"/>
                          <a:sym typeface="Calibri"/>
                        </a:rPr>
                        <a:t>hugo</a:t>
                      </a:r>
                      <a:endParaRPr sz="2400" dirty="0"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37" name="Group 137"/>
          <p:cNvGrpSpPr/>
          <p:nvPr/>
        </p:nvGrpSpPr>
        <p:grpSpPr>
          <a:xfrm>
            <a:off x="1763688" y="2996951"/>
            <a:ext cx="2592290" cy="864097"/>
            <a:chOff x="0" y="0"/>
            <a:chExt cx="2592289" cy="864096"/>
          </a:xfrm>
        </p:grpSpPr>
        <p:sp>
          <p:nvSpPr>
            <p:cNvPr id="135" name="Shape 135"/>
            <p:cNvSpPr/>
            <p:nvPr/>
          </p:nvSpPr>
          <p:spPr>
            <a:xfrm>
              <a:off x="0" y="0"/>
              <a:ext cx="2592289" cy="86409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1219200">
                <a:defRPr sz="42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36" name="Shape 136"/>
            <p:cNvSpPr/>
            <p:nvPr/>
          </p:nvSpPr>
          <p:spPr>
            <a:xfrm>
              <a:off x="42181" y="42181"/>
              <a:ext cx="2507926" cy="646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defTabSz="1219200">
                <a:defRPr sz="42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rPr sz="3600" dirty="0"/>
                <a:t>Hashfunctie</a:t>
              </a:r>
            </a:p>
          </p:txBody>
        </p:sp>
      </p:grpSp>
      <p:sp>
        <p:nvSpPr>
          <p:cNvPr id="138" name="Shape 138"/>
          <p:cNvSpPr/>
          <p:nvPr/>
        </p:nvSpPr>
        <p:spPr>
          <a:xfrm>
            <a:off x="723870" y="3275691"/>
            <a:ext cx="811670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 defTabSz="1219200"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erwin</a:t>
            </a:r>
          </a:p>
        </p:txBody>
      </p:sp>
      <p:sp>
        <p:nvSpPr>
          <p:cNvPr id="143" name="Shape 143"/>
          <p:cNvSpPr/>
          <p:nvPr/>
        </p:nvSpPr>
        <p:spPr>
          <a:xfrm>
            <a:off x="1535539" y="3548855"/>
            <a:ext cx="215450" cy="229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 w="25400">
            <a:solidFill>
              <a:srgbClr val="000000"/>
            </a:solidFill>
            <a:tailEnd type="triangle"/>
          </a:ln>
          <a:effectLst>
            <a:outerShdw blurRad="38100" dist="127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0" name="Shape 140"/>
          <p:cNvSpPr/>
          <p:nvPr/>
        </p:nvSpPr>
        <p:spPr>
          <a:xfrm>
            <a:off x="4355975" y="3429000"/>
            <a:ext cx="720082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blurRad="38100" dist="127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1219200"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1" name="Shape 141"/>
          <p:cNvSpPr/>
          <p:nvPr/>
        </p:nvSpPr>
        <p:spPr>
          <a:xfrm>
            <a:off x="4515980" y="2990133"/>
            <a:ext cx="328065" cy="301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524"/>
                </a:moveTo>
                <a:lnTo>
                  <a:pt x="4354" y="0"/>
                </a:lnTo>
                <a:lnTo>
                  <a:pt x="10800" y="6008"/>
                </a:lnTo>
                <a:lnTo>
                  <a:pt x="17246" y="0"/>
                </a:lnTo>
                <a:lnTo>
                  <a:pt x="21600" y="5524"/>
                </a:lnTo>
                <a:lnTo>
                  <a:pt x="15940" y="10800"/>
                </a:lnTo>
                <a:lnTo>
                  <a:pt x="21600" y="16076"/>
                </a:lnTo>
                <a:lnTo>
                  <a:pt x="17246" y="21600"/>
                </a:lnTo>
                <a:lnTo>
                  <a:pt x="10800" y="15592"/>
                </a:lnTo>
                <a:lnTo>
                  <a:pt x="4354" y="21600"/>
                </a:lnTo>
                <a:lnTo>
                  <a:pt x="0" y="16076"/>
                </a:lnTo>
                <a:lnTo>
                  <a:pt x="5660" y="10800"/>
                </a:lnTo>
                <a:close/>
              </a:path>
            </a:pathLst>
          </a:custGeom>
          <a:solidFill>
            <a:srgbClr val="FF0000"/>
          </a:solidFill>
          <a:ln w="3175">
            <a:solidFill>
              <a:srgbClr val="FF0000"/>
            </a:solidFill>
          </a:ln>
          <a:effectLst>
            <a:outerShdw blurRad="38100" dist="127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1219200"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2" name="Shape 142"/>
          <p:cNvSpPr/>
          <p:nvPr/>
        </p:nvSpPr>
        <p:spPr>
          <a:xfrm>
            <a:off x="3973722" y="2468755"/>
            <a:ext cx="1147278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 defTabSz="1219200"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Collision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>
            <a:spLocks noGrp="1"/>
          </p:cNvSpPr>
          <p:nvPr>
            <p:ph type="sldNum" sz="quarter" idx="2"/>
          </p:nvPr>
        </p:nvSpPr>
        <p:spPr>
          <a:xfrm>
            <a:off x="4635581" y="5705903"/>
            <a:ext cx="232878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10</a:t>
            </a:fld>
            <a:endParaRPr/>
          </a:p>
        </p:txBody>
      </p:sp>
      <p:sp>
        <p:nvSpPr>
          <p:cNvPr id="147" name="Shape 14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48" name="Shape 148"/>
          <p:cNvSpPr>
            <a:spLocks noGrp="1"/>
          </p:cNvSpPr>
          <p:nvPr>
            <p:ph type="title"/>
          </p:nvPr>
        </p:nvSpPr>
        <p:spPr>
          <a:xfrm>
            <a:off x="251519" y="213487"/>
            <a:ext cx="8229601" cy="857251"/>
          </a:xfrm>
          <a:prstGeom prst="rect">
            <a:avLst/>
          </a:prstGeom>
        </p:spPr>
        <p:txBody>
          <a:bodyPr/>
          <a:lstStyle/>
          <a:p>
            <a:r>
              <a:t>Linear Probing</a:t>
            </a:r>
          </a:p>
        </p:txBody>
      </p:sp>
      <p:graphicFrame>
        <p:nvGraphicFramePr>
          <p:cNvPr id="149" name="Table 149"/>
          <p:cNvGraphicFramePr/>
          <p:nvPr>
            <p:extLst>
              <p:ext uri="{D42A27DB-BD31-4B8C-83A1-F6EECF244321}">
                <p14:modId xmlns:p14="http://schemas.microsoft.com/office/powerpoint/2010/main" val="2794958547"/>
              </p:ext>
            </p:extLst>
          </p:nvPr>
        </p:nvGraphicFramePr>
        <p:xfrm>
          <a:off x="5121000" y="1252025"/>
          <a:ext cx="2243211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01218"/>
                <a:gridCol w="1741993"/>
              </a:tblGrid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latin typeface="+mn-lt"/>
                          <a:ea typeface="+mn-ea"/>
                          <a:cs typeface="+mn-cs"/>
                          <a:sym typeface="Calibri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alex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1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24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2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christiaan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3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dirk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 err="1">
                          <a:latin typeface="+mn-lt"/>
                          <a:ea typeface="+mn-ea"/>
                          <a:cs typeface="+mn-cs"/>
                          <a:sym typeface="Calibri"/>
                        </a:rPr>
                        <a:t>erik</a:t>
                      </a:r>
                      <a:endParaRPr sz="2400" dirty="0"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freek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erwin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 err="1">
                          <a:latin typeface="+mn-lt"/>
                          <a:ea typeface="+mn-ea"/>
                          <a:cs typeface="+mn-cs"/>
                          <a:sym typeface="Calibri"/>
                        </a:rPr>
                        <a:t>hugo</a:t>
                      </a:r>
                      <a:endParaRPr sz="2400" dirty="0"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52" name="Group 152"/>
          <p:cNvGrpSpPr/>
          <p:nvPr/>
        </p:nvGrpSpPr>
        <p:grpSpPr>
          <a:xfrm>
            <a:off x="1763688" y="2996951"/>
            <a:ext cx="2592290" cy="864097"/>
            <a:chOff x="0" y="0"/>
            <a:chExt cx="2592289" cy="864096"/>
          </a:xfrm>
        </p:grpSpPr>
        <p:sp>
          <p:nvSpPr>
            <p:cNvPr id="150" name="Shape 150"/>
            <p:cNvSpPr/>
            <p:nvPr/>
          </p:nvSpPr>
          <p:spPr>
            <a:xfrm>
              <a:off x="0" y="0"/>
              <a:ext cx="2592289" cy="86409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1219200">
                <a:defRPr sz="42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51" name="Shape 151"/>
            <p:cNvSpPr/>
            <p:nvPr/>
          </p:nvSpPr>
          <p:spPr>
            <a:xfrm>
              <a:off x="42181" y="42181"/>
              <a:ext cx="2507926" cy="646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defTabSz="1219200">
                <a:defRPr sz="42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rPr sz="3600" dirty="0"/>
                <a:t>Hashfunctie</a:t>
              </a:r>
            </a:p>
          </p:txBody>
        </p:sp>
      </p:grpSp>
      <p:sp>
        <p:nvSpPr>
          <p:cNvPr id="153" name="Shape 153"/>
          <p:cNvSpPr/>
          <p:nvPr/>
        </p:nvSpPr>
        <p:spPr>
          <a:xfrm>
            <a:off x="723870" y="3275691"/>
            <a:ext cx="811670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 defTabSz="1219200"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erwin</a:t>
            </a:r>
          </a:p>
        </p:txBody>
      </p:sp>
      <p:sp>
        <p:nvSpPr>
          <p:cNvPr id="159" name="Shape 159"/>
          <p:cNvSpPr/>
          <p:nvPr/>
        </p:nvSpPr>
        <p:spPr>
          <a:xfrm>
            <a:off x="1535539" y="3548855"/>
            <a:ext cx="215450" cy="229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 w="25400">
            <a:solidFill>
              <a:srgbClr val="000000"/>
            </a:solidFill>
            <a:tailEnd type="triangle"/>
          </a:ln>
          <a:effectLst>
            <a:outerShdw blurRad="38100" dist="127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5" name="Shape 155"/>
          <p:cNvSpPr/>
          <p:nvPr/>
        </p:nvSpPr>
        <p:spPr>
          <a:xfrm>
            <a:off x="4355975" y="3429000"/>
            <a:ext cx="720082" cy="0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blurRad="38100" dist="127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1219200"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56" name="Shape 156"/>
          <p:cNvSpPr/>
          <p:nvPr/>
        </p:nvSpPr>
        <p:spPr>
          <a:xfrm>
            <a:off x="4515980" y="2990133"/>
            <a:ext cx="328065" cy="301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5524"/>
                </a:moveTo>
                <a:lnTo>
                  <a:pt x="4354" y="0"/>
                </a:lnTo>
                <a:lnTo>
                  <a:pt x="10800" y="6008"/>
                </a:lnTo>
                <a:lnTo>
                  <a:pt x="17246" y="0"/>
                </a:lnTo>
                <a:lnTo>
                  <a:pt x="21600" y="5524"/>
                </a:lnTo>
                <a:lnTo>
                  <a:pt x="15940" y="10800"/>
                </a:lnTo>
                <a:lnTo>
                  <a:pt x="21600" y="16076"/>
                </a:lnTo>
                <a:lnTo>
                  <a:pt x="17246" y="21600"/>
                </a:lnTo>
                <a:lnTo>
                  <a:pt x="10800" y="15592"/>
                </a:lnTo>
                <a:lnTo>
                  <a:pt x="4354" y="21600"/>
                </a:lnTo>
                <a:lnTo>
                  <a:pt x="0" y="16076"/>
                </a:lnTo>
                <a:lnTo>
                  <a:pt x="5660" y="10800"/>
                </a:lnTo>
                <a:close/>
              </a:path>
            </a:pathLst>
          </a:custGeom>
          <a:solidFill>
            <a:srgbClr val="FF0000"/>
          </a:solidFill>
          <a:ln w="3175">
            <a:solidFill>
              <a:srgbClr val="FF0000"/>
            </a:solidFill>
          </a:ln>
          <a:effectLst>
            <a:outerShdw blurRad="38100" dist="127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1219200">
              <a:defRPr sz="24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57" name="Shape 157"/>
          <p:cNvSpPr/>
          <p:nvPr/>
        </p:nvSpPr>
        <p:spPr>
          <a:xfrm>
            <a:off x="3973722" y="2468755"/>
            <a:ext cx="1147278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 defTabSz="1219200"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Collision</a:t>
            </a:r>
          </a:p>
        </p:txBody>
      </p:sp>
      <p:sp>
        <p:nvSpPr>
          <p:cNvPr id="158" name="Shape 158"/>
          <p:cNvSpPr/>
          <p:nvPr/>
        </p:nvSpPr>
        <p:spPr>
          <a:xfrm rot="16200000" flipH="1">
            <a:off x="4346869" y="3555119"/>
            <a:ext cx="868807" cy="5895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0" y="9671"/>
                  <a:pt x="4559" y="0"/>
                  <a:pt x="10182" y="0"/>
                </a:cubicBezTo>
                <a:cubicBezTo>
                  <a:pt x="15019" y="0"/>
                  <a:pt x="19189" y="7220"/>
                  <a:pt x="20158" y="17273"/>
                </a:cubicBezTo>
                <a:lnTo>
                  <a:pt x="21600" y="17273"/>
                </a:lnTo>
                <a:lnTo>
                  <a:pt x="18909" y="21600"/>
                </a:lnTo>
                <a:lnTo>
                  <a:pt x="15782" y="17273"/>
                </a:lnTo>
                <a:lnTo>
                  <a:pt x="17224" y="17273"/>
                </a:lnTo>
                <a:lnTo>
                  <a:pt x="17224" y="17273"/>
                </a:lnTo>
                <a:cubicBezTo>
                  <a:pt x="16220" y="8015"/>
                  <a:pt x="12254" y="2447"/>
                  <a:pt x="8364" y="4836"/>
                </a:cubicBezTo>
                <a:cubicBezTo>
                  <a:pt x="5153" y="6810"/>
                  <a:pt x="2909" y="13705"/>
                  <a:pt x="2909" y="21600"/>
                </a:cubicBezTo>
                <a:close/>
              </a:path>
            </a:pathLst>
          </a:custGeom>
          <a:gradFill>
            <a:gsLst>
              <a:gs pos="0">
                <a:srgbClr val="2E5E97"/>
              </a:gs>
              <a:gs pos="80000">
                <a:srgbClr val="3C7BC7"/>
              </a:gs>
              <a:gs pos="100000">
                <a:srgbClr val="3A7CCA"/>
              </a:gs>
            </a:gsLst>
            <a:lin ang="16200000"/>
          </a:gradFill>
          <a:ln w="3175">
            <a:solidFill>
              <a:srgbClr val="4A7EBB"/>
            </a:solidFill>
          </a:ln>
          <a:effectLst>
            <a:outerShdw blurRad="38100" dist="127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1219200"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/>
        </p:nvSpPr>
        <p:spPr>
          <a:xfrm>
            <a:off x="539551" y="5005271"/>
            <a:ext cx="4328908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19" rIns="45719">
            <a:spAutoFit/>
          </a:bodyPr>
          <a:lstStyle>
            <a:lvl1pPr defTabSz="1219200">
              <a:defRPr sz="1600"/>
            </a:lvl1pPr>
          </a:lstStyle>
          <a:p>
            <a:r>
              <a:rPr dirty="0"/>
              <a:t>Dit is een uitwerking met een linked list. </a:t>
            </a:r>
            <a:endParaRPr lang="nl-NL" dirty="0" smtClean="0"/>
          </a:p>
          <a:p>
            <a:r>
              <a:rPr dirty="0" smtClean="0"/>
              <a:t>Er </a:t>
            </a:r>
            <a:r>
              <a:rPr dirty="0"/>
              <a:t>zijn ook andere datastructuren </a:t>
            </a:r>
            <a:endParaRPr lang="nl-NL" dirty="0" smtClean="0"/>
          </a:p>
          <a:p>
            <a:r>
              <a:rPr dirty="0" smtClean="0"/>
              <a:t>waar </a:t>
            </a:r>
            <a:r>
              <a:rPr dirty="0"/>
              <a:t>dit mogelijk is.</a:t>
            </a:r>
          </a:p>
        </p:txBody>
      </p:sp>
      <p:sp>
        <p:nvSpPr>
          <p:cNvPr id="162" name="Shape 162"/>
          <p:cNvSpPr>
            <a:spLocks noGrp="1"/>
          </p:cNvSpPr>
          <p:nvPr>
            <p:ph type="sldNum" sz="quarter" idx="2"/>
          </p:nvPr>
        </p:nvSpPr>
        <p:spPr>
          <a:xfrm>
            <a:off x="4635581" y="5705903"/>
            <a:ext cx="232878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11</a:t>
            </a:fld>
            <a:endParaRPr/>
          </a:p>
        </p:txBody>
      </p:sp>
      <p:sp>
        <p:nvSpPr>
          <p:cNvPr id="163" name="Shape 163"/>
          <p:cNvSpPr>
            <a:spLocks noGrp="1"/>
          </p:cNvSpPr>
          <p:nvPr>
            <p:ph type="body" sz="half" idx="1"/>
          </p:nvPr>
        </p:nvSpPr>
        <p:spPr>
          <a:xfrm>
            <a:off x="539551" y="1772816"/>
            <a:ext cx="6912769" cy="3232455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64" name="Shape 164"/>
          <p:cNvSpPr>
            <a:spLocks noGrp="1"/>
          </p:cNvSpPr>
          <p:nvPr>
            <p:ph type="title"/>
          </p:nvPr>
        </p:nvSpPr>
        <p:spPr>
          <a:xfrm>
            <a:off x="251519" y="175175"/>
            <a:ext cx="8229601" cy="857251"/>
          </a:xfrm>
          <a:prstGeom prst="rect">
            <a:avLst/>
          </a:prstGeom>
        </p:spPr>
        <p:txBody>
          <a:bodyPr/>
          <a:lstStyle/>
          <a:p>
            <a:r>
              <a:t>Seperate chaining</a:t>
            </a:r>
          </a:p>
        </p:txBody>
      </p:sp>
      <p:graphicFrame>
        <p:nvGraphicFramePr>
          <p:cNvPr id="165" name="Table 165"/>
          <p:cNvGraphicFramePr/>
          <p:nvPr>
            <p:extLst>
              <p:ext uri="{D42A27DB-BD31-4B8C-83A1-F6EECF244321}">
                <p14:modId xmlns:p14="http://schemas.microsoft.com/office/powerpoint/2010/main" val="3635922620"/>
              </p:ext>
            </p:extLst>
          </p:nvPr>
        </p:nvGraphicFramePr>
        <p:xfrm>
          <a:off x="5088756" y="1395225"/>
          <a:ext cx="491356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45678"/>
                <a:gridCol w="245678"/>
              </a:tblGrid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latin typeface="+mn-lt"/>
                          <a:ea typeface="+mn-ea"/>
                          <a:cs typeface="+mn-cs"/>
                          <a:sym typeface="Calibri"/>
                        </a:rPr>
                        <a:t>0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24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latin typeface="+mn-lt"/>
                          <a:ea typeface="+mn-ea"/>
                          <a:cs typeface="+mn-cs"/>
                          <a:sym typeface="Calibri"/>
                        </a:rPr>
                        <a:t>1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24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2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24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3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24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defRPr>
                      </a:pPr>
                      <a:endParaRPr dirty="0"/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4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24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5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24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6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24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defRPr>
                      </a:pPr>
                      <a:endParaRPr/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defTabSz="1219200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+mn-lt"/>
                          <a:ea typeface="+mn-ea"/>
                          <a:cs typeface="+mn-cs"/>
                          <a:sym typeface="Calibri"/>
                        </a:rPr>
                        <a:t>7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1219200">
                        <a:defRPr sz="24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  <a:sym typeface="Calibri"/>
                        </a:defRPr>
                      </a:pPr>
                      <a:endParaRPr dirty="0"/>
                    </a:p>
                  </a:txBody>
                  <a:tcPr marL="45720" marR="4572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68" name="Group 168"/>
          <p:cNvGrpSpPr/>
          <p:nvPr/>
        </p:nvGrpSpPr>
        <p:grpSpPr>
          <a:xfrm>
            <a:off x="1835696" y="2780927"/>
            <a:ext cx="2592290" cy="864097"/>
            <a:chOff x="0" y="0"/>
            <a:chExt cx="2592289" cy="864096"/>
          </a:xfrm>
        </p:grpSpPr>
        <p:sp>
          <p:nvSpPr>
            <p:cNvPr id="166" name="Shape 166"/>
            <p:cNvSpPr/>
            <p:nvPr/>
          </p:nvSpPr>
          <p:spPr>
            <a:xfrm>
              <a:off x="0" y="0"/>
              <a:ext cx="2592289" cy="86409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1219200">
                <a:defRPr sz="42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67" name="Shape 167"/>
            <p:cNvSpPr/>
            <p:nvPr/>
          </p:nvSpPr>
          <p:spPr>
            <a:xfrm>
              <a:off x="42181" y="42181"/>
              <a:ext cx="2507926" cy="646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defTabSz="1219200">
                <a:defRPr sz="42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rPr sz="3600" dirty="0"/>
                <a:t>Hashfunctie</a:t>
              </a:r>
            </a:p>
          </p:txBody>
        </p:sp>
      </p:grpSp>
      <p:sp>
        <p:nvSpPr>
          <p:cNvPr id="169" name="Shape 169"/>
          <p:cNvSpPr/>
          <p:nvPr/>
        </p:nvSpPr>
        <p:spPr>
          <a:xfrm>
            <a:off x="723870" y="3059668"/>
            <a:ext cx="811670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 defTabSz="1219200"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dirty="0" err="1"/>
              <a:t>erwin</a:t>
            </a:r>
            <a:endParaRPr dirty="0"/>
          </a:p>
        </p:txBody>
      </p:sp>
      <p:sp>
        <p:nvSpPr>
          <p:cNvPr id="200" name="Shape 200"/>
          <p:cNvSpPr/>
          <p:nvPr/>
        </p:nvSpPr>
        <p:spPr>
          <a:xfrm>
            <a:off x="1535539" y="3331274"/>
            <a:ext cx="287458" cy="295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 w="25400">
            <a:solidFill>
              <a:srgbClr val="000000"/>
            </a:solidFill>
            <a:tailEnd type="triangle"/>
          </a:ln>
          <a:effectLst>
            <a:outerShdw blurRad="38100" dist="127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1" name="Shape 201"/>
          <p:cNvSpPr/>
          <p:nvPr/>
        </p:nvSpPr>
        <p:spPr>
          <a:xfrm>
            <a:off x="4409909" y="3594377"/>
            <a:ext cx="640748" cy="496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ln w="25400">
            <a:solidFill>
              <a:srgbClr val="000000"/>
            </a:solidFill>
            <a:tailEnd type="triangle"/>
          </a:ln>
          <a:effectLst>
            <a:outerShdw blurRad="38100" dist="127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/>
          </a:p>
        </p:txBody>
      </p:sp>
      <p:grpSp>
        <p:nvGrpSpPr>
          <p:cNvPr id="174" name="Group 174"/>
          <p:cNvGrpSpPr/>
          <p:nvPr/>
        </p:nvGrpSpPr>
        <p:grpSpPr>
          <a:xfrm>
            <a:off x="6084168" y="2371038"/>
            <a:ext cx="1440161" cy="459741"/>
            <a:chOff x="0" y="-44450"/>
            <a:chExt cx="1440160" cy="459740"/>
          </a:xfrm>
        </p:grpSpPr>
        <p:sp>
          <p:nvSpPr>
            <p:cNvPr id="172" name="Shape 172"/>
            <p:cNvSpPr/>
            <p:nvPr/>
          </p:nvSpPr>
          <p:spPr>
            <a:xfrm>
              <a:off x="0" y="5399"/>
              <a:ext cx="1440161" cy="360042"/>
            </a:xfrm>
            <a:prstGeom prst="rect">
              <a:avLst/>
            </a:prstGeom>
            <a:noFill/>
            <a:ln w="3175" cap="flat">
              <a:solidFill>
                <a:srgbClr val="000000"/>
              </a:solidFill>
              <a:prstDash val="solid"/>
              <a:round/>
            </a:ln>
            <a:effectLst>
              <a:outerShdw blurRad="38100" dist="127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1219200">
                <a:defRPr sz="24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73" name="Shape 173"/>
            <p:cNvSpPr/>
            <p:nvPr/>
          </p:nvSpPr>
          <p:spPr>
            <a:xfrm>
              <a:off x="0" y="-44450"/>
              <a:ext cx="1440161" cy="459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blurRad="38100" dist="12700" dir="5400000" rotWithShape="0">
                <a:srgbClr val="000000">
                  <a:alpha val="35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 defTabSz="1219200">
                <a:defRPr sz="24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t>christiaan</a:t>
              </a:r>
            </a:p>
          </p:txBody>
        </p:sp>
      </p:grpSp>
      <p:grpSp>
        <p:nvGrpSpPr>
          <p:cNvPr id="177" name="Group 177"/>
          <p:cNvGrpSpPr/>
          <p:nvPr/>
        </p:nvGrpSpPr>
        <p:grpSpPr>
          <a:xfrm>
            <a:off x="6084168" y="1650958"/>
            <a:ext cx="1440161" cy="459741"/>
            <a:chOff x="0" y="-44450"/>
            <a:chExt cx="1440160" cy="459740"/>
          </a:xfrm>
        </p:grpSpPr>
        <p:sp>
          <p:nvSpPr>
            <p:cNvPr id="175" name="Shape 175"/>
            <p:cNvSpPr/>
            <p:nvPr/>
          </p:nvSpPr>
          <p:spPr>
            <a:xfrm>
              <a:off x="0" y="5399"/>
              <a:ext cx="1440161" cy="360042"/>
            </a:xfrm>
            <a:prstGeom prst="rect">
              <a:avLst/>
            </a:prstGeom>
            <a:noFill/>
            <a:ln w="3175" cap="flat">
              <a:solidFill>
                <a:srgbClr val="000000"/>
              </a:solidFill>
              <a:prstDash val="solid"/>
              <a:round/>
            </a:ln>
            <a:effectLst>
              <a:outerShdw blurRad="38100" dist="127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1219200">
                <a:defRPr sz="24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76" name="Shape 176"/>
            <p:cNvSpPr/>
            <p:nvPr/>
          </p:nvSpPr>
          <p:spPr>
            <a:xfrm>
              <a:off x="0" y="-44450"/>
              <a:ext cx="1440161" cy="459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blurRad="38100" dist="12700" dir="5400000" rotWithShape="0">
                <a:srgbClr val="000000">
                  <a:alpha val="35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 defTabSz="1219200">
                <a:defRPr sz="24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t>alex</a:t>
              </a:r>
            </a:p>
          </p:txBody>
        </p:sp>
      </p:grpSp>
      <p:grpSp>
        <p:nvGrpSpPr>
          <p:cNvPr id="180" name="Group 180"/>
          <p:cNvGrpSpPr/>
          <p:nvPr/>
        </p:nvGrpSpPr>
        <p:grpSpPr>
          <a:xfrm>
            <a:off x="6084168" y="2875093"/>
            <a:ext cx="1440161" cy="459741"/>
            <a:chOff x="0" y="-44450"/>
            <a:chExt cx="1440160" cy="459740"/>
          </a:xfrm>
        </p:grpSpPr>
        <p:sp>
          <p:nvSpPr>
            <p:cNvPr id="178" name="Shape 178"/>
            <p:cNvSpPr/>
            <p:nvPr/>
          </p:nvSpPr>
          <p:spPr>
            <a:xfrm>
              <a:off x="0" y="5399"/>
              <a:ext cx="1440161" cy="360042"/>
            </a:xfrm>
            <a:prstGeom prst="rect">
              <a:avLst/>
            </a:prstGeom>
            <a:noFill/>
            <a:ln w="3175" cap="flat">
              <a:solidFill>
                <a:srgbClr val="000000"/>
              </a:solidFill>
              <a:prstDash val="solid"/>
              <a:round/>
            </a:ln>
            <a:effectLst>
              <a:outerShdw blurRad="38100" dist="127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1219200">
                <a:defRPr sz="24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79" name="Shape 179"/>
            <p:cNvSpPr/>
            <p:nvPr/>
          </p:nvSpPr>
          <p:spPr>
            <a:xfrm>
              <a:off x="0" y="-44450"/>
              <a:ext cx="1440161" cy="459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blurRad="38100" dist="12700" dir="5400000" rotWithShape="0">
                <a:srgbClr val="000000">
                  <a:alpha val="35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 defTabSz="1219200">
                <a:defRPr sz="24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t>dirk</a:t>
              </a:r>
            </a:p>
          </p:txBody>
        </p:sp>
      </p:grpSp>
      <p:grpSp>
        <p:nvGrpSpPr>
          <p:cNvPr id="183" name="Group 183"/>
          <p:cNvGrpSpPr/>
          <p:nvPr/>
        </p:nvGrpSpPr>
        <p:grpSpPr>
          <a:xfrm>
            <a:off x="6084168" y="3307141"/>
            <a:ext cx="1440161" cy="459741"/>
            <a:chOff x="0" y="-44450"/>
            <a:chExt cx="1440160" cy="459740"/>
          </a:xfrm>
        </p:grpSpPr>
        <p:sp>
          <p:nvSpPr>
            <p:cNvPr id="181" name="Shape 181"/>
            <p:cNvSpPr/>
            <p:nvPr/>
          </p:nvSpPr>
          <p:spPr>
            <a:xfrm>
              <a:off x="0" y="5399"/>
              <a:ext cx="1440161" cy="360042"/>
            </a:xfrm>
            <a:prstGeom prst="rect">
              <a:avLst/>
            </a:prstGeom>
            <a:noFill/>
            <a:ln w="3175" cap="flat">
              <a:solidFill>
                <a:srgbClr val="000000"/>
              </a:solidFill>
              <a:prstDash val="solid"/>
              <a:round/>
            </a:ln>
            <a:effectLst>
              <a:outerShdw blurRad="38100" dist="127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1219200">
                <a:defRPr sz="24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82" name="Shape 182"/>
            <p:cNvSpPr/>
            <p:nvPr/>
          </p:nvSpPr>
          <p:spPr>
            <a:xfrm>
              <a:off x="0" y="-44450"/>
              <a:ext cx="1440161" cy="459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blurRad="38100" dist="12700" dir="5400000" rotWithShape="0">
                <a:srgbClr val="000000">
                  <a:alpha val="35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 defTabSz="1219200">
                <a:defRPr sz="24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rPr dirty="0"/>
                <a:t>erik</a:t>
              </a:r>
            </a:p>
          </p:txBody>
        </p:sp>
      </p:grpSp>
      <p:grpSp>
        <p:nvGrpSpPr>
          <p:cNvPr id="186" name="Group 186"/>
          <p:cNvGrpSpPr/>
          <p:nvPr/>
        </p:nvGrpSpPr>
        <p:grpSpPr>
          <a:xfrm>
            <a:off x="6084168" y="3955213"/>
            <a:ext cx="1440161" cy="459742"/>
            <a:chOff x="0" y="-44450"/>
            <a:chExt cx="1440160" cy="459740"/>
          </a:xfrm>
        </p:grpSpPr>
        <p:sp>
          <p:nvSpPr>
            <p:cNvPr id="184" name="Shape 184"/>
            <p:cNvSpPr/>
            <p:nvPr/>
          </p:nvSpPr>
          <p:spPr>
            <a:xfrm>
              <a:off x="0" y="5399"/>
              <a:ext cx="1440161" cy="360042"/>
            </a:xfrm>
            <a:prstGeom prst="rect">
              <a:avLst/>
            </a:prstGeom>
            <a:noFill/>
            <a:ln w="3175" cap="flat">
              <a:solidFill>
                <a:srgbClr val="000000"/>
              </a:solidFill>
              <a:prstDash val="solid"/>
              <a:round/>
            </a:ln>
            <a:effectLst>
              <a:outerShdw blurRad="38100" dist="127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1219200">
                <a:defRPr sz="24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85" name="Shape 185"/>
            <p:cNvSpPr/>
            <p:nvPr/>
          </p:nvSpPr>
          <p:spPr>
            <a:xfrm>
              <a:off x="0" y="-44450"/>
              <a:ext cx="1440161" cy="459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blurRad="38100" dist="12700" dir="5400000" rotWithShape="0">
                <a:srgbClr val="000000">
                  <a:alpha val="35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 defTabSz="1219200">
                <a:defRPr sz="24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t>freek</a:t>
              </a:r>
            </a:p>
          </p:txBody>
        </p:sp>
      </p:grpSp>
      <p:grpSp>
        <p:nvGrpSpPr>
          <p:cNvPr id="189" name="Group 189"/>
          <p:cNvGrpSpPr/>
          <p:nvPr/>
        </p:nvGrpSpPr>
        <p:grpSpPr>
          <a:xfrm>
            <a:off x="6084168" y="4459270"/>
            <a:ext cx="1440161" cy="459741"/>
            <a:chOff x="0" y="-44450"/>
            <a:chExt cx="1440160" cy="459740"/>
          </a:xfrm>
        </p:grpSpPr>
        <p:sp>
          <p:nvSpPr>
            <p:cNvPr id="187" name="Shape 187"/>
            <p:cNvSpPr/>
            <p:nvPr/>
          </p:nvSpPr>
          <p:spPr>
            <a:xfrm>
              <a:off x="0" y="5399"/>
              <a:ext cx="1440161" cy="360042"/>
            </a:xfrm>
            <a:prstGeom prst="rect">
              <a:avLst/>
            </a:prstGeom>
            <a:noFill/>
            <a:ln w="3175" cap="flat">
              <a:solidFill>
                <a:srgbClr val="000000"/>
              </a:solidFill>
              <a:prstDash val="solid"/>
              <a:round/>
            </a:ln>
            <a:effectLst>
              <a:outerShdw blurRad="38100" dist="127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1219200">
                <a:defRPr sz="24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88" name="Shape 188"/>
            <p:cNvSpPr/>
            <p:nvPr/>
          </p:nvSpPr>
          <p:spPr>
            <a:xfrm>
              <a:off x="0" y="-44450"/>
              <a:ext cx="1440161" cy="459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blurRad="38100" dist="12700" dir="5400000" rotWithShape="0">
                <a:srgbClr val="000000">
                  <a:alpha val="35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 defTabSz="1219200">
                <a:defRPr sz="24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t>hugo</a:t>
              </a:r>
            </a:p>
          </p:txBody>
        </p:sp>
      </p:grpSp>
      <p:sp>
        <p:nvSpPr>
          <p:cNvPr id="190" name="Shape 190"/>
          <p:cNvSpPr/>
          <p:nvPr/>
        </p:nvSpPr>
        <p:spPr>
          <a:xfrm>
            <a:off x="5580112" y="3429000"/>
            <a:ext cx="504057" cy="108013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blurRad="38100" dist="127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1219200"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91" name="Shape 191"/>
          <p:cNvSpPr/>
          <p:nvPr/>
        </p:nvSpPr>
        <p:spPr>
          <a:xfrm>
            <a:off x="5580112" y="3068959"/>
            <a:ext cx="504057" cy="72009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blurRad="38100" dist="127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1219200"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92" name="Shape 192"/>
          <p:cNvSpPr/>
          <p:nvPr/>
        </p:nvSpPr>
        <p:spPr>
          <a:xfrm flipV="1">
            <a:off x="5580112" y="2636911"/>
            <a:ext cx="504057" cy="72009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blurRad="38100" dist="127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1219200"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93" name="Shape 193"/>
          <p:cNvSpPr/>
          <p:nvPr/>
        </p:nvSpPr>
        <p:spPr>
          <a:xfrm>
            <a:off x="5580112" y="1844824"/>
            <a:ext cx="504057" cy="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blurRad="38100" dist="127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1219200"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94" name="Shape 194"/>
          <p:cNvSpPr/>
          <p:nvPr/>
        </p:nvSpPr>
        <p:spPr>
          <a:xfrm>
            <a:off x="5580112" y="4149080"/>
            <a:ext cx="504057" cy="36005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blurRad="38100" dist="127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1219200"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95" name="Shape 195"/>
          <p:cNvSpPr/>
          <p:nvPr/>
        </p:nvSpPr>
        <p:spPr>
          <a:xfrm>
            <a:off x="5580112" y="4509120"/>
            <a:ext cx="504057" cy="180021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blurRad="38100" dist="127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1219200"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grpSp>
        <p:nvGrpSpPr>
          <p:cNvPr id="198" name="Group 198"/>
          <p:cNvGrpSpPr/>
          <p:nvPr/>
        </p:nvGrpSpPr>
        <p:grpSpPr>
          <a:xfrm>
            <a:off x="8028384" y="3379149"/>
            <a:ext cx="936105" cy="459741"/>
            <a:chOff x="0" y="-44450"/>
            <a:chExt cx="936104" cy="459740"/>
          </a:xfrm>
        </p:grpSpPr>
        <p:sp>
          <p:nvSpPr>
            <p:cNvPr id="196" name="Shape 196"/>
            <p:cNvSpPr/>
            <p:nvPr/>
          </p:nvSpPr>
          <p:spPr>
            <a:xfrm>
              <a:off x="0" y="5399"/>
              <a:ext cx="936105" cy="360042"/>
            </a:xfrm>
            <a:prstGeom prst="rect">
              <a:avLst/>
            </a:prstGeom>
            <a:noFill/>
            <a:ln w="3175" cap="flat">
              <a:solidFill>
                <a:srgbClr val="000000"/>
              </a:solidFill>
              <a:prstDash val="solid"/>
              <a:round/>
            </a:ln>
            <a:effectLst>
              <a:outerShdw blurRad="38100" dist="127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1219200">
                <a:defRPr sz="24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97" name="Shape 197"/>
            <p:cNvSpPr/>
            <p:nvPr/>
          </p:nvSpPr>
          <p:spPr>
            <a:xfrm>
              <a:off x="0" y="-44450"/>
              <a:ext cx="936105" cy="459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blurRad="38100" dist="12700" dir="5400000" rotWithShape="0">
                <a:srgbClr val="000000">
                  <a:alpha val="35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 defTabSz="1219200">
                <a:defRPr sz="240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t>erwin</a:t>
              </a:r>
            </a:p>
          </p:txBody>
        </p:sp>
      </p:grpSp>
      <p:sp>
        <p:nvSpPr>
          <p:cNvPr id="199" name="Shape 199"/>
          <p:cNvSpPr/>
          <p:nvPr/>
        </p:nvSpPr>
        <p:spPr>
          <a:xfrm>
            <a:off x="7524328" y="3501008"/>
            <a:ext cx="504057" cy="108013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  <a:effectLst>
            <a:outerShdw blurRad="38100" dist="127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1219200"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/>
          <p:nvPr/>
        </p:nvSpPr>
        <p:spPr>
          <a:xfrm>
            <a:off x="3023318" y="4791068"/>
            <a:ext cx="6120682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defTabSz="1219200">
              <a:defRPr sz="1600"/>
            </a:pPr>
            <a:r>
              <a:rPr dirty="0" err="1" smtClean="0"/>
              <a:t>Gemaakt</a:t>
            </a:r>
            <a:r>
              <a:rPr dirty="0" smtClean="0"/>
              <a:t> </a:t>
            </a:r>
            <a:r>
              <a:rPr dirty="0"/>
              <a:t>door: Derrick Coetzee</a:t>
            </a:r>
          </a:p>
        </p:txBody>
      </p:sp>
      <p:sp>
        <p:nvSpPr>
          <p:cNvPr id="204" name="Shape 204"/>
          <p:cNvSpPr>
            <a:spLocks noGrp="1"/>
          </p:cNvSpPr>
          <p:nvPr>
            <p:ph type="sldNum" sz="quarter" idx="2"/>
          </p:nvPr>
        </p:nvSpPr>
        <p:spPr>
          <a:xfrm>
            <a:off x="4635581" y="5705903"/>
            <a:ext cx="232878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  <p:pic>
        <p:nvPicPr>
          <p:cNvPr id="205" name="image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48906" y="1496409"/>
            <a:ext cx="4973350" cy="3232151"/>
          </a:xfrm>
          <a:prstGeom prst="rect">
            <a:avLst/>
          </a:prstGeom>
          <a:ln w="12700">
            <a:miter lim="400000"/>
          </a:ln>
        </p:spPr>
      </p:pic>
      <p:sp>
        <p:nvSpPr>
          <p:cNvPr id="206" name="Shape 206"/>
          <p:cNvSpPr>
            <a:spLocks noGrp="1"/>
          </p:cNvSpPr>
          <p:nvPr>
            <p:ph type="title"/>
          </p:nvPr>
        </p:nvSpPr>
        <p:spPr>
          <a:xfrm>
            <a:off x="251519" y="259482"/>
            <a:ext cx="8229601" cy="857251"/>
          </a:xfrm>
          <a:prstGeom prst="rect">
            <a:avLst/>
          </a:prstGeom>
        </p:spPr>
        <p:txBody>
          <a:bodyPr/>
          <a:lstStyle/>
          <a:p>
            <a:r>
              <a:t>Chaining vs probing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>
            <a:spLocks noGrp="1"/>
          </p:cNvSpPr>
          <p:nvPr>
            <p:ph type="sldNum" sz="quarter" idx="2"/>
          </p:nvPr>
        </p:nvSpPr>
        <p:spPr>
          <a:xfrm>
            <a:off x="4635581" y="5705903"/>
            <a:ext cx="232878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13</a:t>
            </a:fld>
            <a:endParaRPr/>
          </a:p>
        </p:txBody>
      </p:sp>
      <p:sp>
        <p:nvSpPr>
          <p:cNvPr id="209" name="Shape 209"/>
          <p:cNvSpPr>
            <a:spLocks noGrp="1"/>
          </p:cNvSpPr>
          <p:nvPr>
            <p:ph type="body" idx="1"/>
          </p:nvPr>
        </p:nvSpPr>
        <p:spPr>
          <a:xfrm>
            <a:off x="520780" y="1352686"/>
            <a:ext cx="8229601" cy="3145173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0" indent="0">
              <a:buSzTx/>
              <a:buNone/>
            </a:lvl1pPr>
          </a:lstStyle>
          <a:p>
            <a:r>
              <a:rPr lang="nl-NL" sz="2800" dirty="0" smtClean="0"/>
              <a:t>Meten hoe vol je </a:t>
            </a:r>
            <a:r>
              <a:rPr lang="nl-NL" sz="2800" dirty="0" err="1" smtClean="0"/>
              <a:t>hash</a:t>
            </a:r>
            <a:r>
              <a:rPr lang="nl-NL" sz="2800" dirty="0" smtClean="0"/>
              <a:t> </a:t>
            </a:r>
            <a:r>
              <a:rPr lang="nl-NL" sz="2800" dirty="0" err="1" smtClean="0"/>
              <a:t>table</a:t>
            </a:r>
            <a:r>
              <a:rPr lang="nl-NL" sz="2800" dirty="0" smtClean="0"/>
              <a:t> is doe je met de load factor:</a:t>
            </a:r>
          </a:p>
          <a:p>
            <a:pPr marL="457200" lvl="1" indent="0">
              <a:buNone/>
            </a:pPr>
            <a:r>
              <a:rPr lang="nl-NL" sz="2800" dirty="0"/>
              <a:t>l</a:t>
            </a:r>
            <a:r>
              <a:rPr lang="nl-NL" sz="2800" dirty="0" smtClean="0"/>
              <a:t>oad factor = </a:t>
            </a:r>
            <a:r>
              <a:rPr lang="nl-NL" sz="2800" i="1" dirty="0" smtClean="0"/>
              <a:t>n </a:t>
            </a:r>
            <a:r>
              <a:rPr lang="nl-NL" sz="2800" dirty="0" smtClean="0"/>
              <a:t>/</a:t>
            </a:r>
            <a:r>
              <a:rPr lang="nl-NL" sz="2800" i="1" dirty="0" smtClean="0"/>
              <a:t> k</a:t>
            </a:r>
          </a:p>
          <a:p>
            <a:pPr marL="457200" lvl="1" indent="0">
              <a:buNone/>
            </a:pPr>
            <a:r>
              <a:rPr lang="nl-NL" sz="2800" i="1" dirty="0" smtClean="0"/>
              <a:t>n</a:t>
            </a:r>
            <a:r>
              <a:rPr lang="nl-NL" sz="2800" dirty="0" smtClean="0"/>
              <a:t> is het aantal elementen</a:t>
            </a:r>
          </a:p>
          <a:p>
            <a:pPr marL="457200" lvl="1" indent="0">
              <a:buNone/>
            </a:pPr>
            <a:r>
              <a:rPr lang="nl-NL" sz="2800" i="1" dirty="0" smtClean="0"/>
              <a:t>k</a:t>
            </a:r>
            <a:r>
              <a:rPr lang="nl-NL" sz="2800" dirty="0" smtClean="0"/>
              <a:t> is het aantal plekken in je </a:t>
            </a:r>
            <a:r>
              <a:rPr lang="nl-NL" sz="2800" dirty="0" err="1" smtClean="0"/>
              <a:t>hash</a:t>
            </a:r>
            <a:r>
              <a:rPr lang="nl-NL" sz="2800" dirty="0" smtClean="0"/>
              <a:t> </a:t>
            </a:r>
            <a:r>
              <a:rPr lang="nl-NL" sz="2800" dirty="0" err="1" smtClean="0"/>
              <a:t>table</a:t>
            </a:r>
            <a:endParaRPr lang="nl-NL" sz="2800" dirty="0" smtClean="0"/>
          </a:p>
          <a:p>
            <a:endParaRPr lang="nl-NL" sz="2800" dirty="0" smtClean="0"/>
          </a:p>
          <a:p>
            <a:endParaRPr lang="nl-NL" sz="2800" dirty="0" smtClean="0"/>
          </a:p>
          <a:p>
            <a:r>
              <a:rPr lang="nl-NL" sz="2800" dirty="0" smtClean="0"/>
              <a:t>Als je </a:t>
            </a:r>
            <a:r>
              <a:rPr lang="nl-NL" sz="2800" dirty="0" err="1" smtClean="0"/>
              <a:t>hash</a:t>
            </a:r>
            <a:r>
              <a:rPr lang="nl-NL" sz="2800" dirty="0" smtClean="0"/>
              <a:t> </a:t>
            </a:r>
            <a:r>
              <a:rPr lang="nl-NL" sz="2800" dirty="0" err="1" smtClean="0"/>
              <a:t>table</a:t>
            </a:r>
            <a:r>
              <a:rPr lang="nl-NL" sz="2800" dirty="0" smtClean="0"/>
              <a:t> vol is (of vol begint te raken):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 smtClean="0"/>
              <a:t>Vergroot je </a:t>
            </a:r>
            <a:r>
              <a:rPr lang="nl-NL" sz="2800" dirty="0" err="1" smtClean="0"/>
              <a:t>hash</a:t>
            </a:r>
            <a:r>
              <a:rPr lang="nl-NL" sz="2800" dirty="0" smtClean="0"/>
              <a:t> </a:t>
            </a:r>
            <a:r>
              <a:rPr lang="nl-NL" sz="2800" dirty="0" err="1" smtClean="0"/>
              <a:t>table</a:t>
            </a:r>
            <a:endParaRPr lang="nl-NL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NL" sz="2800" dirty="0" err="1" smtClean="0"/>
              <a:t>Rehashen</a:t>
            </a:r>
            <a:r>
              <a:rPr lang="nl-NL" sz="2800" dirty="0" smtClean="0"/>
              <a:t> = alle elementen krijgen een nieuwe </a:t>
            </a:r>
            <a:r>
              <a:rPr lang="nl-NL" sz="2800" dirty="0" err="1" smtClean="0"/>
              <a:t>hash</a:t>
            </a:r>
            <a:r>
              <a:rPr lang="nl-NL" sz="2800" dirty="0" smtClean="0"/>
              <a:t> waarde.</a:t>
            </a:r>
          </a:p>
        </p:txBody>
      </p:sp>
      <p:sp>
        <p:nvSpPr>
          <p:cNvPr id="210" name="Shape 210"/>
          <p:cNvSpPr>
            <a:spLocks noGrp="1"/>
          </p:cNvSpPr>
          <p:nvPr>
            <p:ph type="title"/>
          </p:nvPr>
        </p:nvSpPr>
        <p:spPr>
          <a:xfrm>
            <a:off x="226119" y="214932"/>
            <a:ext cx="8229601" cy="857251"/>
          </a:xfrm>
          <a:prstGeom prst="rect">
            <a:avLst/>
          </a:prstGeom>
        </p:spPr>
        <p:txBody>
          <a:bodyPr/>
          <a:lstStyle>
            <a:lvl1pPr defTabSz="1109472">
              <a:defRPr sz="3094"/>
            </a:lvl1pPr>
          </a:lstStyle>
          <a:p>
            <a:r>
              <a:rPr lang="nl-NL" dirty="0" err="1" smtClean="0"/>
              <a:t>Hash</a:t>
            </a:r>
            <a:r>
              <a:rPr lang="nl-NL" dirty="0" smtClean="0"/>
              <a:t> </a:t>
            </a:r>
            <a:r>
              <a:rPr lang="nl-NL" dirty="0" err="1" smtClean="0"/>
              <a:t>Table</a:t>
            </a:r>
            <a:r>
              <a:rPr lang="nl-NL" dirty="0" smtClean="0"/>
              <a:t> vol?</a:t>
            </a:r>
            <a:endParaRPr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ashtables on ELO">
  <a:themeElements>
    <a:clrScheme name="Hashtables on ELO">
      <a:dk1>
        <a:srgbClr val="23114C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Hashtables on ELO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Hashtables on EL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Hashtables on ELO">
  <a:themeElements>
    <a:clrScheme name="Hashtables on ELO">
      <a:dk1>
        <a:srgbClr val="23114C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Hashtables on ELO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Hashtables on EL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Hashtables on ELO">
  <a:themeElements>
    <a:clrScheme name="Hashtables on ELO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Hashtables on ELO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Hashtables on EL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492C47A9634448A67B6C0F4E203E71" ma:contentTypeVersion="3" ma:contentTypeDescription="Een nieuw document maken." ma:contentTypeScope="" ma:versionID="6718b5531c9594f0118ad4d948279b35">
  <xsd:schema xmlns:xsd="http://www.w3.org/2001/XMLSchema" xmlns:xs="http://www.w3.org/2001/XMLSchema" xmlns:p="http://schemas.microsoft.com/office/2006/metadata/properties" xmlns:ns2="a158c91d-1665-465e-9b38-ca2a7ebcd6da" targetNamespace="http://schemas.microsoft.com/office/2006/metadata/properties" ma:root="true" ma:fieldsID="52e0feb564d94f319910592251323171" ns2:_="">
    <xsd:import namespace="a158c91d-1665-465e-9b38-ca2a7ebcd6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58c91d-1665-465e-9b38-ca2a7ebcd6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BE80CE2-778A-4ABA-AFF2-B72303B9EFFB}"/>
</file>

<file path=customXml/itemProps2.xml><?xml version="1.0" encoding="utf-8"?>
<ds:datastoreItem xmlns:ds="http://schemas.openxmlformats.org/officeDocument/2006/customXml" ds:itemID="{E5206AA2-AC50-4733-8A92-A36C0B6B9887}"/>
</file>

<file path=customXml/itemProps3.xml><?xml version="1.0" encoding="utf-8"?>
<ds:datastoreItem xmlns:ds="http://schemas.openxmlformats.org/officeDocument/2006/customXml" ds:itemID="{01AB6A5B-168D-4E0B-A1EE-EF8B17DD51F7}"/>
</file>

<file path=docProps/app.xml><?xml version="1.0" encoding="utf-8"?>
<Properties xmlns="http://schemas.openxmlformats.org/officeDocument/2006/extended-properties" xmlns:vt="http://schemas.openxmlformats.org/officeDocument/2006/docPropsVTypes">
  <TotalTime>17312</TotalTime>
  <Words>334</Words>
  <Application>Microsoft Office PowerPoint</Application>
  <PresentationFormat>Diavoorstelling (4:3)</PresentationFormat>
  <Paragraphs>143</Paragraphs>
  <Slides>13</Slides>
  <Notes>0</Notes>
  <HiddenSlides>0</HiddenSlides>
  <MMClips>0</MMClips>
  <ScaleCrop>false</ScaleCrop>
  <HeadingPairs>
    <vt:vector size="4" baseType="variant">
      <vt:variant>
        <vt:lpstr>Thema</vt:lpstr>
      </vt:variant>
      <vt:variant>
        <vt:i4>2</vt:i4>
      </vt:variant>
      <vt:variant>
        <vt:lpstr>Diatitels</vt:lpstr>
      </vt:variant>
      <vt:variant>
        <vt:i4>13</vt:i4>
      </vt:variant>
    </vt:vector>
  </HeadingPairs>
  <TitlesOfParts>
    <vt:vector size="15" baseType="lpstr">
      <vt:lpstr>Hashtables on ELO</vt:lpstr>
      <vt:lpstr>1_Hashtables on ELO</vt:lpstr>
      <vt:lpstr>Algoritmen &amp; Datastructuren</vt:lpstr>
      <vt:lpstr>Wat is een Hash Table?</vt:lpstr>
      <vt:lpstr>Wat is een Hash Table?</vt:lpstr>
      <vt:lpstr>Toepassingen van een hash table</vt:lpstr>
      <vt:lpstr>Voorbeeld gebruik Hashtable</vt:lpstr>
      <vt:lpstr>Linear zoeken</vt:lpstr>
      <vt:lpstr>Snelheid hash table</vt:lpstr>
      <vt:lpstr>Hashfunctie</vt:lpstr>
      <vt:lpstr>Collision (Botsing)</vt:lpstr>
      <vt:lpstr>Linear Probing</vt:lpstr>
      <vt:lpstr>Seperate chaining</vt:lpstr>
      <vt:lpstr>Chaining vs probing</vt:lpstr>
      <vt:lpstr>Hash Table vol?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Algoritmen &amp; Datastructuren 1 (iad1)</dc:title>
  <cp:lastModifiedBy>Charlotte Ipema</cp:lastModifiedBy>
  <cp:revision>62</cp:revision>
  <dcterms:modified xsi:type="dcterms:W3CDTF">2018-01-31T09:42:11Z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0x010100D6492C47A9634448A67B6C0F4E203E71</vt:lpwstr>
  </property>
  <property fmtid="{D5CDD505-2E9C-101B-9397-08002B2CF9AE}" pid="3" name="EducationCourse">
    <vt:lpwstr/>
  </property>
  <property fmtid="{D5CDD505-2E9C-101B-9397-08002B2CF9AE}" pid="4" name="EducationYear">
    <vt:lpwstr/>
  </property>
  <property fmtid="{D5CDD505-2E9C-101B-9397-08002B2CF9AE}" pid="5" name="Order">
    <vt:r8>1600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