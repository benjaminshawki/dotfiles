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22"/>
  </p:notesMasterIdLst>
  <p:sldIdLst>
    <p:sldId id="341" r:id="rId5"/>
    <p:sldId id="361" r:id="rId6"/>
    <p:sldId id="372" r:id="rId7"/>
    <p:sldId id="363" r:id="rId8"/>
    <p:sldId id="373" r:id="rId9"/>
    <p:sldId id="367" r:id="rId10"/>
    <p:sldId id="368" r:id="rId11"/>
    <p:sldId id="375" r:id="rId12"/>
    <p:sldId id="379" r:id="rId13"/>
    <p:sldId id="376" r:id="rId14"/>
    <p:sldId id="374" r:id="rId15"/>
    <p:sldId id="377" r:id="rId16"/>
    <p:sldId id="380" r:id="rId17"/>
    <p:sldId id="381" r:id="rId18"/>
    <p:sldId id="382" r:id="rId19"/>
    <p:sldId id="378" r:id="rId20"/>
    <p:sldId id="369" r:id="rId2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DBA"/>
    <a:srgbClr val="231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F4418-A166-1BB4-3419-560DC4317E92}" v="98" dt="2021-02-08T09:41:33.595"/>
    <p1510:client id="{8B45D41C-D896-7A36-216A-3C00AB836DDB}" v="134" dt="2021-02-08T10:46:42.258"/>
    <p1510:client id="{C8C96A8C-C9E6-95E1-B3E2-0F4C87541B1B}" v="15" dt="2021-02-08T09:14:10.553"/>
    <p1510:client id="{F75B928E-B8C3-C440-9C3C-C0FC00BB73FA}" v="12" dt="2021-02-08T11:54:24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2"/>
    <p:restoredTop sz="94719"/>
  </p:normalViewPr>
  <p:slideViewPr>
    <p:cSldViewPr snapToGrid="0">
      <p:cViewPr varScale="1">
        <p:scale>
          <a:sx n="152" d="100"/>
          <a:sy n="152" d="100"/>
        </p:scale>
        <p:origin x="232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5F84-F7A7-46FA-BC08-F661D96BBCA7}" type="datetimeFigureOut">
              <a:rPr lang="nl-NL" smtClean="0"/>
              <a:t>25-08-2022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F1AB-29EF-4445-A82D-E8624A7043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984" y="-171400"/>
            <a:ext cx="7772400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titelstijl van het model te bewerken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235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5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6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nl-NL"/>
              <a:t>Titelstijl van model bewerken</a:t>
            </a:r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een tite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al 8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31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23114C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nl-NL"/>
              <a:t>Titelstijl van model bewerken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1237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37931"/>
          </a:xfrm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0872" y="1279301"/>
            <a:ext cx="8229600" cy="423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30488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23114C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23114C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nl-NL"/>
          </a:p>
        </p:txBody>
      </p:sp>
      <p:sp>
        <p:nvSpPr>
          <p:cNvPr id="10" name="Tijdelijke aanduiding voor titel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1" r:id="rId2"/>
    <p:sldLayoutId id="2147483657" r:id="rId3"/>
    <p:sldLayoutId id="2147483664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20BDB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bo-i.nl/publicaties-domeinbeschrijvin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>
                <a:latin typeface="Verdana"/>
                <a:ea typeface="Verdana"/>
              </a:rPr>
              <a:t>Opleiding Informatica – IWLAB 2022-2023 P1-P2</a:t>
            </a:r>
          </a:p>
          <a:p>
            <a:r>
              <a:rPr lang="nl-NL" dirty="0">
                <a:latin typeface="Verdana"/>
                <a:ea typeface="Verdana"/>
              </a:rPr>
              <a:t>Hans Bertens</a:t>
            </a:r>
            <a:endParaRPr lang="nl-NL" dirty="0"/>
          </a:p>
        </p:txBody>
      </p:sp>
      <p:sp>
        <p:nvSpPr>
          <p:cNvPr id="4" name="Subtitel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sz="2800">
                <a:latin typeface="Verdana" charset="0"/>
                <a:ea typeface="ヒラギノ角ゴ Pro W3" charset="0"/>
                <a:cs typeface="ヒラギノ角ゴ Pro W3" charset="0"/>
              </a:rPr>
              <a:t>IWLAB Kick-off</a:t>
            </a:r>
            <a:endParaRPr lang="nl-NL" sz="2800"/>
          </a:p>
        </p:txBody>
      </p:sp>
    </p:spTree>
    <p:extLst>
      <p:ext uri="{BB962C8B-B14F-4D97-AF65-F5344CB8AC3E}">
        <p14:creationId xmlns:p14="http://schemas.microsoft.com/office/powerpoint/2010/main" val="355391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FC7EA22-5909-4F9D-B04A-0A1D19292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0687F4-8757-4EFB-B2A9-481E6EF45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Doel, eindeisen &amp; uitgangspunten</a:t>
            </a:r>
          </a:p>
          <a:p>
            <a:endParaRPr lang="nl-NL"/>
          </a:p>
          <a:p>
            <a:r>
              <a:rPr lang="nl-NL"/>
              <a:t>Proces</a:t>
            </a:r>
          </a:p>
          <a:p>
            <a:endParaRPr lang="nl-NL"/>
          </a:p>
          <a:p>
            <a:r>
              <a:rPr lang="nl-NL"/>
              <a:t>Begeleiding</a:t>
            </a:r>
          </a:p>
          <a:p>
            <a:endParaRPr lang="nl-NL"/>
          </a:p>
          <a:p>
            <a:r>
              <a:rPr lang="nl-NL"/>
              <a:t>Toetsing en beoordeling</a:t>
            </a:r>
          </a:p>
          <a:p>
            <a:endParaRPr lang="nl-NL"/>
          </a:p>
          <a:p>
            <a:r>
              <a:rPr lang="nl-NL"/>
              <a:t>Documentatie</a:t>
            </a:r>
          </a:p>
          <a:p>
            <a:endParaRPr lang="nl-NL"/>
          </a:p>
          <a:p>
            <a:pPr marL="0" indent="0">
              <a:buNone/>
            </a:pPr>
            <a:endParaRPr lang="nl-NL"/>
          </a:p>
          <a:p>
            <a:endParaRPr lang="nl-NL"/>
          </a:p>
          <a:p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DD5DB60-F303-4AE3-9169-1610455F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117A966-54CF-4066-A283-7A777800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Overzicht</a:t>
            </a:r>
          </a:p>
        </p:txBody>
      </p:sp>
    </p:spTree>
    <p:extLst>
      <p:ext uri="{BB962C8B-B14F-4D97-AF65-F5344CB8AC3E}">
        <p14:creationId xmlns:p14="http://schemas.microsoft.com/office/powerpoint/2010/main" val="419494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D13C4-81EF-43F1-B7D0-3C6D835F9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4F132-F852-4C2E-8F0A-2CAF551CE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ctr"/>
            <a:r>
              <a:rPr lang="nl-NL" dirty="0">
                <a:latin typeface="Verdana"/>
                <a:ea typeface="Verdana"/>
              </a:rPr>
              <a:t>Het afstudeertraject is de </a:t>
            </a:r>
            <a:r>
              <a:rPr lang="nl-NL" b="1" dirty="0">
                <a:latin typeface="Verdana"/>
                <a:ea typeface="Verdana"/>
              </a:rPr>
              <a:t>‘meesterproef’. </a:t>
            </a:r>
            <a:endParaRPr lang="nl-NL">
              <a:latin typeface="Verdana"/>
              <a:ea typeface="Verdana"/>
            </a:endParaRPr>
          </a:p>
          <a:p>
            <a:pPr marL="0" indent="0" algn="ctr">
              <a:buNone/>
            </a:pPr>
            <a:r>
              <a:rPr lang="nl-NL" i="1" dirty="0">
                <a:latin typeface="Verdana"/>
                <a:ea typeface="Verdana"/>
              </a:rPr>
              <a:t>De afstudeerder </a:t>
            </a:r>
            <a:br>
              <a:rPr lang="nl-NL" i="1" dirty="0"/>
            </a:br>
            <a:endParaRPr lang="nl-NL"/>
          </a:p>
          <a:p>
            <a:pPr algn="ctr"/>
            <a:r>
              <a:rPr lang="nl-NL" i="1" dirty="0">
                <a:latin typeface="Verdana"/>
                <a:ea typeface="Verdana"/>
              </a:rPr>
              <a:t>toont </a:t>
            </a:r>
            <a:r>
              <a:rPr lang="nl-NL" b="1" i="1" dirty="0">
                <a:latin typeface="Verdana"/>
                <a:ea typeface="Verdana"/>
              </a:rPr>
              <a:t>zelfstandig</a:t>
            </a:r>
            <a:r>
              <a:rPr lang="nl-NL" i="1" dirty="0">
                <a:latin typeface="Verdana"/>
                <a:ea typeface="Verdana"/>
              </a:rPr>
              <a:t> aan te </a:t>
            </a:r>
            <a:br>
              <a:rPr lang="nl-NL" i="1" dirty="0"/>
            </a:br>
            <a:r>
              <a:rPr lang="nl-NL" i="1" dirty="0">
                <a:latin typeface="Verdana"/>
                <a:ea typeface="Verdana"/>
              </a:rPr>
              <a:t>beschikken over de </a:t>
            </a:r>
            <a:r>
              <a:rPr lang="nl-NL" b="1" i="1" dirty="0">
                <a:latin typeface="Verdana"/>
                <a:ea typeface="Verdana"/>
              </a:rPr>
              <a:t>eindcompetenties</a:t>
            </a:r>
            <a:r>
              <a:rPr lang="nl-NL" i="1" dirty="0">
                <a:latin typeface="Verdana"/>
                <a:ea typeface="Verdana"/>
              </a:rPr>
              <a:t> van de opleiding </a:t>
            </a:r>
            <a:br>
              <a:rPr lang="nl-NL" i="1" dirty="0"/>
            </a:br>
            <a:endParaRPr lang="nl-NL"/>
          </a:p>
          <a:p>
            <a:pPr marL="0" indent="0" algn="ctr">
              <a:buNone/>
            </a:pPr>
            <a:r>
              <a:rPr lang="nl-NL" i="1" dirty="0">
                <a:latin typeface="Verdana"/>
                <a:ea typeface="Verdana"/>
              </a:rPr>
              <a:t>en </a:t>
            </a:r>
            <a:br>
              <a:rPr lang="nl-NL" i="1" dirty="0"/>
            </a:br>
            <a:endParaRPr lang="nl-NL"/>
          </a:p>
          <a:p>
            <a:pPr algn="ctr"/>
            <a:r>
              <a:rPr lang="nl-NL" i="1" dirty="0">
                <a:latin typeface="Verdana"/>
                <a:ea typeface="Verdana"/>
              </a:rPr>
              <a:t>als </a:t>
            </a:r>
            <a:r>
              <a:rPr lang="nl-NL" b="1" i="1" dirty="0">
                <a:latin typeface="Verdana"/>
                <a:ea typeface="Verdana"/>
              </a:rPr>
              <a:t>professional</a:t>
            </a:r>
            <a:r>
              <a:rPr lang="nl-NL" i="1" dirty="0">
                <a:latin typeface="Verdana"/>
                <a:ea typeface="Verdana"/>
              </a:rPr>
              <a:t> in de </a:t>
            </a:r>
            <a:br>
              <a:rPr lang="nl-NL" i="1" dirty="0"/>
            </a:br>
            <a:r>
              <a:rPr lang="nl-NL" i="1" dirty="0">
                <a:latin typeface="Verdana"/>
                <a:ea typeface="Verdana"/>
              </a:rPr>
              <a:t>beroepspraktijk te kunnen acteren.</a:t>
            </a:r>
            <a:endParaRPr lang="en-US" dirty="0">
              <a:latin typeface="Verdana"/>
              <a:ea typeface="Verdana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933AE-0E9B-42A0-84A1-952E0CBE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D68489-9638-40DF-B450-576052D9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Verdana"/>
                <a:ea typeface="Verdana"/>
              </a:rPr>
              <a:t>Doel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51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9CB9367-0757-4FF1-8A73-50C29E419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7C4E6AB-F419-49E4-932A-97EAEE07F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>
                <a:latin typeface="Verdana"/>
                <a:ea typeface="Verdana"/>
              </a:rPr>
              <a:t>De student: </a:t>
            </a:r>
            <a:endParaRPr lang="nl-NL"/>
          </a:p>
          <a:p>
            <a:r>
              <a:rPr lang="nl-NL" dirty="0">
                <a:latin typeface="Verdana"/>
                <a:ea typeface="Verdana"/>
              </a:rPr>
              <a:t>Kan zelfstandig een praktijkgericht onderzoek opzetten en uitvoeren; </a:t>
            </a:r>
            <a:endParaRPr lang="nl-NL" dirty="0"/>
          </a:p>
          <a:p>
            <a:r>
              <a:rPr lang="nl-NL" dirty="0">
                <a:latin typeface="Verdana"/>
                <a:ea typeface="Verdana"/>
              </a:rPr>
              <a:t>Kan zelfstandig nieuwe kennis en/of vaardigheden tot zich nemen; </a:t>
            </a:r>
            <a:endParaRPr lang="nl-NL" dirty="0"/>
          </a:p>
          <a:p>
            <a:r>
              <a:rPr lang="nl-NL" dirty="0">
                <a:latin typeface="Verdana"/>
                <a:ea typeface="Verdana"/>
              </a:rPr>
              <a:t>Toont aan te kunnen innoveren in een beroepsomgeving; </a:t>
            </a:r>
            <a:endParaRPr lang="nl-NL" dirty="0"/>
          </a:p>
          <a:p>
            <a:r>
              <a:rPr lang="nl-NL" dirty="0">
                <a:latin typeface="Verdana"/>
                <a:ea typeface="Verdana"/>
              </a:rPr>
              <a:t>Toont aan professioneel te kunnen werken volgens geldende methoden en kan hierover reflecteren; </a:t>
            </a:r>
            <a:endParaRPr lang="nl-NL" dirty="0"/>
          </a:p>
          <a:p>
            <a:r>
              <a:rPr lang="nl-NL" dirty="0">
                <a:latin typeface="Verdana"/>
                <a:ea typeface="Verdana"/>
              </a:rPr>
              <a:t>Kan zelfstandig </a:t>
            </a:r>
            <a:r>
              <a:rPr lang="nl-NL" u="sng" dirty="0">
                <a:latin typeface="Verdana"/>
                <a:ea typeface="Verdana"/>
              </a:rPr>
              <a:t>minimaal</a:t>
            </a:r>
            <a:r>
              <a:rPr lang="nl-NL" dirty="0">
                <a:latin typeface="Verdana"/>
                <a:ea typeface="Verdana"/>
              </a:rPr>
              <a:t> 3 specialisatie-eigen B-competenties op niveau 3 uitvoeren; </a:t>
            </a:r>
            <a:endParaRPr lang="nl-NL" dirty="0"/>
          </a:p>
          <a:p>
            <a:r>
              <a:rPr lang="nl-NL" dirty="0">
                <a:latin typeface="Verdana"/>
                <a:ea typeface="Verdana"/>
              </a:rPr>
              <a:t>Kan zijn werk verdedigen en kan reflecteren op het proces.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2ED470C-B122-4867-B245-A8B3CE9E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4477FC-64E2-4848-B731-093BCD5C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nl-NL" dirty="0">
                <a:latin typeface="Verdana"/>
                <a:ea typeface="Verdana"/>
              </a:rPr>
              <a:t>Eindeisen</a:t>
            </a:r>
          </a:p>
        </p:txBody>
      </p:sp>
    </p:spTree>
    <p:extLst>
      <p:ext uri="{BB962C8B-B14F-4D97-AF65-F5344CB8AC3E}">
        <p14:creationId xmlns:p14="http://schemas.microsoft.com/office/powerpoint/2010/main" val="365810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0502E8-0440-496C-B9ED-67694BE31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238D-4742-4D21-B39D-280C5B042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err="1">
                <a:latin typeface="Verdana"/>
                <a:ea typeface="Verdana"/>
              </a:rPr>
              <a:t>i</a:t>
            </a:r>
            <a:r>
              <a:rPr lang="en-US" dirty="0">
                <a:latin typeface="Verdana"/>
                <a:ea typeface="Verdana"/>
              </a:rPr>
              <a:t>-HBO </a:t>
            </a:r>
            <a:r>
              <a:rPr lang="en-US" dirty="0" err="1">
                <a:latin typeface="Verdana"/>
                <a:ea typeface="Verdana"/>
              </a:rPr>
              <a:t>competenties</a:t>
            </a:r>
            <a:endParaRPr lang="en-US" dirty="0">
              <a:latin typeface="Verdana"/>
              <a:ea typeface="Verdana"/>
            </a:endParaRPr>
          </a:p>
          <a:p>
            <a:pPr lvl="1"/>
            <a:r>
              <a:rPr lang="en-US" dirty="0">
                <a:hlinkClick r:id="rId2"/>
              </a:rPr>
              <a:t>https://www.hbo-i.nl/publicaties-domeinbeschrijving/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Rubrics per </a:t>
            </a:r>
            <a:r>
              <a:rPr lang="en-US" dirty="0" err="1"/>
              <a:t>specialisatie</a:t>
            </a:r>
            <a:endParaRPr lang="en-US" dirty="0"/>
          </a:p>
          <a:p>
            <a:pPr lvl="1"/>
            <a:r>
              <a:rPr lang="en-US" dirty="0"/>
              <a:t>https://</a:t>
            </a:r>
            <a:r>
              <a:rPr lang="en-US" dirty="0" err="1"/>
              <a:t>hogeschoolleiden.sharepoint.com</a:t>
            </a:r>
            <a:r>
              <a:rPr lang="en-US" dirty="0"/>
              <a:t>/sites/og2021.iwlab-afstuderen/Gedeelde%20documenten/Forms/</a:t>
            </a:r>
            <a:r>
              <a:rPr lang="en-US" dirty="0" err="1"/>
              <a:t>AllItems.aspx?viewid</a:t>
            </a:r>
            <a:r>
              <a:rPr lang="en-US" dirty="0"/>
              <a:t>=7a4cf8aa%2Df73f%2D4e62%2D9d24%2D5e0063fb5798&amp;id=%2Fsites%2Fog2021%2Eiwlab%2Dafstuderen%2FGedeelde%20documenten%2Ftoetsdocumenten%2FRubrics</a:t>
            </a:r>
          </a:p>
          <a:p>
            <a:pPr lvl="1"/>
            <a:endParaRPr lang="en-US" dirty="0"/>
          </a:p>
          <a:p>
            <a:pPr lvl="1"/>
            <a:endParaRPr lang="en-US" dirty="0" err="1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91BD7-8D34-4B64-8732-59BCC353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A47B2A-7C91-4F13-BE01-69CE497C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Verdana"/>
                <a:ea typeface="Verdana"/>
              </a:rPr>
              <a:t>Uitgangspunten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40019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00E5624-0499-4DBB-B780-ED8ADD208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8713007-437E-4798-9772-32CCAC2C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Afstudeerdocent</a:t>
            </a:r>
          </a:p>
          <a:p>
            <a:pPr lvl="1"/>
            <a:r>
              <a:rPr lang="nl-NL" dirty="0"/>
              <a:t>Procedurele begeleiding</a:t>
            </a:r>
          </a:p>
          <a:p>
            <a:pPr lvl="1"/>
            <a:r>
              <a:rPr lang="nl-NL" dirty="0"/>
              <a:t>Formatieve feedback (tussentijds advies over jouw status; wat is goed, wat </a:t>
            </a:r>
            <a:r>
              <a:rPr lang="nl-NL"/>
              <a:t>moet beter)</a:t>
            </a:r>
          </a:p>
          <a:p>
            <a:endParaRPr lang="nl-NL" dirty="0"/>
          </a:p>
          <a:p>
            <a:r>
              <a:rPr lang="nl-NL" dirty="0"/>
              <a:t>Bedrijfsbegeleider</a:t>
            </a:r>
          </a:p>
          <a:p>
            <a:pPr lvl="1"/>
            <a:r>
              <a:rPr lang="nl-NL" dirty="0"/>
              <a:t>Begeleider vanuit de afstudeerorganisatie</a:t>
            </a:r>
          </a:p>
          <a:p>
            <a:pPr lvl="1"/>
            <a:r>
              <a:rPr lang="nl-NL" dirty="0"/>
              <a:t>Tussentijdse evaluatie</a:t>
            </a:r>
          </a:p>
          <a:p>
            <a:pPr lvl="1"/>
            <a:r>
              <a:rPr lang="nl-NL" dirty="0"/>
              <a:t>Eindevaluatie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805B30B-9F28-4277-ABB9-E0A5DA6E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6FFCEA-36A9-4FDA-B418-6C6E4D0D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IWLAB - Begeleiding</a:t>
            </a:r>
          </a:p>
        </p:txBody>
      </p:sp>
    </p:spTree>
    <p:extLst>
      <p:ext uri="{BB962C8B-B14F-4D97-AF65-F5344CB8AC3E}">
        <p14:creationId xmlns:p14="http://schemas.microsoft.com/office/powerpoint/2010/main" val="260718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050D097-5FF4-43CD-ACFC-CB52C50C5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7</a:t>
            </a:fld>
            <a:endParaRPr lang="nl-NL"/>
          </a:p>
        </p:txBody>
      </p:sp>
      <p:graphicFrame>
        <p:nvGraphicFramePr>
          <p:cNvPr id="6" name="Tabel 6">
            <a:extLst>
              <a:ext uri="{FF2B5EF4-FFF2-40B4-BE49-F238E27FC236}">
                <a16:creationId xmlns:a16="http://schemas.microsoft.com/office/drawing/2014/main" id="{67D3D65B-E076-4FEC-B7C4-1DB243E2B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692549"/>
              </p:ext>
            </p:extLst>
          </p:nvPr>
        </p:nvGraphicFramePr>
        <p:xfrm>
          <a:off x="611560" y="1135380"/>
          <a:ext cx="8229600" cy="458724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49202">
                  <a:extLst>
                    <a:ext uri="{9D8B030D-6E8A-4147-A177-3AD203B41FA5}">
                      <a16:colId xmlns:a16="http://schemas.microsoft.com/office/drawing/2014/main" val="2595488326"/>
                    </a:ext>
                  </a:extLst>
                </a:gridCol>
                <a:gridCol w="6480398">
                  <a:extLst>
                    <a:ext uri="{9D8B030D-6E8A-4147-A177-3AD203B41FA5}">
                      <a16:colId xmlns:a16="http://schemas.microsoft.com/office/drawing/2014/main" val="4125566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Week van afstudeertraject (1 t/m 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Toetsing/beoordeling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03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Toewijzing afstudeerdocent door de specialisatie coördinator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5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Eerste bedrijfsbezoek en goedkeuring afstudeerplan door afstudeerdocent (formatief)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73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10-11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Intervisie (formatief)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28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Tussentijdse evaluatie bedrijfsbegeleider; advies voortgang afstudeerdocent (formatief)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84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Pre-</a:t>
                      </a:r>
                      <a:r>
                        <a:rPr lang="nl-NL" err="1"/>
                        <a:t>final</a:t>
                      </a:r>
                      <a:r>
                        <a:rPr lang="nl-NL"/>
                        <a:t> versie afstudeerverslag aanleveren bij afstudeerdocent t.b.v. feedback (formatief)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85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Inleveren definitieve versie afstudeerverslag en producten in </a:t>
                      </a:r>
                      <a:r>
                        <a:rPr lang="nl-NL" dirty="0" err="1"/>
                        <a:t>Gradework</a:t>
                      </a:r>
                      <a:r>
                        <a:rPr lang="nl-NL" dirty="0"/>
                        <a:t> (</a:t>
                      </a:r>
                      <a:r>
                        <a:rPr lang="nl-NL" dirty="0" err="1"/>
                        <a:t>summatief</a:t>
                      </a:r>
                      <a:r>
                        <a:rPr lang="nl-NL" dirty="0"/>
                        <a:t> – eindbeoordeling)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812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Afstudeerzitting (</a:t>
                      </a:r>
                      <a:r>
                        <a:rPr lang="nl-NL" dirty="0" err="1"/>
                        <a:t>summatief</a:t>
                      </a:r>
                      <a:r>
                        <a:rPr lang="nl-NL" dirty="0"/>
                        <a:t> – eindbeoordeling)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94843"/>
                  </a:ext>
                </a:extLst>
              </a:tr>
            </a:tbl>
          </a:graphicData>
        </a:graphic>
      </p:graphicFrame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AFC5DB7-B741-4D8B-A6F5-4F29F7FF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D9E78A4-C6BC-4B1B-BA46-2B86C119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IWLAB – Toetsing en beoordeling</a:t>
            </a:r>
          </a:p>
        </p:txBody>
      </p:sp>
    </p:spTree>
    <p:extLst>
      <p:ext uri="{BB962C8B-B14F-4D97-AF65-F5344CB8AC3E}">
        <p14:creationId xmlns:p14="http://schemas.microsoft.com/office/powerpoint/2010/main" val="2659921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4AAB573-F9A6-9643-8E20-AB65BB4E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F6A3F5-23CF-0C40-AB7B-51DA513AF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Beroepstaken (B-competenties)</a:t>
            </a:r>
          </a:p>
          <a:p>
            <a:pPr lvl="1"/>
            <a:r>
              <a:rPr lang="nl-NL" dirty="0"/>
              <a:t>Organisatieprocessen</a:t>
            </a:r>
          </a:p>
          <a:p>
            <a:pPr lvl="1"/>
            <a:r>
              <a:rPr lang="nl-NL" dirty="0"/>
              <a:t>Infrastructuur</a:t>
            </a:r>
          </a:p>
          <a:p>
            <a:pPr lvl="1"/>
            <a:r>
              <a:rPr lang="nl-NL" dirty="0"/>
              <a:t>Software</a:t>
            </a:r>
          </a:p>
          <a:p>
            <a:pPr lvl="1"/>
            <a:r>
              <a:rPr lang="nl-NL" dirty="0"/>
              <a:t>Gebruikersinteractie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6E4D8F4-D198-D04B-921F-C7C97A904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5A42B1B-9342-AD4F-9D02-6F4290F7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Toetsing en beoordeling</a:t>
            </a:r>
          </a:p>
        </p:txBody>
      </p:sp>
    </p:spTree>
    <p:extLst>
      <p:ext uri="{BB962C8B-B14F-4D97-AF65-F5344CB8AC3E}">
        <p14:creationId xmlns:p14="http://schemas.microsoft.com/office/powerpoint/2010/main" val="3007522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65C13F27-FBAF-6242-84C7-731C76A60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186" y="1279301"/>
            <a:ext cx="5670972" cy="4309939"/>
          </a:xfrm>
          <a:prstGeom prst="rect">
            <a:avLst/>
          </a:prstGeom>
          <a:noFill/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746EBCE2-5B66-4D89-90AE-E45C4CC1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</p:spPr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D6F0178-B93F-9B41-878E-19FE6C70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</p:spPr>
        <p:txBody>
          <a:bodyPr anchor="b">
            <a:normAutofit/>
          </a:bodyPr>
          <a:lstStyle/>
          <a:p>
            <a:r>
              <a:rPr lang="nl-NL" dirty="0"/>
              <a:t>HBO-i Domein Model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475FABA-5872-2541-BE1C-68F3F182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DAD25AC-3D36-459B-92CD-44DA3A629171}" type="slidenum">
              <a:rPr lang="nl-NL" smtClean="0"/>
              <a:pPr>
                <a:spcAft>
                  <a:spcPts val="600"/>
                </a:spcAft>
              </a:pPr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6998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66CEC89-8E27-F44D-9C3D-271A73821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10</a:t>
            </a:fld>
            <a:endParaRPr lang="nl-NL"/>
          </a:p>
        </p:txBody>
      </p:sp>
      <p:graphicFrame>
        <p:nvGraphicFramePr>
          <p:cNvPr id="6" name="Tabel 6">
            <a:extLst>
              <a:ext uri="{FF2B5EF4-FFF2-40B4-BE49-F238E27FC236}">
                <a16:creationId xmlns:a16="http://schemas.microsoft.com/office/drawing/2014/main" id="{122DB51E-8EAD-6A49-8669-8A03B6405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420207"/>
              </p:ext>
            </p:extLst>
          </p:nvPr>
        </p:nvGraphicFramePr>
        <p:xfrm>
          <a:off x="323850" y="1279525"/>
          <a:ext cx="8609943" cy="28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50">
                  <a:extLst>
                    <a:ext uri="{9D8B030D-6E8A-4147-A177-3AD203B41FA5}">
                      <a16:colId xmlns:a16="http://schemas.microsoft.com/office/drawing/2014/main" val="3433882009"/>
                    </a:ext>
                  </a:extLst>
                </a:gridCol>
                <a:gridCol w="1460938">
                  <a:extLst>
                    <a:ext uri="{9D8B030D-6E8A-4147-A177-3AD203B41FA5}">
                      <a16:colId xmlns:a16="http://schemas.microsoft.com/office/drawing/2014/main" val="3402922479"/>
                    </a:ext>
                  </a:extLst>
                </a:gridCol>
                <a:gridCol w="1555531">
                  <a:extLst>
                    <a:ext uri="{9D8B030D-6E8A-4147-A177-3AD203B41FA5}">
                      <a16:colId xmlns:a16="http://schemas.microsoft.com/office/drawing/2014/main" val="3037600574"/>
                    </a:ext>
                  </a:extLst>
                </a:gridCol>
                <a:gridCol w="1147335">
                  <a:extLst>
                    <a:ext uri="{9D8B030D-6E8A-4147-A177-3AD203B41FA5}">
                      <a16:colId xmlns:a16="http://schemas.microsoft.com/office/drawing/2014/main" val="2528442956"/>
                    </a:ext>
                  </a:extLst>
                </a:gridCol>
                <a:gridCol w="1721989">
                  <a:extLst>
                    <a:ext uri="{9D8B030D-6E8A-4147-A177-3AD203B41FA5}">
                      <a16:colId xmlns:a16="http://schemas.microsoft.com/office/drawing/2014/main" val="2885579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sz="1200" dirty="0"/>
                        <a:t>Architectuurlagen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Organisatie processen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Infrastructuur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Gebruikers-interactie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61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Activiteiten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737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Analyseren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21354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Adviseren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41654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Ontwerpen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37530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Realiseren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17563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Manage &amp; Control(Beheer)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31016032"/>
                  </a:ext>
                </a:extLst>
              </a:tr>
            </a:tbl>
          </a:graphicData>
        </a:graphic>
      </p:graphicFrame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C735CCD-3025-A745-AE41-1AA614E7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8885F44-70BC-9C4F-A0F8-24DA005A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Toetsing en beoordeling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BD31DAB8-6C9F-0F40-BBDC-E06F572FDBAA}"/>
              </a:ext>
            </a:extLst>
          </p:cNvPr>
          <p:cNvSpPr/>
          <p:nvPr/>
        </p:nvSpPr>
        <p:spPr>
          <a:xfrm>
            <a:off x="2976398" y="2127663"/>
            <a:ext cx="5957395" cy="2759647"/>
          </a:xfrm>
          <a:prstGeom prst="ellipse">
            <a:avLst/>
          </a:prstGeom>
          <a:solidFill>
            <a:schemeClr val="tx2">
              <a:lumMod val="40000"/>
              <a:lumOff val="60000"/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Uit deze 20 competenties kun je er dus minimaal 3 kiezen die je gedurende je afstuderen op niveau 3 aantoont!</a:t>
            </a:r>
          </a:p>
          <a:p>
            <a:pPr algn="ctr"/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dirty="0">
                <a:solidFill>
                  <a:schemeClr val="tx1"/>
                </a:solidFill>
              </a:rPr>
              <a:t>Per Specialisatie zijn er een beperkt aantal competenties toegestaan!</a:t>
            </a:r>
          </a:p>
          <a:p>
            <a:pPr algn="ctr"/>
            <a:r>
              <a:rPr lang="nl-NL" dirty="0">
                <a:solidFill>
                  <a:schemeClr val="tx1"/>
                </a:solidFill>
              </a:rPr>
              <a:t>Zie hiervoor de </a:t>
            </a:r>
            <a:r>
              <a:rPr lang="nl-NL" dirty="0" err="1">
                <a:solidFill>
                  <a:schemeClr val="tx1"/>
                </a:solidFill>
              </a:rPr>
              <a:t>Rubrics</a:t>
            </a:r>
            <a:r>
              <a:rPr lang="nl-NL" dirty="0">
                <a:solidFill>
                  <a:schemeClr val="tx1"/>
                </a:solidFill>
              </a:rPr>
              <a:t> behorende bij jouw Specialisatie!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168DEE5-00BC-43C9-87F6-C145133B6980}"/>
              </a:ext>
            </a:extLst>
          </p:cNvPr>
          <p:cNvSpPr/>
          <p:nvPr/>
        </p:nvSpPr>
        <p:spPr>
          <a:xfrm>
            <a:off x="794251" y="1641784"/>
            <a:ext cx="976408" cy="1066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EC7607D-0DE8-4314-9E4F-5BBF6622FC82}"/>
              </a:ext>
            </a:extLst>
          </p:cNvPr>
          <p:cNvSpPr/>
          <p:nvPr/>
        </p:nvSpPr>
        <p:spPr>
          <a:xfrm>
            <a:off x="1770659" y="1981896"/>
            <a:ext cx="45719" cy="291534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1AC1C2C-99A9-DD42-A05D-0A72744863CC}"/>
              </a:ext>
            </a:extLst>
          </p:cNvPr>
          <p:cNvSpPr txBox="1"/>
          <p:nvPr/>
        </p:nvSpPr>
        <p:spPr>
          <a:xfrm>
            <a:off x="-336331" y="-11561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224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FDBF6F-6D80-4210-811F-7936922A4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11</a:t>
            </a:fld>
            <a:endParaRPr lang="nl-NL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36F5B51-AEE1-4196-BF83-BC40F5813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055099"/>
              </p:ext>
            </p:extLst>
          </p:nvPr>
        </p:nvGraphicFramePr>
        <p:xfrm>
          <a:off x="590550" y="1279525"/>
          <a:ext cx="8229592" cy="2966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63">
                  <a:extLst>
                    <a:ext uri="{9D8B030D-6E8A-4147-A177-3AD203B41FA5}">
                      <a16:colId xmlns:a16="http://schemas.microsoft.com/office/drawing/2014/main" val="2616292893"/>
                    </a:ext>
                  </a:extLst>
                </a:gridCol>
                <a:gridCol w="2855163">
                  <a:extLst>
                    <a:ext uri="{9D8B030D-6E8A-4147-A177-3AD203B41FA5}">
                      <a16:colId xmlns:a16="http://schemas.microsoft.com/office/drawing/2014/main" val="2522339293"/>
                    </a:ext>
                  </a:extLst>
                </a:gridCol>
                <a:gridCol w="746234">
                  <a:extLst>
                    <a:ext uri="{9D8B030D-6E8A-4147-A177-3AD203B41FA5}">
                      <a16:colId xmlns:a16="http://schemas.microsoft.com/office/drawing/2014/main" val="2142678777"/>
                    </a:ext>
                  </a:extLst>
                </a:gridCol>
                <a:gridCol w="580032">
                  <a:extLst>
                    <a:ext uri="{9D8B030D-6E8A-4147-A177-3AD203B41FA5}">
                      <a16:colId xmlns:a16="http://schemas.microsoft.com/office/drawing/2014/main" val="444247353"/>
                    </a:ext>
                  </a:extLst>
                </a:gridCol>
                <a:gridCol w="1816327">
                  <a:extLst>
                    <a:ext uri="{9D8B030D-6E8A-4147-A177-3AD203B41FA5}">
                      <a16:colId xmlns:a16="http://schemas.microsoft.com/office/drawing/2014/main" val="943934969"/>
                    </a:ext>
                  </a:extLst>
                </a:gridCol>
                <a:gridCol w="926873">
                  <a:extLst>
                    <a:ext uri="{9D8B030D-6E8A-4147-A177-3AD203B41FA5}">
                      <a16:colId xmlns:a16="http://schemas.microsoft.com/office/drawing/2014/main" val="346219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Bachelor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49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r">
                        <a:buNone/>
                      </a:pPr>
                      <a:endParaRPr lang="en-US" sz="1400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1400" u="sng" dirty="0" err="1"/>
                        <a:t>Niveau</a:t>
                      </a:r>
                      <a:endParaRPr lang="en-US" sz="14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68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sng"/>
                        <a:t>Architectuurlagen</a:t>
                      </a:r>
                      <a:endParaRPr lang="en-US" sz="1200" u="sng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sng" dirty="0" err="1"/>
                        <a:t>Activiteiten</a:t>
                      </a:r>
                      <a:r>
                        <a:rPr lang="en-US" sz="1400" u="sng" dirty="0"/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7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Analyseren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22511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Adviseren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94952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Ontwerpen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5743513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Realiseren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501943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Manage &amp; Control (Beheer)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07154277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7FF7F-7E55-4EF3-A87D-273D670C4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884712-FBD6-4765-AB65-8E3294F1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Toetsing</a:t>
            </a:r>
            <a:r>
              <a:rPr lang="en-US" dirty="0"/>
              <a:t> &amp; </a:t>
            </a:r>
            <a:r>
              <a:rPr lang="en-US" dirty="0" err="1"/>
              <a:t>Beoordeling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838B51-7827-47F1-9708-4461DF62C059}"/>
              </a:ext>
            </a:extLst>
          </p:cNvPr>
          <p:cNvSpPr/>
          <p:nvPr/>
        </p:nvSpPr>
        <p:spPr>
          <a:xfrm>
            <a:off x="4669178" y="2229469"/>
            <a:ext cx="4674519" cy="2342531"/>
          </a:xfrm>
          <a:prstGeom prst="ellipse">
            <a:avLst/>
          </a:prstGeom>
          <a:solidFill>
            <a:schemeClr val="accent1">
              <a:lumMod val="40000"/>
              <a:lumOff val="6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Kijk</a:t>
            </a:r>
            <a:r>
              <a:rPr lang="en-US" dirty="0">
                <a:solidFill>
                  <a:schemeClr val="tx1"/>
                </a:solidFill>
              </a:rPr>
              <a:t> per </a:t>
            </a:r>
            <a:r>
              <a:rPr lang="en-US" dirty="0" err="1">
                <a:solidFill>
                  <a:schemeClr val="tx1"/>
                </a:solidFill>
              </a:rPr>
              <a:t>competentie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aandachtig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naar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verschillen</a:t>
            </a:r>
            <a:r>
              <a:rPr lang="en-US" dirty="0">
                <a:solidFill>
                  <a:schemeClr val="tx1"/>
                </a:solidFill>
              </a:rPr>
              <a:t> in de </a:t>
            </a:r>
            <a:r>
              <a:rPr lang="en-US" dirty="0" err="1">
                <a:solidFill>
                  <a:schemeClr val="tx1"/>
                </a:solidFill>
              </a:rPr>
              <a:t>niveau’s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Geef</a:t>
            </a:r>
            <a:r>
              <a:rPr lang="en-US" dirty="0">
                <a:solidFill>
                  <a:schemeClr val="tx1"/>
                </a:solidFill>
              </a:rPr>
              <a:t> in je </a:t>
            </a:r>
            <a:r>
              <a:rPr lang="en-US" dirty="0" err="1">
                <a:solidFill>
                  <a:schemeClr val="tx1"/>
                </a:solidFill>
              </a:rPr>
              <a:t>PvA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wat </a:t>
            </a:r>
            <a:r>
              <a:rPr lang="en-US" dirty="0">
                <a:solidFill>
                  <a:schemeClr val="tx1"/>
                </a:solidFill>
              </a:rPr>
              <a:t>je </a:t>
            </a:r>
            <a:r>
              <a:rPr lang="en-US" dirty="0" err="1">
                <a:solidFill>
                  <a:schemeClr val="tx1"/>
                </a:solidFill>
              </a:rPr>
              <a:t>gaat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doen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dirty="0">
                <a:solidFill>
                  <a:schemeClr val="tx1"/>
                </a:solidFill>
              </a:rPr>
              <a:t>om </a:t>
            </a:r>
            <a:r>
              <a:rPr lang="en-US" dirty="0" err="1">
                <a:solidFill>
                  <a:schemeClr val="tx1"/>
                </a:solidFill>
              </a:rPr>
              <a:t>niveau</a:t>
            </a:r>
            <a:r>
              <a:rPr lang="en-US" dirty="0">
                <a:solidFill>
                  <a:schemeClr val="tx1"/>
                </a:solidFill>
              </a:rPr>
              <a:t> 3 </a:t>
            </a:r>
            <a:r>
              <a:rPr lang="en-US" dirty="0" err="1">
                <a:solidFill>
                  <a:schemeClr val="tx1"/>
                </a:solidFill>
              </a:rPr>
              <a:t>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behalen</a:t>
            </a:r>
            <a:r>
              <a:rPr lang="en-US">
                <a:solidFill>
                  <a:schemeClr val="tx1"/>
                </a:solidFill>
              </a:rPr>
              <a:t>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EA5A785-D685-4AEF-B00F-2B6AD0D543F7}"/>
              </a:ext>
            </a:extLst>
          </p:cNvPr>
          <p:cNvSpPr/>
          <p:nvPr/>
        </p:nvSpPr>
        <p:spPr>
          <a:xfrm>
            <a:off x="2895149" y="2083702"/>
            <a:ext cx="97178" cy="2915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6970AB7-4FC7-4322-AE1F-47487119E804}"/>
              </a:ext>
            </a:extLst>
          </p:cNvPr>
          <p:cNvSpPr/>
          <p:nvPr/>
        </p:nvSpPr>
        <p:spPr>
          <a:xfrm>
            <a:off x="3132553" y="1744545"/>
            <a:ext cx="583070" cy="1341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9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84D6F37-24DC-C647-89B8-E77DBC060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73A80B-3828-BF4E-96EE-EF8E1F451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nl-NL" dirty="0"/>
              <a:t>Professional skills (A-competenties)</a:t>
            </a:r>
          </a:p>
          <a:p>
            <a:pPr lvl="1"/>
            <a:r>
              <a:rPr lang="nl-NL" dirty="0"/>
              <a:t>Onderzoek</a:t>
            </a:r>
          </a:p>
          <a:p>
            <a:pPr lvl="2"/>
            <a:r>
              <a:rPr lang="nl-NL" dirty="0"/>
              <a:t>Vraagstelling; Methoden; Informatie verzamelen; Analyse; Conclusies</a:t>
            </a:r>
          </a:p>
          <a:p>
            <a:pPr lvl="1"/>
            <a:r>
              <a:rPr lang="nl-NL" dirty="0"/>
              <a:t>Leren leren</a:t>
            </a:r>
          </a:p>
          <a:p>
            <a:pPr lvl="2"/>
            <a:r>
              <a:rPr lang="nl-NL" dirty="0"/>
              <a:t>Zelfbeeld; Zelfredzaamheid; Intrinsieke motivatie</a:t>
            </a:r>
          </a:p>
          <a:p>
            <a:pPr lvl="1"/>
            <a:r>
              <a:rPr lang="nl-NL" dirty="0"/>
              <a:t>Professioneel werken</a:t>
            </a:r>
          </a:p>
          <a:p>
            <a:pPr lvl="2"/>
            <a:r>
              <a:rPr lang="nl-NL" dirty="0"/>
              <a:t>Probleem analyse; Planmatig werken; Methodisch werken; Communicatie; Houding; Reflectie</a:t>
            </a:r>
          </a:p>
          <a:p>
            <a:pPr lvl="1"/>
            <a:r>
              <a:rPr lang="nl-NL" dirty="0"/>
              <a:t>Innovatie</a:t>
            </a:r>
          </a:p>
          <a:p>
            <a:pPr lvl="2"/>
            <a:r>
              <a:rPr lang="nl-NL">
                <a:latin typeface="Verdana"/>
                <a:ea typeface="Verdana"/>
              </a:rPr>
              <a:t>Creativiteit; Integratie van perspectieven; Inbedding &amp; Validatie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FE68B4E-AADB-904C-9039-DCB967BA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826C89E-0F79-7244-B021-A8F9D776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Toetsing en Beoordeling</a:t>
            </a:r>
          </a:p>
        </p:txBody>
      </p:sp>
    </p:spTree>
    <p:extLst>
      <p:ext uri="{BB962C8B-B14F-4D97-AF65-F5344CB8AC3E}">
        <p14:creationId xmlns:p14="http://schemas.microsoft.com/office/powerpoint/2010/main" val="1897441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A558BE3-6ABF-0F43-B429-B1C765365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13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553AEC-654B-2145-AF84-037DBD5C0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9F9C9AB-D70E-B840-9B3E-1C796FC6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6390164-48AD-EC42-8EAE-E34F30C8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8DBE197-FE26-5848-B563-A72C00766951}"/>
              </a:ext>
            </a:extLst>
          </p:cNvPr>
          <p:cNvSpPr/>
          <p:nvPr/>
        </p:nvSpPr>
        <p:spPr>
          <a:xfrm>
            <a:off x="1445644" y="2008526"/>
            <a:ext cx="652005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Pas op voor de </a:t>
            </a:r>
            <a:br>
              <a:rPr lang="nl-N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nl-N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Competentie-kramp!!!</a:t>
            </a:r>
          </a:p>
        </p:txBody>
      </p:sp>
    </p:spTree>
    <p:extLst>
      <p:ext uri="{BB962C8B-B14F-4D97-AF65-F5344CB8AC3E}">
        <p14:creationId xmlns:p14="http://schemas.microsoft.com/office/powerpoint/2010/main" val="258848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EBD4018-9E8B-A045-856C-0A8AA5441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14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5957AA1-81A1-9C4B-8696-28F140AA7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0A932D8-2EFA-4F45-A88D-D38906FE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1FE542B-1ECA-E844-8A38-7AEB030C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1B194614-AAA6-CC4F-8802-A5A9B9F0887F}"/>
              </a:ext>
            </a:extLst>
          </p:cNvPr>
          <p:cNvSpPr/>
          <p:nvPr/>
        </p:nvSpPr>
        <p:spPr>
          <a:xfrm>
            <a:off x="232638" y="275640"/>
            <a:ext cx="8520335" cy="5078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nl-N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Je werkt aan </a:t>
            </a:r>
            <a:r>
              <a:rPr lang="nl-N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je </a:t>
            </a:r>
            <a:endParaRPr lang="nl-N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nl-N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afstudeerproduct!</a:t>
            </a:r>
            <a:endParaRPr lang="nl-N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Calibri"/>
            </a:endParaRPr>
          </a:p>
          <a:p>
            <a:pPr algn="ctr"/>
            <a:endParaRPr lang="nl-NL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nl-N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Hiervoor zet je je competenties in </a:t>
            </a:r>
            <a:endParaRPr lang="nl-NL">
              <a:solidFill>
                <a:schemeClr val="accent1"/>
              </a:solidFill>
            </a:endParaRPr>
          </a:p>
          <a:p>
            <a:pPr algn="ctr"/>
            <a:r>
              <a:rPr lang="nl-N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 hierdoor toon je ze aan.</a:t>
            </a:r>
            <a:endParaRPr lang="nl-NL" sz="540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9954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C2A998-0110-974D-BC67-733E14E84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A502F31-6FEF-0845-BDFD-2D8CF7BD1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6D4CF54-B993-3149-8A42-492BAD9F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ACBD69C-30D8-E84E-BF0F-A20A8014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900232F1-3C31-9449-BDD8-F2AEE1D378E1}"/>
              </a:ext>
            </a:extLst>
          </p:cNvPr>
          <p:cNvSpPr/>
          <p:nvPr/>
        </p:nvSpPr>
        <p:spPr>
          <a:xfrm>
            <a:off x="1672588" y="3017520"/>
            <a:ext cx="57988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 niet andersom!!!</a:t>
            </a:r>
          </a:p>
        </p:txBody>
      </p:sp>
    </p:spTree>
    <p:extLst>
      <p:ext uri="{BB962C8B-B14F-4D97-AF65-F5344CB8AC3E}">
        <p14:creationId xmlns:p14="http://schemas.microsoft.com/office/powerpoint/2010/main" val="2332507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115F269-4EEB-F445-802C-A3440C629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8A4FB9A-71BB-BE4B-8B1D-FF1A8BCC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Afstudeerverslag</a:t>
            </a:r>
          </a:p>
          <a:p>
            <a:endParaRPr lang="nl-NL" dirty="0"/>
          </a:p>
          <a:p>
            <a:r>
              <a:rPr lang="nl-NL" dirty="0"/>
              <a:t>Beroepsproducten</a:t>
            </a:r>
          </a:p>
          <a:p>
            <a:pPr lvl="1"/>
            <a:r>
              <a:rPr lang="nl-NL" dirty="0"/>
              <a:t>Zoals afgesproken met je bedrijfsbegeleider en afstudeerdocent.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3A62E07-A3F4-4A49-A08A-36489025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D0749AA-83B4-6947-975D-6EF17E8A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Verplicht opleveren (1)</a:t>
            </a:r>
          </a:p>
        </p:txBody>
      </p:sp>
    </p:spTree>
    <p:extLst>
      <p:ext uri="{BB962C8B-B14F-4D97-AF65-F5344CB8AC3E}">
        <p14:creationId xmlns:p14="http://schemas.microsoft.com/office/powerpoint/2010/main" val="1861071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598E5EB-2DA8-499D-ABFD-A048F34B5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E9C272-2F91-4CDC-B41A-B79548302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b="1"/>
              <a:t>Op te leveren documenten</a:t>
            </a:r>
          </a:p>
          <a:p>
            <a:pPr marL="0" indent="0">
              <a:buNone/>
            </a:pPr>
            <a:r>
              <a:rPr lang="nl-NL"/>
              <a:t>Bijlage A: Studieplanning</a:t>
            </a:r>
          </a:p>
          <a:p>
            <a:pPr marL="0" indent="0">
              <a:buNone/>
            </a:pPr>
            <a:r>
              <a:rPr lang="nl-NL"/>
              <a:t>Bijlage B: Template afstudeervoorstel</a:t>
            </a:r>
          </a:p>
          <a:p>
            <a:pPr marL="0" indent="0">
              <a:buNone/>
            </a:pPr>
            <a:r>
              <a:rPr lang="nl-NL"/>
              <a:t>----------</a:t>
            </a:r>
          </a:p>
          <a:p>
            <a:pPr marL="0" indent="0">
              <a:buNone/>
            </a:pPr>
            <a:r>
              <a:rPr lang="nl-NL"/>
              <a:t>Bijlage C: Afstudeerplan</a:t>
            </a:r>
          </a:p>
          <a:p>
            <a:pPr marL="0" indent="0">
              <a:buNone/>
            </a:pPr>
            <a:r>
              <a:rPr lang="nl-NL"/>
              <a:t>Bijlage D: Adviesformulier afstudeerplan</a:t>
            </a:r>
          </a:p>
          <a:p>
            <a:pPr marL="0" indent="0">
              <a:buNone/>
            </a:pPr>
            <a:r>
              <a:rPr lang="nl-NL"/>
              <a:t>Bijlage E: Adviesformulier voortgang</a:t>
            </a:r>
          </a:p>
          <a:p>
            <a:pPr marL="0" indent="0">
              <a:buNone/>
            </a:pPr>
            <a:r>
              <a:rPr lang="nl-NL"/>
              <a:t>Bijlage F: Tussenevaluatie bedrijfsbegeleider</a:t>
            </a:r>
          </a:p>
          <a:p>
            <a:pPr marL="0" indent="0">
              <a:buNone/>
            </a:pPr>
            <a:r>
              <a:rPr lang="nl-NL"/>
              <a:t>Bijlage G: Feedbackformulier afstudeerverslag</a:t>
            </a:r>
          </a:p>
          <a:p>
            <a:pPr marL="0" indent="0">
              <a:buNone/>
            </a:pPr>
            <a:r>
              <a:rPr lang="nl-NL"/>
              <a:t>Bijlage H: Eindevaluatie bedrijfsbegeleider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37302E7-88BB-4FA5-8582-F75D910F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B9E840D-A582-448D-B5F1-C9F881EC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Verplicht opleveren (2)</a:t>
            </a:r>
          </a:p>
        </p:txBody>
      </p:sp>
    </p:spTree>
    <p:extLst>
      <p:ext uri="{BB962C8B-B14F-4D97-AF65-F5344CB8AC3E}">
        <p14:creationId xmlns:p14="http://schemas.microsoft.com/office/powerpoint/2010/main" val="2837147013"/>
      </p:ext>
    </p:extLst>
  </p:cSld>
  <p:clrMapOvr>
    <a:masterClrMapping/>
  </p:clrMapOvr>
</p:sld>
</file>

<file path=ppt/theme/theme1.xml><?xml version="1.0" encoding="utf-8"?>
<a:theme xmlns:a="http://schemas.openxmlformats.org/drawingml/2006/main" name="131202 nieuwsbrief 63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3309587F734C4496109FCE8D9C6EB7" ma:contentTypeVersion="4" ma:contentTypeDescription="Een nieuw document maken." ma:contentTypeScope="" ma:versionID="64683e270a3d390c10c11b1840a777dd">
  <xsd:schema xmlns:xsd="http://www.w3.org/2001/XMLSchema" xmlns:xs="http://www.w3.org/2001/XMLSchema" xmlns:p="http://schemas.microsoft.com/office/2006/metadata/properties" xmlns:ns2="e0f9d6d4-c248-4468-b9c2-5ef56d804f0d" xmlns:ns3="722da162-165f-4e0f-a5e6-e20bd49ff96d" targetNamespace="http://schemas.microsoft.com/office/2006/metadata/properties" ma:root="true" ma:fieldsID="37205b1e6521d0b3611e5713aaae70d3" ns2:_="" ns3:_="">
    <xsd:import namespace="e0f9d6d4-c248-4468-b9c2-5ef56d804f0d"/>
    <xsd:import namespace="722da162-165f-4e0f-a5e6-e20bd49ff96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9d6d4-c248-4468-b9c2-5ef56d804f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2da162-165f-4e0f-a5e6-e20bd49ff9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0f9d6d4-c248-4468-b9c2-5ef56d804f0d">
      <UserInfo>
        <DisplayName>Bertens, Hans</DisplayName>
        <AccountId>14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5A6875-35B9-40C8-AAE7-6231873B975E}"/>
</file>

<file path=customXml/itemProps2.xml><?xml version="1.0" encoding="utf-8"?>
<ds:datastoreItem xmlns:ds="http://schemas.openxmlformats.org/officeDocument/2006/customXml" ds:itemID="{FCF31DD8-A349-4DFD-BB46-19751750BD9B}">
  <ds:schemaRefs>
    <ds:schemaRef ds:uri="7d8b4fc4-cd91-4d29-811e-41a355e05e83"/>
    <ds:schemaRef ds:uri="99d128c8-fac6-4de0-a98d-e1d2ab9f6f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BF9397-9CC7-419E-B848-C0FD356BDE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601</Words>
  <Application>Microsoft Macintosh PowerPoint</Application>
  <PresentationFormat>Diavoorstelling (4:3)</PresentationFormat>
  <Paragraphs>156</Paragraphs>
  <Slides>17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1" baseType="lpstr">
      <vt:lpstr>Arial</vt:lpstr>
      <vt:lpstr>Calibri</vt:lpstr>
      <vt:lpstr>Verdana</vt:lpstr>
      <vt:lpstr>131202 nieuwsbrief 63</vt:lpstr>
      <vt:lpstr>PowerPoint-presentatie</vt:lpstr>
      <vt:lpstr>Overzicht</vt:lpstr>
      <vt:lpstr>Doel</vt:lpstr>
      <vt:lpstr>Eindeisen</vt:lpstr>
      <vt:lpstr>Uitgangspunten</vt:lpstr>
      <vt:lpstr>IWLAB - Begeleiding</vt:lpstr>
      <vt:lpstr>IWLAB – Toetsing en beoordeling</vt:lpstr>
      <vt:lpstr>Toetsing en beoordeling</vt:lpstr>
      <vt:lpstr>HBO-i Domein Model</vt:lpstr>
      <vt:lpstr>Toetsing en beoordeling</vt:lpstr>
      <vt:lpstr>Toetsing &amp; Beoordeling</vt:lpstr>
      <vt:lpstr>Toetsing en Beoordeling</vt:lpstr>
      <vt:lpstr>PowerPoint-presentatie</vt:lpstr>
      <vt:lpstr>PowerPoint-presentatie</vt:lpstr>
      <vt:lpstr>PowerPoint-presentatie</vt:lpstr>
      <vt:lpstr>Verplicht opleveren (1)</vt:lpstr>
      <vt:lpstr>Verplicht opleveren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Epping - Welbers, Lynn</dc:creator>
  <cp:lastModifiedBy>Bertens, Hans</cp:lastModifiedBy>
  <cp:revision>74</cp:revision>
  <dcterms:created xsi:type="dcterms:W3CDTF">2020-12-11T07:56:10Z</dcterms:created>
  <dcterms:modified xsi:type="dcterms:W3CDTF">2022-08-25T14:27:01Z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0x010100743309587F734C4496109FCE8D9C6EB7</vt:lpwstr>
  </property>
</Properties>
</file>